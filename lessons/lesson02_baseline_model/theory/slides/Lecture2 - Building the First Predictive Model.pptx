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score → probability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P(recurrence)</c:v>
                </c:pt>
              </c:strCache>
            </c:strRef>
          </c:tx>
          <c:spPr>
            <a:solidFill>
              <a:srgbClr val="0E7C86"/>
            </a:solidFill>
            <a:ln w="38100" cap="flat">
              <a:solidFill>
                <a:srgbClr val="0E7C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-6.0</c:v>
                  </c:pt>
                  <c:pt idx="1">
                    <c:v>-5.7</c:v>
                  </c:pt>
                  <c:pt idx="2">
                    <c:v>-5.4</c:v>
                  </c:pt>
                  <c:pt idx="3">
                    <c:v>-5.1</c:v>
                  </c:pt>
                  <c:pt idx="4">
                    <c:v>-4.8</c:v>
                  </c:pt>
                  <c:pt idx="5">
                    <c:v>-4.5</c:v>
                  </c:pt>
                  <c:pt idx="6">
                    <c:v>-4.2</c:v>
                  </c:pt>
                  <c:pt idx="7">
                    <c:v>-3.9</c:v>
                  </c:pt>
                  <c:pt idx="8">
                    <c:v>-3.6</c:v>
                  </c:pt>
                  <c:pt idx="9">
                    <c:v>-3.3</c:v>
                  </c:pt>
                  <c:pt idx="10">
                    <c:v>-3.0</c:v>
                  </c:pt>
                  <c:pt idx="11">
                    <c:v>-2.7</c:v>
                  </c:pt>
                  <c:pt idx="12">
                    <c:v>-2.4</c:v>
                  </c:pt>
                  <c:pt idx="13">
                    <c:v>-2.1</c:v>
                  </c:pt>
                  <c:pt idx="14">
                    <c:v>-1.8</c:v>
                  </c:pt>
                  <c:pt idx="15">
                    <c:v>-1.5</c:v>
                  </c:pt>
                  <c:pt idx="16">
                    <c:v>-1.2</c:v>
                  </c:pt>
                  <c:pt idx="17">
                    <c:v>-0.9</c:v>
                  </c:pt>
                  <c:pt idx="18">
                    <c:v>-0.6</c:v>
                  </c:pt>
                  <c:pt idx="19">
                    <c:v>-0.3</c:v>
                  </c:pt>
                  <c:pt idx="20">
                    <c:v>0.0</c:v>
                  </c:pt>
                  <c:pt idx="21">
                    <c:v>0.3</c:v>
                  </c:pt>
                  <c:pt idx="22">
                    <c:v>0.6</c:v>
                  </c:pt>
                  <c:pt idx="23">
                    <c:v>0.9</c:v>
                  </c:pt>
                  <c:pt idx="24">
                    <c:v>1.2</c:v>
                  </c:pt>
                  <c:pt idx="25">
                    <c:v>1.5</c:v>
                  </c:pt>
                  <c:pt idx="26">
                    <c:v>1.8</c:v>
                  </c:pt>
                  <c:pt idx="27">
                    <c:v>2.1</c:v>
                  </c:pt>
                  <c:pt idx="28">
                    <c:v>2.4</c:v>
                  </c:pt>
                  <c:pt idx="29">
                    <c:v>2.7</c:v>
                  </c:pt>
                  <c:pt idx="30">
                    <c:v>3.0</c:v>
                  </c:pt>
                  <c:pt idx="31">
                    <c:v>3.3</c:v>
                  </c:pt>
                  <c:pt idx="32">
                    <c:v>3.6</c:v>
                  </c:pt>
                  <c:pt idx="33">
                    <c:v>3.9</c:v>
                  </c:pt>
                  <c:pt idx="34">
                    <c:v>4.2</c:v>
                  </c:pt>
                  <c:pt idx="35">
                    <c:v>4.5</c:v>
                  </c:pt>
                  <c:pt idx="36">
                    <c:v>4.8</c:v>
                  </c:pt>
                  <c:pt idx="37">
                    <c:v>5.1</c:v>
                  </c:pt>
                  <c:pt idx="38">
                    <c:v>5.4</c:v>
                  </c:pt>
                  <c:pt idx="39">
                    <c:v>5.7</c:v>
                  </c:pt>
                  <c:pt idx="40">
                    <c:v>6.0</c:v>
                  </c:pt>
                </c:lvl>
              </c:multiLvlStrCache>
            </c:multiLvl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0.0024726231566347743</c:v>
                </c:pt>
                <c:pt idx="1">
                  <c:v>0.0033348073074133443</c:v>
                </c:pt>
                <c:pt idx="2">
                  <c:v>0.004496273160941178</c:v>
                </c:pt>
                <c:pt idx="3">
                  <c:v>0.006059801491584117</c:v>
                </c:pt>
                <c:pt idx="4">
                  <c:v>0.008162571153159897</c:v>
                </c:pt>
                <c:pt idx="5">
                  <c:v>0.01098694263059318</c:v>
                </c:pt>
                <c:pt idx="6">
                  <c:v>0.014774031693273055</c:v>
                </c:pt>
                <c:pt idx="7">
                  <c:v>0.01984030573407751</c:v>
                </c:pt>
                <c:pt idx="8">
                  <c:v>0.026596993576865856</c:v>
                </c:pt>
                <c:pt idx="9">
                  <c:v>0.03557118927263618</c:v>
                </c:pt>
                <c:pt idx="10">
                  <c:v>0.04742587317756678</c:v>
                </c:pt>
                <c:pt idx="11">
                  <c:v>0.06297335605699649</c:v>
                </c:pt>
                <c:pt idx="12">
                  <c:v>0.08317269649392238</c:v>
                </c:pt>
                <c:pt idx="13">
                  <c:v>0.10909682119561294</c:v>
                </c:pt>
                <c:pt idx="14">
                  <c:v>0.14185106490048782</c:v>
                </c:pt>
                <c:pt idx="15">
                  <c:v>0.18242552380635635</c:v>
                </c:pt>
                <c:pt idx="16">
                  <c:v>0.23147521650098232</c:v>
                </c:pt>
                <c:pt idx="17">
                  <c:v>0.28905049737499594</c:v>
                </c:pt>
                <c:pt idx="18">
                  <c:v>0.35434369377420466</c:v>
                </c:pt>
                <c:pt idx="19">
                  <c:v>0.4255574831883411</c:v>
                </c:pt>
                <c:pt idx="20">
                  <c:v>0.5</c:v>
                </c:pt>
                <c:pt idx="21">
                  <c:v>0.5744425168116589</c:v>
                </c:pt>
                <c:pt idx="22">
                  <c:v>0.6456563062257954</c:v>
                </c:pt>
                <c:pt idx="23">
                  <c:v>0.710949502625004</c:v>
                </c:pt>
                <c:pt idx="24">
                  <c:v>0.7685247834990178</c:v>
                </c:pt>
                <c:pt idx="25">
                  <c:v>0.8175744761936437</c:v>
                </c:pt>
                <c:pt idx="26">
                  <c:v>0.8581489350995123</c:v>
                </c:pt>
                <c:pt idx="27">
                  <c:v>0.8909031788043871</c:v>
                </c:pt>
                <c:pt idx="28">
                  <c:v>0.9168273035060777</c:v>
                </c:pt>
                <c:pt idx="29">
                  <c:v>0.9370266439430035</c:v>
                </c:pt>
                <c:pt idx="30">
                  <c:v>0.9525741268224334</c:v>
                </c:pt>
                <c:pt idx="31">
                  <c:v>0.9644288107273639</c:v>
                </c:pt>
                <c:pt idx="32">
                  <c:v>0.973403006423134</c:v>
                </c:pt>
                <c:pt idx="33">
                  <c:v>0.9801596942659225</c:v>
                </c:pt>
                <c:pt idx="34">
                  <c:v>0.9852259683067269</c:v>
                </c:pt>
                <c:pt idx="35">
                  <c:v>0.9890130573694068</c:v>
                </c:pt>
                <c:pt idx="36">
                  <c:v>0.9918374288468401</c:v>
                </c:pt>
                <c:pt idx="37">
                  <c:v>0.9939401985084158</c:v>
                </c:pt>
                <c:pt idx="38">
                  <c:v>0.9955037268390589</c:v>
                </c:pt>
                <c:pt idx="39">
                  <c:v>0.9966651926925867</c:v>
                </c:pt>
                <c:pt idx="40">
                  <c:v>0.9975273768433653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B70"/>
                    </a:solidFill>
                    <a:latin typeface="Arial"/>
                  </a:rPr>
                  <a:t>weighted gene-expression score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B70"/>
                    </a:solidFill>
                    <a:latin typeface="Arial"/>
                  </a:rPr>
                  <a:t>P(recurrence)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“Always predict no-recurrence” (18% prevalence)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226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Accuracy</c:v>
                  </c:pt>
                  <c:pt idx="1">
                    <c:v>Recall (recurrence)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0.82</c:v>
                </c:pt>
                <c:pt idx="1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226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ROC curve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 (AUC 0.86)</c:v>
                </c:pt>
              </c:strCache>
            </c:strRef>
          </c:tx>
          <c:spPr>
            <a:solidFill>
              <a:srgbClr val="0E7C86"/>
            </a:solidFill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</c:v>
                </c:pt>
                <c:pt idx="7">
                  <c:v>0.75</c:v>
                </c:pt>
                <c:pt idx="8">
                  <c:v>1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0.25</c:v>
                </c:pt>
                <c:pt idx="2">
                  <c:v>0.45</c:v>
                </c:pt>
                <c:pt idx="3">
                  <c:v>0.62</c:v>
                </c:pt>
                <c:pt idx="4">
                  <c:v>0.78</c:v>
                </c:pt>
                <c:pt idx="5">
                  <c:v>0.88</c:v>
                </c:pt>
                <c:pt idx="6">
                  <c:v>0.94</c:v>
                </c:pt>
                <c:pt idx="7">
                  <c:v>0.98</c:v>
                </c:pt>
                <c:pt idx="8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chance</c:v>
                </c:pt>
              </c:strCache>
            </c:strRef>
          </c:tx>
          <c:spPr>
            <a:solidFill>
              <a:srgbClr val="C9D7D9"/>
            </a:solidFill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</c:v>
                </c:pt>
                <c:pt idx="7">
                  <c:v>0.75</c:v>
                </c:pt>
                <c:pt idx="8">
                  <c:v>1</c:v>
                </c:pt>
              </c:numCache>
            </c:numRef>
          </c:xVal>
          <c:y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</c:v>
                </c:pt>
                <c:pt idx="7">
                  <c:v>0.75</c:v>
                </c:pt>
                <c:pt idx="8">
                  <c:v>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False positive rate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True positive rate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B6B7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Precision–Recall curve (same model)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 (AUC 0.46)</c:v>
                </c:pt>
              </c:strCache>
            </c:strRef>
          </c:tx>
          <c:spPr>
            <a:solidFill>
              <a:srgbClr val="C2772B"/>
            </a:solidFill>
            <a:ln w="25400" cap="flat">
              <a:solidFill>
                <a:srgbClr val="C277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2772B"/>
              </a:solidFill>
              <a:ln w="9525" cap="flat">
                <a:solidFill>
                  <a:srgbClr val="C2772B"/>
                </a:solidFill>
                <a:prstDash val="solid"/>
                <a:round/>
              </a:ln>
              <a:effectLst/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0.75</c:v>
                </c:pt>
                <c:pt idx="5">
                  <c:v>0.85</c:v>
                </c:pt>
                <c:pt idx="6">
                  <c:v>0.95</c:v>
                </c:pt>
                <c:pt idx="7">
                  <c:v>1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0.82</c:v>
                </c:pt>
                <c:pt idx="1">
                  <c:v>0.64</c:v>
                </c:pt>
                <c:pt idx="2">
                  <c:v>0.5</c:v>
                </c:pt>
                <c:pt idx="3">
                  <c:v>0.38</c:v>
                </c:pt>
                <c:pt idx="4">
                  <c:v>0.3</c:v>
                </c:pt>
                <c:pt idx="5">
                  <c:v>0.25</c:v>
                </c:pt>
                <c:pt idx="6">
                  <c:v>0.21</c:v>
                </c:pt>
                <c:pt idx="7">
                  <c:v>0.18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prevalence 0.18</c:v>
                </c:pt>
              </c:strCache>
            </c:strRef>
          </c:tx>
          <c:spPr>
            <a:solidFill>
              <a:srgbClr val="C9D7D9"/>
            </a:solidFill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0.75</c:v>
                </c:pt>
                <c:pt idx="5">
                  <c:v>0.85</c:v>
                </c:pt>
                <c:pt idx="6">
                  <c:v>0.95</c:v>
                </c:pt>
                <c:pt idx="7">
                  <c:v>1</c:v>
                </c:pt>
              </c:numCache>
            </c:numRef>
          </c:xVal>
          <c:yVal>
            <c:numRef>
              <c:f>Sheet1!$C$2:$C$9</c:f>
              <c:numCache>
                <c:formatCode>General</c:formatCode>
                <c:ptCount val="8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  <c:pt idx="4">
                  <c:v>0.18</c:v>
                </c:pt>
                <c:pt idx="5">
                  <c:v>0.18</c:v>
                </c:pt>
                <c:pt idx="6">
                  <c:v>0.18</c:v>
                </c:pt>
                <c:pt idx="7">
                  <c:v>0.18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Recall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Precision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B6B7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2262B"/>
                </a:solidFill>
                <a:latin typeface="Arial"/>
              </a:rPr>
              <a:t>The overfitting gap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226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Training</c:v>
                  </c:pt>
                  <c:pt idx="1">
                    <c:v>Cross-validated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0.99</c:v>
                </c:pt>
                <c:pt idx="1">
                  <c:v>0.62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226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2262B"/>
                </a:solidFill>
                <a:latin typeface="Arial"/>
              </a:rPr>
              <a:t>training ↑ ; validation peaks then falls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</c:v>
                </c:pt>
              </c:strCache>
            </c:strRef>
          </c:tx>
          <c:spPr>
            <a:solidFill>
              <a:srgbClr val="0E7C86"/>
            </a:solidFill>
            <a:ln w="38100" cap="flat">
              <a:solidFill>
                <a:srgbClr val="0E7C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0.62</c:v>
                </c:pt>
                <c:pt idx="1">
                  <c:v>0.657</c:v>
                </c:pt>
                <c:pt idx="2">
                  <c:v>0.694</c:v>
                </c:pt>
                <c:pt idx="3">
                  <c:v>0.731</c:v>
                </c:pt>
                <c:pt idx="4">
                  <c:v>0.768</c:v>
                </c:pt>
                <c:pt idx="5">
                  <c:v>0.8049999999999999</c:v>
                </c:pt>
                <c:pt idx="6">
                  <c:v>0.842</c:v>
                </c:pt>
                <c:pt idx="7">
                  <c:v>0.879</c:v>
                </c:pt>
                <c:pt idx="8">
                  <c:v>0.9159999999999999</c:v>
                </c:pt>
                <c:pt idx="9">
                  <c:v>0.9530000000000001</c:v>
                </c:pt>
                <c:pt idx="10">
                  <c:v>0.99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C2772B"/>
            </a:solidFill>
            <a:ln w="38100" cap="flat">
              <a:solidFill>
                <a:srgbClr val="C277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772B"/>
              </a:solidFill>
              <a:ln w="9525" cap="flat">
                <a:solidFill>
                  <a:srgbClr val="C277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0.6311917743239809</c:v>
                </c:pt>
                <c:pt idx="1">
                  <c:v>0.6504223967730919</c:v>
                </c:pt>
                <c:pt idx="2">
                  <c:v>0.6862182994108597</c:v>
                </c:pt>
                <c:pt idx="3">
                  <c:v>0.7354124699173918</c:v>
                </c:pt>
                <c:pt idx="4">
                  <c:v>0.7810710770265865</c:v>
                </c:pt>
                <c:pt idx="5">
                  <c:v>0.8</c:v>
                </c:pt>
                <c:pt idx="6">
                  <c:v>0.7810710770265865</c:v>
                </c:pt>
                <c:pt idx="7">
                  <c:v>0.7354124699173918</c:v>
                </c:pt>
                <c:pt idx="8">
                  <c:v>0.6862182994108597</c:v>
                </c:pt>
                <c:pt idx="9">
                  <c:v>0.6504223967730919</c:v>
                </c:pt>
                <c:pt idx="10">
                  <c:v>0.6311917743239809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model complexity (weaker regularisation →)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performance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top coefficients (illustrative)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MKI67</c:v>
                  </c:pt>
                  <c:pt idx="1">
                    <c:v>CCNB1</c:v>
                  </c:pt>
                  <c:pt idx="2">
                    <c:v>AURKA</c:v>
                  </c:pt>
                  <c:pt idx="3">
                    <c:v>ESR1</c:v>
                  </c:pt>
                  <c:pt idx="4">
                    <c:v>BCL2</c:v>
                  </c:pt>
                  <c:pt idx="5">
                    <c:v>FOXA1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0.82</c:v>
                </c:pt>
                <c:pt idx="1">
                  <c:v>0.61</c:v>
                </c:pt>
                <c:pt idx="2">
                  <c:v>0.48</c:v>
                </c:pt>
                <c:pt idx="3">
                  <c:v>-0.55</c:v>
                </c:pt>
                <c:pt idx="4">
                  <c:v>-0.39</c:v>
                </c:pt>
                <c:pt idx="5">
                  <c:v>-0.3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1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Last lecture we refused to build a model; today we earn it. Warn them: the model takes ~10 minutes, the other 80 are about doing it trustworthily.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We have a clean, split, leak-aware METABRIC dataset with a binary recurrence label, known imbalance, discovered batch. We chose not to model last week. Now we do — every Lecture 1 safeguard still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Honest cross-validation and recognising overfitting are the items that separate a defensible baseline from a misleading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model is one of five stages. Most attention goes to the model; most failures happen in preprocessing, evaluation, or the split. The Lecture 1 wall wraps the whole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 model is a function from features to a predicted probability; training chooses its parameters to fit the training data; prediction freezes it and applies to new patients. Danger: flexible enough to memorise.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Input expression, output P(recurrence). Split discipline holds. Callback to Lecture 1: the binary label is a deliberate simplification of time-to-event data — fine for a baseline; revisit cost in Section 5. One line; don't teach survival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Genes live on different scales; arrays carry technical variation. A regularised linear model can be misled by scale alone. Preprocessing makes features comparable &amp; well-behaved. Golden rule: statistics learned on train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Log transform compresses dynamic range (often already applied — check). Per-gene z-score makes coefficients comparable. Scaling interacts with regularisation. Missing values imputed inside the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Standardising the whole matrix pre-split = normalisation leakage. Global-mean imputation leaks. Selecting genes on all samples leaks. Fix: fit on train, apply to val/test. A pipeline object enforces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Outputs a probability 0-1, then thresholds. Linear boundary = weighted sum of genes. Coefficients: positive→recurrence, negative→no. Interpretable, fast, hard to overfit WHEN regularised. Show the curve, no equation.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Two genes -&gt; a line; thousands -&gt; a hyperplane we reason about. One side predicts recurrence, the other not; near the line, unsure. The 0.5 threshold is a CHOICE we can move (Part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Interpretable (coefficients map to genes), stable, fast, often competitive in p&gt;&gt;n. The baseline is the yardstick: a fancy model must beat a well-built LR to justify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p&gt;&gt;n means plain LR can fit training perfectly and generalise terribly. Regularisation penalises large/numerous coefficients — reins in freedom. Intuition: simplest explanation consistent with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LASSO drives many coefficients exactly to zero — automatic sparse gene panel. Caveat (Lecture 1): among correlated genes it keeps one and drops the rest — unstable. A LASSO panel is a hypothesis, not a causal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Genes are correlated (pathways) — exactly LASSO's weak spot. Elastic Net keeps groups together → more stable signatures, answering 'signatures are not unique'. Default baseline: LR + Elastic 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Recurrence is a minority class; accuracy misleads. 'Always predict no-recurrence' scores high accuracy, zero recall. We need metrics that respect WHICH errors we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Precision = of predicted recurrences, how many real. Recall = of real recurrences, how many caught. F1 balances. Map to clinic: recall = not missing a relapser; precision = not over-flagging.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ROC-AUC = ranking quality across thresholds, optimistic under imbalance. PR-AUC = precision vs recall, more informative when positives rare. ROC alone insufficient: can look fine while precision on the rare class is poor. Report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single split in a small cohort is a noisy ruler. CV rotates the held-out fold and averages → stable estimate + variability. Still bound by Lecture 1: preprocessing &amp; selection inside each fold.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Classic mistake: select genes on all data, THEN cross-validate — CV score already leaked. Correct: whole pipeline refits inside each fold. Stratified folds; patient-level folds (Lecture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Great on training, poor on new data — memorising patients, not biology. In p&gt;&gt;n it's the DEFAULT. Diagnose by comparing train vs val/test: a large gap is the signature.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Weaken regularisation: training rises monotonically; validation rises, peaks, then falls. The peak is the sweet spot; beyond it the model fits noise. The practical reproduces this on METABRIC.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Coefficients rank genes — a starting point. But predictive ≠ causal; regularised coefficients are selected; read as hypotheses. Check plausibility &amp; stability across folds.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 baseline is the standard later models are judged against; it exposes data problems early; if a simple validated model works, that's a result, not a disappointment.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The pipeline, honest evaluation, and overfitting vigilance are what make the model trustworthy.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load prepared METABRIC, preprocess in a pipeline, train regularised LR, evaluate with the right metrics, cross-validate honestly, compare train vs test, interpret coefficients. Next: feature engineering — smarter features, not a fancier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9436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21792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76656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58952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1381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124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2354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50976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840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05840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3327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6070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8813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39496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9436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7665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0408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5895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8638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1381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4124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68680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611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2354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097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7840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00584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3327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070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8813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949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692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4360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2179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49224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76656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04088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31520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58952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638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1381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24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8680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96112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3544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097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7840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05840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103327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6070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108813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51206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53949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6692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594360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62179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64922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67665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704088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731520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5895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78638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81381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84124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868680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896112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2354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95097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97840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05840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103327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106070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1088136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51206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53949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56692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594360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621792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649224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676656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704088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731520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75895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78638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81381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84124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86868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89611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923544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950976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97840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100584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1033272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070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1088136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06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539496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56692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594360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621792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649224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676656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04088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31520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75895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78638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81381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841248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868680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89611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923544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95097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97840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1005840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3327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106070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8813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4" name="Shape 132"/>
          <p:cNvSpPr/>
          <p:nvPr/>
        </p:nvSpPr>
        <p:spPr>
          <a:xfrm>
            <a:off x="51206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5" name="Shape 133"/>
          <p:cNvSpPr/>
          <p:nvPr/>
        </p:nvSpPr>
        <p:spPr>
          <a:xfrm>
            <a:off x="53949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56692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7" name="Shape 135"/>
          <p:cNvSpPr/>
          <p:nvPr/>
        </p:nvSpPr>
        <p:spPr>
          <a:xfrm>
            <a:off x="594360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>
            <a:off x="621792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>
            <a:off x="64922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676656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>
            <a:off x="70408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>
            <a:off x="731520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>
            <a:off x="758952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>
            <a:off x="786384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>
            <a:off x="81381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>
            <a:off x="841248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868680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8" name="Shape 146"/>
          <p:cNvSpPr/>
          <p:nvPr/>
        </p:nvSpPr>
        <p:spPr>
          <a:xfrm>
            <a:off x="89611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9" name="Shape 147"/>
          <p:cNvSpPr/>
          <p:nvPr/>
        </p:nvSpPr>
        <p:spPr>
          <a:xfrm>
            <a:off x="923544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0" name="Shape 148"/>
          <p:cNvSpPr/>
          <p:nvPr/>
        </p:nvSpPr>
        <p:spPr>
          <a:xfrm>
            <a:off x="950976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1" name="Shape 149"/>
          <p:cNvSpPr/>
          <p:nvPr/>
        </p:nvSpPr>
        <p:spPr>
          <a:xfrm>
            <a:off x="97840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2" name="Shape 150"/>
          <p:cNvSpPr/>
          <p:nvPr/>
        </p:nvSpPr>
        <p:spPr>
          <a:xfrm>
            <a:off x="1005840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27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106070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5" name="Shape 153"/>
          <p:cNvSpPr/>
          <p:nvPr/>
        </p:nvSpPr>
        <p:spPr>
          <a:xfrm>
            <a:off x="108813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>
            <a:off x="51206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>
            <a:off x="53949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>
            <a:off x="566928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>
            <a:off x="594360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>
            <a:off x="621792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>
            <a:off x="649224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>
            <a:off x="67665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>
            <a:off x="704088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>
            <a:off x="731520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75895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6" name="Shape 164"/>
          <p:cNvSpPr/>
          <p:nvPr/>
        </p:nvSpPr>
        <p:spPr>
          <a:xfrm>
            <a:off x="786384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7" name="Shape 165"/>
          <p:cNvSpPr/>
          <p:nvPr/>
        </p:nvSpPr>
        <p:spPr>
          <a:xfrm>
            <a:off x="813816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68" name="Shape 166"/>
          <p:cNvSpPr/>
          <p:nvPr/>
        </p:nvSpPr>
        <p:spPr>
          <a:xfrm>
            <a:off x="841248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9" name="Shape 167"/>
          <p:cNvSpPr/>
          <p:nvPr/>
        </p:nvSpPr>
        <p:spPr>
          <a:xfrm>
            <a:off x="868680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0" name="Shape 168"/>
          <p:cNvSpPr/>
          <p:nvPr/>
        </p:nvSpPr>
        <p:spPr>
          <a:xfrm>
            <a:off x="89611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1" name="Shape 169"/>
          <p:cNvSpPr/>
          <p:nvPr/>
        </p:nvSpPr>
        <p:spPr>
          <a:xfrm>
            <a:off x="92354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2" name="Shape 170"/>
          <p:cNvSpPr/>
          <p:nvPr/>
        </p:nvSpPr>
        <p:spPr>
          <a:xfrm>
            <a:off x="95097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3" name="Shape 171"/>
          <p:cNvSpPr/>
          <p:nvPr/>
        </p:nvSpPr>
        <p:spPr>
          <a:xfrm>
            <a:off x="978408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4" name="Shape 172"/>
          <p:cNvSpPr/>
          <p:nvPr/>
        </p:nvSpPr>
        <p:spPr>
          <a:xfrm>
            <a:off x="1005840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5" name="Shape 173"/>
          <p:cNvSpPr/>
          <p:nvPr/>
        </p:nvSpPr>
        <p:spPr>
          <a:xfrm>
            <a:off x="103327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6" name="Shape 174"/>
          <p:cNvSpPr/>
          <p:nvPr/>
        </p:nvSpPr>
        <p:spPr>
          <a:xfrm>
            <a:off x="1060704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7" name="Shape 175"/>
          <p:cNvSpPr/>
          <p:nvPr/>
        </p:nvSpPr>
        <p:spPr>
          <a:xfrm>
            <a:off x="108813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8" name="Shape 176"/>
          <p:cNvSpPr/>
          <p:nvPr/>
        </p:nvSpPr>
        <p:spPr>
          <a:xfrm>
            <a:off x="512064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9" name="Shape 177"/>
          <p:cNvSpPr/>
          <p:nvPr/>
        </p:nvSpPr>
        <p:spPr>
          <a:xfrm>
            <a:off x="539496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0" name="Shape 178"/>
          <p:cNvSpPr/>
          <p:nvPr/>
        </p:nvSpPr>
        <p:spPr>
          <a:xfrm>
            <a:off x="566928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1" name="Shape 179"/>
          <p:cNvSpPr/>
          <p:nvPr/>
        </p:nvSpPr>
        <p:spPr>
          <a:xfrm>
            <a:off x="59436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2" name="Shape 180"/>
          <p:cNvSpPr/>
          <p:nvPr/>
        </p:nvSpPr>
        <p:spPr>
          <a:xfrm>
            <a:off x="62179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3" name="Shape 181"/>
          <p:cNvSpPr/>
          <p:nvPr/>
        </p:nvSpPr>
        <p:spPr>
          <a:xfrm>
            <a:off x="64922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4" name="Shape 182"/>
          <p:cNvSpPr/>
          <p:nvPr/>
        </p:nvSpPr>
        <p:spPr>
          <a:xfrm>
            <a:off x="67665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08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6" name="Shape 184"/>
          <p:cNvSpPr/>
          <p:nvPr/>
        </p:nvSpPr>
        <p:spPr>
          <a:xfrm>
            <a:off x="73152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7" name="Shape 185"/>
          <p:cNvSpPr/>
          <p:nvPr/>
        </p:nvSpPr>
        <p:spPr>
          <a:xfrm>
            <a:off x="758952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8" name="Shape 186"/>
          <p:cNvSpPr/>
          <p:nvPr/>
        </p:nvSpPr>
        <p:spPr>
          <a:xfrm>
            <a:off x="78638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81381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0" name="Shape 188"/>
          <p:cNvSpPr/>
          <p:nvPr/>
        </p:nvSpPr>
        <p:spPr>
          <a:xfrm>
            <a:off x="84124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1" name="Shape 189"/>
          <p:cNvSpPr/>
          <p:nvPr/>
        </p:nvSpPr>
        <p:spPr>
          <a:xfrm>
            <a:off x="868680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2" name="Shape 190"/>
          <p:cNvSpPr/>
          <p:nvPr/>
        </p:nvSpPr>
        <p:spPr>
          <a:xfrm>
            <a:off x="896112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923544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95097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5" name="Shape 193"/>
          <p:cNvSpPr/>
          <p:nvPr/>
        </p:nvSpPr>
        <p:spPr>
          <a:xfrm>
            <a:off x="978408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6" name="Shape 194"/>
          <p:cNvSpPr/>
          <p:nvPr/>
        </p:nvSpPr>
        <p:spPr>
          <a:xfrm>
            <a:off x="100584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7" name="Shape 195"/>
          <p:cNvSpPr/>
          <p:nvPr/>
        </p:nvSpPr>
        <p:spPr>
          <a:xfrm>
            <a:off x="103327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106070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9" name="Shape 197"/>
          <p:cNvSpPr/>
          <p:nvPr/>
        </p:nvSpPr>
        <p:spPr>
          <a:xfrm>
            <a:off x="108813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00" name="Shape 198"/>
          <p:cNvSpPr/>
          <p:nvPr/>
        </p:nvSpPr>
        <p:spPr>
          <a:xfrm>
            <a:off x="9509760" y="1234440"/>
            <a:ext cx="109728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  <a:tailEnd type="triangle"/>
          </a:ln>
        </p:spPr>
      </p:sp>
      <p:sp>
        <p:nvSpPr>
          <p:cNvPr id="201" name="Text 199"/>
          <p:cNvSpPr/>
          <p:nvPr/>
        </p:nvSpPr>
        <p:spPr>
          <a:xfrm>
            <a:off x="10607040" y="1051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02" name="Text 200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</a:t>
            </a:r>
            <a:endParaRPr lang="en-US" sz="1500" dirty="0"/>
          </a:p>
        </p:txBody>
      </p:sp>
      <p:sp>
        <p:nvSpPr>
          <p:cNvPr id="203" name="Text 201"/>
          <p:cNvSpPr/>
          <p:nvPr/>
        </p:nvSpPr>
        <p:spPr>
          <a:xfrm>
            <a:off x="640080" y="18288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the First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Model</a:t>
            </a:r>
            <a:endParaRPr lang="en-US" sz="4000" dirty="0"/>
          </a:p>
        </p:txBody>
      </p:sp>
      <p:sp>
        <p:nvSpPr>
          <p:cNvPr id="204" name="Text 202"/>
          <p:cNvSpPr/>
          <p:nvPr/>
        </p:nvSpPr>
        <p:spPr>
          <a:xfrm>
            <a:off x="64008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205" name="Text 203"/>
          <p:cNvSpPr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clean dataset to a baseline you can defend.</a:t>
            </a:r>
            <a:endParaRPr lang="en-US" sz="1800" dirty="0"/>
          </a:p>
        </p:txBody>
      </p:sp>
      <p:sp>
        <p:nvSpPr>
          <p:cNvPr id="206" name="Text 204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name · Affiliation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time: framed the clinical question, met the data matrix, p ≫ n, batch effects, leakage, and the split discipline.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left with a clean, split, leak-aware METABRIC dataset — and deliberately built no model.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first complete pipeline, and a model we can actually trust.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Through-line: a trustworthy biomarker matters more than a sophisticated algorithm.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&amp; validating models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structure of an ML pipeline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preprocessing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Logistic Regression conceptually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regularisation (LASSO, Elastic Net)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train / validation / test; cross-validation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the right classification metrics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overfitting — the default in p ≫ n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coefficients; know why a baseline is essential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 learning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94944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651760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889504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944368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901184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138928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193792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150608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388352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443216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400032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637776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692640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3832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 only — preprocessing &amp; model live inside the wall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" y="393192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 — and the model is only one of them.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a decision point; most failures happen outside the model box.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from Lecture 1 wraps the whole thing: preprocessing and fitting are train-only.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walk the pipeline end to end on METABRIC.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“training a model” actually 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a function from gene-expression features (X) to a predicted probability of recurrence.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“Training” = choosing the function’s parameters so its predictions fit the training data.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“Prediction” = applying the frozen function to new patients.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recurring danger: a function flexible enough to memorise training patients.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675120" y="2743200"/>
            <a:ext cx="155448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27432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75320" y="3291840"/>
            <a:ext cx="54864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869680" y="274320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86968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195560" y="3291840"/>
            <a:ext cx="45720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10058400" y="3931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P(recurrence)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675120" y="2331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 only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 today, restated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 patient’s expression profile (the wide X from Lecture 1).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probability of recurrence within the horizon (binary y).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the training split, tune on validation, do not touch the test set until the end.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6E9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38221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Callback — a choice we made on purpose (Lecture 1)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binary label is a deliberate simplification of time-to-event data. It discards timing (an 11-month and a 110-month relapse look identical) and forces censoring decisions. That is fine for learning to build a baseline — we pay the debt back in Section 5 (research-grade ML) with a survival model that keeps the time axis.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preprocess at all?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expression isn’t model-ready: genes live on different scales; arrays carry technical variation.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be misled by scale alone — a high-variance gene can dominate for non-biological reasons.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makes features comparable and well-behaved, without injecting outcome information.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rule (Lecture 1): every preprocessing statistic is learned on training data only.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8368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66560" y="2743200"/>
            <a:ext cx="384048" cy="237744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0" y="4663440"/>
            <a:ext cx="384048" cy="45720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0" y="3566160"/>
            <a:ext cx="384048" cy="155448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" name="Shape 9"/>
          <p:cNvSpPr/>
          <p:nvPr/>
        </p:nvSpPr>
        <p:spPr>
          <a:xfrm>
            <a:off x="8412480" y="4846320"/>
            <a:ext cx="384048" cy="27432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0" y="3200400"/>
            <a:ext cx="384048" cy="192024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" name="Text 11"/>
          <p:cNvSpPr/>
          <p:nvPr/>
        </p:nvSpPr>
        <p:spPr>
          <a:xfrm>
            <a:off x="9326880" y="2103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standardising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601200" y="4023360"/>
            <a:ext cx="384048" cy="10972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10149840" y="4206240"/>
            <a:ext cx="384048" cy="9144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10698480" y="3931920"/>
            <a:ext cx="384048" cy="1188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11247120" y="4297680"/>
            <a:ext cx="384048" cy="8229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11795760" y="4069080"/>
            <a:ext cx="384048" cy="10515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6766560" y="5166360"/>
            <a:ext cx="2743200" cy="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01200" y="5166360"/>
            <a:ext cx="2743200" cy="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on wildly different scales → comparable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for microarray transcriptomics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21408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63040" y="2103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transformation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463040" y="265176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 intensities span orders of magnitude; log compresses the range and stabilises variance. Often already applied — check first.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63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37960" y="2121408"/>
            <a:ext cx="457200" cy="457200"/>
          </a:xfrm>
          <a:prstGeom prst="ellipse">
            <a:avLst/>
          </a:prstGeom>
          <a:solidFill>
            <a:srgbClr val="14A6B0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178040" y="2103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Standardisation (z-score)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178040" y="265176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and scale each gene so coefficients and penalties are comparable across genes.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2960" y="4315968"/>
            <a:ext cx="457200" cy="45720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463040" y="4297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↔ regularisation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463040" y="48463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Penalties assume features share a scale; scaling choices change which genes the penalty can “see”.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63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537960" y="4315968"/>
            <a:ext cx="457200" cy="457200"/>
          </a:xfrm>
          <a:prstGeom prst="ellipse">
            <a:avLst/>
          </a:prstGeom>
          <a:solidFill>
            <a:srgbClr val="A8403A"/>
          </a:solidFill>
          <a:ln/>
        </p:spPr>
      </p:sp>
      <p:sp>
        <p:nvSpPr>
          <p:cNvPr id="24" name="Text 21"/>
          <p:cNvSpPr/>
          <p:nvPr/>
        </p:nvSpPr>
        <p:spPr>
          <a:xfrm>
            <a:off x="653796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178040" y="4297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178040" y="48463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pattern; impute inside the split (e.g. training-set medians) — never across train + test.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pitfalls: a leakage refresher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Standardising on the whole matrix before splitting = normalisation leakage.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Imputing with global means leaks; filtering genes by outcome-association on all samples is feature-selection leakage.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always the same: fit preprocessing on train, apply to validation / test.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“pipeline” object enforces this for you — a habit, not an afterthought.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19456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2DED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0" y="2331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stats computed before the split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040880" y="26974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/ impute / select on all samples → then split. The held-out data already shaped the model.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0" y="384048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040880" y="3977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stats computed inside the fold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040880" y="43434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first → fit preprocessing on train → apply to validation / test. Test touched once.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Regression, conceptually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 probability of recurrence between 0 and 1, then thresholds it into a class.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a linear decision boundary — a weighted sum of genes.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gene gets a coefficient: positive pushes toward recurrence, negative away.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Interpretable, fast, and — crucially in p ≫ n — hard to overfit when regularised.</a:t>
            </a:r>
            <a:endParaRPr lang="en-US" sz="15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219456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boundary, visually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two genes, the boundary is a line; with thousands, a hyperplane we reason about.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side predicts recurrence, the other no recurrence; near the line, the model is unsure.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(default 0.5) is a choice — we can move it to trade off the two error types.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103120"/>
            <a:ext cx="45720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0" y="5394960"/>
            <a:ext cx="3840480" cy="-292608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94913" y="464743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" name="Shape 8"/>
          <p:cNvSpPr/>
          <p:nvPr/>
        </p:nvSpPr>
        <p:spPr>
          <a:xfrm>
            <a:off x="8295528" y="29192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8995434" y="409755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7918232" y="480659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9571282" y="451496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9864356" y="496012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7614567" y="388109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0113" y="5360378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8837055" y="2975127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Shape 16"/>
          <p:cNvSpPr/>
          <p:nvPr/>
        </p:nvSpPr>
        <p:spPr>
          <a:xfrm>
            <a:off x="7324168" y="264151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06098" y="362381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10473740" y="3804325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2" name="Shape 19"/>
          <p:cNvSpPr/>
          <p:nvPr/>
        </p:nvSpPr>
        <p:spPr>
          <a:xfrm>
            <a:off x="9874544" y="493108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9579841" y="305808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8461746" y="433981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5" name="Shape 22"/>
          <p:cNvSpPr/>
          <p:nvPr/>
        </p:nvSpPr>
        <p:spPr>
          <a:xfrm>
            <a:off x="10052127" y="3816686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7631793" y="365217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8786466" y="353264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10090776" y="306457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9" name="Shape 26"/>
          <p:cNvSpPr/>
          <p:nvPr/>
        </p:nvSpPr>
        <p:spPr>
          <a:xfrm>
            <a:off x="9185665" y="339125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0" name="Shape 27"/>
          <p:cNvSpPr/>
          <p:nvPr/>
        </p:nvSpPr>
        <p:spPr>
          <a:xfrm>
            <a:off x="9013753" y="450603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1" name="Shape 28"/>
          <p:cNvSpPr/>
          <p:nvPr/>
        </p:nvSpPr>
        <p:spPr>
          <a:xfrm>
            <a:off x="7334247" y="268078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2" name="Shape 29"/>
          <p:cNvSpPr/>
          <p:nvPr/>
        </p:nvSpPr>
        <p:spPr>
          <a:xfrm>
            <a:off x="7911313" y="4015148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3" name="Shape 30"/>
          <p:cNvSpPr/>
          <p:nvPr/>
        </p:nvSpPr>
        <p:spPr>
          <a:xfrm>
            <a:off x="10605749" y="387598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39380" y="481567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7672525" y="4151204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6" name="Shape 33"/>
          <p:cNvSpPr/>
          <p:nvPr/>
        </p:nvSpPr>
        <p:spPr>
          <a:xfrm>
            <a:off x="8928184" y="410325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7" name="Shape 34"/>
          <p:cNvSpPr/>
          <p:nvPr/>
        </p:nvSpPr>
        <p:spPr>
          <a:xfrm>
            <a:off x="7362238" y="485153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8" name="Shape 35"/>
          <p:cNvSpPr/>
          <p:nvPr/>
        </p:nvSpPr>
        <p:spPr>
          <a:xfrm>
            <a:off x="8114342" y="295556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10670469" y="3026736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0" name="Shape 37"/>
          <p:cNvSpPr/>
          <p:nvPr/>
        </p:nvSpPr>
        <p:spPr>
          <a:xfrm>
            <a:off x="8415383" y="302088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1" name="Shape 38"/>
          <p:cNvSpPr/>
          <p:nvPr/>
        </p:nvSpPr>
        <p:spPr>
          <a:xfrm>
            <a:off x="9735606" y="402249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2" name="Shape 39"/>
          <p:cNvSpPr/>
          <p:nvPr/>
        </p:nvSpPr>
        <p:spPr>
          <a:xfrm>
            <a:off x="10818657" y="540358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3" name="Shape 40"/>
          <p:cNvSpPr/>
          <p:nvPr/>
        </p:nvSpPr>
        <p:spPr>
          <a:xfrm>
            <a:off x="10736939" y="47214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4" name="Shape 41"/>
          <p:cNvSpPr/>
          <p:nvPr/>
        </p:nvSpPr>
        <p:spPr>
          <a:xfrm>
            <a:off x="7854626" y="340169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5" name="Shape 42"/>
          <p:cNvSpPr/>
          <p:nvPr/>
        </p:nvSpPr>
        <p:spPr>
          <a:xfrm>
            <a:off x="9476738" y="343696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6" name="Shape 43"/>
          <p:cNvSpPr/>
          <p:nvPr/>
        </p:nvSpPr>
        <p:spPr>
          <a:xfrm>
            <a:off x="9818612" y="260716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8688673" y="270943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8" name="Shape 45"/>
          <p:cNvSpPr/>
          <p:nvPr/>
        </p:nvSpPr>
        <p:spPr>
          <a:xfrm>
            <a:off x="8190059" y="4673265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7026057" y="52424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733965" y="346820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8212423" y="238491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2" name="Shape 49"/>
          <p:cNvSpPr/>
          <p:nvPr/>
        </p:nvSpPr>
        <p:spPr>
          <a:xfrm>
            <a:off x="9838621" y="3846878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0479162" y="542451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9551151" y="347796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0471806" y="411764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6" name="Shape 53"/>
          <p:cNvSpPr/>
          <p:nvPr/>
        </p:nvSpPr>
        <p:spPr>
          <a:xfrm>
            <a:off x="10930720" y="398924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10415455" y="334479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8" name="Shape 55"/>
          <p:cNvSpPr/>
          <p:nvPr/>
        </p:nvSpPr>
        <p:spPr>
          <a:xfrm>
            <a:off x="7004857" y="519230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9" name="Shape 56"/>
          <p:cNvSpPr/>
          <p:nvPr/>
        </p:nvSpPr>
        <p:spPr>
          <a:xfrm>
            <a:off x="8110299" y="398872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0" name="Shape 57"/>
          <p:cNvSpPr/>
          <p:nvPr/>
        </p:nvSpPr>
        <p:spPr>
          <a:xfrm>
            <a:off x="10794201" y="254720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9644014" y="272473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2" name="Shape 59"/>
          <p:cNvSpPr/>
          <p:nvPr/>
        </p:nvSpPr>
        <p:spPr>
          <a:xfrm>
            <a:off x="10879198" y="521296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3" name="Shape 60"/>
          <p:cNvSpPr/>
          <p:nvPr/>
        </p:nvSpPr>
        <p:spPr>
          <a:xfrm>
            <a:off x="9456016" y="491679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4" name="Shape 61"/>
          <p:cNvSpPr/>
          <p:nvPr/>
        </p:nvSpPr>
        <p:spPr>
          <a:xfrm>
            <a:off x="8444214" y="3501783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5" name="Shape 62"/>
          <p:cNvSpPr/>
          <p:nvPr/>
        </p:nvSpPr>
        <p:spPr>
          <a:xfrm>
            <a:off x="8071393" y="294382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6" name="Shape 63"/>
          <p:cNvSpPr/>
          <p:nvPr/>
        </p:nvSpPr>
        <p:spPr>
          <a:xfrm>
            <a:off x="10722448" y="3154058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7" name="Shape 64"/>
          <p:cNvSpPr/>
          <p:nvPr/>
        </p:nvSpPr>
        <p:spPr>
          <a:xfrm>
            <a:off x="8736156" y="510309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8" name="Shape 65"/>
          <p:cNvSpPr/>
          <p:nvPr/>
        </p:nvSpPr>
        <p:spPr>
          <a:xfrm>
            <a:off x="7218087" y="393628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9" name="Shape 66"/>
          <p:cNvSpPr/>
          <p:nvPr/>
        </p:nvSpPr>
        <p:spPr>
          <a:xfrm>
            <a:off x="10405615" y="4092517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0" name="Text 67"/>
          <p:cNvSpPr/>
          <p:nvPr/>
        </p:nvSpPr>
        <p:spPr>
          <a:xfrm>
            <a:off x="676656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A →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87552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6903720" y="5349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recurrence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Logistic Regression is a strong baseline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Interpretable: coefficients map to genes that clinicians and biologists can scrutinise.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and fast: trains in seconds on thousands of genes, easy to cross-validate.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competitive: in p ≫ n with modest signal, simple linear models frequently match or beat complex ones.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the yardstick: any fancy model must beat a well-built Logistic Regression to justify itself.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949440" y="521208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 w="12700"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49440" y="5212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regularised LR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416052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41605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tree ensembles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0" y="31089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deep learning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49440" y="6080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beaten to matter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need regularisation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≫ n means a plain Logistic Regression can fit the training data perfectly — and generalise terribly.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 adds a penalty for large / numerous coefficients: it reins in the model’s freedom.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prefer the simplest explanation consistent with the data (fewer, smaller gene weights).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tool for making linear models work in transcriptomics.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0" y="2468880"/>
            <a:ext cx="2286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 (no penalty)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6442" y="427360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8"/>
          <p:cNvSpPr/>
          <p:nvPr/>
        </p:nvSpPr>
        <p:spPr>
          <a:xfrm>
            <a:off x="7061595" y="295517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8332730" y="344795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6490" y="348252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058122" y="305503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8721234" y="328140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6" name="Shape 13"/>
          <p:cNvSpPr/>
          <p:nvPr/>
        </p:nvSpPr>
        <p:spPr>
          <a:xfrm>
            <a:off x="7026850" y="265443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7474861" y="453047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7179052" y="353412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7518913" y="3127683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8064369" y="360341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7723116" y="420327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2" name="Shape 19"/>
          <p:cNvSpPr/>
          <p:nvPr/>
        </p:nvSpPr>
        <p:spPr>
          <a:xfrm>
            <a:off x="7182840" y="301839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7992320" y="356161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50101" y="374485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5" name="Shape 22"/>
          <p:cNvSpPr/>
          <p:nvPr/>
        </p:nvSpPr>
        <p:spPr>
          <a:xfrm>
            <a:off x="7778129" y="31352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7890154" y="343592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8594878" y="46192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7836956" y="3500294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Shape 26"/>
          <p:cNvSpPr/>
          <p:nvPr/>
        </p:nvSpPr>
        <p:spPr>
          <a:xfrm>
            <a:off x="7655734" y="451083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Shape 27"/>
          <p:cNvSpPr/>
          <p:nvPr/>
        </p:nvSpPr>
        <p:spPr>
          <a:xfrm>
            <a:off x="8798673" y="318630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7887933" y="414106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0" y="2560320"/>
            <a:ext cx="-86781" cy="283464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14219" y="2843784"/>
            <a:ext cx="405143" cy="283464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319362" y="3127248"/>
            <a:ext cx="-693118" cy="283464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626244" y="3410712"/>
            <a:ext cx="722581" cy="283464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348825" y="3694176"/>
            <a:ext cx="-588714" cy="283464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60111" y="3977640"/>
            <a:ext cx="-147522" cy="283464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612589" y="4261104"/>
            <a:ext cx="711504" cy="283464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24093" y="4544568"/>
            <a:ext cx="-300514" cy="283464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326880" y="2468880"/>
            <a:ext cx="2286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2688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9985419" y="420954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3" name="Shape 40"/>
          <p:cNvSpPr/>
          <p:nvPr/>
        </p:nvSpPr>
        <p:spPr>
          <a:xfrm>
            <a:off x="11195639" y="265884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4" name="Shape 41"/>
          <p:cNvSpPr/>
          <p:nvPr/>
        </p:nvSpPr>
        <p:spPr>
          <a:xfrm>
            <a:off x="9625518" y="411653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59382" y="401704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6" name="Shape 43"/>
          <p:cNvSpPr/>
          <p:nvPr/>
        </p:nvSpPr>
        <p:spPr>
          <a:xfrm>
            <a:off x="11065664" y="393349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9970757" y="453976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8" name="Shape 45"/>
          <p:cNvSpPr/>
          <p:nvPr/>
        </p:nvSpPr>
        <p:spPr>
          <a:xfrm>
            <a:off x="10017043" y="3052043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10401007" y="4290792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596244" y="2809493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9670143" y="436074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2" name="Shape 49"/>
          <p:cNvSpPr/>
          <p:nvPr/>
        </p:nvSpPr>
        <p:spPr>
          <a:xfrm>
            <a:off x="11291657" y="401020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1238506" y="457310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10919306" y="379938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0211229" y="325379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6" name="Shape 53"/>
          <p:cNvSpPr/>
          <p:nvPr/>
        </p:nvSpPr>
        <p:spPr>
          <a:xfrm>
            <a:off x="10885435" y="351489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9961237" y="3687837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8" name="Shape 55"/>
          <p:cNvSpPr/>
          <p:nvPr/>
        </p:nvSpPr>
        <p:spPr>
          <a:xfrm>
            <a:off x="10402445" y="374609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9" name="Shape 56"/>
          <p:cNvSpPr/>
          <p:nvPr/>
        </p:nvSpPr>
        <p:spPr>
          <a:xfrm>
            <a:off x="10030972" y="391854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0" name="Shape 57"/>
          <p:cNvSpPr/>
          <p:nvPr/>
        </p:nvSpPr>
        <p:spPr>
          <a:xfrm>
            <a:off x="11143045" y="439083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9782855" y="356087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2" name="Shape 59"/>
          <p:cNvSpPr/>
          <p:nvPr/>
        </p:nvSpPr>
        <p:spPr>
          <a:xfrm>
            <a:off x="9905449" y="378097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3" name="Shape 60"/>
          <p:cNvSpPr/>
          <p:nvPr/>
        </p:nvSpPr>
        <p:spPr>
          <a:xfrm>
            <a:off x="10974031" y="277234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4" name="Shape 61"/>
          <p:cNvSpPr/>
          <p:nvPr/>
        </p:nvSpPr>
        <p:spPr>
          <a:xfrm>
            <a:off x="10469880" y="2560320"/>
            <a:ext cx="45720" cy="219456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LASSO: sparse, feature-selecting models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LASSO penalty drives many coefficients exactly to zero — it selects a small gene panel automatically.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sparse, interpretable signature — attractive for a candidate biomarker.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 (Lecture 1): among correlated genes, LASSO keeps one and drops the rest — selection is unstable.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LASSO panel is a hypothesis, not a proven causal gene set.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286000"/>
            <a:ext cx="4572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0" y="3840480"/>
            <a:ext cx="4572000" cy="0"/>
          </a:xfrm>
          <a:prstGeom prst="line">
            <a:avLst/>
          </a:prstGeom>
          <a:noFill/>
          <a:ln w="19050">
            <a:solidFill>
              <a:srgbClr val="C9D7D9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6766560" y="5100066"/>
            <a:ext cx="381000" cy="-19084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47560" y="4909220"/>
            <a:ext cx="381000" cy="-19084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28560" y="4718373"/>
            <a:ext cx="381000" cy="-19084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909560" y="4527527"/>
            <a:ext cx="381000" cy="-19084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90560" y="4336681"/>
            <a:ext cx="381000" cy="-19084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71560" y="4145834"/>
            <a:ext cx="381000" cy="-19084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052560" y="3954988"/>
            <a:ext cx="381000" cy="-114508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33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814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195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576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57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66560" y="2779776"/>
            <a:ext cx="381000" cy="210457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47560" y="2990233"/>
            <a:ext cx="381000" cy="210457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28560" y="3200690"/>
            <a:ext cx="381000" cy="210457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09560" y="3411147"/>
            <a:ext cx="381000" cy="210457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90560" y="3621605"/>
            <a:ext cx="381000" cy="210457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71560" y="3832062"/>
            <a:ext cx="381000" cy="8418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052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433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814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195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576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957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66560" y="4662526"/>
            <a:ext cx="381000" cy="-95144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147560" y="4567381"/>
            <a:ext cx="381000" cy="-95144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28560" y="4472237"/>
            <a:ext cx="381000" cy="-95144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909560" y="4377093"/>
            <a:ext cx="381000" cy="-95144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0560" y="4281949"/>
            <a:ext cx="381000" cy="-95144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671560" y="4186805"/>
            <a:ext cx="381000" cy="-95144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052560" y="4091661"/>
            <a:ext cx="381000" cy="-95144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33560" y="3996516"/>
            <a:ext cx="381000" cy="-95144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814560" y="3901372"/>
            <a:ext cx="381000" cy="-60892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195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576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0957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766560" y="3177540"/>
            <a:ext cx="381000" cy="18415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147560" y="3361690"/>
            <a:ext cx="381000" cy="18415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528560" y="3545840"/>
            <a:ext cx="381000" cy="18415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909560" y="3729990"/>
            <a:ext cx="381000" cy="11049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290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71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052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433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814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195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576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957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766560" y="4304538"/>
            <a:ext cx="381000" cy="-7734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147560" y="4227195"/>
            <a:ext cx="381000" cy="-7734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528560" y="4149852"/>
            <a:ext cx="381000" cy="-7734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909560" y="4072509"/>
            <a:ext cx="381000" cy="-7734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290560" y="3995166"/>
            <a:ext cx="381000" cy="-7734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671560" y="3917823"/>
            <a:ext cx="381000" cy="-7734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052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433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814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0195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576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0957560" y="3840480"/>
            <a:ext cx="381000" cy="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766560" y="5007254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7147560" y="4963500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528560" y="4919746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909560" y="4875992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290560" y="4832238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671560" y="4788484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052560" y="4744730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9433560" y="4700976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9814560" y="4657222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10195560" y="4613468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0576560" y="4569714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0957560" y="4525960"/>
            <a:ext cx="381000" cy="-4375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6766560" y="2965399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147560" y="2998215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7528560" y="3031030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909560" y="3063846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290560" y="3096661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8671560" y="3129477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9052560" y="3162292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9433560" y="3195108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9814560" y="3227923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195560" y="3260739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576560" y="3293555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10957560" y="3326370"/>
            <a:ext cx="381000" cy="328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94" name="Text 91"/>
          <p:cNvSpPr/>
          <p:nvPr/>
        </p:nvSpPr>
        <p:spPr>
          <a:xfrm>
            <a:off x="6766560" y="54681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stronger penalty   ·   coefficients → 0</a:t>
            </a:r>
            <a:endParaRPr lang="en-US" sz="1100" dirty="0"/>
          </a:p>
        </p:txBody>
      </p:sp>
      <p:sp>
        <p:nvSpPr>
          <p:cNvPr id="95" name="Text 92"/>
          <p:cNvSpPr/>
          <p:nvPr/>
        </p:nvSpPr>
        <p:spPr>
          <a:xfrm>
            <a:off x="9509760" y="23957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 = selected panel</a:t>
            </a:r>
            <a:endParaRPr lang="en-US" sz="1000" dirty="0"/>
          </a:p>
        </p:txBody>
      </p:sp>
      <p:sp>
        <p:nvSpPr>
          <p:cNvPr id="96" name="Text 93"/>
          <p:cNvSpPr/>
          <p:nvPr/>
        </p:nvSpPr>
        <p:spPr>
          <a:xfrm>
            <a:off x="6903720" y="4892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genes → exactly 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Elastic Net: handling correlated genes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work in pathways — they are highly correlated, exactly the case LASSO handles poorly.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blends two penalties: it can keep groups of correlated genes together, improving stability.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robust signatures under resampling — directly addressing Lecture 1’s “signatures are not unique”.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sensible default baseline for transcriptomics: Logistic Regression + Elastic Net.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37744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— keeps one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31936" y="346557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94876" y="4204775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5896" y="3922426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225896" y="3008726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4876" y="2726377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21214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 cluster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326880" y="237744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2688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— keeps the group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1100816" y="346557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563756" y="4204775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694776" y="392242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94776" y="300872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563756" y="2726377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0" y="21214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 cluster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a classifier — accuracy is not enough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is a minority class (Lecture 1) — accuracy is misleading.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“no recurrence” for everyone can score high accuracy and be useless.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metrics that respect which errors we make, not just how many.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219456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confusion matrix and the metrics it yields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of predicted recurrences, how many were real (don’t over-flag).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/ sensitivity: of real recurrences, how many we caught (don’t miss a relapser).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the balance of the two.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 prioritise depends on the clinical cost asymmetry from Lecture 1.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2286000" cy="1280160"/>
          </a:xfrm>
          <a:prstGeom prst="rect">
            <a:avLst/>
          </a:prstGeom>
          <a:solidFill>
            <a:srgbClr val="DCEEE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7665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 real recurrence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961120" y="2377440"/>
            <a:ext cx="2286000" cy="1280160"/>
          </a:xfrm>
          <a:prstGeom prst="rect">
            <a:avLst/>
          </a:prstGeom>
          <a:solidFill>
            <a:srgbClr val="F6E9D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0525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0525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 (over-treat)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675120" y="3657600"/>
            <a:ext cx="2286000" cy="1280160"/>
          </a:xfrm>
          <a:prstGeom prst="rect">
            <a:avLst/>
          </a:prstGeom>
          <a:solidFill>
            <a:srgbClr val="F2DED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66560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a recurrence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61120" y="3657600"/>
            <a:ext cx="2286000" cy="1280160"/>
          </a:xfrm>
          <a:prstGeom prst="rect">
            <a:avLst/>
          </a:prstGeom>
          <a:solidFill>
            <a:srgbClr val="DCED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525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52560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675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→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60720" y="3520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↓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ROC-AUC and PR-AUC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ranking quality across thresholds; 0.5 chance, 1.0 perfect — but optimistic under imbalance.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PR-AUC: precision vs recall; far more informative when the positive class is rare.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both; choose the operating threshold deliberately, not by default.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3017520"/>
          <a:ext cx="5303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217920" y="3017520"/>
          <a:ext cx="5303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CROSS-VALIDATION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cross-validate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train/validation split in a small cohort gives a noisy estimate — it depends on who landed where.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reuses the data: rotate which fold is held out, average the results.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stable estimate of generalisation, and a sense of its variability.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bound by Lecture 1’s rules: preprocessing and feature selection go inside each fold.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286000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895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4183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3327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384280" y="22860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89520" y="2962656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039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183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327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384280" y="29626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6751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895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03920" y="3639312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4183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327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384280" y="363931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3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6751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5895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5039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418320" y="4315968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3327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1384280" y="431596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4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6751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895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5039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4183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332720" y="4992624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1384280" y="499262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5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67512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95528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CROSS-VALIDATION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Cross-validation done right in p ≫ 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mistake: select genes on all data, then cross-validate — the CV score is already leaked.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the entire pipeline (impute → scale → select → fit) refits within every fold.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folds preserve the recurrence minority in each split (Lecture 1).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folds if any patient has multiple samples (Lecture 1).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194560"/>
            <a:ext cx="4846320" cy="1554480"/>
          </a:xfrm>
          <a:prstGeom prst="roundRect">
            <a:avLst>
              <a:gd name="adj" fmla="val 4706"/>
            </a:avLst>
          </a:prstGeom>
          <a:solidFill>
            <a:srgbClr val="F2DED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0" y="2331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Leaky CV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040880" y="26974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select on ALL data  →  then CV. Held-out folds already shaped the genes; the score is confidently wrong.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0" y="3931920"/>
            <a:ext cx="484632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040880" y="4069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CV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040880" y="44348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fold: refit impute → scale → select → fit on that fold’s train only. The held-out fold stays unseen.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OVERFITTING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 — the core danger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= great on training, poor on new data — memorising patients, not biology (Lecture 1).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 ≫ n it is the default, not the exception — regularisation and honest validation are our defences.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it by comparing training vs validation/test performance: a large gap is the signature.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219456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OVERFITTING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Watching overfitting happen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we weaken regularisation, training performance climbs and validation performance peaks, then falls.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peak is the sweet spot; beyond it, the model fits noise.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bias–variance trade-off — taught by intuition, not equations.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228600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Interpreting the model (carefully)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rank genes by contribution — a starting point for biology.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(Lecture 1): predictive ≠ causal, and regularised coefficients are selected — read them as hypotheses.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checks: are top genes biologically plausible (proliferation, ER signalling)? stable across folds?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is where ML meets biology — and where overclaiming does the most damage.</a:t>
            </a:r>
            <a:endParaRPr lang="en-US" sz="15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675120" y="219456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6675120" y="5623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toward recurrence    ·    − toward no recurrence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BASELINES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baseline is the point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baseline is not a throwaway — it is the standard every later model is judged against.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exposes data problems early (leakage, imbalance, batch) before complexity hides them.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simple, well-validated model already works, that is a result — not a disappointment.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76656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baseline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006840" y="2834640"/>
            <a:ext cx="54864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601200" y="2377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it?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863840" y="3337560"/>
            <a:ext cx="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76656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data / pipeline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698480" y="3337560"/>
            <a:ext cx="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960120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60120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now: complex models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well-validated baseline model is more valuable than a sophisticated model with poor methodology.”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the evaluation, and the honesty about overfitting are what make a model trustworthy.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build, evaluate, and critique a baseline — the skill the rest of the course builds on.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 &amp; where each stage fits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inside the split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&amp; regularisation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 / test &amp; honest cross-validation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metrics under imbalance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diagnose &amp; defend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prepared METABRIC data (from Lecture 1)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 inside a pipeline (fit on train only)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regularised Logistic Regression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the right metrics; ROC &amp; PR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honestly; compare train vs test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coefficients as hypotheses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349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feature engineering — making the features smarter, not the model fancier.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 — Building the First Predictive Model</dc:title>
  <dc:subject>PptxGenJS Presentation</dc:subject>
  <dc:creator>Practical ML for Transcriptomics in Cancer Research</dc:creator>
  <cp:lastModifiedBy>Practical ML for Transcriptomics in Cancer Research</cp:lastModifiedBy>
  <cp:revision>1</cp:revision>
  <dcterms:created xsi:type="dcterms:W3CDTF">2026-06-17T12:21:37Z</dcterms:created>
  <dcterms:modified xsi:type="dcterms:W3CDTF">2026-06-17T12:21:37Z</dcterms:modified>
</cp:coreProperties>
</file>