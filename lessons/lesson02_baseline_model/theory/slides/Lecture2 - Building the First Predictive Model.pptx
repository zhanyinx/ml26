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5.xml" ContentType="application/vnd.openxmlformats-officedocument.drawingml.chart+xml"/>
  <Override PartName="/ppt/notesSlides/notesSlide22.xml" ContentType="application/vnd.openxmlformats-officedocument.presentationml.notesSlide+xml"/>
  <Override PartName="/ppt/charts/chart6.xml" ContentType="application/vnd.openxmlformats-officedocument.drawingml.chart+xml"/>
  <Override PartName="/ppt/notesSlides/notesSlide23.xml" ContentType="application/vnd.openxmlformats-officedocument.presentationml.notesSlide+xml"/>
  <Override PartName="/ppt/charts/chart7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2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7"/>
    <p:restoredTop sz="94640"/>
  </p:normalViewPr>
  <p:slideViewPr>
    <p:cSldViewPr snapToGrid="0" snapToObjects="1">
      <p:cViewPr varScale="1">
        <p:scale>
          <a:sx n="121" d="100"/>
          <a:sy n="121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score → probability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P(recurrence)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Sheet1!$A$2:$A$42</c:f>
              <c:strCache>
                <c:ptCount val="41"/>
                <c:pt idx="0">
                  <c:v>-6.0</c:v>
                </c:pt>
                <c:pt idx="1">
                  <c:v>-5.7</c:v>
                </c:pt>
                <c:pt idx="2">
                  <c:v>-5.4</c:v>
                </c:pt>
                <c:pt idx="3">
                  <c:v>-5.1</c:v>
                </c:pt>
                <c:pt idx="4">
                  <c:v>-4.8</c:v>
                </c:pt>
                <c:pt idx="5">
                  <c:v>-4.5</c:v>
                </c:pt>
                <c:pt idx="6">
                  <c:v>-4.2</c:v>
                </c:pt>
                <c:pt idx="7">
                  <c:v>-3.9</c:v>
                </c:pt>
                <c:pt idx="8">
                  <c:v>-3.6</c:v>
                </c:pt>
                <c:pt idx="9">
                  <c:v>-3.3</c:v>
                </c:pt>
                <c:pt idx="10">
                  <c:v>-3.0</c:v>
                </c:pt>
                <c:pt idx="11">
                  <c:v>-2.7</c:v>
                </c:pt>
                <c:pt idx="12">
                  <c:v>-2.4</c:v>
                </c:pt>
                <c:pt idx="13">
                  <c:v>-2.1</c:v>
                </c:pt>
                <c:pt idx="14">
                  <c:v>-1.8</c:v>
                </c:pt>
                <c:pt idx="15">
                  <c:v>-1.5</c:v>
                </c:pt>
                <c:pt idx="16">
                  <c:v>-1.2</c:v>
                </c:pt>
                <c:pt idx="17">
                  <c:v>-0.9</c:v>
                </c:pt>
                <c:pt idx="18">
                  <c:v>-0.6</c:v>
                </c:pt>
                <c:pt idx="19">
                  <c:v>-0.3</c:v>
                </c:pt>
                <c:pt idx="20">
                  <c:v>0.0</c:v>
                </c:pt>
                <c:pt idx="21">
                  <c:v>0.3</c:v>
                </c:pt>
                <c:pt idx="22">
                  <c:v>0.6</c:v>
                </c:pt>
                <c:pt idx="23">
                  <c:v>0.9</c:v>
                </c:pt>
                <c:pt idx="24">
                  <c:v>1.2</c:v>
                </c:pt>
                <c:pt idx="25">
                  <c:v>1.5</c:v>
                </c:pt>
                <c:pt idx="26">
                  <c:v>1.8</c:v>
                </c:pt>
                <c:pt idx="27">
                  <c:v>2.1</c:v>
                </c:pt>
                <c:pt idx="28">
                  <c:v>2.4</c:v>
                </c:pt>
                <c:pt idx="29">
                  <c:v>2.7</c:v>
                </c:pt>
                <c:pt idx="30">
                  <c:v>3.0</c:v>
                </c:pt>
                <c:pt idx="31">
                  <c:v>3.3</c:v>
                </c:pt>
                <c:pt idx="32">
                  <c:v>3.6</c:v>
                </c:pt>
                <c:pt idx="33">
                  <c:v>3.9</c:v>
                </c:pt>
                <c:pt idx="34">
                  <c:v>4.2</c:v>
                </c:pt>
                <c:pt idx="35">
                  <c:v>4.5</c:v>
                </c:pt>
                <c:pt idx="36">
                  <c:v>4.8</c:v>
                </c:pt>
                <c:pt idx="37">
                  <c:v>5.1</c:v>
                </c:pt>
                <c:pt idx="38">
                  <c:v>5.4</c:v>
                </c:pt>
                <c:pt idx="39">
                  <c:v>5.7</c:v>
                </c:pt>
                <c:pt idx="40">
                  <c:v>6.0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2.4726231566347743E-3</c:v>
                </c:pt>
                <c:pt idx="1">
                  <c:v>3.3348073074133443E-3</c:v>
                </c:pt>
                <c:pt idx="2">
                  <c:v>4.4962731609411782E-3</c:v>
                </c:pt>
                <c:pt idx="3">
                  <c:v>6.0598014915841172E-3</c:v>
                </c:pt>
                <c:pt idx="4">
                  <c:v>8.1625711531598966E-3</c:v>
                </c:pt>
                <c:pt idx="5">
                  <c:v>1.098694263059318E-2</c:v>
                </c:pt>
                <c:pt idx="6">
                  <c:v>1.4774031693273055E-2</c:v>
                </c:pt>
                <c:pt idx="7">
                  <c:v>1.984030573407751E-2</c:v>
                </c:pt>
                <c:pt idx="8">
                  <c:v>2.6596993576865856E-2</c:v>
                </c:pt>
                <c:pt idx="9">
                  <c:v>3.5571189272636181E-2</c:v>
                </c:pt>
                <c:pt idx="10">
                  <c:v>4.7425873177566781E-2</c:v>
                </c:pt>
                <c:pt idx="11">
                  <c:v>6.2973356056996485E-2</c:v>
                </c:pt>
                <c:pt idx="12">
                  <c:v>8.317269649392238E-2</c:v>
                </c:pt>
                <c:pt idx="13">
                  <c:v>0.10909682119561294</c:v>
                </c:pt>
                <c:pt idx="14">
                  <c:v>0.14185106490048782</c:v>
                </c:pt>
                <c:pt idx="15">
                  <c:v>0.18242552380635635</c:v>
                </c:pt>
                <c:pt idx="16">
                  <c:v>0.23147521650098232</c:v>
                </c:pt>
                <c:pt idx="17">
                  <c:v>0.28905049737499594</c:v>
                </c:pt>
                <c:pt idx="18">
                  <c:v>0.35434369377420466</c:v>
                </c:pt>
                <c:pt idx="19">
                  <c:v>0.42555748318834108</c:v>
                </c:pt>
                <c:pt idx="20">
                  <c:v>0.5</c:v>
                </c:pt>
                <c:pt idx="21">
                  <c:v>0.57444251681165892</c:v>
                </c:pt>
                <c:pt idx="22">
                  <c:v>0.6456563062257954</c:v>
                </c:pt>
                <c:pt idx="23">
                  <c:v>0.710949502625004</c:v>
                </c:pt>
                <c:pt idx="24">
                  <c:v>0.76852478349901776</c:v>
                </c:pt>
                <c:pt idx="25">
                  <c:v>0.81757447619364365</c:v>
                </c:pt>
                <c:pt idx="26">
                  <c:v>0.85814893509951229</c:v>
                </c:pt>
                <c:pt idx="27">
                  <c:v>0.89090317880438707</c:v>
                </c:pt>
                <c:pt idx="28">
                  <c:v>0.91682730350607766</c:v>
                </c:pt>
                <c:pt idx="29">
                  <c:v>0.9370266439430035</c:v>
                </c:pt>
                <c:pt idx="30">
                  <c:v>0.95257412682243336</c:v>
                </c:pt>
                <c:pt idx="31">
                  <c:v>0.96442881072736386</c:v>
                </c:pt>
                <c:pt idx="32">
                  <c:v>0.97340300642313404</c:v>
                </c:pt>
                <c:pt idx="33">
                  <c:v>0.98015969426592253</c:v>
                </c:pt>
                <c:pt idx="34">
                  <c:v>0.98522596830672693</c:v>
                </c:pt>
                <c:pt idx="35">
                  <c:v>0.98901305736940681</c:v>
                </c:pt>
                <c:pt idx="36">
                  <c:v>0.99183742884684012</c:v>
                </c:pt>
                <c:pt idx="37">
                  <c:v>0.99394019850841575</c:v>
                </c:pt>
                <c:pt idx="38">
                  <c:v>0.99550372683905886</c:v>
                </c:pt>
                <c:pt idx="39">
                  <c:v>0.99666519269258669</c:v>
                </c:pt>
                <c:pt idx="40">
                  <c:v>0.99752737684336534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B6A-3740-9077-237E0FE39F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weighted gene-expression score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tickLblSkip val="1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P(recurrence)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“Always predict no-recurrence” (18% prevalence)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Accuracy</c:v>
                </c:pt>
                <c:pt idx="1">
                  <c:v>Recall (recurrence)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3C-3F45-BC28-F6FAC7EDC4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ROC curve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(AUC 0.86)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0.25</c:v>
                </c:pt>
                <c:pt idx="2">
                  <c:v>0.45</c:v>
                </c:pt>
                <c:pt idx="3">
                  <c:v>0.62</c:v>
                </c:pt>
                <c:pt idx="4">
                  <c:v>0.78</c:v>
                </c:pt>
                <c:pt idx="5">
                  <c:v>0.88</c:v>
                </c:pt>
                <c:pt idx="6">
                  <c:v>0.94</c:v>
                </c:pt>
                <c:pt idx="7">
                  <c:v>0.98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EF2-8C4F-AA74-8AFD955917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chance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EF2-8C4F-AA74-8AFD955917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False positive rate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True positive rate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Precision–Recall curve (same model)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(AUC 0.46)</c:v>
                </c:pt>
              </c:strCache>
            </c:strRef>
          </c:tx>
          <c:spPr>
            <a:ln w="254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0.82</c:v>
                </c:pt>
                <c:pt idx="1">
                  <c:v>0.64</c:v>
                </c:pt>
                <c:pt idx="2">
                  <c:v>0.5</c:v>
                </c:pt>
                <c:pt idx="3">
                  <c:v>0.38</c:v>
                </c:pt>
                <c:pt idx="4">
                  <c:v>0.3</c:v>
                </c:pt>
                <c:pt idx="5">
                  <c:v>0.25</c:v>
                </c:pt>
                <c:pt idx="6">
                  <c:v>0.21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A92-6640-B159-0DC101364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prevalence 0.18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  <c:pt idx="4">
                  <c:v>0.18</c:v>
                </c:pt>
                <c:pt idx="5">
                  <c:v>0.18</c:v>
                </c:pt>
                <c:pt idx="6">
                  <c:v>0.18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A92-6640-B159-0DC101364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Recall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Precision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300" b="0" i="0" u="none" strike="noStrike">
                <a:solidFill>
                  <a:srgbClr val="12262B"/>
                </a:solidFill>
                <a:latin typeface="Arial"/>
              </a:rPr>
              <a:t>The overfitting gap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Training</c:v>
                </c:pt>
                <c:pt idx="1">
                  <c:v>Cross-validated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5B-0E4A-81E5-0C631824B9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100" b="0" i="0" u="none" strike="noStrike">
                <a:solidFill>
                  <a:srgbClr val="12262B"/>
                </a:solidFill>
                <a:latin typeface="Arial"/>
              </a:rPr>
              <a:t>training ↑ ; validation peaks then falls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0.62</c:v>
                </c:pt>
                <c:pt idx="1">
                  <c:v>0.65700000000000003</c:v>
                </c:pt>
                <c:pt idx="2">
                  <c:v>0.69399999999999995</c:v>
                </c:pt>
                <c:pt idx="3">
                  <c:v>0.73099999999999998</c:v>
                </c:pt>
                <c:pt idx="4">
                  <c:v>0.76800000000000002</c:v>
                </c:pt>
                <c:pt idx="5">
                  <c:v>0.80499999999999994</c:v>
                </c:pt>
                <c:pt idx="6">
                  <c:v>0.84199999999999997</c:v>
                </c:pt>
                <c:pt idx="7">
                  <c:v>0.879</c:v>
                </c:pt>
                <c:pt idx="8">
                  <c:v>0.91599999999999993</c:v>
                </c:pt>
                <c:pt idx="9">
                  <c:v>0.95300000000000007</c:v>
                </c:pt>
                <c:pt idx="10">
                  <c:v>0.99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57E-D841-AED4-A40C3714FD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ln w="381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0.63119177432398088</c:v>
                </c:pt>
                <c:pt idx="1">
                  <c:v>0.65042239677309188</c:v>
                </c:pt>
                <c:pt idx="2">
                  <c:v>0.68621829941085966</c:v>
                </c:pt>
                <c:pt idx="3">
                  <c:v>0.73541246991739184</c:v>
                </c:pt>
                <c:pt idx="4">
                  <c:v>0.78107107702658651</c:v>
                </c:pt>
                <c:pt idx="5">
                  <c:v>0.8</c:v>
                </c:pt>
                <c:pt idx="6">
                  <c:v>0.78107107702658651</c:v>
                </c:pt>
                <c:pt idx="7">
                  <c:v>0.73541246991739184</c:v>
                </c:pt>
                <c:pt idx="8">
                  <c:v>0.68621829941085966</c:v>
                </c:pt>
                <c:pt idx="9">
                  <c:v>0.65042239677309188</c:v>
                </c:pt>
                <c:pt idx="10">
                  <c:v>0.63119177432398088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C57E-D841-AED4-A40C3714F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model complexity (weaker regularisation →)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performance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top coefficients (illustrative)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MKI67</c:v>
                </c:pt>
                <c:pt idx="1">
                  <c:v>CCNB1</c:v>
                </c:pt>
                <c:pt idx="2">
                  <c:v>AURKA</c:v>
                </c:pt>
                <c:pt idx="3">
                  <c:v>ESR1</c:v>
                </c:pt>
                <c:pt idx="4">
                  <c:v>BCL2</c:v>
                </c:pt>
                <c:pt idx="5">
                  <c:v>FOXA1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0.82</c:v>
                </c:pt>
                <c:pt idx="1">
                  <c:v>0.61</c:v>
                </c:pt>
                <c:pt idx="2">
                  <c:v>0.48</c:v>
                </c:pt>
                <c:pt idx="3">
                  <c:v>-0.55000000000000004</c:v>
                </c:pt>
                <c:pt idx="4">
                  <c:v>-0.39</c:v>
                </c:pt>
                <c:pt idx="5">
                  <c:v>-0.3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DB-E242-A817-11DA3B9C8B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1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464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Last lecture we refused to build a model; today we earn it. Warn them: the model takes ~10 minutes, the other 80 are about doing it trustworthily.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We have a clean, split, leak-aware METABRIC dataset with a binary recurrence label, known imbalance, discovered batch. We chose not to model last week. Now we do — every Lecture 1 safeguard still in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Honest cross-validation and recognising overfitting are the items that separate a defensible baseline from a misleading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is one of five stages. Most attention goes to the model; most failures happen in preprocessing, evaluation, or the split. The Lecture 1 wall wraps the whole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model is a function from features to a predicted probability; training chooses its parameters to fit the training data; prediction freezes it and applies to new patients. Danger: flexible enough to memorise.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Input expression, output P(recurrence). Split discipline holds. Callback to Lecture 1: the binary label is a deliberate simplification of time-to-event data — fine for a baseline; revisit cost in Section 5. One line; don't teach survival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live on different scales; arrays carry technical variation. A regularised linear model can be misled by scale alone. Preprocessing makes features comparable &amp; well-behaved. Golden rule: statistics learned on train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Log transform compresses dynamic range (often already applied — check). Per-gene z-score makes coefficients comparable. Scaling interacts with regularisation. Missing values imputed inside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Standardising the whole matrix pre-split = normalisation leakage. Global-mean imputation leaks. Selecting genes on all samples leaks. Fix: fit on train, apply to val/test. A pipeline object enforces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Outputs a probability 0-1, then thresholds. Linear boundary = weighted sum of genes. Coefficients: positive→recurrence, negative→no. Interpretable, fast, hard to overfit WHEN regularised. Show the curve, no equation.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Two genes -&gt; a line; thousands -&gt; a hyperplane we reason about. One side predicts recurrence, the other not; near the line, unsure. The 0.5 threshold is a CHOICE we can move (Part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Interpretable (coefficients map to genes), stable, fast, often competitive in p&gt;&gt;n. The baseline is the yardstick: a fancy model must beat a well-built LR to justify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p&gt;&gt;n means plain LR can fit training perfectly and generalise terribly. Regularisation penalises large/numerous coefficients — reins in freedom. Intuition: simplest explanation consistent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lvl="0" indent="-285750">
              <a:buFont typeface="Arial"/>
              <a:buChar char="•"/>
            </a:pPr>
            <a:r>
              <a:rPr lang="en-US" dirty="0"/>
              <a:t>(~4 min) First flavour: LASSO.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By what it does (not maths): as the penalty grows, many coefficients go to EXACTLY zero.</a:t>
            </a:r>
          </a:p>
          <a:p>
            <a:pPr marL="571500" lvl="1" indent="-285750">
              <a:buFont typeface="Arial"/>
              <a:buChar char="–"/>
            </a:pPr>
            <a:r>
              <a:rPr lang="en-US" dirty="0"/>
              <a:t>Read the figure: genes collapse onto the zero line and drop out → a small surviving panel.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So LASSO = automatic feature selection → a sparse, compact, interpretable gene list. Attractive for biomarker hunting.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Caveat (ties to 'signatures aren't unique'): with correlated genes it keeps ONE arbitrarily, zeros the rest → unstable panel under resampling.</a:t>
            </a:r>
          </a:p>
          <a:p>
            <a:pPr marL="285750" lvl="0" indent="-285750">
              <a:buFont typeface="Arial"/>
              <a:buChar char="•"/>
            </a:pPr>
            <a:r>
              <a:rPr lang="en-US" b="1" dirty="0"/>
              <a:t>Q: If LASSO gives a different 12-gene panel each resample, is it broken?</a:t>
            </a:r>
          </a:p>
          <a:p>
            <a:pPr marL="285750" lvl="0" indent="-285750">
              <a:buFont typeface="Arial"/>
              <a:buChar char="–"/>
            </a:pPr>
            <a:r>
              <a:rPr lang="en-US" i="1" dirty="0">
                <a:solidFill>
                  <a:srgbClr val="C00000"/>
                </a:solidFill>
              </a:rPr>
              <a:t>A: No — it's the p ≫ n non-uniqueness again. A property of the data, not a flaw. But: don't over-interpret the list.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Myth: LASSO's selected genes are 'the important genes'. No — they're A sufficient predictive set in this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are correlated (pathways) — exactly LASSO's weak spot. Elastic Net keeps groups together → more stable signatures, answering 'signatures are not unique'. Default baseline: LR + Elastic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Recurrence is a minority class; accuracy misleads. 'Always predict no-recurrence' scores high accuracy, zero recall. We need metrics that respect WHICH errors we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Precision = of predicted recurrences, how many real. Recall = of real recurrences, how many caught. F1 balances. Map to clinic: recall = not missing a relapser; precision = not over-flagging.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ROC-AUC = ranking quality across thresholds, optimistic under imbalance. PR-AUC = precision vs recall, more informative when positives rare. ROC alone insufficient: can look fine while precision on the rare class is poor.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single split in a small cohort is a noisy ruler. CV rotates the held-out fold and averages → stable estimate + variability. Still bound by Lecture 1: preprocessing &amp; selection inside each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Classic mistake: select genes on all data, THEN cross-validate — CV score already leaked. Correct: whole pipeline refits inside each fold. Stratified folds; patient-level folds (Lecture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Great on training, poor on new data — memorising patients, not biology. In p&gt;&gt;n it's the DEFAULT. Diagnose by comparing train vs val/test: a large gap is the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Weaken regularisation: training rises monotonically; validation rises, peaks, then falls. The peak is the sweet spot; beyond it the model fits noise. The practical reproduces this on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 rank genes — a starting point. But predictive ≠ causal; regularised coefficients are selected; read as hypotheses. Check plausibility &amp; stability across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baseline is the standard later models are judged against; it exposes data problems early; if a simple validated model works, that's a result, not a disappointment.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The pipeline, honest evaluation, and overfitting vigilance are what make the model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load prepared METABRIC, preprocess in a pipeline, train regularised LR, evaluate with the right metrics, cross-validate honestly, compare train vs test, interpret coefficients. Next: feature engineering — smarter features, not a fancier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436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2179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76656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5895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124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354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5097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840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327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70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9496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5895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1381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4124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611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2354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840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584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3327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8813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949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692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436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4922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76656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04088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952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638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381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24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868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611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354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097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7840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0584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3327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6070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8813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51206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3949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6692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59436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62179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4922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67665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704088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731520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5895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8638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81381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4124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86868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96112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2354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95097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7840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3327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106070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1088136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51206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53949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56692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59436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62179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649224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7665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04088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3152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75895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78638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1381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4124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8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89611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354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950976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97840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0584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3327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070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813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06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53949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56692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594360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621792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64922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676656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04088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3152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75895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8638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81381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841248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86868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89611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2354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5097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7840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584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3327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070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8813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51206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53949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6692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59436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21792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64922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676656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70408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73152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758952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78638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81381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24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86868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89611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923544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95097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0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1005840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27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106070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108813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06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53949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56692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59436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621792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64922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65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704088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31520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75895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78638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813816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84124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86868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89611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92354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5097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97840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00584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106070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108813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51206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53949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566928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59436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62179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64922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67665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08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73152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758952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78638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81381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84124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86868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112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2354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95097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978408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00584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3327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06070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108813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2" name="Text 20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</a:t>
            </a:r>
            <a:endParaRPr lang="en-US" sz="1500" dirty="0"/>
          </a:p>
        </p:txBody>
      </p:sp>
      <p:sp>
        <p:nvSpPr>
          <p:cNvPr id="203" name="Text 201"/>
          <p:cNvSpPr/>
          <p:nvPr/>
        </p:nvSpPr>
        <p:spPr>
          <a:xfrm>
            <a:off x="64008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First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</a:t>
            </a:r>
            <a:endParaRPr lang="en-US" sz="4000" dirty="0"/>
          </a:p>
        </p:txBody>
      </p:sp>
      <p:sp>
        <p:nvSpPr>
          <p:cNvPr id="204" name="Text 202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05" name="Text 203"/>
          <p:cNvSpPr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clean dataset to a baseline you can defend.</a:t>
            </a:r>
            <a:endParaRPr lang="en-US" sz="1800" dirty="0"/>
          </a:p>
        </p:txBody>
      </p:sp>
      <p:sp>
        <p:nvSpPr>
          <p:cNvPr id="206" name="Text 204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framed the clinical question, met the data matrix, p ≫ n, batch effects, leakage, and the split discipline.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left with a clean, split, leak-aware METABRIC dataset — and deliberately built no model.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first complete pipeline, and a model we can actually trust.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a trustworthy biomarker matters more than a sophisticated algorithm.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structure of an ML pipeline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preprocessing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Logistic Regression conceptually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regularisation (LASSO, Elastic Net)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train / validation / test; cross-validation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classification metrics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</a:t>
            </a: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overfitting: the default in p ≫ n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coefficients; know why a baseline is essential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learning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94944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651760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89504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944368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01184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38928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93792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150608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388352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43216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400032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637776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92640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3832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 — preprocessing &amp; model live inside the wall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931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 — and the model is only one of them.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 decision point; most failures happen outside the model box.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fitting must happen within train-only.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walk the pipeline end to end on METABRIC.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“training a model” actually 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 function from gene-expression features (X) to a predicted probability of recurrence.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“Training” = choosing the function’s parameters so its predictions fit the training data.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“Prediction” = applying the frozen function to new patients.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recurring danger: a function flexible enough to memorise training patients.</a:t>
            </a:r>
          </a:p>
          <a:p>
            <a:pPr marL="203200" indent="-203200">
              <a:spcAft>
                <a:spcPts val="14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prevent overfitting: simple function, validation, </a:t>
            </a:r>
            <a:r>
              <a:rPr lang="en-US" sz="1600" b="1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11381" y="2204019"/>
            <a:ext cx="15544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11381" y="2204019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11581" y="2752659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05941" y="2204019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905941" y="2204019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231821" y="2752659"/>
            <a:ext cx="45720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10454640" y="25077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P(recurrence)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11381" y="1792539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 today, restated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patient’s expression profile (the wide X from 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probability of recurrence within the horizon (binary y).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training split, tune on validation, do not touch the test set until the end.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822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Callback — a choice we made on purpose (Lecture 1)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binary label is a deliberate simplification of time-to-event data. It discards timing (an 11-month and a 110-month relapse look identical) and forces censoring decisions. 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preprocess at all?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expression isn’t model-ready: genes live on different scales.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be misled by scale alone: a high-variance gene can dominate model optimization for no biological reason.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batches carry technical variation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Missing values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makes features comparable and well-behaved, without injecting outcome information.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preprocessing statistic must be learned on training data only.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66560" y="2743200"/>
            <a:ext cx="384048" cy="23774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4663440"/>
            <a:ext cx="384048" cy="45720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0" y="3566160"/>
            <a:ext cx="384048" cy="155448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0" y="4846320"/>
            <a:ext cx="384048" cy="27432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0" y="3200400"/>
            <a:ext cx="384048" cy="19202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standardising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023360"/>
            <a:ext cx="38404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10149840" y="4206240"/>
            <a:ext cx="38404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10698480" y="3931920"/>
            <a:ext cx="38404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11247120" y="4297680"/>
            <a:ext cx="384048" cy="8229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11795760" y="4069080"/>
            <a:ext cx="384048" cy="10515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676656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on wildly different scales → comparable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for microarray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2140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transformation (or VST norm)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 intensities span orders of magnitude; log compresses the range and stabilises variance. REMEMBER: often already applied, check first.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37960" y="2121408"/>
            <a:ext cx="457200" cy="457200"/>
          </a:xfrm>
          <a:prstGeom prst="ellipse">
            <a:avLst/>
          </a:prstGeom>
          <a:solidFill>
            <a:srgbClr val="14A6B0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78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Standardisation (z-score)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78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and scale each gene so coefficients and penalties are comparable across genes. WARNING: you lose relative information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" y="4315968"/>
            <a:ext cx="457200" cy="45720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463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↔ regularisation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assume features share a scale; scaling choices change which genes the penalty can “see”.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37960" y="4315968"/>
            <a:ext cx="457200" cy="457200"/>
          </a:xfrm>
          <a:prstGeom prst="ellipse">
            <a:avLst/>
          </a:prstGeom>
          <a:solidFill>
            <a:srgbClr val="A8403A"/>
          </a:solidFill>
          <a:ln/>
        </p:spPr>
      </p:sp>
      <p:sp>
        <p:nvSpPr>
          <p:cNvPr id="24" name="Text 21"/>
          <p:cNvSpPr/>
          <p:nvPr/>
        </p:nvSpPr>
        <p:spPr>
          <a:xfrm>
            <a:off x="6537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178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178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pattern; impute inside the split (e.g. training-set medians) — never across train + test.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pitfalls: a leakage refresher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Standardising on the whole matrix before splitting = normalisation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Imputing with global means leaks; filtering genes by outcome-association on all samples is feature-selection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always the same: fit preprocessing on train, apply to validation / test.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“pipeline” object enforces this for you — a habit, not an afterthought.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steps that feels innocent, but contains data leakage: quantile normalization, filter low variance genes using all the samples!</a:t>
            </a:r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stats computed before the split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impute / select on all samples → then split. The held-out data already shaped the model.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84048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3977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stats computed inside the fold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first → fit preprocessing on train → apply to validation / test. Test touched once.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Regression, conceptually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linear combination of gene expression -&gt; sigmoid function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recurrence between 0 and 1, then thresholds it into a class.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cs typeface="Calibri" pitchFamily="34" charset="-120"/>
              </a:rPr>
              <a:t>The model is uncertain around zero 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 gets a coefficient: positive pushes toward recurrence, negative away.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Interpretable, fast, and — crucially in p ≫ n — hard to overfit when </a:t>
            </a:r>
            <a:r>
              <a:rPr lang="en-US" sz="1550" b="1" dirty="0" err="1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</a:t>
            </a: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Very often, more complex model just leads to overfitting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4003309529"/>
              </p:ext>
            </p:extLst>
          </p:nvPr>
        </p:nvGraphicFramePr>
        <p:xfrm>
          <a:off x="6400800" y="148590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0451C51-49FC-72BF-123B-580C98C7A0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379" y="4907630"/>
            <a:ext cx="4360545" cy="17034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boundary, visually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genes, the boundary is a line; with thousands, a hyperplane we reason about.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side predicts recurrence, the other no recurrence; near the line, the model is unsure.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(default 0.5) is a choice — we can move it to trade off the two error types.</a:t>
            </a:r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THE WAY YOU MOVE IT DEPENDS ON WHAT IS WORSE: </a:t>
            </a:r>
            <a:r>
              <a:rPr lang="en-US" sz="1600" b="1" dirty="0" err="1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mislabelling</a:t>
            </a: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cs typeface="Calibri" pitchFamily="34" charset="-120"/>
              </a:rPr>
              <a:t> recurrence or no recurrence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03720" y="2196259"/>
            <a:ext cx="4343400" cy="3230963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4913" y="464743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295528" y="29192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995434" y="409755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918232" y="480659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9571282" y="451496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9864356" y="496012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614567" y="388109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0113" y="536037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837055" y="297512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7324168" y="264151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06098" y="362381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10473740" y="3804325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9874544" y="493108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9579841" y="305808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61746" y="433981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10052127" y="381668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631793" y="365217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786466" y="3532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090776" y="306457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9185665" y="339125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9013753" y="450603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8"/>
          <p:cNvSpPr/>
          <p:nvPr/>
        </p:nvSpPr>
        <p:spPr>
          <a:xfrm>
            <a:off x="7334247" y="26807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911313" y="401514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10605749" y="38759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39380" y="481567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7672525" y="4151204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8928184" y="410325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7362238" y="485153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8114342" y="295556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670469" y="302673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8415383" y="30208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9735606" y="402249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Shape 39"/>
          <p:cNvSpPr/>
          <p:nvPr/>
        </p:nvSpPr>
        <p:spPr>
          <a:xfrm>
            <a:off x="10818657" y="54035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736939" y="4721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7854626" y="340169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9476738" y="343696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Shape 43"/>
          <p:cNvSpPr/>
          <p:nvPr/>
        </p:nvSpPr>
        <p:spPr>
          <a:xfrm>
            <a:off x="9818612" y="260716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8688673" y="27094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8190059" y="4673265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026057" y="5242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733965" y="346820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8212423" y="238491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2" name="Shape 49"/>
          <p:cNvSpPr/>
          <p:nvPr/>
        </p:nvSpPr>
        <p:spPr>
          <a:xfrm>
            <a:off x="9838621" y="384687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479162" y="542451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9551151" y="347796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71806" y="4117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6" name="Shape 53"/>
          <p:cNvSpPr/>
          <p:nvPr/>
        </p:nvSpPr>
        <p:spPr>
          <a:xfrm>
            <a:off x="10930720" y="398924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415455" y="334479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8" name="Shape 55"/>
          <p:cNvSpPr/>
          <p:nvPr/>
        </p:nvSpPr>
        <p:spPr>
          <a:xfrm>
            <a:off x="7004857" y="519230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9" name="Shape 56"/>
          <p:cNvSpPr/>
          <p:nvPr/>
        </p:nvSpPr>
        <p:spPr>
          <a:xfrm>
            <a:off x="8110299" y="398872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794201" y="254720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644014" y="27247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79198" y="521296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9456016" y="49167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8444214" y="3501783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5" name="Shape 62"/>
          <p:cNvSpPr/>
          <p:nvPr/>
        </p:nvSpPr>
        <p:spPr>
          <a:xfrm>
            <a:off x="8071393" y="294382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6" name="Shape 63"/>
          <p:cNvSpPr/>
          <p:nvPr/>
        </p:nvSpPr>
        <p:spPr>
          <a:xfrm>
            <a:off x="10722448" y="315405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8736156" y="51030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7218087" y="393628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9" name="Shape 66"/>
          <p:cNvSpPr/>
          <p:nvPr/>
        </p:nvSpPr>
        <p:spPr>
          <a:xfrm>
            <a:off x="10405615" y="409251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90" name="gene B label"/>
          <p:cNvSpPr/>
          <p:nvPr/>
        </p:nvSpPr>
        <p:spPr>
          <a:xfrm rot="-5400000">
            <a:off x="596792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</a:rPr>
              <a:t>↑ gene B</a:t>
            </a:r>
          </a:p>
        </p:txBody>
      </p:sp>
      <p:sp>
        <p:nvSpPr>
          <p:cNvPr id="70" name="Text 67"/>
          <p:cNvSpPr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 →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87552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0372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Logistic Regression is a strong baseline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coefficients map to genes that clinicians and biologists can scrutinise.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and fast: trains in seconds on thousands of genes, easy to cross-validate.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competitive: in p ≫ n with modest signal, simple linear models frequently match or beat complex ones.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the important: any fancy model must beat a well-built Logistic Regression to justify itself.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949440" y="521208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 w="12700"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5212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regularised LR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416052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4160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tree ensembles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0" y="3108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deep learning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49440" y="6080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beaten to matter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regularisation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means a plain Logistic Regression can fit the training data perfectly, and generalise terribly.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adds a penalty for large / numerous coefficients: it reins in the model’s freedom.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prefer the simplest explanation consistent with the data (fewer, smaller gene weights).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tool for making linear models work in transcriptomics.</a:t>
            </a:r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Regularisation</a:t>
            </a: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 makes your models perform worse: the tiny improvement of performance might just be the overfitting, the </a:t>
            </a:r>
            <a:r>
              <a:rPr lang="en-US" sz="1600" b="1" dirty="0" err="1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memorisation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 (no penalty)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6442" y="427360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061595" y="29551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332730" y="344795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6490" y="348252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058122" y="30550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8721234" y="328140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7026850" y="265443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474861" y="453047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179052" y="353412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7518913" y="312768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64369" y="360341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7723116" y="420327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7182840" y="301839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7992320" y="356161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50101" y="37448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7778129" y="3135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890154" y="343592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594878" y="4619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7836956" y="350029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6"/>
          <p:cNvSpPr/>
          <p:nvPr/>
        </p:nvSpPr>
        <p:spPr>
          <a:xfrm>
            <a:off x="7655734" y="451083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8798673" y="31863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7887933" y="414106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85419" y="42095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3" name="Shape 40"/>
          <p:cNvSpPr/>
          <p:nvPr/>
        </p:nvSpPr>
        <p:spPr>
          <a:xfrm>
            <a:off x="11195639" y="265884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625518" y="41165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59382" y="401704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1065664" y="393349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9970757" y="45397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10017043" y="305204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10401007" y="429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596244" y="2809493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9670143" y="436074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91657" y="40102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1238506" y="45731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10919306" y="379938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211229" y="325379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885435" y="35148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961237" y="3687837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0402445" y="37460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30972" y="39185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0" name="Shape 57"/>
          <p:cNvSpPr/>
          <p:nvPr/>
        </p:nvSpPr>
        <p:spPr>
          <a:xfrm>
            <a:off x="11143045" y="439083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782855" y="35608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9905449" y="378097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974031" y="27723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4" name="Shape 61"/>
          <p:cNvSpPr/>
          <p:nvPr/>
        </p:nvSpPr>
        <p:spPr>
          <a:xfrm>
            <a:off x="10469880" y="2560320"/>
            <a:ext cx="45720" cy="219456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DC26D5E-15A5-8AB2-7093-E27B51B8E9FA}"/>
              </a:ext>
            </a:extLst>
          </p:cNvPr>
          <p:cNvSpPr/>
          <p:nvPr/>
        </p:nvSpPr>
        <p:spPr>
          <a:xfrm>
            <a:off x="7537622" y="2557849"/>
            <a:ext cx="1431385" cy="2323170"/>
          </a:xfrm>
          <a:custGeom>
            <a:avLst/>
            <a:gdLst>
              <a:gd name="connsiteX0" fmla="*/ 0 w 1431385"/>
              <a:gd name="connsiteY0" fmla="*/ 0 h 2323170"/>
              <a:gd name="connsiteX1" fmla="*/ 24713 w 1431385"/>
              <a:gd name="connsiteY1" fmla="*/ 61783 h 2323170"/>
              <a:gd name="connsiteX2" fmla="*/ 74140 w 1431385"/>
              <a:gd name="connsiteY2" fmla="*/ 148281 h 2323170"/>
              <a:gd name="connsiteX3" fmla="*/ 111210 w 1431385"/>
              <a:gd name="connsiteY3" fmla="*/ 234778 h 2323170"/>
              <a:gd name="connsiteX4" fmla="*/ 123567 w 1431385"/>
              <a:gd name="connsiteY4" fmla="*/ 469556 h 2323170"/>
              <a:gd name="connsiteX5" fmla="*/ 135924 w 1431385"/>
              <a:gd name="connsiteY5" fmla="*/ 729048 h 2323170"/>
              <a:gd name="connsiteX6" fmla="*/ 148281 w 1431385"/>
              <a:gd name="connsiteY6" fmla="*/ 766119 h 2323170"/>
              <a:gd name="connsiteX7" fmla="*/ 197708 w 1431385"/>
              <a:gd name="connsiteY7" fmla="*/ 803189 h 2323170"/>
              <a:gd name="connsiteX8" fmla="*/ 234778 w 1431385"/>
              <a:gd name="connsiteY8" fmla="*/ 815546 h 2323170"/>
              <a:gd name="connsiteX9" fmla="*/ 469556 w 1431385"/>
              <a:gd name="connsiteY9" fmla="*/ 827902 h 2323170"/>
              <a:gd name="connsiteX10" fmla="*/ 494270 w 1431385"/>
              <a:gd name="connsiteY10" fmla="*/ 864973 h 2323170"/>
              <a:gd name="connsiteX11" fmla="*/ 481913 w 1431385"/>
              <a:gd name="connsiteY11" fmla="*/ 902043 h 2323170"/>
              <a:gd name="connsiteX12" fmla="*/ 432486 w 1431385"/>
              <a:gd name="connsiteY12" fmla="*/ 976183 h 2323170"/>
              <a:gd name="connsiteX13" fmla="*/ 407773 w 1431385"/>
              <a:gd name="connsiteY13" fmla="*/ 1013254 h 2323170"/>
              <a:gd name="connsiteX14" fmla="*/ 395416 w 1431385"/>
              <a:gd name="connsiteY14" fmla="*/ 1050324 h 2323170"/>
              <a:gd name="connsiteX15" fmla="*/ 420129 w 1431385"/>
              <a:gd name="connsiteY15" fmla="*/ 1087394 h 2323170"/>
              <a:gd name="connsiteX16" fmla="*/ 494270 w 1431385"/>
              <a:gd name="connsiteY16" fmla="*/ 1112108 h 2323170"/>
              <a:gd name="connsiteX17" fmla="*/ 568410 w 1431385"/>
              <a:gd name="connsiteY17" fmla="*/ 1062681 h 2323170"/>
              <a:gd name="connsiteX18" fmla="*/ 605481 w 1431385"/>
              <a:gd name="connsiteY18" fmla="*/ 1037967 h 2323170"/>
              <a:gd name="connsiteX19" fmla="*/ 704335 w 1431385"/>
              <a:gd name="connsiteY19" fmla="*/ 939113 h 2323170"/>
              <a:gd name="connsiteX20" fmla="*/ 741405 w 1431385"/>
              <a:gd name="connsiteY20" fmla="*/ 914400 h 2323170"/>
              <a:gd name="connsiteX21" fmla="*/ 815546 w 1431385"/>
              <a:gd name="connsiteY21" fmla="*/ 889686 h 2323170"/>
              <a:gd name="connsiteX22" fmla="*/ 914400 w 1431385"/>
              <a:gd name="connsiteY22" fmla="*/ 864973 h 2323170"/>
              <a:gd name="connsiteX23" fmla="*/ 1025610 w 1431385"/>
              <a:gd name="connsiteY23" fmla="*/ 926756 h 2323170"/>
              <a:gd name="connsiteX24" fmla="*/ 1000897 w 1431385"/>
              <a:gd name="connsiteY24" fmla="*/ 963827 h 2323170"/>
              <a:gd name="connsiteX25" fmla="*/ 1037967 w 1431385"/>
              <a:gd name="connsiteY25" fmla="*/ 951470 h 2323170"/>
              <a:gd name="connsiteX26" fmla="*/ 1087394 w 1431385"/>
              <a:gd name="connsiteY26" fmla="*/ 939113 h 2323170"/>
              <a:gd name="connsiteX27" fmla="*/ 1421027 w 1431385"/>
              <a:gd name="connsiteY27" fmla="*/ 951470 h 2323170"/>
              <a:gd name="connsiteX28" fmla="*/ 1408670 w 1431385"/>
              <a:gd name="connsiteY28" fmla="*/ 1025610 h 2323170"/>
              <a:gd name="connsiteX29" fmla="*/ 1371600 w 1431385"/>
              <a:gd name="connsiteY29" fmla="*/ 1037967 h 2323170"/>
              <a:gd name="connsiteX30" fmla="*/ 1062681 w 1431385"/>
              <a:gd name="connsiteY30" fmla="*/ 1050324 h 2323170"/>
              <a:gd name="connsiteX31" fmla="*/ 976183 w 1431385"/>
              <a:gd name="connsiteY31" fmla="*/ 1062681 h 2323170"/>
              <a:gd name="connsiteX32" fmla="*/ 914400 w 1431385"/>
              <a:gd name="connsiteY32" fmla="*/ 1075037 h 2323170"/>
              <a:gd name="connsiteX33" fmla="*/ 691978 w 1431385"/>
              <a:gd name="connsiteY33" fmla="*/ 1112108 h 2323170"/>
              <a:gd name="connsiteX34" fmla="*/ 617837 w 1431385"/>
              <a:gd name="connsiteY34" fmla="*/ 1161535 h 2323170"/>
              <a:gd name="connsiteX35" fmla="*/ 580767 w 1431385"/>
              <a:gd name="connsiteY35" fmla="*/ 1198605 h 2323170"/>
              <a:gd name="connsiteX36" fmla="*/ 481913 w 1431385"/>
              <a:gd name="connsiteY36" fmla="*/ 1248032 h 2323170"/>
              <a:gd name="connsiteX37" fmla="*/ 444843 w 1431385"/>
              <a:gd name="connsiteY37" fmla="*/ 1285102 h 2323170"/>
              <a:gd name="connsiteX38" fmla="*/ 407773 w 1431385"/>
              <a:gd name="connsiteY38" fmla="*/ 1297459 h 2323170"/>
              <a:gd name="connsiteX39" fmla="*/ 383059 w 1431385"/>
              <a:gd name="connsiteY39" fmla="*/ 1334529 h 2323170"/>
              <a:gd name="connsiteX40" fmla="*/ 308919 w 1431385"/>
              <a:gd name="connsiteY40" fmla="*/ 1383956 h 2323170"/>
              <a:gd name="connsiteX41" fmla="*/ 271848 w 1431385"/>
              <a:gd name="connsiteY41" fmla="*/ 1408670 h 2323170"/>
              <a:gd name="connsiteX42" fmla="*/ 222421 w 1431385"/>
              <a:gd name="connsiteY42" fmla="*/ 1433383 h 2323170"/>
              <a:gd name="connsiteX43" fmla="*/ 135924 w 1431385"/>
              <a:gd name="connsiteY43" fmla="*/ 1482810 h 2323170"/>
              <a:gd name="connsiteX44" fmla="*/ 98854 w 1431385"/>
              <a:gd name="connsiteY44" fmla="*/ 1519881 h 2323170"/>
              <a:gd name="connsiteX45" fmla="*/ 24713 w 1431385"/>
              <a:gd name="connsiteY45" fmla="*/ 1631092 h 2323170"/>
              <a:gd name="connsiteX46" fmla="*/ 12356 w 1431385"/>
              <a:gd name="connsiteY46" fmla="*/ 1668162 h 2323170"/>
              <a:gd name="connsiteX47" fmla="*/ 86497 w 1431385"/>
              <a:gd name="connsiteY47" fmla="*/ 1705232 h 2323170"/>
              <a:gd name="connsiteX48" fmla="*/ 160637 w 1431385"/>
              <a:gd name="connsiteY48" fmla="*/ 1754659 h 2323170"/>
              <a:gd name="connsiteX49" fmla="*/ 210064 w 1431385"/>
              <a:gd name="connsiteY49" fmla="*/ 1779373 h 2323170"/>
              <a:gd name="connsiteX50" fmla="*/ 259492 w 1431385"/>
              <a:gd name="connsiteY50" fmla="*/ 1816443 h 2323170"/>
              <a:gd name="connsiteX51" fmla="*/ 321275 w 1431385"/>
              <a:gd name="connsiteY51" fmla="*/ 1841156 h 2323170"/>
              <a:gd name="connsiteX52" fmla="*/ 383059 w 1431385"/>
              <a:gd name="connsiteY52" fmla="*/ 1878227 h 2323170"/>
              <a:gd name="connsiteX53" fmla="*/ 420129 w 1431385"/>
              <a:gd name="connsiteY53" fmla="*/ 1902940 h 2323170"/>
              <a:gd name="connsiteX54" fmla="*/ 568410 w 1431385"/>
              <a:gd name="connsiteY54" fmla="*/ 1977081 h 2323170"/>
              <a:gd name="connsiteX55" fmla="*/ 630194 w 1431385"/>
              <a:gd name="connsiteY55" fmla="*/ 2001794 h 2323170"/>
              <a:gd name="connsiteX56" fmla="*/ 667264 w 1431385"/>
              <a:gd name="connsiteY56" fmla="*/ 2014151 h 2323170"/>
              <a:gd name="connsiteX57" fmla="*/ 704335 w 1431385"/>
              <a:gd name="connsiteY57" fmla="*/ 2038865 h 2323170"/>
              <a:gd name="connsiteX58" fmla="*/ 753762 w 1431385"/>
              <a:gd name="connsiteY58" fmla="*/ 2051221 h 2323170"/>
              <a:gd name="connsiteX59" fmla="*/ 827902 w 1431385"/>
              <a:gd name="connsiteY59" fmla="*/ 2075935 h 2323170"/>
              <a:gd name="connsiteX60" fmla="*/ 951470 w 1431385"/>
              <a:gd name="connsiteY60" fmla="*/ 2113005 h 2323170"/>
              <a:gd name="connsiteX61" fmla="*/ 988540 w 1431385"/>
              <a:gd name="connsiteY61" fmla="*/ 2125362 h 2323170"/>
              <a:gd name="connsiteX62" fmla="*/ 1062681 w 1431385"/>
              <a:gd name="connsiteY62" fmla="*/ 2174789 h 2323170"/>
              <a:gd name="connsiteX63" fmla="*/ 1112108 w 1431385"/>
              <a:gd name="connsiteY63" fmla="*/ 2286000 h 2323170"/>
              <a:gd name="connsiteX64" fmla="*/ 1136821 w 1431385"/>
              <a:gd name="connsiteY64" fmla="*/ 2323070 h 232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431385" h="2323170">
                <a:moveTo>
                  <a:pt x="0" y="0"/>
                </a:moveTo>
                <a:cubicBezTo>
                  <a:pt x="8238" y="20594"/>
                  <a:pt x="14793" y="41944"/>
                  <a:pt x="24713" y="61783"/>
                </a:cubicBezTo>
                <a:cubicBezTo>
                  <a:pt x="86765" y="185886"/>
                  <a:pt x="9148" y="-3367"/>
                  <a:pt x="74140" y="148281"/>
                </a:cubicBezTo>
                <a:cubicBezTo>
                  <a:pt x="128685" y="275553"/>
                  <a:pt x="29247" y="70849"/>
                  <a:pt x="111210" y="234778"/>
                </a:cubicBezTo>
                <a:cubicBezTo>
                  <a:pt x="115329" y="313037"/>
                  <a:pt x="119653" y="391286"/>
                  <a:pt x="123567" y="469556"/>
                </a:cubicBezTo>
                <a:cubicBezTo>
                  <a:pt x="127891" y="556043"/>
                  <a:pt x="128733" y="642752"/>
                  <a:pt x="135924" y="729048"/>
                </a:cubicBezTo>
                <a:cubicBezTo>
                  <a:pt x="137006" y="742028"/>
                  <a:pt x="139942" y="756113"/>
                  <a:pt x="148281" y="766119"/>
                </a:cubicBezTo>
                <a:cubicBezTo>
                  <a:pt x="161465" y="781940"/>
                  <a:pt x="179827" y="792971"/>
                  <a:pt x="197708" y="803189"/>
                </a:cubicBezTo>
                <a:cubicBezTo>
                  <a:pt x="209017" y="809651"/>
                  <a:pt x="221806" y="814367"/>
                  <a:pt x="234778" y="815546"/>
                </a:cubicBezTo>
                <a:cubicBezTo>
                  <a:pt x="312824" y="822641"/>
                  <a:pt x="391297" y="823783"/>
                  <a:pt x="469556" y="827902"/>
                </a:cubicBezTo>
                <a:cubicBezTo>
                  <a:pt x="477794" y="840259"/>
                  <a:pt x="491828" y="850324"/>
                  <a:pt x="494270" y="864973"/>
                </a:cubicBezTo>
                <a:cubicBezTo>
                  <a:pt x="496411" y="877821"/>
                  <a:pt x="488239" y="890657"/>
                  <a:pt x="481913" y="902043"/>
                </a:cubicBezTo>
                <a:cubicBezTo>
                  <a:pt x="467488" y="928007"/>
                  <a:pt x="448961" y="951470"/>
                  <a:pt x="432486" y="976183"/>
                </a:cubicBezTo>
                <a:cubicBezTo>
                  <a:pt x="424248" y="988540"/>
                  <a:pt x="412469" y="999165"/>
                  <a:pt x="407773" y="1013254"/>
                </a:cubicBezTo>
                <a:lnTo>
                  <a:pt x="395416" y="1050324"/>
                </a:lnTo>
                <a:cubicBezTo>
                  <a:pt x="403654" y="1062681"/>
                  <a:pt x="407536" y="1079523"/>
                  <a:pt x="420129" y="1087394"/>
                </a:cubicBezTo>
                <a:cubicBezTo>
                  <a:pt x="442220" y="1101201"/>
                  <a:pt x="494270" y="1112108"/>
                  <a:pt x="494270" y="1112108"/>
                </a:cubicBezTo>
                <a:lnTo>
                  <a:pt x="568410" y="1062681"/>
                </a:lnTo>
                <a:lnTo>
                  <a:pt x="605481" y="1037967"/>
                </a:lnTo>
                <a:cubicBezTo>
                  <a:pt x="653164" y="974390"/>
                  <a:pt x="633144" y="992506"/>
                  <a:pt x="704335" y="939113"/>
                </a:cubicBezTo>
                <a:cubicBezTo>
                  <a:pt x="716216" y="930203"/>
                  <a:pt x="727834" y="920431"/>
                  <a:pt x="741405" y="914400"/>
                </a:cubicBezTo>
                <a:cubicBezTo>
                  <a:pt x="765210" y="903820"/>
                  <a:pt x="790832" y="897924"/>
                  <a:pt x="815546" y="889686"/>
                </a:cubicBezTo>
                <a:cubicBezTo>
                  <a:pt x="872542" y="870687"/>
                  <a:pt x="839842" y="879884"/>
                  <a:pt x="914400" y="864973"/>
                </a:cubicBezTo>
                <a:cubicBezTo>
                  <a:pt x="1025890" y="892845"/>
                  <a:pt x="1002514" y="857463"/>
                  <a:pt x="1025610" y="926756"/>
                </a:cubicBezTo>
                <a:cubicBezTo>
                  <a:pt x="1017372" y="939113"/>
                  <a:pt x="994255" y="950544"/>
                  <a:pt x="1000897" y="963827"/>
                </a:cubicBezTo>
                <a:cubicBezTo>
                  <a:pt x="1006722" y="975477"/>
                  <a:pt x="1025443" y="955048"/>
                  <a:pt x="1037967" y="951470"/>
                </a:cubicBezTo>
                <a:cubicBezTo>
                  <a:pt x="1054296" y="946804"/>
                  <a:pt x="1070918" y="943232"/>
                  <a:pt x="1087394" y="939113"/>
                </a:cubicBezTo>
                <a:cubicBezTo>
                  <a:pt x="1198605" y="943232"/>
                  <a:pt x="1313566" y="922538"/>
                  <a:pt x="1421027" y="951470"/>
                </a:cubicBezTo>
                <a:cubicBezTo>
                  <a:pt x="1445220" y="957983"/>
                  <a:pt x="1421100" y="1003857"/>
                  <a:pt x="1408670" y="1025610"/>
                </a:cubicBezTo>
                <a:cubicBezTo>
                  <a:pt x="1402208" y="1036919"/>
                  <a:pt x="1384592" y="1037039"/>
                  <a:pt x="1371600" y="1037967"/>
                </a:cubicBezTo>
                <a:cubicBezTo>
                  <a:pt x="1268807" y="1045310"/>
                  <a:pt x="1165654" y="1046205"/>
                  <a:pt x="1062681" y="1050324"/>
                </a:cubicBezTo>
                <a:cubicBezTo>
                  <a:pt x="1033848" y="1054443"/>
                  <a:pt x="1004912" y="1057893"/>
                  <a:pt x="976183" y="1062681"/>
                </a:cubicBezTo>
                <a:cubicBezTo>
                  <a:pt x="955467" y="1066134"/>
                  <a:pt x="935145" y="1071761"/>
                  <a:pt x="914400" y="1075037"/>
                </a:cubicBezTo>
                <a:cubicBezTo>
                  <a:pt x="693613" y="1109898"/>
                  <a:pt x="806948" y="1083365"/>
                  <a:pt x="691978" y="1112108"/>
                </a:cubicBezTo>
                <a:cubicBezTo>
                  <a:pt x="667264" y="1128584"/>
                  <a:pt x="638840" y="1140532"/>
                  <a:pt x="617837" y="1161535"/>
                </a:cubicBezTo>
                <a:cubicBezTo>
                  <a:pt x="605480" y="1173892"/>
                  <a:pt x="595510" y="1189223"/>
                  <a:pt x="580767" y="1198605"/>
                </a:cubicBezTo>
                <a:cubicBezTo>
                  <a:pt x="549686" y="1218384"/>
                  <a:pt x="481913" y="1248032"/>
                  <a:pt x="481913" y="1248032"/>
                </a:cubicBezTo>
                <a:cubicBezTo>
                  <a:pt x="469556" y="1260389"/>
                  <a:pt x="459383" y="1275409"/>
                  <a:pt x="444843" y="1285102"/>
                </a:cubicBezTo>
                <a:cubicBezTo>
                  <a:pt x="434005" y="1292327"/>
                  <a:pt x="417944" y="1289322"/>
                  <a:pt x="407773" y="1297459"/>
                </a:cubicBezTo>
                <a:cubicBezTo>
                  <a:pt x="396176" y="1306736"/>
                  <a:pt x="394236" y="1324750"/>
                  <a:pt x="383059" y="1334529"/>
                </a:cubicBezTo>
                <a:cubicBezTo>
                  <a:pt x="360706" y="1354088"/>
                  <a:pt x="333632" y="1367480"/>
                  <a:pt x="308919" y="1383956"/>
                </a:cubicBezTo>
                <a:cubicBezTo>
                  <a:pt x="296562" y="1392194"/>
                  <a:pt x="285131" y="1402028"/>
                  <a:pt x="271848" y="1408670"/>
                </a:cubicBezTo>
                <a:cubicBezTo>
                  <a:pt x="255372" y="1416908"/>
                  <a:pt x="238414" y="1424244"/>
                  <a:pt x="222421" y="1433383"/>
                </a:cubicBezTo>
                <a:cubicBezTo>
                  <a:pt x="100162" y="1503245"/>
                  <a:pt x="285287" y="1408130"/>
                  <a:pt x="135924" y="1482810"/>
                </a:cubicBezTo>
                <a:cubicBezTo>
                  <a:pt x="123567" y="1495167"/>
                  <a:pt x="110227" y="1506613"/>
                  <a:pt x="98854" y="1519881"/>
                </a:cubicBezTo>
                <a:cubicBezTo>
                  <a:pt x="74016" y="1548859"/>
                  <a:pt x="41308" y="1597902"/>
                  <a:pt x="24713" y="1631092"/>
                </a:cubicBezTo>
                <a:cubicBezTo>
                  <a:pt x="18888" y="1642742"/>
                  <a:pt x="16475" y="1655805"/>
                  <a:pt x="12356" y="1668162"/>
                </a:cubicBezTo>
                <a:cubicBezTo>
                  <a:pt x="176959" y="1777893"/>
                  <a:pt x="-67009" y="1619950"/>
                  <a:pt x="86497" y="1705232"/>
                </a:cubicBezTo>
                <a:cubicBezTo>
                  <a:pt x="112461" y="1719657"/>
                  <a:pt x="134071" y="1741376"/>
                  <a:pt x="160637" y="1754659"/>
                </a:cubicBezTo>
                <a:cubicBezTo>
                  <a:pt x="177113" y="1762897"/>
                  <a:pt x="194443" y="1769610"/>
                  <a:pt x="210064" y="1779373"/>
                </a:cubicBezTo>
                <a:cubicBezTo>
                  <a:pt x="227528" y="1790288"/>
                  <a:pt x="241489" y="1806441"/>
                  <a:pt x="259492" y="1816443"/>
                </a:cubicBezTo>
                <a:cubicBezTo>
                  <a:pt x="278882" y="1827215"/>
                  <a:pt x="301436" y="1831236"/>
                  <a:pt x="321275" y="1841156"/>
                </a:cubicBezTo>
                <a:cubicBezTo>
                  <a:pt x="342757" y="1851897"/>
                  <a:pt x="362692" y="1865498"/>
                  <a:pt x="383059" y="1878227"/>
                </a:cubicBezTo>
                <a:cubicBezTo>
                  <a:pt x="395652" y="1886098"/>
                  <a:pt x="407025" y="1895951"/>
                  <a:pt x="420129" y="1902940"/>
                </a:cubicBezTo>
                <a:cubicBezTo>
                  <a:pt x="468889" y="1928945"/>
                  <a:pt x="517101" y="1956558"/>
                  <a:pt x="568410" y="1977081"/>
                </a:cubicBezTo>
                <a:cubicBezTo>
                  <a:pt x="589005" y="1985319"/>
                  <a:pt x="609425" y="1994006"/>
                  <a:pt x="630194" y="2001794"/>
                </a:cubicBezTo>
                <a:cubicBezTo>
                  <a:pt x="642390" y="2006367"/>
                  <a:pt x="655614" y="2008326"/>
                  <a:pt x="667264" y="2014151"/>
                </a:cubicBezTo>
                <a:cubicBezTo>
                  <a:pt x="680547" y="2020793"/>
                  <a:pt x="690685" y="2033015"/>
                  <a:pt x="704335" y="2038865"/>
                </a:cubicBezTo>
                <a:cubicBezTo>
                  <a:pt x="719945" y="2045555"/>
                  <a:pt x="737496" y="2046341"/>
                  <a:pt x="753762" y="2051221"/>
                </a:cubicBezTo>
                <a:cubicBezTo>
                  <a:pt x="778714" y="2058706"/>
                  <a:pt x="802630" y="2069617"/>
                  <a:pt x="827902" y="2075935"/>
                </a:cubicBezTo>
                <a:cubicBezTo>
                  <a:pt x="902597" y="2094609"/>
                  <a:pt x="861224" y="2082923"/>
                  <a:pt x="951470" y="2113005"/>
                </a:cubicBezTo>
                <a:cubicBezTo>
                  <a:pt x="963827" y="2117124"/>
                  <a:pt x="977702" y="2118137"/>
                  <a:pt x="988540" y="2125362"/>
                </a:cubicBezTo>
                <a:lnTo>
                  <a:pt x="1062681" y="2174789"/>
                </a:lnTo>
                <a:cubicBezTo>
                  <a:pt x="1092090" y="2263018"/>
                  <a:pt x="1072944" y="2227254"/>
                  <a:pt x="1112108" y="2286000"/>
                </a:cubicBezTo>
                <a:cubicBezTo>
                  <a:pt x="1125766" y="2326978"/>
                  <a:pt x="1111439" y="2323070"/>
                  <a:pt x="1136821" y="232307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LASSO: sparse, feature-selecting models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54681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LASSO penalty drives many coefficients exactly to zero: it selects a small gene panel automatically (feature extraction!)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sparse, interpretable signature — attractive for a candidate biomarker.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among correlated genes, LASSO keeps one and drops the rest, thus selection is unstable.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LASSO panel is a hypothesis, not a proven causal gene set: DO NOT OVERINTERPRET LASSO GENES</a:t>
            </a:r>
            <a:endParaRPr lang="en-US" sz="1550" dirty="0"/>
          </a:p>
        </p:txBody>
      </p:sp>
      <p:sp>
        <p:nvSpPr>
          <p:cNvPr id="201" name="frame"/>
          <p:cNvSpPr/>
          <p:nvPr/>
        </p:nvSpPr>
        <p:spPr>
          <a:xfrm>
            <a:off x="6766560" y="128016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02" name="zeroline"/>
          <p:cNvCxnSpPr/>
          <p:nvPr/>
        </p:nvCxnSpPr>
        <p:spPr>
          <a:xfrm>
            <a:off x="6896560" y="2896819"/>
            <a:ext cx="435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203" name="path"/>
          <p:cNvSpPr/>
          <p:nvPr/>
        </p:nvSpPr>
        <p:spPr>
          <a:xfrm>
            <a:off x="6896560" y="1987490"/>
            <a:ext cx="4352000" cy="909329"/>
          </a:xfrm>
          <a:custGeom>
            <a:avLst/>
            <a:gdLst/>
            <a:ahLst/>
            <a:cxnLst/>
            <a:rect l="0" t="0" r="0" b="0"/>
            <a:pathLst>
              <a:path w="4352000" h="909329">
                <a:moveTo>
                  <a:pt x="0" y="0"/>
                </a:moveTo>
                <a:lnTo>
                  <a:pt x="78336" y="112208"/>
                </a:lnTo>
                <a:lnTo>
                  <a:pt x="156672" y="221337"/>
                </a:lnTo>
                <a:lnTo>
                  <a:pt x="235008" y="327100"/>
                </a:lnTo>
                <a:lnTo>
                  <a:pt x="313344" y="429142"/>
                </a:lnTo>
                <a:lnTo>
                  <a:pt x="391680" y="527003"/>
                </a:lnTo>
                <a:lnTo>
                  <a:pt x="470016" y="620064"/>
                </a:lnTo>
                <a:lnTo>
                  <a:pt x="548352" y="707435"/>
                </a:lnTo>
                <a:lnTo>
                  <a:pt x="626688" y="787708"/>
                </a:lnTo>
                <a:lnTo>
                  <a:pt x="705024" y="858193"/>
                </a:lnTo>
                <a:lnTo>
                  <a:pt x="783360" y="909329"/>
                </a:lnTo>
                <a:lnTo>
                  <a:pt x="783360" y="909329"/>
                </a:lnTo>
                <a:lnTo>
                  <a:pt x="4352000" y="909329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4" name="path"/>
          <p:cNvSpPr/>
          <p:nvPr/>
        </p:nvSpPr>
        <p:spPr>
          <a:xfrm>
            <a:off x="6896560" y="2896819"/>
            <a:ext cx="4352000" cy="631150"/>
          </a:xfrm>
          <a:custGeom>
            <a:avLst/>
            <a:gdLst/>
            <a:ahLst/>
            <a:cxnLst/>
            <a:rect l="0" t="0" r="0" b="0"/>
            <a:pathLst>
              <a:path w="4352000" h="631150">
                <a:moveTo>
                  <a:pt x="0" y="631150"/>
                </a:moveTo>
                <a:lnTo>
                  <a:pt x="104448" y="553268"/>
                </a:lnTo>
                <a:lnTo>
                  <a:pt x="208896" y="477524"/>
                </a:lnTo>
                <a:lnTo>
                  <a:pt x="313344" y="404115"/>
                </a:lnTo>
                <a:lnTo>
                  <a:pt x="417792" y="333289"/>
                </a:lnTo>
                <a:lnTo>
                  <a:pt x="522240" y="265366"/>
                </a:lnTo>
                <a:lnTo>
                  <a:pt x="626688" y="200774"/>
                </a:lnTo>
                <a:lnTo>
                  <a:pt x="731136" y="140131"/>
                </a:lnTo>
                <a:lnTo>
                  <a:pt x="835584" y="84415"/>
                </a:lnTo>
                <a:lnTo>
                  <a:pt x="940032" y="35492"/>
                </a:lnTo>
                <a:lnTo>
                  <a:pt x="1044480" y="0"/>
                </a:lnTo>
                <a:lnTo>
                  <a:pt x="104448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path"/>
          <p:cNvSpPr/>
          <p:nvPr/>
        </p:nvSpPr>
        <p:spPr>
          <a:xfrm>
            <a:off x="6896560" y="2280822"/>
            <a:ext cx="4352000" cy="615997"/>
          </a:xfrm>
          <a:custGeom>
            <a:avLst/>
            <a:gdLst/>
            <a:ahLst/>
            <a:cxnLst/>
            <a:rect l="0" t="0" r="0" b="0"/>
            <a:pathLst>
              <a:path w="4352000" h="615997">
                <a:moveTo>
                  <a:pt x="0" y="0"/>
                </a:moveTo>
                <a:lnTo>
                  <a:pt x="130560" y="76012"/>
                </a:lnTo>
                <a:lnTo>
                  <a:pt x="261120" y="149937"/>
                </a:lnTo>
                <a:lnTo>
                  <a:pt x="391680" y="221584"/>
                </a:lnTo>
                <a:lnTo>
                  <a:pt x="522240" y="290709"/>
                </a:lnTo>
                <a:lnTo>
                  <a:pt x="652800" y="357002"/>
                </a:lnTo>
                <a:lnTo>
                  <a:pt x="783360" y="420043"/>
                </a:lnTo>
                <a:lnTo>
                  <a:pt x="913920" y="479230"/>
                </a:lnTo>
                <a:lnTo>
                  <a:pt x="1044480" y="533608"/>
                </a:lnTo>
                <a:lnTo>
                  <a:pt x="1175040" y="581356"/>
                </a:lnTo>
                <a:lnTo>
                  <a:pt x="1305600" y="615997"/>
                </a:lnTo>
                <a:lnTo>
                  <a:pt x="1305600" y="615997"/>
                </a:lnTo>
                <a:lnTo>
                  <a:pt x="4352000" y="615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path"/>
          <p:cNvSpPr/>
          <p:nvPr/>
        </p:nvSpPr>
        <p:spPr>
          <a:xfrm>
            <a:off x="6896560" y="2896819"/>
            <a:ext cx="4352000" cy="833118"/>
          </a:xfrm>
          <a:custGeom>
            <a:avLst/>
            <a:gdLst/>
            <a:ahLst/>
            <a:cxnLst/>
            <a:rect l="0" t="0" r="0" b="0"/>
            <a:pathLst>
              <a:path w="4352000" h="833118">
                <a:moveTo>
                  <a:pt x="0" y="833118"/>
                </a:moveTo>
                <a:lnTo>
                  <a:pt x="143616" y="730314"/>
                </a:lnTo>
                <a:lnTo>
                  <a:pt x="287232" y="630331"/>
                </a:lnTo>
                <a:lnTo>
                  <a:pt x="430848" y="533432"/>
                </a:lnTo>
                <a:lnTo>
                  <a:pt x="574464" y="439942"/>
                </a:lnTo>
                <a:lnTo>
                  <a:pt x="718080" y="350283"/>
                </a:lnTo>
                <a:lnTo>
                  <a:pt x="861696" y="265021"/>
                </a:lnTo>
                <a:lnTo>
                  <a:pt x="1005312" y="184973"/>
                </a:lnTo>
                <a:lnTo>
                  <a:pt x="1148928" y="111428"/>
                </a:lnTo>
                <a:lnTo>
                  <a:pt x="1292544" y="46849"/>
                </a:lnTo>
                <a:lnTo>
                  <a:pt x="1436160" y="0"/>
                </a:lnTo>
                <a:lnTo>
                  <a:pt x="143616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7" name="path"/>
          <p:cNvSpPr/>
          <p:nvPr/>
        </p:nvSpPr>
        <p:spPr>
          <a:xfrm>
            <a:off x="6896560" y="2090156"/>
            <a:ext cx="4352000" cy="806663"/>
          </a:xfrm>
          <a:custGeom>
            <a:avLst/>
            <a:gdLst/>
            <a:ahLst/>
            <a:cxnLst/>
            <a:rect l="0" t="0" r="0" b="0"/>
            <a:pathLst>
              <a:path w="4352000" h="806663">
                <a:moveTo>
                  <a:pt x="0" y="0"/>
                </a:moveTo>
                <a:lnTo>
                  <a:pt x="174080" y="99539"/>
                </a:lnTo>
                <a:lnTo>
                  <a:pt x="348160" y="196347"/>
                </a:lnTo>
                <a:lnTo>
                  <a:pt x="522240" y="290170"/>
                </a:lnTo>
                <a:lnTo>
                  <a:pt x="696320" y="380691"/>
                </a:lnTo>
                <a:lnTo>
                  <a:pt x="870400" y="467503"/>
                </a:lnTo>
                <a:lnTo>
                  <a:pt x="1044480" y="550056"/>
                </a:lnTo>
                <a:lnTo>
                  <a:pt x="1218560" y="627563"/>
                </a:lnTo>
                <a:lnTo>
                  <a:pt x="1392640" y="698773"/>
                </a:lnTo>
                <a:lnTo>
                  <a:pt x="1566720" y="761301"/>
                </a:lnTo>
                <a:lnTo>
                  <a:pt x="1740800" y="806663"/>
                </a:lnTo>
                <a:lnTo>
                  <a:pt x="1740800" y="806663"/>
                </a:lnTo>
                <a:lnTo>
                  <a:pt x="4352000" y="806663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8" name="path"/>
          <p:cNvSpPr/>
          <p:nvPr/>
        </p:nvSpPr>
        <p:spPr>
          <a:xfrm>
            <a:off x="6896560" y="2896819"/>
            <a:ext cx="4352000" cy="479674"/>
          </a:xfrm>
          <a:custGeom>
            <a:avLst/>
            <a:gdLst/>
            <a:ahLst/>
            <a:cxnLst/>
            <a:rect l="0" t="0" r="0" b="0"/>
            <a:pathLst>
              <a:path w="4352000" h="479674">
                <a:moveTo>
                  <a:pt x="0" y="479674"/>
                </a:moveTo>
                <a:lnTo>
                  <a:pt x="195840" y="420484"/>
                </a:lnTo>
                <a:lnTo>
                  <a:pt x="391680" y="362918"/>
                </a:lnTo>
                <a:lnTo>
                  <a:pt x="587520" y="307127"/>
                </a:lnTo>
                <a:lnTo>
                  <a:pt x="783360" y="253300"/>
                </a:lnTo>
                <a:lnTo>
                  <a:pt x="979200" y="201678"/>
                </a:lnTo>
                <a:lnTo>
                  <a:pt x="1175040" y="152588"/>
                </a:lnTo>
                <a:lnTo>
                  <a:pt x="1370880" y="106499"/>
                </a:lnTo>
                <a:lnTo>
                  <a:pt x="1566720" y="64155"/>
                </a:lnTo>
                <a:lnTo>
                  <a:pt x="1762560" y="26974"/>
                </a:lnTo>
                <a:lnTo>
                  <a:pt x="1958400" y="0"/>
                </a:lnTo>
                <a:lnTo>
                  <a:pt x="19584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9" name="path"/>
          <p:cNvSpPr/>
          <p:nvPr/>
        </p:nvSpPr>
        <p:spPr>
          <a:xfrm>
            <a:off x="6896560" y="2456821"/>
            <a:ext cx="4352000" cy="439998"/>
          </a:xfrm>
          <a:custGeom>
            <a:avLst/>
            <a:gdLst/>
            <a:ahLst/>
            <a:cxnLst/>
            <a:rect l="0" t="0" r="0" b="0"/>
            <a:pathLst>
              <a:path w="4352000" h="439998">
                <a:moveTo>
                  <a:pt x="0" y="0"/>
                </a:moveTo>
                <a:lnTo>
                  <a:pt x="217600" y="54294"/>
                </a:lnTo>
                <a:lnTo>
                  <a:pt x="435200" y="107098"/>
                </a:lnTo>
                <a:lnTo>
                  <a:pt x="652800" y="158274"/>
                </a:lnTo>
                <a:lnTo>
                  <a:pt x="870400" y="207649"/>
                </a:lnTo>
                <a:lnTo>
                  <a:pt x="1088000" y="255001"/>
                </a:lnTo>
                <a:lnTo>
                  <a:pt x="1305600" y="300031"/>
                </a:lnTo>
                <a:lnTo>
                  <a:pt x="1523200" y="342307"/>
                </a:lnTo>
                <a:lnTo>
                  <a:pt x="1740800" y="381149"/>
                </a:lnTo>
                <a:lnTo>
                  <a:pt x="1958400" y="415255"/>
                </a:lnTo>
                <a:lnTo>
                  <a:pt x="2176000" y="439998"/>
                </a:lnTo>
                <a:lnTo>
                  <a:pt x="2176000" y="439998"/>
                </a:lnTo>
                <a:lnTo>
                  <a:pt x="4352000" y="439998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0" name="path"/>
          <p:cNvSpPr/>
          <p:nvPr/>
        </p:nvSpPr>
        <p:spPr>
          <a:xfrm>
            <a:off x="6896560" y="2896819"/>
            <a:ext cx="4352000" cy="605904"/>
          </a:xfrm>
          <a:custGeom>
            <a:avLst/>
            <a:gdLst/>
            <a:ahLst/>
            <a:cxnLst/>
            <a:rect l="0" t="0" r="0" b="0"/>
            <a:pathLst>
              <a:path w="4352000" h="605904">
                <a:moveTo>
                  <a:pt x="0" y="605904"/>
                </a:moveTo>
                <a:lnTo>
                  <a:pt x="239360" y="531137"/>
                </a:lnTo>
                <a:lnTo>
                  <a:pt x="478720" y="458423"/>
                </a:lnTo>
                <a:lnTo>
                  <a:pt x="718080" y="387950"/>
                </a:lnTo>
                <a:lnTo>
                  <a:pt x="957440" y="319958"/>
                </a:lnTo>
                <a:lnTo>
                  <a:pt x="1196800" y="254751"/>
                </a:lnTo>
                <a:lnTo>
                  <a:pt x="1436160" y="192743"/>
                </a:lnTo>
                <a:lnTo>
                  <a:pt x="1675520" y="134525"/>
                </a:lnTo>
                <a:lnTo>
                  <a:pt x="1914880" y="81038"/>
                </a:lnTo>
                <a:lnTo>
                  <a:pt x="2154240" y="34072"/>
                </a:lnTo>
                <a:lnTo>
                  <a:pt x="2393600" y="0"/>
                </a:lnTo>
                <a:lnTo>
                  <a:pt x="23936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1" name="path"/>
          <p:cNvSpPr/>
          <p:nvPr/>
        </p:nvSpPr>
        <p:spPr>
          <a:xfrm>
            <a:off x="6896560" y="2236822"/>
            <a:ext cx="4352000" cy="659997"/>
          </a:xfrm>
          <a:custGeom>
            <a:avLst/>
            <a:gdLst/>
            <a:ahLst/>
            <a:cxnLst/>
            <a:rect l="0" t="0" r="0" b="0"/>
            <a:pathLst>
              <a:path w="4352000" h="659997">
                <a:moveTo>
                  <a:pt x="0" y="0"/>
                </a:moveTo>
                <a:lnTo>
                  <a:pt x="261120" y="81441"/>
                </a:lnTo>
                <a:lnTo>
                  <a:pt x="522240" y="160648"/>
                </a:lnTo>
                <a:lnTo>
                  <a:pt x="783360" y="237411"/>
                </a:lnTo>
                <a:lnTo>
                  <a:pt x="1044480" y="311474"/>
                </a:lnTo>
                <a:lnTo>
                  <a:pt x="1305600" y="382502"/>
                </a:lnTo>
                <a:lnTo>
                  <a:pt x="1566720" y="450046"/>
                </a:lnTo>
                <a:lnTo>
                  <a:pt x="1827840" y="513461"/>
                </a:lnTo>
                <a:lnTo>
                  <a:pt x="2088960" y="571723"/>
                </a:lnTo>
                <a:lnTo>
                  <a:pt x="2350080" y="622882"/>
                </a:lnTo>
                <a:lnTo>
                  <a:pt x="2611200" y="659997"/>
                </a:lnTo>
                <a:lnTo>
                  <a:pt x="2611200" y="659997"/>
                </a:lnTo>
                <a:lnTo>
                  <a:pt x="4352000" y="659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2" name="path"/>
          <p:cNvSpPr/>
          <p:nvPr/>
        </p:nvSpPr>
        <p:spPr>
          <a:xfrm>
            <a:off x="6896560" y="2896819"/>
            <a:ext cx="4352000" cy="353444"/>
          </a:xfrm>
          <a:custGeom>
            <a:avLst/>
            <a:gdLst/>
            <a:ahLst/>
            <a:cxnLst/>
            <a:rect l="0" t="0" r="0" b="0"/>
            <a:pathLst>
              <a:path w="4352000" h="353444">
                <a:moveTo>
                  <a:pt x="0" y="353444"/>
                </a:moveTo>
                <a:lnTo>
                  <a:pt x="287232" y="309830"/>
                </a:lnTo>
                <a:lnTo>
                  <a:pt x="574464" y="267413"/>
                </a:lnTo>
                <a:lnTo>
                  <a:pt x="861696" y="226304"/>
                </a:lnTo>
                <a:lnTo>
                  <a:pt x="1148928" y="186642"/>
                </a:lnTo>
                <a:lnTo>
                  <a:pt x="1436160" y="148605"/>
                </a:lnTo>
                <a:lnTo>
                  <a:pt x="1723392" y="112433"/>
                </a:lnTo>
                <a:lnTo>
                  <a:pt x="2010624" y="78473"/>
                </a:lnTo>
                <a:lnTo>
                  <a:pt x="2297856" y="47272"/>
                </a:lnTo>
                <a:lnTo>
                  <a:pt x="2585088" y="19875"/>
                </a:lnTo>
                <a:lnTo>
                  <a:pt x="2872320" y="0"/>
                </a:lnTo>
                <a:lnTo>
                  <a:pt x="287232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3" name="path"/>
          <p:cNvSpPr/>
          <p:nvPr/>
        </p:nvSpPr>
        <p:spPr>
          <a:xfrm>
            <a:off x="6896560" y="1650158"/>
            <a:ext cx="4352000" cy="560997"/>
          </a:xfrm>
          <a:custGeom>
            <a:avLst/>
            <a:gdLst/>
            <a:ahLst/>
            <a:cxnLst/>
            <a:rect l="0" t="0" r="0" b="0"/>
            <a:pathLst>
              <a:path w="4352000" h="560997">
                <a:moveTo>
                  <a:pt x="0" y="0"/>
                </a:moveTo>
                <a:lnTo>
                  <a:pt x="362666" y="59938"/>
                </a:lnTo>
                <a:lnTo>
                  <a:pt x="725333" y="111847"/>
                </a:lnTo>
                <a:lnTo>
                  <a:pt x="1088000" y="161104"/>
                </a:lnTo>
                <a:lnTo>
                  <a:pt x="1450666" y="208714"/>
                </a:lnTo>
                <a:lnTo>
                  <a:pt x="1813333" y="255136"/>
                </a:lnTo>
                <a:lnTo>
                  <a:pt x="2176000" y="300631"/>
                </a:lnTo>
                <a:lnTo>
                  <a:pt x="2538666" y="345371"/>
                </a:lnTo>
                <a:lnTo>
                  <a:pt x="2901333" y="389474"/>
                </a:lnTo>
                <a:lnTo>
                  <a:pt x="3264000" y="433028"/>
                </a:lnTo>
                <a:lnTo>
                  <a:pt x="3626666" y="476100"/>
                </a:lnTo>
                <a:lnTo>
                  <a:pt x="3989333" y="518742"/>
                </a:lnTo>
                <a:lnTo>
                  <a:pt x="4352000" y="560997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4" name="path"/>
          <p:cNvSpPr/>
          <p:nvPr/>
        </p:nvSpPr>
        <p:spPr>
          <a:xfrm>
            <a:off x="6896560" y="3396690"/>
            <a:ext cx="4352000" cy="408985"/>
          </a:xfrm>
          <a:custGeom>
            <a:avLst/>
            <a:gdLst/>
            <a:ahLst/>
            <a:cxnLst/>
            <a:rect l="0" t="0" r="0" b="0"/>
            <a:pathLst>
              <a:path w="4352000" h="408985">
                <a:moveTo>
                  <a:pt x="0" y="408985"/>
                </a:moveTo>
                <a:lnTo>
                  <a:pt x="362666" y="365289"/>
                </a:lnTo>
                <a:lnTo>
                  <a:pt x="725333" y="327445"/>
                </a:lnTo>
                <a:lnTo>
                  <a:pt x="1088000" y="291535"/>
                </a:lnTo>
                <a:lnTo>
                  <a:pt x="1450666" y="256826"/>
                </a:lnTo>
                <a:lnTo>
                  <a:pt x="1813333" y="222983"/>
                </a:lnTo>
                <a:lnTo>
                  <a:pt x="2176000" y="189815"/>
                </a:lnTo>
                <a:lnTo>
                  <a:pt x="2538666" y="157198"/>
                </a:lnTo>
                <a:lnTo>
                  <a:pt x="2901333" y="125046"/>
                </a:lnTo>
                <a:lnTo>
                  <a:pt x="3264000" y="93294"/>
                </a:lnTo>
                <a:lnTo>
                  <a:pt x="3626666" y="61893"/>
                </a:lnTo>
                <a:lnTo>
                  <a:pt x="3989333" y="30806"/>
                </a:lnTo>
                <a:lnTo>
                  <a:pt x="4352000" y="0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5" name="path"/>
          <p:cNvSpPr/>
          <p:nvPr/>
        </p:nvSpPr>
        <p:spPr>
          <a:xfrm>
            <a:off x="6896560" y="2016823"/>
            <a:ext cx="4352000" cy="395998"/>
          </a:xfrm>
          <a:custGeom>
            <a:avLst/>
            <a:gdLst/>
            <a:ahLst/>
            <a:cxnLst/>
            <a:rect l="0" t="0" r="0" b="0"/>
            <a:pathLst>
              <a:path w="4352000" h="395998">
                <a:moveTo>
                  <a:pt x="0" y="0"/>
                </a:moveTo>
                <a:lnTo>
                  <a:pt x="362666" y="42309"/>
                </a:lnTo>
                <a:lnTo>
                  <a:pt x="725333" y="78951"/>
                </a:lnTo>
                <a:lnTo>
                  <a:pt x="1088000" y="113721"/>
                </a:lnTo>
                <a:lnTo>
                  <a:pt x="1450666" y="147328"/>
                </a:lnTo>
                <a:lnTo>
                  <a:pt x="1813333" y="180096"/>
                </a:lnTo>
                <a:lnTo>
                  <a:pt x="2176000" y="212210"/>
                </a:lnTo>
                <a:lnTo>
                  <a:pt x="2538666" y="243791"/>
                </a:lnTo>
                <a:lnTo>
                  <a:pt x="2901333" y="274923"/>
                </a:lnTo>
                <a:lnTo>
                  <a:pt x="3264000" y="305667"/>
                </a:lnTo>
                <a:lnTo>
                  <a:pt x="3626666" y="336070"/>
                </a:lnTo>
                <a:lnTo>
                  <a:pt x="3989333" y="366170"/>
                </a:lnTo>
                <a:lnTo>
                  <a:pt x="4352000" y="395998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6" name="lbl"/>
          <p:cNvSpPr/>
          <p:nvPr/>
        </p:nvSpPr>
        <p:spPr>
          <a:xfrm>
            <a:off x="9038560" y="1400160"/>
            <a:ext cx="215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E7C86"/>
                </a:solidFill>
                <a:latin typeface="Calibri"/>
              </a:rPr>
              <a:t>survivors = selected panel</a:t>
            </a:r>
          </a:p>
        </p:txBody>
      </p:sp>
      <p:sp>
        <p:nvSpPr>
          <p:cNvPr id="217" name="lbl"/>
          <p:cNvSpPr/>
          <p:nvPr/>
        </p:nvSpPr>
        <p:spPr>
          <a:xfrm>
            <a:off x="6966560" y="4089120"/>
            <a:ext cx="240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C8B90"/>
                </a:solidFill>
                <a:latin typeface="Calibri"/>
              </a:rPr>
              <a:t>many genes → exactly 0</a:t>
            </a:r>
          </a:p>
        </p:txBody>
      </p:sp>
      <p:sp>
        <p:nvSpPr>
          <p:cNvPr id="94" name="Text 91"/>
          <p:cNvSpPr/>
          <p:nvPr/>
        </p:nvSpPr>
        <p:spPr>
          <a:xfrm>
            <a:off x="6766560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penalty →   ·   coefficients → 0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F258E-5CA0-1764-6ED8-C05B59C1001C}"/>
              </a:ext>
            </a:extLst>
          </p:cNvPr>
          <p:cNvSpPr txBox="1"/>
          <p:nvPr/>
        </p:nvSpPr>
        <p:spPr>
          <a:xfrm rot="16200000">
            <a:off x="6191531" y="2649974"/>
            <a:ext cx="6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Coeff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F6711D-4FA0-56BA-8518-C8557738C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2164" y="4989461"/>
            <a:ext cx="5000910" cy="4367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BBB78F-AC18-4939-A748-017B4594E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846" y="5319455"/>
            <a:ext cx="1986456" cy="864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CD6A4B-FEC0-0D21-8BD1-CDCAD72869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1849" y="6075812"/>
            <a:ext cx="4701540" cy="74288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152E74B-11B8-9D92-6A38-FD650ACECAE8}"/>
              </a:ext>
            </a:extLst>
          </p:cNvPr>
          <p:cNvSpPr/>
          <p:nvPr/>
        </p:nvSpPr>
        <p:spPr>
          <a:xfrm>
            <a:off x="9774621" y="5948855"/>
            <a:ext cx="868768" cy="909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Net: handling correlated genes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work in pathways — they are highly correlated, exactly the case LASSO handles poorly.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blends two penalties: it can keep groups of correlated genes together, improving stability.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robust signatures under resampling — directly addressing Lecture 1’s “signatures are not unique”.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sensible default baseline for transcriptomics: Logistic Regression + Elastic Net.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10856" y="1536192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10856" y="40507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— keeps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4792" y="2624328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47732" y="3363527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078752" y="3081178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78752" y="2167478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47732" y="1885129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10856" y="1280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179736" y="1536192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79736" y="40507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— keeps the group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953672" y="2624328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416612" y="3363527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547632" y="3081178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47632" y="2167478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416612" y="1885129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79736" y="1280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D4D7FC9-BD46-28B2-447A-93BE41DB3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26" y="4559576"/>
            <a:ext cx="5000910" cy="4367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AE3C37-D64B-7D32-DE63-3486B7A46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508" y="4889570"/>
            <a:ext cx="1986456" cy="86447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611C0BB-3871-511E-43DB-A92E7B933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7680" y="5699565"/>
            <a:ext cx="6045200" cy="850900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A2BDD64B-D3B8-AAF9-564D-3C49F6466A27}"/>
              </a:ext>
            </a:extLst>
          </p:cNvPr>
          <p:cNvSpPr/>
          <p:nvPr/>
        </p:nvSpPr>
        <p:spPr>
          <a:xfrm>
            <a:off x="9694148" y="5723458"/>
            <a:ext cx="1918732" cy="909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a classifier: accuracy is not enough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is a minority class: accuracy is misleading.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“no recurrence” for everyone can score high accuracy and be useless.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metrics that respect which errors we make, not just how many.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confusion matrix and the metrics it yields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of predicted recurrences, how many were real (don’t over-flag).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sensitivity: of real recurrences, how many we caught (don’t miss a relapser).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the balance of the two.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 prioritise depends on the clinical cost asymmetry.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If you want to minimize the missed recurrence, </a:t>
            </a:r>
            <a:r>
              <a:rPr lang="en-US" sz="1550" b="1" dirty="0" err="1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maximise</a:t>
            </a: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 recall.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If you want to minimize over treatment, maximize precision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286000" cy="1280160"/>
          </a:xfrm>
          <a:prstGeom prst="rect">
            <a:avLst/>
          </a:prstGeom>
          <a:solidFill>
            <a:srgbClr val="DCEEE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766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real recurrence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961120" y="2377440"/>
            <a:ext cx="2286000" cy="1280160"/>
          </a:xfrm>
          <a:prstGeom prst="rect">
            <a:avLst/>
          </a:prstGeom>
          <a:solidFill>
            <a:srgbClr val="F6E9D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52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052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(over-treat)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75120" y="3657600"/>
            <a:ext cx="2286000" cy="1280160"/>
          </a:xfrm>
          <a:prstGeom prst="rect">
            <a:avLst/>
          </a:prstGeom>
          <a:solidFill>
            <a:srgbClr val="F2DE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 recurrence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61120" y="3657600"/>
            <a:ext cx="2286000" cy="1280160"/>
          </a:xfrm>
          <a:prstGeom prst="rect">
            <a:avLst/>
          </a:prstGeom>
          <a:solidFill>
            <a:srgbClr val="DCED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52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520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↓</a:t>
            </a:r>
            <a:endParaRPr lang="en-US" sz="1000" dirty="0"/>
          </a:p>
        </p:txBody>
      </p:sp>
      <p:pic>
        <p:nvPicPr>
          <p:cNvPr id="6" name="Image 0" descr="precision.png">
            <a:extLst>
              <a:ext uri="{FF2B5EF4-FFF2-40B4-BE49-F238E27FC236}">
                <a16:creationId xmlns:a16="http://schemas.microsoft.com/office/drawing/2014/main" id="{016EC64B-4B19-FE6E-7675-056F26AA3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4733490"/>
            <a:ext cx="2286000" cy="509118"/>
          </a:xfrm>
          <a:prstGeom prst="rect">
            <a:avLst/>
          </a:prstGeom>
        </p:spPr>
      </p:pic>
      <p:pic>
        <p:nvPicPr>
          <p:cNvPr id="22" name="Image 1" descr="recall.png">
            <a:extLst>
              <a:ext uri="{FF2B5EF4-FFF2-40B4-BE49-F238E27FC236}">
                <a16:creationId xmlns:a16="http://schemas.microsoft.com/office/drawing/2014/main" id="{C32A9B48-C829-D517-0745-A50895022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5419290"/>
            <a:ext cx="2057400" cy="524720"/>
          </a:xfrm>
          <a:prstGeom prst="rect">
            <a:avLst/>
          </a:prstGeom>
        </p:spPr>
      </p:pic>
      <p:pic>
        <p:nvPicPr>
          <p:cNvPr id="23" name="Image 2" descr="f1.png">
            <a:extLst>
              <a:ext uri="{FF2B5EF4-FFF2-40B4-BE49-F238E27FC236}">
                <a16:creationId xmlns:a16="http://schemas.microsoft.com/office/drawing/2014/main" id="{77C28FFF-963B-31BC-EA2D-CAC201412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6105090"/>
            <a:ext cx="3017520" cy="57313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ROC-AUC and PR-AUC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ranking quality across thresholds; 0.5 chance, 1.0 perfect: but it is optimistic under imbalance.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precision vs recall; far more informative when the positive class is rare.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both; choose the operating threshold deliberately, not by default.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621792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cross-validate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train/validation split in a small cohort gives a noisy estimate: it depends on who landed where.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reuses the data: rotate which fold is held out, average the results.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stable estimate of generalisation, and a sense of its variability.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preprocessing and feature selection go inside each fold.</a:t>
            </a:r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cs typeface="Calibri" pitchFamily="34" charset="-120"/>
              </a:rPr>
              <a:t>Cross validation does not prevent overfitting: regularization does!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4183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327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384280" y="22860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2962656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183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8428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3639312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4183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327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84280" y="36393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751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895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5039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18320" y="4315968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3327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384280" y="431596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6751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039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4183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32720" y="4992624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384280" y="49926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5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67512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95528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done right in </a:t>
            </a:r>
            <a:r>
              <a:rPr lang="en-US" sz="3000" b="1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&gt;&gt; </a:t>
            </a: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mistake: select genes on all data, then cross-validate: the CV score is already leaked.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the entire pipeline (impute → scale → select → fit) refits within every fold.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folds preserve the recurrence minority in each split (Lecture 1).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folds if any patient has multiple samples (Lecture 1).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CV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select on ALL data  →  then CV. Held-out folds already shaped the genes; the score is confidently wrong.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93192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CV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4348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fold: refit impute → scale → select → fit on that fold’s train only. The held-out fold stays unseen.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Overfitting: the core danger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great on training, poor on new data — memorising patients, not biology (Lecture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it is the default, not the exception: </a:t>
            </a:r>
            <a:r>
              <a:rPr lang="en-US" sz="1600" dirty="0" err="1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</a:t>
            </a: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honest validation are our defences.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 by comparing training vs validation/test performance: a large gap is the signature.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overfitting happen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weaken regularisation, training performance climbs and validation performance peaks, then falls.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peak is the sweet spot; beyond it, the model fits noise.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bias–variance trade-off — taught by intuition, not equations.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28600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the model (carefully)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rank genes by contribution: a starting point for biology.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(Lecture 1): predictive ≠ causal, and regularised coefficients are selected — read them as hypotheses.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checks: are top genes biologically plausible (proliferation, ER signalling)? stable across folds?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is where ML meets biology — and where overclaiming does the most damage.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675120" y="2194560"/>
          <a:ext cx="4846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67512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toward recurrence    ·    − toward 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BASELINES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baseline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baseline is not a throwaway — it is the standard every later model is judged against.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data problems early (leakage, imbalance, batch) before complexity hides them.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simple, well-validated model already works, that is a result — not a disappointment.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baseline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0120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it?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86384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/ pipeline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69848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960120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now: complex models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well-validated baseline model is more valuable than a sophisticated model with poor methodology.”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the evaluation, and the honesty about overfitting are what make a model trustworthy.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critique a baseline — the skill the rest of the course builds on.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&amp; where each stage fits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inside the split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regularisation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&amp; honest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metrics under imbalance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diagnose &amp; defend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prepared METABRIC data (from Lecture 1)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inside a pipeline (fit on train only)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regularised Logistic Regression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metrics; ROC &amp; PR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honestly; compare train vs test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 as hypotheses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feature engineering — making the features smarter, not the model fancier.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3682</Words>
  <Application>Microsoft Macintosh PowerPoint</Application>
  <PresentationFormat>Widescreen</PresentationFormat>
  <Paragraphs>385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 — Building the First Predictive Model</dc:title>
  <dc:subject>PptxGenJS Presentation</dc:subject>
  <dc:creator>Practical ML for Transcriptomics in Cancer Research</dc:creator>
  <cp:lastModifiedBy>Zhan Yinxiu</cp:lastModifiedBy>
  <cp:revision>47</cp:revision>
  <dcterms:created xsi:type="dcterms:W3CDTF">2026-06-17T12:21:37Z</dcterms:created>
  <dcterms:modified xsi:type="dcterms:W3CDTF">2026-06-27T14:14:01Z</dcterms:modified>
</cp:coreProperties>
</file>