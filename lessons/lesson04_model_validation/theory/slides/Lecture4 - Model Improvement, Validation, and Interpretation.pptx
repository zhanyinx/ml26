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6" r:id="rId21"/>
    <p:sldId id="277" r:id="rId22"/>
    <p:sldId id="279" r:id="rId23"/>
    <p:sldId id="281" r:id="rId24"/>
    <p:sldId id="282" r:id="rId25"/>
    <p:sldId id="283" r:id="rId26"/>
    <p:sldId id="284" r:id="rId27"/>
    <p:sldId id="285" r:id="rId28"/>
    <p:sldId id="286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47"/>
    <p:restoredTop sz="94610"/>
  </p:normalViewPr>
  <p:slideViewPr>
    <p:cSldViewPr snapToGrid="0" snapToObjects="1">
      <p:cViewPr varScale="1">
        <p:scale>
          <a:sx n="180" d="100"/>
          <a:sy n="180" d="100"/>
        </p:scale>
        <p:origin x="11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same tuned model, two estimates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Tuned, non-nested CV</c:v>
                </c:pt>
                <c:pt idx="1">
                  <c:v>Nested CV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</c:v>
                </c:pt>
                <c:pt idx="1">
                  <c:v>0.69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C2-1F40-80B5-97C8C3FC02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the same model, two cohorts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METABRIC (internal CV)</c:v>
                </c:pt>
                <c:pt idx="1">
                  <c:v>GSE6532 (external)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51-A14B-A39A-E848115B20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4539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Frame the tension: students want fancier models; we'll honour that, but the lesson is that proving a model is better is harder than building a fancier one. A better algorithm is the easy part; a trustworthy estimate is the hard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Trustworthy problem (L1), model (L2), features (L3). You can build a biologically-informed baseline and you want to make it fancier. Today: more powerful families, proper tuning, and the validation that keeps them honest. Resist: 'more complex = better'.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carrying the weight: nested cross-validation (why tuning inflates estimates) and batch correction done correctly (why models fail on new cohorts).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You own a validated baseline. The real question isn't 'can I build something fancier?' but 'can I SHOW it's better?' A complex model must EARN its complexity with validated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Compare on the same split/metrics/validation -- change only the model. A difference within CV noise is NOT an improvement. Prefer the simpler model unless the gain is real, validated,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tree is a cascade of yes/no biological rules -- reads like clinical decision-making, very interpretable for ONE tree. But single trees are unstable (resample -&gt; different tree) and overfit without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Many trees on resampled data/features, voting. Averaging unstable trees -&gt; robust, lower-variance predictor. Free (caveated) importance. Limits: less interpretable, biased importances, not magic on small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Trees built sequentially, each correcting the last's mistakes. Often the strongest tabular predictor -- but the easiest to overfit and most tuning-sensitive. In p&gt;&gt;n with modest signal, its edge over a good baseline is often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Linear: interpretable, stable, strong in p&gt;&gt;n -- the default. RF: robust, low-tuning, weaker interpretability. GBM: highest ceiling, highest overfitting risk. Honest expectation: complex models rarely beat a good baseline by much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Parameters are learned FROM data during fitting (gene coefficients). Hyperparameters are set BEFORE fitting and control the model (depth, #trees, penalty C). You don't learn hyperparameters by fitting -- you search and must validate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Grid: every combination -- thorough but expensive. Random: sampled combinations -- often finds good values far cheaper. Every candidate scored by CV, never the test set. Cost explodes with #hyperparameters.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Every time you tune to the validation score, you use up its honesty. Tune hard enough and the score becomes optimistic -- you overfit the TUNING. The model never saw test data, yet the ESTIMATE is inflated. Fix is structural: nested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k-fold rotates the held-out fold and averages. Everything data-dependent refits inside each fold. This estimates a FIXED modelling choice. But what if the choice (hyperparameters) was selected using the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Two loops: inner selects hyperparameters; outer estimates performance. The outer fold is never used to choose anything. Result: an honest estimate that INCLUDES the cost of tuning. Expensive but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Without it, tuned models report optimistic scores that don't replicate -- worst at small n, many hyperparameters, flexible models. Rule: if you tuned on it, you can't also report performance on it. Measured in the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model can look great in-cohort and collapse on independent data. Usual culprit: technical variation between cohorts -- batch effects. Our setting: METABRIC (Illumina) vs GSE6532 (Affymetrix). Cross-cohort validation is the closest thing to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ComBat/RUV estimate and subtract batch effects -&gt; cohorts become comparable. Risk: aggressive correction removes real biology, or done wrong leaks the outcome. Pathway features (L3) are a gentler, more platform-robust alternative.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Cardinal rule: correction must not use the outcome and must respect the split. Estimate on train, apply same transform to held-out. Correcting everything together is leakage. If batch is perfectly confounded with outcome, no method can rescue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Coefficients: direction+magnitude but scale/correlation-dependent. RF importance: biased, unstable. Correlated genes share/split importance. Always check stability across folds before believing a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SHAP attributes each prediction to its features -- a consistent per-patient explanation. Useful: shows HOW the model decided for an individual tumour. Limit: explains the MODEL, not the biology. Never present SHAP as mechanism/causation.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Random seeds: fix &amp; report. Pipelines: encapsulate preprocessing+model so it refits inside CV. Version control + environment capture. Notebook organisation &amp; experiment tracking: every number regenerable.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Not the most complex, not the highest training score. The best model is robust, interpretable, reproducible, well-validated. Prefer the simplest model whose advantage survives honest (nested, cross-cohort)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Three corollaries: gains are smaller than expected; validation errors do more damage than model choice; plausibility is not causation. This is where students graduate from building models to judging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378C0-A3DD-8D60-E052-6A28B452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99E71-9C83-270F-8236-45B5397A4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7E77E-68AE-F7B8-0793-C88967E02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21BFD-1A80-DFA6-045A-AB6C540206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0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914400"/>
            <a:ext cx="100584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8686800" y="960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2412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984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11556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0149840" y="960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69680" y="1737360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9326880" y="1847088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9784080" y="1956816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8686800" y="2240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0" y="1828800"/>
            <a:ext cx="822960" cy="640080"/>
          </a:xfrm>
          <a:prstGeom prst="line">
            <a:avLst/>
          </a:prstGeom>
          <a:noFill/>
          <a:ln w="12700">
            <a:solidFill>
              <a:srgbClr val="DCEDEE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10058400" y="2651760"/>
            <a:ext cx="146304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10789920" y="2651760"/>
            <a:ext cx="0" cy="457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978408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1124712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9966960" y="3291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1737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Improvement,</a:t>
            </a:r>
            <a:endParaRPr lang="en-US" sz="3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Validation, and Interpretation</a:t>
            </a:r>
            <a:endParaRPr lang="en-US" sz="35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algorithm is the easy part. A trustworthy estimate is the hard part.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temptation we face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1-3: trustworthy problem, trustworthy model, trustworthy features.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more powerful model families, proper tuning, and the validation that keeps them honest.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temptation to resist: assuming a more complex model is automatically better.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do trees help?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hyperparameters and tuning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nested cross-validation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batch effects &amp; correction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outputs; prediction ≠ causation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reproducibility principles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model on evidence, not complexity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field's common mistakes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burden of proof is on complexity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have: Logistic Regression + biological features + honest cross-validation.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 not “can I build something fancier?” but “can I show it’s actually better?”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complex model must earn its complexity with a validated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9052560" y="4572000"/>
            <a:ext cx="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2880360"/>
            <a:ext cx="292608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178040" y="2560320"/>
            <a:ext cx="914400" cy="274320"/>
          </a:xfrm>
          <a:prstGeom prst="ellipse">
            <a:avLst/>
          </a:prstGeom>
          <a:solidFill>
            <a:srgbClr val="C2772B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323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966960" y="2560320"/>
            <a:ext cx="914400" cy="274320"/>
          </a:xfrm>
          <a:prstGeom prst="ellipse">
            <a:avLst/>
          </a:prstGeom>
          <a:solidFill>
            <a:srgbClr val="2E7D57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8755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663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must outweigh its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know a model is “better”?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on the same split, the same metrics, the same validation. Change only the model.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within cross-validation noise is not an improvement.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the simpler model unless the gain is real, validated, and meaningful.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286000"/>
            <a:ext cx="4754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3156509"/>
            <a:ext cx="914400" cy="1461211"/>
          </a:xfrm>
          <a:prstGeom prst="rect">
            <a:avLst/>
          </a:prstGeom>
          <a:solidFill>
            <a:srgbClr val="0E7C86">
              <a:alpha val="45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589520" y="3840480"/>
            <a:ext cx="914400" cy="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0" y="2969971"/>
            <a:ext cx="914400" cy="1492301"/>
          </a:xfrm>
          <a:prstGeom prst="rect">
            <a:avLst/>
          </a:prstGeom>
          <a:solidFill>
            <a:srgbClr val="C2772B">
              <a:alpha val="45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9326880" y="3653942"/>
            <a:ext cx="914400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914400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 &gt; mean A — but the spreads overlap. Is it real?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 rot="16200000">
            <a:off x="626364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tree is a cascade of yes/no rules (“is proliferation score &gt; x?”).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clinical decision-making: highly interpretable for a single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single trees are unstable: small data changes → a very different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overfit easily without constraints (depth, leaf size (min patients in a node))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680960" y="210312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68096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&gt; x?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310896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492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 &lt; y?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52560" y="31089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052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59436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7724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 flipH="1">
            <a:off x="8138160" y="2613822"/>
            <a:ext cx="548640" cy="45720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9326880" y="2606040"/>
            <a:ext cx="457200" cy="50292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49440" y="3566160"/>
            <a:ext cx="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89520" y="3566160"/>
            <a:ext cx="54864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7498080" y="261382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↙                                          ↘ 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grow many trees on resampled data and varied features; let them vote.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unstable trees → a robust, lower-variance predictor.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 feature-importance ranking “for free” (with caveats, see later).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less interpretable than one tree; importances biased; not magic on small n.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509760" y="3108960"/>
            <a:ext cx="82296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10424160" y="269748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104241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44046" y="411987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unstable trees → one robust predictor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B4E4383-1348-687E-6FB3-CB7935BAB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288" y="2418082"/>
            <a:ext cx="3741952" cy="10109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build trees sequentially, each correcting the previous ones’ mistakes.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strongest tabular predictor: frequently wins benchmarks over the other two. 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the easiest to overfit, and the most sensitive to tuning. Especially in p&gt;&gt;n regime</a:t>
            </a:r>
            <a:endParaRPr lang="en-US" sz="15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82D7306-4087-7A66-E5F0-974617D02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867" y="1396012"/>
            <a:ext cx="4331253" cy="3471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family, when?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4688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594360" y="20116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2011680"/>
            <a:ext cx="219456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306324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212080" y="2011680"/>
            <a:ext cx="182880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5257800" y="20116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040880" y="2011680"/>
            <a:ext cx="20116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7086600" y="20116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burden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52560" y="2011680"/>
            <a:ext cx="256032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9098280" y="20116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improvement (p ≫ 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70048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594360" y="26700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 LR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017520" y="2670048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3063240" y="26700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12080" y="2670048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5257800" y="26700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040880" y="267004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7086600" y="26700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052560" y="2670048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9098280" y="2670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baseline)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3328416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594360" y="33284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017520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3063240" y="33284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212080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29"/>
          <p:cNvSpPr/>
          <p:nvPr/>
        </p:nvSpPr>
        <p:spPr>
          <a:xfrm>
            <a:off x="5257800" y="33284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40880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7086600" y="332841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052560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3"/>
          <p:cNvSpPr/>
          <p:nvPr/>
        </p:nvSpPr>
        <p:spPr>
          <a:xfrm>
            <a:off x="9098280" y="33284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3986784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5"/>
          <p:cNvSpPr/>
          <p:nvPr/>
        </p:nvSpPr>
        <p:spPr>
          <a:xfrm>
            <a:off x="594360" y="39867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017520" y="3986784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37"/>
          <p:cNvSpPr/>
          <p:nvPr/>
        </p:nvSpPr>
        <p:spPr>
          <a:xfrm>
            <a:off x="3063240" y="39867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212080" y="3986784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39"/>
          <p:cNvSpPr/>
          <p:nvPr/>
        </p:nvSpPr>
        <p:spPr>
          <a:xfrm>
            <a:off x="5257800" y="39867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040880" y="398678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1"/>
          <p:cNvSpPr/>
          <p:nvPr/>
        </p:nvSpPr>
        <p:spPr>
          <a:xfrm>
            <a:off x="7086600" y="39867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052560" y="398678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9098280" y="3986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(high risk)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Parameters vs hyperparameters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learned from the data during fitting (e.g. gene coefficients).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are set before fitting and control the model (tree depth, number of trees, penalty lambda).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learn hyperparameters by fitting: you search for good ones and must validate 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data splits to use for hyper params tuning?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data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(parameters)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gene coefficients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split thresholds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2354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BEFORE fitting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2354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(hyperparameters)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41832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depth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number of trees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penalty strength 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89720" y="347472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and random search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search: try every combination on a predefined grid, thorough but expensive.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search: sample combinations at random, often finds good values far cheaper. </a:t>
            </a:r>
            <a:r>
              <a:rPr lang="en-US" sz="15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550" dirty="0">
              <a:solidFill>
                <a:srgbClr val="FF0000"/>
              </a:solidFill>
            </a:endParaRP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by cross-validation, never on the final test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cost explodes with the number of hyperparameters. e.g. 5 hyper parameters, 10 values each, 5 CV: 500k trials!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76656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4088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04088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04088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04088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54380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54380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4380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54380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04672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04672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4672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4672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4964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54964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4964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54964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923544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923544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501341" y="31349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406196" y="4455773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631868" y="357651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0975358" y="431796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9593577" y="447551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9828249" y="293160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11188822" y="26736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10131298" y="261841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589119" y="3853955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11069384" y="411490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10751812" y="268266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10537935" y="351267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9818285" y="427378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9583767" y="410175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9718293" y="2612561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10708838" y="397897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6766560" y="5120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budget, better coverage of what matters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search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and random ignore what they’ve learned. Bayesian search uses past results to decide where to look next.</a:t>
            </a:r>
            <a:endParaRPr lang="en-US" sz="1500" dirty="0"/>
          </a:p>
        </p:txBody>
      </p:sp>
      <p:sp>
        <p:nvSpPr>
          <p:cNvPr id="7" name="Bullets"/>
          <p:cNvSpPr/>
          <p:nvPr/>
        </p:nvSpPr>
        <p:spPr>
          <a:xfrm>
            <a:off x="548640" y="2057400"/>
            <a:ext cx="51206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cheap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model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CV score as a function of the hyperparameters.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pick the next setting that balances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 vs unexplored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evaluate it, update, repeat.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good settings in far fewer evaluations: useful when each CV fit is slow.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scored by cross-validation, never the test set: the leakage rules are unchanged.</a:t>
            </a:r>
          </a:p>
        </p:txBody>
      </p:sp>
      <p:pic>
        <p:nvPicPr>
          <p:cNvPr id="20" name="Bayesian search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275367"/>
            <a:ext cx="5760720" cy="2177753"/>
          </a:xfrm>
          <a:prstGeom prst="rect">
            <a:avLst/>
          </a:prstGeom>
        </p:spPr>
      </p:pic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6" name="Pagenum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danger hiding in tuning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tune to the validation score, you “use up” a little of its honesty.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hard enough and your validation score becomes optimistic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overfit the tuning!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structural, not trying harder — enter nested cross-validation.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4754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8368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5916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3465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01014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48563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96112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943660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91209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8758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1086307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6583680" y="388620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059168" y="377647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34656" y="366674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10144" y="355701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485632" y="344728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961120" y="333756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436608" y="322783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912096" y="311810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87584" y="300837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10863072" y="289864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896112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validation score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573768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performance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8368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tuning effort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60120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optimism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review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CV: rotate the held-out fold, average: a more stable estimate than one split.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data-dependent (scaling, selection) refits inside each fold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estimates performance for a fixed modelling choice.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if the modelling choice itself (the hyperparameters) was selected using the data?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662672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558784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454896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10351008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766560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662672" y="2944368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58784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454896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51008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766560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662672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558784" y="3511296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454896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10351008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6766560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662672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58784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454896" y="4078224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51008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766560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662672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558784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9454896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351008" y="4645152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7665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4 training folds + 1 held-out (amber)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cross-validation (the concept)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an inner loop selects hyperparameters; an outer loop estimates performance.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fold is never used to choose anything: it only judges the finished, tuned model.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an honest performance estimate that includes the cost of tuning.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but the correct way to report tuned-model performance.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It does not choose parameters, it evaluates the model!</a:t>
            </a:r>
            <a:endParaRPr lang="en-US" sz="1500" b="1" dirty="0"/>
          </a:p>
        </p:txBody>
      </p:sp>
      <p:sp>
        <p:nvSpPr>
          <p:cNvPr id="8" name="Text 5"/>
          <p:cNvSpPr/>
          <p:nvPr/>
        </p:nvSpPr>
        <p:spPr>
          <a:xfrm>
            <a:off x="621792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OUTER: estimate performance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242048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66176" y="2560320"/>
            <a:ext cx="960120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9290304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10314432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8266176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outer fold → judges only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675120" y="3035808"/>
            <a:ext cx="0" cy="45720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217920" y="352044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400800" y="3657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INNER: select hyperparameters (on outer-training folds)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4069080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4980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4124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3268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5836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498080" y="4453128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4124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3268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5836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4980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412480" y="4837176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93268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5836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4980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84124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9326880" y="5221224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6217920" y="5897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CV chooses the best configuration; outer fold never sees it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nested CV matters in practice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tuned models report optimistic scores that don’t replicate.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cause: small n, many hyperparameters, flexible models.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you tuned on it, you cannot also report performance on it.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tuning optimism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on new cohorts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look great in-cohort and collapse on an independent dataset.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Model is good. Input is different (different normalization, batch effect, etc..).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setting: METABRIC (Illumina) vs GSE6532 (Affymetrix): different platforms, real batch.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Cross-cohort validation is the closest thing to truth before a clinical trial.</a:t>
            </a:r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in-cohort CV does not predict cross-platform transfer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correction: ComBat and friends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quantile normalization methods estimate and subtract batch effects.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cohorts become comparable; cross-platform models can work.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aggressive correction can remove real biology </a:t>
            </a:r>
            <a:r>
              <a:rPr lang="en-US" sz="14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(how?)</a:t>
            </a: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leak the outcome (next slide).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are a gentler, more platform-robust alternative.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4008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batch-separated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74151" y="4875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52637" y="391625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999197" y="538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679496" y="437930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888013" y="506847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00939" y="41888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760377" y="398802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8257824" y="53821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971782" y="413088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495408" y="507978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73860" y="44934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673670" y="50056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719810" y="524704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70791" y="532786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400354" y="414825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677080" y="5142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7110717" y="48598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8651007" y="53248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960619" y="43886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8591936" y="533099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761028" y="497244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865821" y="528042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364742" y="486085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637726" y="4128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350625" y="474606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8694600" y="39374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988129" y="501626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323450" y="52074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7153834" y="38812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8391081" y="51339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360278" y="445813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166740" y="419257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7095013" y="47549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532835" y="516693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7217139" y="384069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497203" y="490724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923544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44"/>
          <p:cNvSpPr/>
          <p:nvPr/>
        </p:nvSpPr>
        <p:spPr>
          <a:xfrm>
            <a:off x="923544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intermixed (biology kept)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1415879" y="507851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10694597" y="51147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899069" y="422900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9838866" y="537780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11502058" y="4752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11324389" y="384361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0761472" y="529804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0598091" y="47473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10066649" y="469425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9682906" y="43723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10382677" y="45875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10596004" y="48619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10960092" y="4546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10204260" y="414424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11135208" y="426609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10524781" y="509316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10430680" y="52472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9773463" y="539516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10788745" y="497511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10908499" y="50489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10423438" y="48245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11034478" y="513386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9846514" y="47039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10496729" y="457504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11420849" y="52627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9861495" y="494582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10809288" y="40314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10158711" y="422844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10449805" y="54743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10506834" y="45286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11278564" y="541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10904053" y="507402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9774731" y="4461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10793907" y="423580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11469927" y="39583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10290983" y="47291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Text 81"/>
          <p:cNvSpPr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over-correction can erase real biology — handle with care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batch correction belongs in the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must not use the outcome label, and must respect the split.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 on training data; apply the same transform to validation/test.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train + test together, using all data, is a leakage.</a:t>
            </a:r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cs typeface="Calibri" pitchFamily="34" charset="-120"/>
              </a:rPr>
              <a:t>RULE: start always with raw counts! Not normalized or batch corrected!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batch is perfectly confounded with outcome, no method can rescue it: design matters more.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18688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547872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547872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TRAIN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35040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364224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364224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same transform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held-out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51392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180576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180576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evaluate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5029200"/>
            <a:ext cx="5486400" cy="640080"/>
          </a:xfrm>
          <a:prstGeom prst="roundRect">
            <a:avLst>
              <a:gd name="adj" fmla="val 8571"/>
            </a:avLst>
          </a:prstGeom>
          <a:solidFill>
            <a:srgbClr val="F2DEDB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731520" y="5029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correct train + test together (leakage)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50292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if batch is perfectly confounded with outcome, only better design — not any method — can help.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and coefficients (and their traps)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interpretation tools: linear coefficients, tree-based importance, SHAP values.</a:t>
            </a:r>
            <a:endParaRPr lang="en-US" sz="150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coefficients: direction + magnitude, but unstable/split with correlated partners (use pathways)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Random-forest importance: ranks usefulness for splitting, but is biased and unstable.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genes share/split importance: a top gene can be an artefact of correlation.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stability across folds/resamples before believing a ranking.</a:t>
            </a:r>
          </a:p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answer “what is the model using?” None answer “what causes recurrence?”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44805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29600" y="2697480"/>
            <a:ext cx="2409444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81228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525658" y="2834640"/>
            <a:ext cx="226771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229600" y="3227832"/>
            <a:ext cx="1757477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812280" y="31821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845345" y="3364992"/>
            <a:ext cx="28346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229600" y="3758184"/>
            <a:ext cx="1559052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812280" y="37124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193378" y="3895344"/>
            <a:ext cx="1190549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229600" y="4288536"/>
            <a:ext cx="1133856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6812280" y="4242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193378" y="4425696"/>
            <a:ext cx="340157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229600" y="4818888"/>
            <a:ext cx="1077163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812280" y="4773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B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739835" y="4956048"/>
            <a:ext cx="11338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76656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 the stable features (small error bars), not the lucky ones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attributes each prediction to its features — a consistent, per-patient explanation.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Useful: shows how the model reached a decision for an individual tumour.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it explains the model, not the biology: a faithful explanation of a flawed model is still flawed.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present SHAP as evidence of mechanism or causation.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2560320"/>
            <a:ext cx="0" cy="25603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040880" y="2240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→ prediction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144000" y="2743200"/>
            <a:ext cx="1554480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035040" y="27249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0" y="3291840"/>
            <a:ext cx="621792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035040" y="3273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size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677656" y="3840480"/>
            <a:ext cx="466344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035040" y="3822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44968" y="4389120"/>
            <a:ext cx="1399032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03504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040880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lowers risk    raises risk →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seeds: fix them, report them: results that change run-to-run aren’t results.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Pipelines: encapsulate preprocessing + model so the whole thing refits inside CV (no leakage).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environment capture: same code + data + versions = same result.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organisation and experiment tracking: every reported number is regenerable.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589520" y="21945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589520" y="21945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281160" y="277063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89520" y="301752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589520" y="30175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81160" y="359359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89520" y="384048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589520" y="3840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81160" y="441655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89520" y="466344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589520" y="466344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experiment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281160" y="523951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589520" y="548640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589520" y="5486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regenerable result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CHOOSING THE BEST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best model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not the most complex, nor the one with the highest training score.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robust, interpretable, reproducible, and well-validated.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prefer the simplest model whose advantage survives honest 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clinic-bound biomarker, trust and transferability beat a fractional AUC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321040" y="2834640"/>
            <a:ext cx="1645920" cy="1645920"/>
          </a:xfrm>
          <a:prstGeom prst="ellipse">
            <a:avLst/>
          </a:prstGeom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772400" y="3657600"/>
            <a:ext cx="2743200" cy="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144000" y="2286000"/>
            <a:ext cx="0" cy="274320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3" name="radar"/>
          <p:cNvSpPr/>
          <p:nvPr/>
        </p:nvSpPr>
        <p:spPr>
          <a:xfrm>
            <a:off x="8321040" y="2532888"/>
            <a:ext cx="1810512" cy="1741932"/>
          </a:xfrm>
          <a:custGeom>
            <a:avLst/>
            <a:gdLst/>
            <a:ahLst/>
            <a:cxnLst/>
            <a:rect l="0" t="0" r="0" b="0"/>
            <a:pathLst>
              <a:path w="1810512" h="1741932">
                <a:moveTo>
                  <a:pt x="822960" y="0"/>
                </a:moveTo>
                <a:lnTo>
                  <a:pt x="1810512" y="1124712"/>
                </a:lnTo>
                <a:lnTo>
                  <a:pt x="822960" y="1741932"/>
                </a:lnTo>
                <a:lnTo>
                  <a:pt x="0" y="1124712"/>
                </a:lnTo>
                <a:close/>
              </a:path>
            </a:pathLst>
          </a:custGeom>
          <a:solidFill>
            <a:srgbClr val="0E7C86">
              <a:alpha val="22000"/>
            </a:srgbClr>
          </a:solidFill>
          <a:ln w="25400">
            <a:solidFill>
              <a:srgbClr val="0E7C8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4" name="vtx"/>
          <p:cNvSpPr/>
          <p:nvPr/>
        </p:nvSpPr>
        <p:spPr>
          <a:xfrm>
            <a:off x="9092000" y="2480888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" name="vtx"/>
          <p:cNvSpPr/>
          <p:nvPr/>
        </p:nvSpPr>
        <p:spPr>
          <a:xfrm>
            <a:off x="10079552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" name="vtx"/>
          <p:cNvSpPr/>
          <p:nvPr/>
        </p:nvSpPr>
        <p:spPr>
          <a:xfrm>
            <a:off x="9092000" y="422282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" name="vtx"/>
          <p:cNvSpPr/>
          <p:nvPr/>
        </p:nvSpPr>
        <p:spPr>
          <a:xfrm>
            <a:off x="8269040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296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33272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AUC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validation is usually more important than a better algorithm.”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performance gains are smaller than expected; validation errors do more damage than model choice.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requires caution; biological plausibility does not prove causality.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trees help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&amp; tuning (grid/random)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effects &amp; correction in the pipeline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Interpretation; prediction ≠ causation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Reproducibility; choosing on evidence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LR / Random Forest / Gradient Boosting on the SAME features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one model (grid / random search)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honestly with nested CV — measure the optimism gap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Batch-correction experiment: METABRIC → GSE6532, with vs without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importances responsibly; choose a model for publication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research-grade ML — survival models, external validation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818F4-41D9-AAE7-5EB2-D7F34BD83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930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 — using and evaluating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forest is built, prediction and validation both fall out of the same bootstrap trick.</a:t>
            </a:r>
            <a:endParaRPr lang="en-US" sz="1500" dirty="0"/>
          </a:p>
        </p:txBody>
      </p:sp>
      <p:pic>
        <p:nvPicPr>
          <p:cNvPr id="20" name="RF us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11064240" cy="3032000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41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forest by trying different m (genes per split) and picking the value with the lowest out-of-bag error.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from a random forest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gene: how much it helped the forest predict, summed across all trees. Two ways to measure it.</a:t>
            </a:r>
            <a:endParaRPr lang="en-US" sz="1500" dirty="0"/>
          </a:p>
        </p:txBody>
      </p:sp>
      <p:pic>
        <p:nvPicPr>
          <p:cNvPr id="20" name="RF importanc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3463065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638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as a fast first look; reach for SHAP (Lecture 3) when the ranking actually drives a decision.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3500</Words>
  <Application>Microsoft Macintosh PowerPoint</Application>
  <PresentationFormat>Widescreen</PresentationFormat>
  <Paragraphs>378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 — Model Improvement, Validation, and Interpretation</dc:title>
  <dc:subject>PptxGenJS Presentation</dc:subject>
  <dc:creator>Practical ML for Transcriptomics in Cancer Research</dc:creator>
  <cp:lastModifiedBy>Zhan Yinxiu</cp:lastModifiedBy>
  <cp:revision>61</cp:revision>
  <dcterms:created xsi:type="dcterms:W3CDTF">2026-06-17T14:54:15Z</dcterms:created>
  <dcterms:modified xsi:type="dcterms:W3CDTF">2026-06-30T16:40:24Z</dcterms:modified>
</cp:coreProperties>
</file>