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rts/chart1.xml" ContentType="application/vnd.openxmlformats-officedocument.drawingml.chart+xml"/>
  <Override PartName="/ppt/notesSlides/notesSlide16.xml" ContentType="application/vnd.openxmlformats-officedocument.presentationml.notesSlide+xml"/>
  <Override PartName="/ppt/charts/chart2.xml" ContentType="application/vnd.openxmlformats-officedocument.drawingml.chart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87" r:id="rId13"/>
    <p:sldId id="267" r:id="rId14"/>
    <p:sldId id="268" r:id="rId15"/>
    <p:sldId id="269" r:id="rId16"/>
    <p:sldId id="270" r:id="rId17"/>
    <p:sldId id="271" r:id="rId18"/>
    <p:sldId id="273" r:id="rId19"/>
    <p:sldId id="274" r:id="rId20"/>
    <p:sldId id="276" r:id="rId21"/>
    <p:sldId id="277" r:id="rId22"/>
    <p:sldId id="279" r:id="rId23"/>
    <p:sldId id="281" r:id="rId24"/>
    <p:sldId id="282" r:id="rId25"/>
    <p:sldId id="283" r:id="rId26"/>
    <p:sldId id="284" r:id="rId27"/>
    <p:sldId id="285" r:id="rId28"/>
    <p:sldId id="286" r:id="rId2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034"/>
    <p:restoredTop sz="94610"/>
  </p:normalViewPr>
  <p:slideViewPr>
    <p:cSldViewPr snapToGrid="0" snapToObjects="1">
      <p:cViewPr varScale="1">
        <p:scale>
          <a:sx n="143" d="100"/>
          <a:sy n="143" d="100"/>
        </p:scale>
        <p:origin x="1512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2262B"/>
                </a:solidFill>
                <a:latin typeface="Arial"/>
              </a:defRPr>
            </a:pPr>
            <a:r>
              <a:rPr lang="en-GB" sz="1200" b="0" i="0" u="none" strike="noStrike">
                <a:solidFill>
                  <a:srgbClr val="12262B"/>
                </a:solidFill>
                <a:latin typeface="Arial"/>
              </a:rPr>
              <a:t>same tuned model, two estimates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ROC-AUC</c:v>
                </c:pt>
              </c:strCache>
            </c:strRef>
          </c:tx>
          <c:spPr>
            <a:solidFill>
              <a:srgbClr val="C2772B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 i="0" u="none" strike="noStrike">
                    <a:solidFill>
                      <a:srgbClr val="12262B"/>
                    </a:solidFill>
                    <a:latin typeface="Arial"/>
                  </a:defRPr>
                </a:pPr>
                <a:endParaRPr lang="en-IT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Tuned, non-nested CV</c:v>
                </c:pt>
                <c:pt idx="1">
                  <c:v>Nested CV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0.76</c:v>
                </c:pt>
                <c:pt idx="1">
                  <c:v>0.69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9C2-1F40-80B5-97C8C3FC02C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0"/>
                </a:solidFill>
                <a:latin typeface="Arial"/>
              </a:defRPr>
            </a:pPr>
            <a:endParaRPr lang="en-IT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85"/>
          <c:min val="0.5"/>
        </c:scaling>
        <c:delete val="0"/>
        <c:axPos val="l"/>
        <c:majorGridlines>
          <c:spPr>
            <a:ln w="6350" cap="flat">
              <a:solidFill>
                <a:srgbClr val="C9D7D9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0"/>
                </a:solidFill>
                <a:latin typeface="Arial"/>
              </a:defRPr>
            </a:pPr>
            <a:endParaRPr lang="en-IT"/>
          </a:p>
        </c:txPr>
        <c:crossAx val="2094734554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2262B"/>
                </a:solidFill>
                <a:latin typeface="Arial"/>
              </a:defRPr>
            </a:pPr>
            <a:r>
              <a:rPr lang="en-GB" sz="1200" b="0" i="0" u="none" strike="noStrike">
                <a:solidFill>
                  <a:srgbClr val="12262B"/>
                </a:solidFill>
                <a:latin typeface="Arial"/>
              </a:rPr>
              <a:t>the same model, two cohorts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AUC</c:v>
                </c:pt>
              </c:strCache>
            </c:strRef>
          </c:tx>
          <c:spPr>
            <a:solidFill>
              <a:srgbClr val="0E7C86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 i="0" u="none" strike="noStrike">
                    <a:solidFill>
                      <a:srgbClr val="12262B"/>
                    </a:solidFill>
                    <a:latin typeface="Arial"/>
                  </a:defRPr>
                </a:pPr>
                <a:endParaRPr lang="en-IT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METABRIC (internal CV)</c:v>
                </c:pt>
                <c:pt idx="1">
                  <c:v>GSE6532 (external)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0.78</c:v>
                </c:pt>
                <c:pt idx="1">
                  <c:v>0.6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451-A14B-A39A-E848115B208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0"/>
                </a:solidFill>
                <a:latin typeface="Arial"/>
              </a:defRPr>
            </a:pPr>
            <a:endParaRPr lang="en-IT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85"/>
          <c:min val="0.5"/>
        </c:scaling>
        <c:delete val="0"/>
        <c:axPos val="l"/>
        <c:majorGridlines>
          <c:spPr>
            <a:ln w="6350" cap="flat">
              <a:solidFill>
                <a:srgbClr val="C9D7D9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0"/>
                </a:solidFill>
                <a:latin typeface="Arial"/>
              </a:defRPr>
            </a:pPr>
            <a:endParaRPr lang="en-IT"/>
          </a:p>
        </c:txPr>
        <c:crossAx val="2094734554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945396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Frame the tension: students want fancier models; we'll honour that, but the lesson is that proving a model is better is harder than building a fancier one. A better algorithm is the easy part; a trustworthy estimate is the hard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Trustworthy problem (L1), model (L2), features (L3). You can build a biologically-informed baseline and you want to make it fancier. Today: more powerful families, proper tuning, and the validation that keeps them honest. Resist: 'more complex = better'.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Checklist ticked as we go. The two carrying the weight: nested cross-validation (why tuning inflates estimates) and batch correction done correctly (why models fail on new cohorts).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You own a validated baseline. The real question isn't 'can I build something fancier?' but 'can I SHOW it's better?' A complex model must EARN its complexity with validated 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Compare on the same split/metrics/validation -- change only the model. A difference within CV noise is NOT an improvement. Prefer the simpler model unless the gain is real, validated, meaningful.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A tree is a cascade of yes/no biological rules -- reads like clinical decision-making, very interpretable for ONE tree. But single trees are unstable (resample -&gt; different tree) and overfit without constraints.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Many trees on resampled data/features, voting. Averaging unstable trees -&gt; robust, lower-variance predictor. Free (caveated) importance. Limits: less interpretable, biased importances, not magic on small 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Trees built sequentially, each correcting the last's mistakes. Often the strongest tabular predictor -- but the easiest to overfit and most tuning-sensitive. In p&gt;&gt;n with modest signal, its edge over a good baseline is often small.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Linear: interpretable, stable, strong in p&gt;&gt;n -- the default. RF: robust, low-tuning, weaker interpretability. GBM: highest ceiling, highest overfitting risk. Honest expectation: complex models rarely beat a good baseline by much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Parameters are learned FROM data during fitting (gene coefficients). Hyperparameters are set BEFORE fitting and control the model (depth, #trees, penalty C). You don't learn hyperparameters by fitting -- you search and must validate honestly.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Grid: every combination -- thorough but expensive. Random: sampled combinations -- often finds good values far cheaper. Every candidate scored by CV, never the test set. Cost explodes with #hyperparameters.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Every time you tune to the validation score, you use up its honesty. Tune hard enough and the score becomes optimistic -- you overfit the TUNING. The model never saw test data, yet the ESTIMATE is inflated. Fix is structural: nested CV.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k-fold rotates the held-out fold and averages. Everything data-dependent refits inside each fold. This estimates a FIXED modelling choice. But what if the choice (hyperparameters) was selected using the data?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Two loops: inner selects hyperparameters; outer estimates performance. The outer fold is never used to choose anything. Result: an honest estimate that INCLUDES the cost of tuning. Expensive but correct.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Without it, tuned models report optimistic scores that don't replicate -- worst at small n, many hyperparameters, flexible models. Rule: if you tuned on it, you can't also report performance on it. Measured in the practical.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A model can look great in-cohort and collapse on independent data. Usual culprit: technical variation between cohorts -- batch effects. Our setting: METABRIC (Illumina) vs GSE6532 (Affymetrix). Cross-cohort validation is the closest thing to truth.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ComBat/RUV estimate and subtract batch effects -&gt; cohorts become comparable. Risk: aggressive correction removes real biology, or done wrong leaks the outcome. Pathway features (L3) are a gentler, more platform-robust alternative.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Cardinal rule: correction must not use the outcome and must respect the split. Estimate on train, apply same transform to held-out. Correcting everything together is leakage. If batch is perfectly confounded with outcome, no method can rescue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Coefficients: direction+magnitude but scale/correlation-dependent. RF importance: biased, unstable. Correlated genes share/split importance. Always check stability across folds before believing a ranking.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SHAP attributes each prediction to its features -- a consistent per-patient explanation. Useful: shows HOW the model decided for an individual tumour. Limit: explains the MODEL, not the biology. Never present SHAP as mechanism/causation.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Random seeds: fix &amp; report. Pipelines: encapsulate preprocessing+model so it refits inside CV. Version control + environment capture. Notebook organisation &amp; experiment tracking: every number regenerable.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Not the most complex, not the highest training score. The best model is robust, interpretable, reproducible, well-validated. Prefer the simplest model whose advantage survives honest (nested, cross-cohort) validation.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Deliver the thesis. Three corollaries: gains are smaller than expected; validation errors do more damage than model choice; plausibility is not causation. This is where students graduate from building models to judging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Tick objectives. Practical: compare LR/RF/GBM on the same features; tune one with grid/random search; estimate honestly with nested CV; batch-correction experiment (METABRIC-&gt;GSE6532, with/without); interpret importances responsibly; choose a model for publication. Next: research-grade ML -- survival models, external validation at scale.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D378C0-A3DD-8D60-E052-6A28B4522A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599E71-9C83-270F-8236-45B5397A4A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77E77E-68AE-F7B8-0793-C88967E02B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Tick objectives. Practical: compare LR/RF/GBM on the same features; tune one with grid/random search; estimate honestly with nested CV; batch-correction experiment (METABRIC-&gt;GSE6532, with/without); interpret importances responsibly; choose a model for publication. Next: research-grade ML -- survival models, external validation at scale.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421BFD-1A80-DFA6-045A-AB6C540206C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42087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B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914400"/>
            <a:ext cx="1005840" cy="0"/>
          </a:xfrm>
          <a:prstGeom prst="line">
            <a:avLst/>
          </a:prstGeom>
          <a:noFill/>
          <a:ln w="31750">
            <a:solidFill>
              <a:srgbClr val="14A6B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" name="Text 1"/>
          <p:cNvSpPr/>
          <p:nvPr/>
        </p:nvSpPr>
        <p:spPr>
          <a:xfrm>
            <a:off x="8686800" y="96012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0241280" y="457200"/>
            <a:ext cx="384048" cy="457200"/>
          </a:xfrm>
          <a:prstGeom prst="triangle">
            <a:avLst/>
          </a:prstGeom>
          <a:solidFill>
            <a:srgbClr val="14A6B0">
              <a:alpha val="80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" name="Shape 3"/>
          <p:cNvSpPr/>
          <p:nvPr/>
        </p:nvSpPr>
        <p:spPr>
          <a:xfrm>
            <a:off x="10698480" y="457200"/>
            <a:ext cx="384048" cy="457200"/>
          </a:xfrm>
          <a:prstGeom prst="triangle">
            <a:avLst/>
          </a:prstGeom>
          <a:solidFill>
            <a:srgbClr val="14A6B0">
              <a:alpha val="80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" name="Shape 4"/>
          <p:cNvSpPr/>
          <p:nvPr/>
        </p:nvSpPr>
        <p:spPr>
          <a:xfrm>
            <a:off x="11155680" y="457200"/>
            <a:ext cx="384048" cy="457200"/>
          </a:xfrm>
          <a:prstGeom prst="triangle">
            <a:avLst/>
          </a:prstGeom>
          <a:solidFill>
            <a:srgbClr val="14A6B0">
              <a:alpha val="80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" name="Text 5"/>
          <p:cNvSpPr/>
          <p:nvPr/>
        </p:nvSpPr>
        <p:spPr>
          <a:xfrm>
            <a:off x="10149840" y="9601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forest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869680" y="1737360"/>
            <a:ext cx="384048" cy="274320"/>
          </a:xfrm>
          <a:prstGeom prst="rect">
            <a:avLst/>
          </a:prstGeom>
          <a:solidFill>
            <a:srgbClr val="0E7C86">
              <a:alpha val="90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" name="Shape 7"/>
          <p:cNvSpPr/>
          <p:nvPr/>
        </p:nvSpPr>
        <p:spPr>
          <a:xfrm>
            <a:off x="9326880" y="1847088"/>
            <a:ext cx="384048" cy="274320"/>
          </a:xfrm>
          <a:prstGeom prst="rect">
            <a:avLst/>
          </a:prstGeom>
          <a:solidFill>
            <a:srgbClr val="0E7C86">
              <a:alpha val="90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" name="Shape 8"/>
          <p:cNvSpPr/>
          <p:nvPr/>
        </p:nvSpPr>
        <p:spPr>
          <a:xfrm>
            <a:off x="9784080" y="1956816"/>
            <a:ext cx="384048" cy="274320"/>
          </a:xfrm>
          <a:prstGeom prst="rect">
            <a:avLst/>
          </a:prstGeom>
          <a:solidFill>
            <a:srgbClr val="0E7C86">
              <a:alpha val="90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" name="Text 9"/>
          <p:cNvSpPr/>
          <p:nvPr/>
        </p:nvSpPr>
        <p:spPr>
          <a:xfrm>
            <a:off x="8686800" y="22402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boosting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0058400" y="1828800"/>
            <a:ext cx="822960" cy="640080"/>
          </a:xfrm>
          <a:prstGeom prst="line">
            <a:avLst/>
          </a:prstGeom>
          <a:noFill/>
          <a:ln w="12700">
            <a:solidFill>
              <a:srgbClr val="DCEDEE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13" name="Shape 11"/>
          <p:cNvSpPr/>
          <p:nvPr/>
        </p:nvSpPr>
        <p:spPr>
          <a:xfrm>
            <a:off x="10058400" y="2651760"/>
            <a:ext cx="1463040" cy="0"/>
          </a:xfrm>
          <a:prstGeom prst="line">
            <a:avLst/>
          </a:prstGeom>
          <a:noFill/>
          <a:ln w="25400">
            <a:solidFill>
              <a:srgbClr val="14A6B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4" name="Shape 12"/>
          <p:cNvSpPr/>
          <p:nvPr/>
        </p:nvSpPr>
        <p:spPr>
          <a:xfrm>
            <a:off x="10789920" y="2651760"/>
            <a:ext cx="0" cy="457200"/>
          </a:xfrm>
          <a:prstGeom prst="line">
            <a:avLst/>
          </a:prstGeom>
          <a:noFill/>
          <a:ln w="25400">
            <a:solidFill>
              <a:srgbClr val="14A6B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5" name="Shape 13"/>
          <p:cNvSpPr/>
          <p:nvPr/>
        </p:nvSpPr>
        <p:spPr>
          <a:xfrm>
            <a:off x="9784080" y="3063240"/>
            <a:ext cx="548640" cy="164592"/>
          </a:xfrm>
          <a:prstGeom prst="ellipse">
            <a:avLst/>
          </a:prstGeom>
          <a:solidFill>
            <a:srgbClr val="14A6B0">
              <a:alpha val="80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" name="Shape 14"/>
          <p:cNvSpPr/>
          <p:nvPr/>
        </p:nvSpPr>
        <p:spPr>
          <a:xfrm>
            <a:off x="11247120" y="3063240"/>
            <a:ext cx="548640" cy="164592"/>
          </a:xfrm>
          <a:prstGeom prst="ellipse">
            <a:avLst/>
          </a:prstGeom>
          <a:solidFill>
            <a:srgbClr val="14A6B0">
              <a:alpha val="80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7" name="Text 15"/>
          <p:cNvSpPr/>
          <p:nvPr/>
        </p:nvSpPr>
        <p:spPr>
          <a:xfrm>
            <a:off x="9966960" y="329184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14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40080" y="1280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14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0080" y="1737360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3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Improvement,</a:t>
            </a:r>
            <a:endParaRPr lang="en-US" sz="35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3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Validation, and Interpretation</a:t>
            </a:r>
            <a:endParaRPr lang="en-US" sz="3500" dirty="0"/>
          </a:p>
        </p:txBody>
      </p:sp>
      <p:sp>
        <p:nvSpPr>
          <p:cNvPr id="20" name="Text 18"/>
          <p:cNvSpPr/>
          <p:nvPr/>
        </p:nvSpPr>
        <p:spPr>
          <a:xfrm>
            <a:off x="640080" y="370332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Machine Learning for Transcriptomics in Cancer Research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40080" y="434340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14A6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better algorithm is the easy part. A trustworthy estimate is the hard part.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40080" y="58521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 err="1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Yinxiu</a:t>
            </a:r>
            <a:r>
              <a:rPr lang="en-US" sz="12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Zhan · IEO/UNIMI ·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Recap, and the temptation we face today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2120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5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Lectures 1-3: trustworthy problem, trustworthy model, trustworthy features.</a:t>
            </a:r>
            <a:endParaRPr lang="en-US" sz="1600" dirty="0"/>
          </a:p>
          <a:p>
            <a:pPr marL="203200" indent="-203200">
              <a:spcAft>
                <a:spcPts val="15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more powerful model families, proper tuning, and the validation that keeps them honest.</a:t>
            </a:r>
            <a:endParaRPr lang="en-US" sz="1600" dirty="0"/>
          </a:p>
          <a:p>
            <a:pPr marL="203200" indent="-203200">
              <a:spcAft>
                <a:spcPts val="1500"/>
              </a:spcAft>
              <a:buSzPct val="100000"/>
              <a:buChar char="•"/>
            </a:pPr>
            <a:r>
              <a:rPr lang="en-US" sz="160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temptation to resist: assuming a more complex model is automatically better.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309360" y="1783080"/>
            <a:ext cx="530352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9" name="Shape 6"/>
          <p:cNvSpPr/>
          <p:nvPr/>
        </p:nvSpPr>
        <p:spPr>
          <a:xfrm>
            <a:off x="6510528" y="1984248"/>
            <a:ext cx="365760" cy="365760"/>
          </a:xfrm>
          <a:prstGeom prst="ellipse">
            <a:avLst/>
          </a:prstGeom>
          <a:solidFill>
            <a:srgbClr val="2E7D5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" name="Text 7"/>
          <p:cNvSpPr/>
          <p:nvPr/>
        </p:nvSpPr>
        <p:spPr>
          <a:xfrm>
            <a:off x="6510528" y="1984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040880" y="1783080"/>
            <a:ext cx="4389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Biological question → ML problem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309360" y="2715768"/>
            <a:ext cx="530352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3" name="Shape 10"/>
          <p:cNvSpPr/>
          <p:nvPr/>
        </p:nvSpPr>
        <p:spPr>
          <a:xfrm>
            <a:off x="6510528" y="2916936"/>
            <a:ext cx="365760" cy="365760"/>
          </a:xfrm>
          <a:prstGeom prst="ellipse">
            <a:avLst/>
          </a:prstGeom>
          <a:solidFill>
            <a:srgbClr val="2E7D5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" name="Text 11"/>
          <p:cNvSpPr/>
          <p:nvPr/>
        </p:nvSpPr>
        <p:spPr>
          <a:xfrm>
            <a:off x="6510528" y="29169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7040880" y="2715768"/>
            <a:ext cx="4389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the first model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309360" y="3648456"/>
            <a:ext cx="530352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7" name="Shape 14"/>
          <p:cNvSpPr/>
          <p:nvPr/>
        </p:nvSpPr>
        <p:spPr>
          <a:xfrm>
            <a:off x="6510528" y="3849624"/>
            <a:ext cx="365760" cy="365760"/>
          </a:xfrm>
          <a:prstGeom prst="ellipse">
            <a:avLst/>
          </a:prstGeom>
          <a:solidFill>
            <a:srgbClr val="2E7D5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8" name="Text 15"/>
          <p:cNvSpPr/>
          <p:nvPr/>
        </p:nvSpPr>
        <p:spPr>
          <a:xfrm>
            <a:off x="6510528" y="38496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7040880" y="3648456"/>
            <a:ext cx="4389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 &amp; representation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309360" y="4581144"/>
            <a:ext cx="5303520" cy="768096"/>
          </a:xfrm>
          <a:prstGeom prst="roundRect">
            <a:avLst>
              <a:gd name="adj" fmla="val 9524"/>
            </a:avLst>
          </a:prstGeom>
          <a:solidFill>
            <a:srgbClr val="0E7C86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21" name="Shape 18"/>
          <p:cNvSpPr/>
          <p:nvPr/>
        </p:nvSpPr>
        <p:spPr>
          <a:xfrm>
            <a:off x="6510528" y="4782312"/>
            <a:ext cx="365760" cy="36576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2" name="Text 19"/>
          <p:cNvSpPr/>
          <p:nvPr/>
        </p:nvSpPr>
        <p:spPr>
          <a:xfrm>
            <a:off x="6510528" y="47823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7040880" y="4581144"/>
            <a:ext cx="4389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improvement &amp; validation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309360" y="5513832"/>
            <a:ext cx="530352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5" name="Shape 22"/>
          <p:cNvSpPr/>
          <p:nvPr/>
        </p:nvSpPr>
        <p:spPr>
          <a:xfrm>
            <a:off x="6510528" y="5715000"/>
            <a:ext cx="365760" cy="365760"/>
          </a:xfrm>
          <a:prstGeom prst="ellipse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6" name="Text 23"/>
          <p:cNvSpPr/>
          <p:nvPr/>
        </p:nvSpPr>
        <p:spPr>
          <a:xfrm>
            <a:off x="6510528" y="5715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5B6B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7040880" y="5513832"/>
            <a:ext cx="4389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Research-grade ML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8" name="Shape 5"/>
          <p:cNvSpPr/>
          <p:nvPr/>
        </p:nvSpPr>
        <p:spPr>
          <a:xfrm>
            <a:off x="731520" y="1975104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" name="Text 6"/>
          <p:cNvSpPr/>
          <p:nvPr/>
        </p:nvSpPr>
        <p:spPr>
          <a:xfrm>
            <a:off x="731520" y="1975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188720" y="1828800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model families; when do trees help?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48640" y="2578608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2" name="Shape 9"/>
          <p:cNvSpPr/>
          <p:nvPr/>
        </p:nvSpPr>
        <p:spPr>
          <a:xfrm>
            <a:off x="731520" y="2724912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" name="Text 10"/>
          <p:cNvSpPr/>
          <p:nvPr/>
        </p:nvSpPr>
        <p:spPr>
          <a:xfrm>
            <a:off x="731520" y="2724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2578608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hyperparameters and tuning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48640" y="3328416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6" name="Shape 13"/>
          <p:cNvSpPr/>
          <p:nvPr/>
        </p:nvSpPr>
        <p:spPr>
          <a:xfrm>
            <a:off x="731520" y="3474720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7" name="Text 14"/>
          <p:cNvSpPr/>
          <p:nvPr/>
        </p:nvSpPr>
        <p:spPr>
          <a:xfrm>
            <a:off x="731520" y="3474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3328416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nested cross-validation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48640" y="4078224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0" name="Shape 17"/>
          <p:cNvSpPr/>
          <p:nvPr/>
        </p:nvSpPr>
        <p:spPr>
          <a:xfrm>
            <a:off x="731520" y="4224528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1" name="Text 18"/>
          <p:cNvSpPr/>
          <p:nvPr/>
        </p:nvSpPr>
        <p:spPr>
          <a:xfrm>
            <a:off x="731520" y="4224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1188720" y="4078224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batch effects &amp; correction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309360" y="1828800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4" name="Shape 21"/>
          <p:cNvSpPr/>
          <p:nvPr/>
        </p:nvSpPr>
        <p:spPr>
          <a:xfrm>
            <a:off x="6492240" y="1975104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5" name="Text 22"/>
          <p:cNvSpPr/>
          <p:nvPr/>
        </p:nvSpPr>
        <p:spPr>
          <a:xfrm>
            <a:off x="6492240" y="1975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6949440" y="1828800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outputs; prediction ≠ causation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6309360" y="2578608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8" name="Shape 25"/>
          <p:cNvSpPr/>
          <p:nvPr/>
        </p:nvSpPr>
        <p:spPr>
          <a:xfrm>
            <a:off x="6492240" y="2724912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9" name="Text 26"/>
          <p:cNvSpPr/>
          <p:nvPr/>
        </p:nvSpPr>
        <p:spPr>
          <a:xfrm>
            <a:off x="6492240" y="2724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6949440" y="2578608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reproducibility principles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6309360" y="3328416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2" name="Shape 29"/>
          <p:cNvSpPr/>
          <p:nvPr/>
        </p:nvSpPr>
        <p:spPr>
          <a:xfrm>
            <a:off x="6492240" y="3474720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3" name="Text 30"/>
          <p:cNvSpPr/>
          <p:nvPr/>
        </p:nvSpPr>
        <p:spPr>
          <a:xfrm>
            <a:off x="6492240" y="3474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6949440" y="3328416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a model on evidence, not complexity</a:t>
            </a:r>
            <a:endParaRPr lang="en-US" sz="1300" dirty="0"/>
          </a:p>
        </p:txBody>
      </p:sp>
      <p:sp>
        <p:nvSpPr>
          <p:cNvPr id="35" name="Shape 32"/>
          <p:cNvSpPr/>
          <p:nvPr/>
        </p:nvSpPr>
        <p:spPr>
          <a:xfrm>
            <a:off x="6309360" y="4078224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6" name="Shape 33"/>
          <p:cNvSpPr/>
          <p:nvPr/>
        </p:nvSpPr>
        <p:spPr>
          <a:xfrm>
            <a:off x="6492240" y="4224528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7" name="Text 34"/>
          <p:cNvSpPr/>
          <p:nvPr/>
        </p:nvSpPr>
        <p:spPr>
          <a:xfrm>
            <a:off x="6492240" y="4224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6949440" y="4078224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the field's common mistakes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WHEN IS A BASELINE NOT ENOUGH?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burden of proof is on complexity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7607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already have: Logistic Regression + biological features + honest cross-validation.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question is not “can I build something fancier?” but “can I show it’s actually better?”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more complex model must earn its complexity with a validated gain.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9052560" y="4572000"/>
            <a:ext cx="0" cy="0"/>
          </a:xfrm>
          <a:prstGeom prst="line">
            <a:avLst/>
          </a:prstGeom>
          <a:noFill/>
          <a:ln w="38100">
            <a:solidFill>
              <a:srgbClr val="5B6B7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9" name="Shape 6"/>
          <p:cNvSpPr/>
          <p:nvPr/>
        </p:nvSpPr>
        <p:spPr>
          <a:xfrm>
            <a:off x="7589520" y="2880360"/>
            <a:ext cx="2926080" cy="0"/>
          </a:xfrm>
          <a:prstGeom prst="line">
            <a:avLst/>
          </a:prstGeom>
          <a:noFill/>
          <a:ln w="38100">
            <a:solidFill>
              <a:srgbClr val="5B6B7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0" name="Shape 7"/>
          <p:cNvSpPr/>
          <p:nvPr/>
        </p:nvSpPr>
        <p:spPr>
          <a:xfrm>
            <a:off x="7178040" y="2560320"/>
            <a:ext cx="914400" cy="274320"/>
          </a:xfrm>
          <a:prstGeom prst="ellipse">
            <a:avLst/>
          </a:prstGeom>
          <a:solidFill>
            <a:srgbClr val="C2772B">
              <a:alpha val="90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" name="Text 8"/>
          <p:cNvSpPr/>
          <p:nvPr/>
        </p:nvSpPr>
        <p:spPr>
          <a:xfrm>
            <a:off x="7132320" y="288036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9966960" y="2560320"/>
            <a:ext cx="914400" cy="274320"/>
          </a:xfrm>
          <a:prstGeom prst="ellipse">
            <a:avLst/>
          </a:prstGeom>
          <a:solidFill>
            <a:srgbClr val="2E7D57">
              <a:alpha val="90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" name="Text 10"/>
          <p:cNvSpPr/>
          <p:nvPr/>
        </p:nvSpPr>
        <p:spPr>
          <a:xfrm>
            <a:off x="9875520" y="288036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7132320" y="46634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must outweigh its cost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WHEN IS A BASELINE NOT ENOUGH?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do we know a model is “better”?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on the same split, the same metrics, the same validation. Change only the model.</a:t>
            </a:r>
            <a:endParaRPr lang="en-US" sz="15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difference within cross-validation noise is not an improvement.</a:t>
            </a:r>
            <a:endParaRPr lang="en-US" sz="15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 the simpler model unless the gain is real, validated, and meaningful.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6583680" y="2286000"/>
            <a:ext cx="475488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9" name="Shape 6"/>
          <p:cNvSpPr/>
          <p:nvPr/>
        </p:nvSpPr>
        <p:spPr>
          <a:xfrm>
            <a:off x="7589520" y="3156509"/>
            <a:ext cx="914400" cy="1461211"/>
          </a:xfrm>
          <a:prstGeom prst="rect">
            <a:avLst/>
          </a:prstGeom>
          <a:solidFill>
            <a:srgbClr val="0E7C86">
              <a:alpha val="45000"/>
            </a:srgbClr>
          </a:solidFill>
          <a:ln w="1905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0" name="Shape 7"/>
          <p:cNvSpPr/>
          <p:nvPr/>
        </p:nvSpPr>
        <p:spPr>
          <a:xfrm>
            <a:off x="7589520" y="3840480"/>
            <a:ext cx="914400" cy="0"/>
          </a:xfrm>
          <a:prstGeom prst="line">
            <a:avLst/>
          </a:prstGeom>
          <a:noFill/>
          <a:ln w="3175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1" name="Text 8"/>
          <p:cNvSpPr/>
          <p:nvPr/>
        </p:nvSpPr>
        <p:spPr>
          <a:xfrm>
            <a:off x="7406640" y="54406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9326880" y="2969971"/>
            <a:ext cx="914400" cy="1492301"/>
          </a:xfrm>
          <a:prstGeom prst="rect">
            <a:avLst/>
          </a:prstGeom>
          <a:solidFill>
            <a:srgbClr val="C2772B">
              <a:alpha val="45000"/>
            </a:srgbClr>
          </a:solidFill>
          <a:ln w="19050">
            <a:solidFill>
              <a:srgbClr val="C2772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3" name="Shape 10"/>
          <p:cNvSpPr/>
          <p:nvPr/>
        </p:nvSpPr>
        <p:spPr>
          <a:xfrm>
            <a:off x="9326880" y="3653942"/>
            <a:ext cx="914400" cy="0"/>
          </a:xfrm>
          <a:prstGeom prst="line">
            <a:avLst/>
          </a:prstGeom>
          <a:noFill/>
          <a:ln w="31750">
            <a:solidFill>
              <a:srgbClr val="C2772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4" name="Text 11"/>
          <p:cNvSpPr/>
          <p:nvPr/>
        </p:nvSpPr>
        <p:spPr>
          <a:xfrm>
            <a:off x="9144000" y="54406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B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583680" y="23774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B &gt; mean A — but the spreads overlap. Is it real?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 rot="16200000">
            <a:off x="6263640" y="35935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AUC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TREE-BASED MODELS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 trees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decision tree is a cascade of yes/no rules (“is proliferation score &gt; x?”).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like clinical decision-making: highly interpretable for a single tree.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single trees are unstable: small data changes → a very different tree.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they overfit easily without constraints (depth, leaf size (min patients in a node))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7680960" y="2103120"/>
            <a:ext cx="2194560" cy="502920"/>
          </a:xfrm>
          <a:prstGeom prst="roundRect">
            <a:avLst>
              <a:gd name="adj" fmla="val 10909"/>
            </a:avLst>
          </a:prstGeom>
          <a:solidFill>
            <a:srgbClr val="DCEDEE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9" name="Text 6"/>
          <p:cNvSpPr/>
          <p:nvPr/>
        </p:nvSpPr>
        <p:spPr>
          <a:xfrm>
            <a:off x="7680960" y="21031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proliferation &gt; x?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492240" y="3108960"/>
            <a:ext cx="1737360" cy="457200"/>
          </a:xfrm>
          <a:prstGeom prst="roundRect">
            <a:avLst>
              <a:gd name="adj" fmla="val 12000"/>
            </a:avLst>
          </a:prstGeom>
          <a:solidFill>
            <a:srgbClr val="DCEDEE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1" name="Text 8"/>
          <p:cNvSpPr/>
          <p:nvPr/>
        </p:nvSpPr>
        <p:spPr>
          <a:xfrm>
            <a:off x="6492240" y="31089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 signalling &lt; y?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9052560" y="3108960"/>
            <a:ext cx="1463040" cy="457200"/>
          </a:xfrm>
          <a:prstGeom prst="roundRect">
            <a:avLst>
              <a:gd name="adj" fmla="val 12000"/>
            </a:avLst>
          </a:prstGeom>
          <a:solidFill>
            <a:srgbClr val="DCEEE4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3" name="Text 10"/>
          <p:cNvSpPr/>
          <p:nvPr/>
        </p:nvSpPr>
        <p:spPr>
          <a:xfrm>
            <a:off x="9052560" y="31089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risk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43600" y="4114800"/>
            <a:ext cx="1371600" cy="457200"/>
          </a:xfrm>
          <a:prstGeom prst="roundRect">
            <a:avLst>
              <a:gd name="adj" fmla="val 12000"/>
            </a:avLst>
          </a:prstGeom>
          <a:solidFill>
            <a:srgbClr val="F2DEDB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5" name="Text 12"/>
          <p:cNvSpPr/>
          <p:nvPr/>
        </p:nvSpPr>
        <p:spPr>
          <a:xfrm>
            <a:off x="5943600" y="41148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risk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772400" y="4114800"/>
            <a:ext cx="1371600" cy="457200"/>
          </a:xfrm>
          <a:prstGeom prst="roundRect">
            <a:avLst>
              <a:gd name="adj" fmla="val 12000"/>
            </a:avLst>
          </a:prstGeom>
          <a:solidFill>
            <a:srgbClr val="DCEEE4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7" name="Text 14"/>
          <p:cNvSpPr/>
          <p:nvPr/>
        </p:nvSpPr>
        <p:spPr>
          <a:xfrm>
            <a:off x="7772400" y="41148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risk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 flipH="1">
            <a:off x="8138160" y="2613822"/>
            <a:ext cx="548640" cy="457200"/>
          </a:xfrm>
          <a:prstGeom prst="line">
            <a:avLst/>
          </a:prstGeom>
          <a:noFill/>
          <a:ln w="15240">
            <a:solidFill>
              <a:srgbClr val="5B6B7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9" name="Shape 16"/>
          <p:cNvSpPr/>
          <p:nvPr/>
        </p:nvSpPr>
        <p:spPr>
          <a:xfrm>
            <a:off x="9326880" y="2606040"/>
            <a:ext cx="457200" cy="502920"/>
          </a:xfrm>
          <a:prstGeom prst="line">
            <a:avLst/>
          </a:prstGeom>
          <a:noFill/>
          <a:ln w="15240">
            <a:solidFill>
              <a:srgbClr val="5B6B7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0" name="Shape 17"/>
          <p:cNvSpPr/>
          <p:nvPr/>
        </p:nvSpPr>
        <p:spPr>
          <a:xfrm>
            <a:off x="6949440" y="3566160"/>
            <a:ext cx="0" cy="548640"/>
          </a:xfrm>
          <a:prstGeom prst="line">
            <a:avLst/>
          </a:prstGeom>
          <a:noFill/>
          <a:ln w="15240">
            <a:solidFill>
              <a:srgbClr val="5B6B7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1" name="Shape 18"/>
          <p:cNvSpPr/>
          <p:nvPr/>
        </p:nvSpPr>
        <p:spPr>
          <a:xfrm>
            <a:off x="7589520" y="3566160"/>
            <a:ext cx="548640" cy="548640"/>
          </a:xfrm>
          <a:prstGeom prst="line">
            <a:avLst/>
          </a:prstGeom>
          <a:noFill/>
          <a:ln w="15240">
            <a:solidFill>
              <a:srgbClr val="5B6B7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2" name="Text 19"/>
          <p:cNvSpPr/>
          <p:nvPr/>
        </p:nvSpPr>
        <p:spPr>
          <a:xfrm>
            <a:off x="7498080" y="261382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↙                                          ↘ no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TREE-BASED MODELS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Random Forests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Concept: grow many trees on resampled data and varied features; let them vote.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Averaging many unstable trees → a robust, lower-variance predictor.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Gives a feature-importance ranking “for free” (with caveats, see later).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Limitations: less interpretable than one tree; importances biased; not magic on small n.</a:t>
            </a:r>
            <a:endParaRPr lang="en-US" sz="1550" dirty="0"/>
          </a:p>
        </p:txBody>
      </p:sp>
      <p:sp>
        <p:nvSpPr>
          <p:cNvPr id="14" name="Shape 11"/>
          <p:cNvSpPr/>
          <p:nvPr/>
        </p:nvSpPr>
        <p:spPr>
          <a:xfrm>
            <a:off x="9509760" y="3108960"/>
            <a:ext cx="822960" cy="0"/>
          </a:xfrm>
          <a:prstGeom prst="line">
            <a:avLst/>
          </a:prstGeom>
          <a:noFill/>
          <a:ln w="19050">
            <a:solidFill>
              <a:srgbClr val="5B6B70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15" name="Shape 12"/>
          <p:cNvSpPr/>
          <p:nvPr/>
        </p:nvSpPr>
        <p:spPr>
          <a:xfrm>
            <a:off x="10424160" y="2697480"/>
            <a:ext cx="914400" cy="914400"/>
          </a:xfrm>
          <a:prstGeom prst="ellipse">
            <a:avLst/>
          </a:prstGeom>
          <a:solidFill>
            <a:srgbClr val="0B3B40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6" name="Text 13"/>
          <p:cNvSpPr/>
          <p:nvPr/>
        </p:nvSpPr>
        <p:spPr>
          <a:xfrm>
            <a:off x="10424160" y="26974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vote /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7744046" y="411987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unstable trees → one robust predictor</a:t>
            </a:r>
            <a:endParaRPr lang="en-US" sz="1000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5B4E4383-1348-687E-6FB3-CB7935BAB0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9288" y="2418082"/>
            <a:ext cx="3741952" cy="101091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TREE-BASED MODELS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Gradient Boosting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Concept: build trees sequentially, each correcting the previous ones’ mistakes.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the strongest tabular predictor: frequently wins benchmarks over the other two. 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it is the easiest to overfit, and the most sensitive to tuning. Especially in p&gt;&gt;n regime</a:t>
            </a:r>
            <a:endParaRPr lang="en-US" sz="1550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982D7306-4087-7A66-E5F0-974617D022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5867" y="1396012"/>
            <a:ext cx="4331253" cy="347161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TREE-BASED MODELS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model family, when?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2011680"/>
            <a:ext cx="2468880" cy="658368"/>
          </a:xfrm>
          <a:prstGeom prst="rect">
            <a:avLst/>
          </a:prstGeom>
          <a:solidFill>
            <a:srgbClr val="0B3B40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8" name="Text 5"/>
          <p:cNvSpPr/>
          <p:nvPr/>
        </p:nvSpPr>
        <p:spPr>
          <a:xfrm>
            <a:off x="594360" y="201168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017520" y="2011680"/>
            <a:ext cx="2194560" cy="658368"/>
          </a:xfrm>
          <a:prstGeom prst="rect">
            <a:avLst/>
          </a:prstGeom>
          <a:solidFill>
            <a:srgbClr val="0B3B40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0" name="Text 7"/>
          <p:cNvSpPr/>
          <p:nvPr/>
        </p:nvSpPr>
        <p:spPr>
          <a:xfrm>
            <a:off x="3063240" y="2011680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Interpretability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212080" y="2011680"/>
            <a:ext cx="1828800" cy="658368"/>
          </a:xfrm>
          <a:prstGeom prst="rect">
            <a:avLst/>
          </a:prstGeom>
          <a:solidFill>
            <a:srgbClr val="0B3B40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2" name="Text 9"/>
          <p:cNvSpPr/>
          <p:nvPr/>
        </p:nvSpPr>
        <p:spPr>
          <a:xfrm>
            <a:off x="5257800" y="201168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Stability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7040880" y="2011680"/>
            <a:ext cx="2011680" cy="658368"/>
          </a:xfrm>
          <a:prstGeom prst="rect">
            <a:avLst/>
          </a:prstGeom>
          <a:solidFill>
            <a:srgbClr val="0B3B40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4" name="Text 11"/>
          <p:cNvSpPr/>
          <p:nvPr/>
        </p:nvSpPr>
        <p:spPr>
          <a:xfrm>
            <a:off x="7086600" y="201168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Tuning burden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9052560" y="2011680"/>
            <a:ext cx="2560320" cy="658368"/>
          </a:xfrm>
          <a:prstGeom prst="rect">
            <a:avLst/>
          </a:prstGeom>
          <a:solidFill>
            <a:srgbClr val="0B3B40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6" name="Text 13"/>
          <p:cNvSpPr/>
          <p:nvPr/>
        </p:nvSpPr>
        <p:spPr>
          <a:xfrm>
            <a:off x="9098280" y="2011680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improvement (p ≫ n)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48640" y="2670048"/>
            <a:ext cx="2468880" cy="658368"/>
          </a:xfrm>
          <a:prstGeom prst="rect">
            <a:avLst/>
          </a:prstGeom>
          <a:solidFill>
            <a:srgbClr val="DCEDEE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8" name="Text 15"/>
          <p:cNvSpPr/>
          <p:nvPr/>
        </p:nvSpPr>
        <p:spPr>
          <a:xfrm>
            <a:off x="594360" y="2670048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Regularised LR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3017520" y="2670048"/>
            <a:ext cx="21945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0" name="Text 17"/>
          <p:cNvSpPr/>
          <p:nvPr/>
        </p:nvSpPr>
        <p:spPr>
          <a:xfrm>
            <a:off x="3063240" y="267004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212080" y="2670048"/>
            <a:ext cx="1828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2" name="Text 19"/>
          <p:cNvSpPr/>
          <p:nvPr/>
        </p:nvSpPr>
        <p:spPr>
          <a:xfrm>
            <a:off x="5257800" y="2670048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7040880" y="2670048"/>
            <a:ext cx="20116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4" name="Text 21"/>
          <p:cNvSpPr/>
          <p:nvPr/>
        </p:nvSpPr>
        <p:spPr>
          <a:xfrm>
            <a:off x="7086600" y="2670048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9052560" y="2670048"/>
            <a:ext cx="25603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6" name="Text 23"/>
          <p:cNvSpPr/>
          <p:nvPr/>
        </p:nvSpPr>
        <p:spPr>
          <a:xfrm>
            <a:off x="9098280" y="2670048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(the baseline)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48640" y="3328416"/>
            <a:ext cx="2468880" cy="658368"/>
          </a:xfrm>
          <a:prstGeom prst="rect">
            <a:avLst/>
          </a:prstGeom>
          <a:solidFill>
            <a:srgbClr val="DCEDEE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8" name="Text 25"/>
          <p:cNvSpPr/>
          <p:nvPr/>
        </p:nvSpPr>
        <p:spPr>
          <a:xfrm>
            <a:off x="594360" y="3328416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3017520" y="3328416"/>
            <a:ext cx="21945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0" name="Text 27"/>
          <p:cNvSpPr/>
          <p:nvPr/>
        </p:nvSpPr>
        <p:spPr>
          <a:xfrm>
            <a:off x="3063240" y="3328416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212080" y="3328416"/>
            <a:ext cx="1828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2" name="Text 29"/>
          <p:cNvSpPr/>
          <p:nvPr/>
        </p:nvSpPr>
        <p:spPr>
          <a:xfrm>
            <a:off x="5257800" y="3328416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7040880" y="3328416"/>
            <a:ext cx="20116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4" name="Text 31"/>
          <p:cNvSpPr/>
          <p:nvPr/>
        </p:nvSpPr>
        <p:spPr>
          <a:xfrm>
            <a:off x="7086600" y="3328416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Low-Med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9052560" y="3328416"/>
            <a:ext cx="25603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6" name="Text 33"/>
          <p:cNvSpPr/>
          <p:nvPr/>
        </p:nvSpPr>
        <p:spPr>
          <a:xfrm>
            <a:off x="9098280" y="3328416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548640" y="3986784"/>
            <a:ext cx="2468880" cy="658368"/>
          </a:xfrm>
          <a:prstGeom prst="rect">
            <a:avLst/>
          </a:prstGeom>
          <a:solidFill>
            <a:srgbClr val="DCEDEE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8" name="Text 35"/>
          <p:cNvSpPr/>
          <p:nvPr/>
        </p:nvSpPr>
        <p:spPr>
          <a:xfrm>
            <a:off x="594360" y="3986784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Boosting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3017520" y="3986784"/>
            <a:ext cx="21945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0" name="Text 37"/>
          <p:cNvSpPr/>
          <p:nvPr/>
        </p:nvSpPr>
        <p:spPr>
          <a:xfrm>
            <a:off x="3063240" y="3986784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5212080" y="3986784"/>
            <a:ext cx="1828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2" name="Text 39"/>
          <p:cNvSpPr/>
          <p:nvPr/>
        </p:nvSpPr>
        <p:spPr>
          <a:xfrm>
            <a:off x="5257800" y="3986784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>
            <a:off x="7040880" y="3986784"/>
            <a:ext cx="20116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4" name="Text 41"/>
          <p:cNvSpPr/>
          <p:nvPr/>
        </p:nvSpPr>
        <p:spPr>
          <a:xfrm>
            <a:off x="7086600" y="3986784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9052560" y="3986784"/>
            <a:ext cx="25603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6" name="Text 43"/>
          <p:cNvSpPr/>
          <p:nvPr/>
        </p:nvSpPr>
        <p:spPr>
          <a:xfrm>
            <a:off x="9098280" y="3986784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(high risk)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HYPERPARAMETER OPTIMISATION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Parameters vs hyperparameters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Parameters are learned from the data during fitting (e.g. gene coefficients).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Hyperparameters are set before fitting and control the model (tree depth, number of trees, penalty lambda).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don’t learn hyperparameters by fitting: you search for good ones and must validate it.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data splits to use for hyper params tuning?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6675120" y="2286000"/>
            <a:ext cx="2377440" cy="2377440"/>
          </a:xfrm>
          <a:prstGeom prst="roundRect">
            <a:avLst>
              <a:gd name="adj" fmla="val 3077"/>
            </a:avLst>
          </a:prstGeom>
          <a:solidFill>
            <a:srgbClr val="DCEEE4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9" name="Text 6"/>
          <p:cNvSpPr/>
          <p:nvPr/>
        </p:nvSpPr>
        <p:spPr>
          <a:xfrm>
            <a:off x="6675120" y="24231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learned FROM data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675120" y="2743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(parameters)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6858000" y="32004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gene coefficients</a:t>
            </a:r>
            <a:endParaRPr lang="en-US" sz="12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tree split thresholds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9235440" y="2286000"/>
            <a:ext cx="2377440" cy="2377440"/>
          </a:xfrm>
          <a:prstGeom prst="roundRect">
            <a:avLst>
              <a:gd name="adj" fmla="val 3077"/>
            </a:avLst>
          </a:prstGeom>
          <a:solidFill>
            <a:srgbClr val="F6E9D8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3" name="Text 10"/>
          <p:cNvSpPr/>
          <p:nvPr/>
        </p:nvSpPr>
        <p:spPr>
          <a:xfrm>
            <a:off x="9235440" y="24231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 BEFORE fitting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9235440" y="2743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(hyperparameters)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9418320" y="32004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tree depth</a:t>
            </a:r>
            <a:endParaRPr lang="en-US" sz="12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number of trees</a:t>
            </a:r>
            <a:endParaRPr lang="en-US" sz="12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penalty strength C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9189720" y="3474720"/>
            <a:ext cx="0" cy="0"/>
          </a:xfrm>
          <a:prstGeom prst="line">
            <a:avLst/>
          </a:prstGeom>
          <a:noFill/>
          <a:ln/>
        </p:spPr>
        <p:txBody>
          <a:bodyPr/>
          <a:lstStyle/>
          <a:p>
            <a:endParaRPr lang="en-IT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HYPERPARAMETER OPTIMISATION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Grid and random search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search: try every combination on a predefined grid, thorough but expensive.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search: sample combinations at random, often finds good values far cheaper. </a:t>
            </a:r>
            <a:r>
              <a:rPr lang="en-US" sz="1550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WHY?</a:t>
            </a:r>
            <a:endParaRPr lang="en-US" sz="1550" dirty="0">
              <a:solidFill>
                <a:srgbClr val="FF0000"/>
              </a:solidFill>
            </a:endParaRPr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candidate is scored by cross-validation, never on the final test set.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Computational cost explodes with the number of hyperparameters. e.g. 5 hyper parameters, 10 values each, 5 CV: 500k trials!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6766560" y="2377440"/>
            <a:ext cx="219456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9" name="Text 6"/>
          <p:cNvSpPr/>
          <p:nvPr/>
        </p:nvSpPr>
        <p:spPr>
          <a:xfrm>
            <a:off x="6766560" y="4800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search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040880" y="2651760"/>
            <a:ext cx="109728" cy="109728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" name="Shape 9"/>
          <p:cNvSpPr/>
          <p:nvPr/>
        </p:nvSpPr>
        <p:spPr>
          <a:xfrm>
            <a:off x="7040880" y="3154680"/>
            <a:ext cx="109728" cy="109728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" name="Shape 10"/>
          <p:cNvSpPr/>
          <p:nvPr/>
        </p:nvSpPr>
        <p:spPr>
          <a:xfrm>
            <a:off x="7040880" y="3657600"/>
            <a:ext cx="109728" cy="109728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" name="Shape 11"/>
          <p:cNvSpPr/>
          <p:nvPr/>
        </p:nvSpPr>
        <p:spPr>
          <a:xfrm>
            <a:off x="7040880" y="4160520"/>
            <a:ext cx="109728" cy="109728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" name="Shape 12"/>
          <p:cNvSpPr/>
          <p:nvPr/>
        </p:nvSpPr>
        <p:spPr>
          <a:xfrm>
            <a:off x="7543800" y="2651760"/>
            <a:ext cx="109728" cy="109728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" name="Shape 13"/>
          <p:cNvSpPr/>
          <p:nvPr/>
        </p:nvSpPr>
        <p:spPr>
          <a:xfrm>
            <a:off x="7543800" y="3154680"/>
            <a:ext cx="109728" cy="109728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7" name="Shape 14"/>
          <p:cNvSpPr/>
          <p:nvPr/>
        </p:nvSpPr>
        <p:spPr>
          <a:xfrm>
            <a:off x="7543800" y="3657600"/>
            <a:ext cx="109728" cy="109728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8" name="Shape 15"/>
          <p:cNvSpPr/>
          <p:nvPr/>
        </p:nvSpPr>
        <p:spPr>
          <a:xfrm>
            <a:off x="7543800" y="4160520"/>
            <a:ext cx="109728" cy="109728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9" name="Shape 16"/>
          <p:cNvSpPr/>
          <p:nvPr/>
        </p:nvSpPr>
        <p:spPr>
          <a:xfrm>
            <a:off x="8046720" y="2651760"/>
            <a:ext cx="109728" cy="109728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0" name="Shape 17"/>
          <p:cNvSpPr/>
          <p:nvPr/>
        </p:nvSpPr>
        <p:spPr>
          <a:xfrm>
            <a:off x="8046720" y="3154680"/>
            <a:ext cx="109728" cy="109728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1" name="Shape 18"/>
          <p:cNvSpPr/>
          <p:nvPr/>
        </p:nvSpPr>
        <p:spPr>
          <a:xfrm>
            <a:off x="8046720" y="3657600"/>
            <a:ext cx="109728" cy="109728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2" name="Shape 19"/>
          <p:cNvSpPr/>
          <p:nvPr/>
        </p:nvSpPr>
        <p:spPr>
          <a:xfrm>
            <a:off x="8046720" y="4160520"/>
            <a:ext cx="109728" cy="109728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3" name="Shape 20"/>
          <p:cNvSpPr/>
          <p:nvPr/>
        </p:nvSpPr>
        <p:spPr>
          <a:xfrm>
            <a:off x="8549640" y="2651760"/>
            <a:ext cx="109728" cy="109728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4" name="Shape 21"/>
          <p:cNvSpPr/>
          <p:nvPr/>
        </p:nvSpPr>
        <p:spPr>
          <a:xfrm>
            <a:off x="8549640" y="3154680"/>
            <a:ext cx="109728" cy="109728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5" name="Shape 22"/>
          <p:cNvSpPr/>
          <p:nvPr/>
        </p:nvSpPr>
        <p:spPr>
          <a:xfrm>
            <a:off x="8549640" y="3657600"/>
            <a:ext cx="109728" cy="109728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6" name="Shape 23"/>
          <p:cNvSpPr/>
          <p:nvPr/>
        </p:nvSpPr>
        <p:spPr>
          <a:xfrm>
            <a:off x="8549640" y="4160520"/>
            <a:ext cx="109728" cy="109728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7" name="Shape 24"/>
          <p:cNvSpPr/>
          <p:nvPr/>
        </p:nvSpPr>
        <p:spPr>
          <a:xfrm>
            <a:off x="9235440" y="2377440"/>
            <a:ext cx="219456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8" name="Text 25"/>
          <p:cNvSpPr/>
          <p:nvPr/>
        </p:nvSpPr>
        <p:spPr>
          <a:xfrm>
            <a:off x="9235440" y="4800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search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10501341" y="3134980"/>
            <a:ext cx="109728" cy="109728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1" name="Shape 28"/>
          <p:cNvSpPr/>
          <p:nvPr/>
        </p:nvSpPr>
        <p:spPr>
          <a:xfrm>
            <a:off x="10406196" y="4455773"/>
            <a:ext cx="109728" cy="109728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2" name="Shape 29"/>
          <p:cNvSpPr/>
          <p:nvPr/>
        </p:nvSpPr>
        <p:spPr>
          <a:xfrm>
            <a:off x="10631868" y="3576517"/>
            <a:ext cx="109728" cy="109728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3" name="Shape 30"/>
          <p:cNvSpPr/>
          <p:nvPr/>
        </p:nvSpPr>
        <p:spPr>
          <a:xfrm>
            <a:off x="10975358" y="4317967"/>
            <a:ext cx="109728" cy="109728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4" name="Shape 31"/>
          <p:cNvSpPr/>
          <p:nvPr/>
        </p:nvSpPr>
        <p:spPr>
          <a:xfrm>
            <a:off x="9593577" y="4475516"/>
            <a:ext cx="109728" cy="109728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5" name="Shape 32"/>
          <p:cNvSpPr/>
          <p:nvPr/>
        </p:nvSpPr>
        <p:spPr>
          <a:xfrm>
            <a:off x="9828249" y="2931607"/>
            <a:ext cx="109728" cy="109728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6" name="Shape 33"/>
          <p:cNvSpPr/>
          <p:nvPr/>
        </p:nvSpPr>
        <p:spPr>
          <a:xfrm>
            <a:off x="11188822" y="2673680"/>
            <a:ext cx="109728" cy="109728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7" name="Shape 34"/>
          <p:cNvSpPr/>
          <p:nvPr/>
        </p:nvSpPr>
        <p:spPr>
          <a:xfrm>
            <a:off x="10131298" y="2618414"/>
            <a:ext cx="109728" cy="109728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8" name="Shape 35"/>
          <p:cNvSpPr/>
          <p:nvPr/>
        </p:nvSpPr>
        <p:spPr>
          <a:xfrm>
            <a:off x="9589119" y="3853955"/>
            <a:ext cx="109728" cy="109728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9" name="Shape 36"/>
          <p:cNvSpPr/>
          <p:nvPr/>
        </p:nvSpPr>
        <p:spPr>
          <a:xfrm>
            <a:off x="11069384" y="4114906"/>
            <a:ext cx="109728" cy="109728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0" name="Shape 37"/>
          <p:cNvSpPr/>
          <p:nvPr/>
        </p:nvSpPr>
        <p:spPr>
          <a:xfrm>
            <a:off x="10751812" y="2682664"/>
            <a:ext cx="109728" cy="109728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1" name="Shape 38"/>
          <p:cNvSpPr/>
          <p:nvPr/>
        </p:nvSpPr>
        <p:spPr>
          <a:xfrm>
            <a:off x="10537935" y="3512679"/>
            <a:ext cx="109728" cy="109728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2" name="Shape 39"/>
          <p:cNvSpPr/>
          <p:nvPr/>
        </p:nvSpPr>
        <p:spPr>
          <a:xfrm>
            <a:off x="9818285" y="4273787"/>
            <a:ext cx="109728" cy="109728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3" name="Shape 40"/>
          <p:cNvSpPr/>
          <p:nvPr/>
        </p:nvSpPr>
        <p:spPr>
          <a:xfrm>
            <a:off x="9583767" y="4101759"/>
            <a:ext cx="109728" cy="109728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4" name="Shape 41"/>
          <p:cNvSpPr/>
          <p:nvPr/>
        </p:nvSpPr>
        <p:spPr>
          <a:xfrm>
            <a:off x="9718293" y="2612561"/>
            <a:ext cx="109728" cy="109728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5" name="Shape 42"/>
          <p:cNvSpPr/>
          <p:nvPr/>
        </p:nvSpPr>
        <p:spPr>
          <a:xfrm>
            <a:off x="10708838" y="3978970"/>
            <a:ext cx="109728" cy="109728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6" name="Text 43"/>
          <p:cNvSpPr/>
          <p:nvPr/>
        </p:nvSpPr>
        <p:spPr>
          <a:xfrm>
            <a:off x="6766560" y="512064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budget, better coverage of what matters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HYPERPARAMETER OPTIMISATION</a:t>
            </a:r>
            <a:endParaRPr lang="en-US" sz="1200" dirty="0"/>
          </a:p>
        </p:txBody>
      </p:sp>
      <p:sp>
        <p:nvSpPr>
          <p:cNvPr id="3" name="Title"/>
          <p:cNvSpPr/>
          <p:nvPr/>
        </p:nvSpPr>
        <p:spPr>
          <a:xfrm>
            <a:off x="548640" y="658368"/>
            <a:ext cx="1106424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Bayesian search</a:t>
            </a:r>
            <a:endParaRPr lang="en-US" sz="2900" dirty="0"/>
          </a:p>
        </p:txBody>
      </p:sp>
      <p:sp>
        <p:nvSpPr>
          <p:cNvPr id="4" name="Intro"/>
          <p:cNvSpPr/>
          <p:nvPr/>
        </p:nvSpPr>
        <p:spPr>
          <a:xfrm>
            <a:off x="548640" y="13868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and random ignore what they’ve learned. Bayesian search uses past results to decide where to look next.</a:t>
            </a:r>
            <a:endParaRPr lang="en-US" sz="1500" dirty="0"/>
          </a:p>
        </p:txBody>
      </p:sp>
      <p:sp>
        <p:nvSpPr>
          <p:cNvPr id="7" name="Bullets"/>
          <p:cNvSpPr/>
          <p:nvPr/>
        </p:nvSpPr>
        <p:spPr>
          <a:xfrm>
            <a:off x="548640" y="2057400"/>
            <a:ext cx="512064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a cheap </a:t>
            </a:r>
            <a:r>
              <a:rPr lang="en-US" sz="15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surrogate model</a:t>
            </a: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CV score as a function of the hyperparameters.</a:t>
            </a:r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it to pick the next setting that balances </a:t>
            </a:r>
            <a:r>
              <a:rPr lang="en-US" sz="15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promising vs unexplored</a:t>
            </a: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evaluate it, update, repeat.</a:t>
            </a:r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Reaches good settings in far fewer evaluations: useful when each CV fit is slow.</a:t>
            </a:r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scored by cross-validation, never the test set: the leakage rules are unchanged.</a:t>
            </a:r>
          </a:p>
        </p:txBody>
      </p:sp>
      <p:pic>
        <p:nvPicPr>
          <p:cNvPr id="20" name="Bayesian search diagra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275367"/>
            <a:ext cx="5760720" cy="2177753"/>
          </a:xfrm>
          <a:prstGeom prst="rect">
            <a:avLst/>
          </a:prstGeom>
        </p:spPr>
      </p:pic>
      <p:sp>
        <p:nvSpPr>
          <p:cNvPr id="5" name="Footer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  <p:sp>
        <p:nvSpPr>
          <p:cNvPr id="6" name="Pagenum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HYPERPARAMETER OPTIMISATION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danger hiding in tuning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time you tune to the validation score, you “use up” a little of its honesty.</a:t>
            </a:r>
            <a:endParaRPr lang="en-US" sz="15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 hard enough and your validation score becomes optimistic </a:t>
            </a:r>
            <a:r>
              <a:rPr lang="en-US" sz="1550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sym typeface="Wingdings" pitchFamily="2" charset="2"/>
              </a:rPr>
              <a:t> </a:t>
            </a:r>
            <a:r>
              <a:rPr lang="en-US" sz="1550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you’ve overfit the tuning!</a:t>
            </a:r>
            <a:endParaRPr lang="en-US" sz="15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 is structural, not trying harder — enter nested cross-validation.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6583680" y="2377440"/>
            <a:ext cx="475488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9" name="Shape 6"/>
          <p:cNvSpPr/>
          <p:nvPr/>
        </p:nvSpPr>
        <p:spPr>
          <a:xfrm>
            <a:off x="6583680" y="3611880"/>
            <a:ext cx="475488" cy="0"/>
          </a:xfrm>
          <a:prstGeom prst="line">
            <a:avLst/>
          </a:prstGeom>
          <a:noFill/>
          <a:ln w="31750">
            <a:solidFill>
              <a:srgbClr val="5B6B7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0" name="Shape 7"/>
          <p:cNvSpPr/>
          <p:nvPr/>
        </p:nvSpPr>
        <p:spPr>
          <a:xfrm>
            <a:off x="7059168" y="3611880"/>
            <a:ext cx="475488" cy="0"/>
          </a:xfrm>
          <a:prstGeom prst="line">
            <a:avLst/>
          </a:prstGeom>
          <a:noFill/>
          <a:ln w="31750">
            <a:solidFill>
              <a:srgbClr val="5B6B7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1" name="Shape 8"/>
          <p:cNvSpPr/>
          <p:nvPr/>
        </p:nvSpPr>
        <p:spPr>
          <a:xfrm>
            <a:off x="7534656" y="3611880"/>
            <a:ext cx="475488" cy="0"/>
          </a:xfrm>
          <a:prstGeom prst="line">
            <a:avLst/>
          </a:prstGeom>
          <a:noFill/>
          <a:ln w="31750">
            <a:solidFill>
              <a:srgbClr val="5B6B7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2" name="Shape 9"/>
          <p:cNvSpPr/>
          <p:nvPr/>
        </p:nvSpPr>
        <p:spPr>
          <a:xfrm>
            <a:off x="8010144" y="3611880"/>
            <a:ext cx="475488" cy="0"/>
          </a:xfrm>
          <a:prstGeom prst="line">
            <a:avLst/>
          </a:prstGeom>
          <a:noFill/>
          <a:ln w="31750">
            <a:solidFill>
              <a:srgbClr val="5B6B7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3" name="Shape 10"/>
          <p:cNvSpPr/>
          <p:nvPr/>
        </p:nvSpPr>
        <p:spPr>
          <a:xfrm>
            <a:off x="8485632" y="3611880"/>
            <a:ext cx="475488" cy="0"/>
          </a:xfrm>
          <a:prstGeom prst="line">
            <a:avLst/>
          </a:prstGeom>
          <a:noFill/>
          <a:ln w="31750">
            <a:solidFill>
              <a:srgbClr val="5B6B7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4" name="Shape 11"/>
          <p:cNvSpPr/>
          <p:nvPr/>
        </p:nvSpPr>
        <p:spPr>
          <a:xfrm>
            <a:off x="8961120" y="3611880"/>
            <a:ext cx="475488" cy="0"/>
          </a:xfrm>
          <a:prstGeom prst="line">
            <a:avLst/>
          </a:prstGeom>
          <a:noFill/>
          <a:ln w="31750">
            <a:solidFill>
              <a:srgbClr val="5B6B7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5" name="Shape 12"/>
          <p:cNvSpPr/>
          <p:nvPr/>
        </p:nvSpPr>
        <p:spPr>
          <a:xfrm>
            <a:off x="9436608" y="3611880"/>
            <a:ext cx="475488" cy="0"/>
          </a:xfrm>
          <a:prstGeom prst="line">
            <a:avLst/>
          </a:prstGeom>
          <a:noFill/>
          <a:ln w="31750">
            <a:solidFill>
              <a:srgbClr val="5B6B7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6" name="Shape 13"/>
          <p:cNvSpPr/>
          <p:nvPr/>
        </p:nvSpPr>
        <p:spPr>
          <a:xfrm>
            <a:off x="9912096" y="3611880"/>
            <a:ext cx="475488" cy="0"/>
          </a:xfrm>
          <a:prstGeom prst="line">
            <a:avLst/>
          </a:prstGeom>
          <a:noFill/>
          <a:ln w="31750">
            <a:solidFill>
              <a:srgbClr val="5B6B7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7" name="Shape 14"/>
          <p:cNvSpPr/>
          <p:nvPr/>
        </p:nvSpPr>
        <p:spPr>
          <a:xfrm>
            <a:off x="10387584" y="3611880"/>
            <a:ext cx="475488" cy="0"/>
          </a:xfrm>
          <a:prstGeom prst="line">
            <a:avLst/>
          </a:prstGeom>
          <a:noFill/>
          <a:ln w="31750">
            <a:solidFill>
              <a:srgbClr val="5B6B7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8" name="Shape 15"/>
          <p:cNvSpPr/>
          <p:nvPr/>
        </p:nvSpPr>
        <p:spPr>
          <a:xfrm>
            <a:off x="10863072" y="3611880"/>
            <a:ext cx="475488" cy="0"/>
          </a:xfrm>
          <a:prstGeom prst="line">
            <a:avLst/>
          </a:prstGeom>
          <a:noFill/>
          <a:ln w="31750">
            <a:solidFill>
              <a:srgbClr val="5B6B7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9" name="Shape 16"/>
          <p:cNvSpPr/>
          <p:nvPr/>
        </p:nvSpPr>
        <p:spPr>
          <a:xfrm>
            <a:off x="6583680" y="3886200"/>
            <a:ext cx="475488" cy="0"/>
          </a:xfrm>
          <a:prstGeom prst="line">
            <a:avLst/>
          </a:prstGeom>
          <a:noFill/>
          <a:ln w="31750">
            <a:solidFill>
              <a:srgbClr val="C2772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0" name="Shape 17"/>
          <p:cNvSpPr/>
          <p:nvPr/>
        </p:nvSpPr>
        <p:spPr>
          <a:xfrm>
            <a:off x="7059168" y="3776472"/>
            <a:ext cx="475488" cy="0"/>
          </a:xfrm>
          <a:prstGeom prst="line">
            <a:avLst/>
          </a:prstGeom>
          <a:noFill/>
          <a:ln w="31750">
            <a:solidFill>
              <a:srgbClr val="C2772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1" name="Shape 18"/>
          <p:cNvSpPr/>
          <p:nvPr/>
        </p:nvSpPr>
        <p:spPr>
          <a:xfrm>
            <a:off x="7534656" y="3666744"/>
            <a:ext cx="475488" cy="0"/>
          </a:xfrm>
          <a:prstGeom prst="line">
            <a:avLst/>
          </a:prstGeom>
          <a:noFill/>
          <a:ln w="31750">
            <a:solidFill>
              <a:srgbClr val="C2772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2" name="Shape 19"/>
          <p:cNvSpPr/>
          <p:nvPr/>
        </p:nvSpPr>
        <p:spPr>
          <a:xfrm>
            <a:off x="8010144" y="3557016"/>
            <a:ext cx="475488" cy="0"/>
          </a:xfrm>
          <a:prstGeom prst="line">
            <a:avLst/>
          </a:prstGeom>
          <a:noFill/>
          <a:ln w="31750">
            <a:solidFill>
              <a:srgbClr val="C2772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3" name="Shape 20"/>
          <p:cNvSpPr/>
          <p:nvPr/>
        </p:nvSpPr>
        <p:spPr>
          <a:xfrm>
            <a:off x="8485632" y="3447288"/>
            <a:ext cx="475488" cy="0"/>
          </a:xfrm>
          <a:prstGeom prst="line">
            <a:avLst/>
          </a:prstGeom>
          <a:noFill/>
          <a:ln w="31750">
            <a:solidFill>
              <a:srgbClr val="C2772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4" name="Shape 21"/>
          <p:cNvSpPr/>
          <p:nvPr/>
        </p:nvSpPr>
        <p:spPr>
          <a:xfrm>
            <a:off x="8961120" y="3337560"/>
            <a:ext cx="475488" cy="0"/>
          </a:xfrm>
          <a:prstGeom prst="line">
            <a:avLst/>
          </a:prstGeom>
          <a:noFill/>
          <a:ln w="31750">
            <a:solidFill>
              <a:srgbClr val="C2772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5" name="Shape 22"/>
          <p:cNvSpPr/>
          <p:nvPr/>
        </p:nvSpPr>
        <p:spPr>
          <a:xfrm>
            <a:off x="9436608" y="3227832"/>
            <a:ext cx="475488" cy="0"/>
          </a:xfrm>
          <a:prstGeom prst="line">
            <a:avLst/>
          </a:prstGeom>
          <a:noFill/>
          <a:ln w="31750">
            <a:solidFill>
              <a:srgbClr val="C2772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6" name="Shape 23"/>
          <p:cNvSpPr/>
          <p:nvPr/>
        </p:nvSpPr>
        <p:spPr>
          <a:xfrm>
            <a:off x="9912096" y="3118104"/>
            <a:ext cx="475488" cy="0"/>
          </a:xfrm>
          <a:prstGeom prst="line">
            <a:avLst/>
          </a:prstGeom>
          <a:noFill/>
          <a:ln w="31750">
            <a:solidFill>
              <a:srgbClr val="C2772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7" name="Shape 24"/>
          <p:cNvSpPr/>
          <p:nvPr/>
        </p:nvSpPr>
        <p:spPr>
          <a:xfrm>
            <a:off x="10387584" y="3008376"/>
            <a:ext cx="475488" cy="0"/>
          </a:xfrm>
          <a:prstGeom prst="line">
            <a:avLst/>
          </a:prstGeom>
          <a:noFill/>
          <a:ln w="31750">
            <a:solidFill>
              <a:srgbClr val="C2772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8" name="Shape 25"/>
          <p:cNvSpPr/>
          <p:nvPr/>
        </p:nvSpPr>
        <p:spPr>
          <a:xfrm>
            <a:off x="10863072" y="2898648"/>
            <a:ext cx="475488" cy="0"/>
          </a:xfrm>
          <a:prstGeom prst="line">
            <a:avLst/>
          </a:prstGeom>
          <a:noFill/>
          <a:ln w="31750">
            <a:solidFill>
              <a:srgbClr val="C2772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9" name="Text 26"/>
          <p:cNvSpPr/>
          <p:nvPr/>
        </p:nvSpPr>
        <p:spPr>
          <a:xfrm>
            <a:off x="8961120" y="24688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validation score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9573768" y="36118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performance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6583680" y="51663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tuning effort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9601200" y="30175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= optimism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VALIDATION BEYOND SIMPLE CV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Cross-validation review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k-fold CV: rotate the held-out fold, average: a more stable estimate than one split.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data-dependent (scaling, selection) refits inside each fold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estimates performance for a fixed modelling choice.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what if the modelling choice itself (the hyperparameters) was selected using the data?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6766560" y="2377440"/>
            <a:ext cx="841248" cy="457200"/>
          </a:xfrm>
          <a:prstGeom prst="rect">
            <a:avLst/>
          </a:prstGeom>
          <a:solidFill>
            <a:srgbClr val="C2772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9" name="Shape 6"/>
          <p:cNvSpPr/>
          <p:nvPr/>
        </p:nvSpPr>
        <p:spPr>
          <a:xfrm>
            <a:off x="7662672" y="2377440"/>
            <a:ext cx="841248" cy="457200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0" name="Shape 7"/>
          <p:cNvSpPr/>
          <p:nvPr/>
        </p:nvSpPr>
        <p:spPr>
          <a:xfrm>
            <a:off x="8558784" y="2377440"/>
            <a:ext cx="841248" cy="457200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1" name="Shape 8"/>
          <p:cNvSpPr/>
          <p:nvPr/>
        </p:nvSpPr>
        <p:spPr>
          <a:xfrm>
            <a:off x="9454896" y="2377440"/>
            <a:ext cx="841248" cy="457200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2" name="Shape 9"/>
          <p:cNvSpPr/>
          <p:nvPr/>
        </p:nvSpPr>
        <p:spPr>
          <a:xfrm>
            <a:off x="10351008" y="2377440"/>
            <a:ext cx="841248" cy="457200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3" name="Shape 10"/>
          <p:cNvSpPr/>
          <p:nvPr/>
        </p:nvSpPr>
        <p:spPr>
          <a:xfrm>
            <a:off x="6766560" y="2944368"/>
            <a:ext cx="841248" cy="457200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4" name="Shape 11"/>
          <p:cNvSpPr/>
          <p:nvPr/>
        </p:nvSpPr>
        <p:spPr>
          <a:xfrm>
            <a:off x="7662672" y="2944368"/>
            <a:ext cx="841248" cy="457200"/>
          </a:xfrm>
          <a:prstGeom prst="rect">
            <a:avLst/>
          </a:prstGeom>
          <a:solidFill>
            <a:srgbClr val="C2772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5" name="Shape 12"/>
          <p:cNvSpPr/>
          <p:nvPr/>
        </p:nvSpPr>
        <p:spPr>
          <a:xfrm>
            <a:off x="8558784" y="2944368"/>
            <a:ext cx="841248" cy="457200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6" name="Shape 13"/>
          <p:cNvSpPr/>
          <p:nvPr/>
        </p:nvSpPr>
        <p:spPr>
          <a:xfrm>
            <a:off x="9454896" y="2944368"/>
            <a:ext cx="841248" cy="457200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7" name="Shape 14"/>
          <p:cNvSpPr/>
          <p:nvPr/>
        </p:nvSpPr>
        <p:spPr>
          <a:xfrm>
            <a:off x="10351008" y="2944368"/>
            <a:ext cx="841248" cy="457200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8" name="Shape 15"/>
          <p:cNvSpPr/>
          <p:nvPr/>
        </p:nvSpPr>
        <p:spPr>
          <a:xfrm>
            <a:off x="6766560" y="3511296"/>
            <a:ext cx="841248" cy="457200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9" name="Shape 16"/>
          <p:cNvSpPr/>
          <p:nvPr/>
        </p:nvSpPr>
        <p:spPr>
          <a:xfrm>
            <a:off x="7662672" y="3511296"/>
            <a:ext cx="841248" cy="457200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0" name="Shape 17"/>
          <p:cNvSpPr/>
          <p:nvPr/>
        </p:nvSpPr>
        <p:spPr>
          <a:xfrm>
            <a:off x="8558784" y="3511296"/>
            <a:ext cx="841248" cy="457200"/>
          </a:xfrm>
          <a:prstGeom prst="rect">
            <a:avLst/>
          </a:prstGeom>
          <a:solidFill>
            <a:srgbClr val="C2772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1" name="Shape 18"/>
          <p:cNvSpPr/>
          <p:nvPr/>
        </p:nvSpPr>
        <p:spPr>
          <a:xfrm>
            <a:off x="9454896" y="3511296"/>
            <a:ext cx="841248" cy="457200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2" name="Shape 19"/>
          <p:cNvSpPr/>
          <p:nvPr/>
        </p:nvSpPr>
        <p:spPr>
          <a:xfrm>
            <a:off x="10351008" y="3511296"/>
            <a:ext cx="841248" cy="457200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3" name="Shape 20"/>
          <p:cNvSpPr/>
          <p:nvPr/>
        </p:nvSpPr>
        <p:spPr>
          <a:xfrm>
            <a:off x="6766560" y="4078224"/>
            <a:ext cx="841248" cy="457200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4" name="Shape 21"/>
          <p:cNvSpPr/>
          <p:nvPr/>
        </p:nvSpPr>
        <p:spPr>
          <a:xfrm>
            <a:off x="7662672" y="4078224"/>
            <a:ext cx="841248" cy="457200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5" name="Shape 22"/>
          <p:cNvSpPr/>
          <p:nvPr/>
        </p:nvSpPr>
        <p:spPr>
          <a:xfrm>
            <a:off x="8558784" y="4078224"/>
            <a:ext cx="841248" cy="457200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6" name="Shape 23"/>
          <p:cNvSpPr/>
          <p:nvPr/>
        </p:nvSpPr>
        <p:spPr>
          <a:xfrm>
            <a:off x="9454896" y="4078224"/>
            <a:ext cx="841248" cy="457200"/>
          </a:xfrm>
          <a:prstGeom prst="rect">
            <a:avLst/>
          </a:prstGeom>
          <a:solidFill>
            <a:srgbClr val="C2772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7" name="Shape 24"/>
          <p:cNvSpPr/>
          <p:nvPr/>
        </p:nvSpPr>
        <p:spPr>
          <a:xfrm>
            <a:off x="10351008" y="4078224"/>
            <a:ext cx="841248" cy="457200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8" name="Shape 25"/>
          <p:cNvSpPr/>
          <p:nvPr/>
        </p:nvSpPr>
        <p:spPr>
          <a:xfrm>
            <a:off x="6766560" y="4645152"/>
            <a:ext cx="841248" cy="457200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9" name="Shape 26"/>
          <p:cNvSpPr/>
          <p:nvPr/>
        </p:nvSpPr>
        <p:spPr>
          <a:xfrm>
            <a:off x="7662672" y="4645152"/>
            <a:ext cx="841248" cy="457200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0" name="Shape 27"/>
          <p:cNvSpPr/>
          <p:nvPr/>
        </p:nvSpPr>
        <p:spPr>
          <a:xfrm>
            <a:off x="8558784" y="4645152"/>
            <a:ext cx="841248" cy="457200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1" name="Shape 28"/>
          <p:cNvSpPr/>
          <p:nvPr/>
        </p:nvSpPr>
        <p:spPr>
          <a:xfrm>
            <a:off x="9454896" y="4645152"/>
            <a:ext cx="841248" cy="457200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2" name="Shape 29"/>
          <p:cNvSpPr/>
          <p:nvPr/>
        </p:nvSpPr>
        <p:spPr>
          <a:xfrm>
            <a:off x="10351008" y="4645152"/>
            <a:ext cx="841248" cy="457200"/>
          </a:xfrm>
          <a:prstGeom prst="rect">
            <a:avLst/>
          </a:prstGeom>
          <a:solidFill>
            <a:srgbClr val="C2772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3" name="Text 30"/>
          <p:cNvSpPr/>
          <p:nvPr/>
        </p:nvSpPr>
        <p:spPr>
          <a:xfrm>
            <a:off x="6766560" y="5257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row: 4 training folds + 1 held-out (amber)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VALIDATION BEYOND SIMPLE CV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Nested cross-validation (the concept)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2120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loops: an inner loop selects hyperparameters; an outer loop estimates performance.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outer fold is never used to choose anything: it only judges the finished, tuned model.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an honest performance estimate that includes the cost of tuning.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Expensive, but the correct way to report tuned-model performance.</a:t>
            </a:r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b="1" dirty="0">
                <a:solidFill>
                  <a:srgbClr val="12262B"/>
                </a:solidFill>
                <a:latin typeface="Calibri" pitchFamily="34" charset="0"/>
                <a:cs typeface="Calibri" pitchFamily="34" charset="-120"/>
              </a:rPr>
              <a:t>It does not choose parameters, it evaluates the model!</a:t>
            </a:r>
            <a:endParaRPr lang="en-US" sz="1500" b="1" dirty="0"/>
          </a:p>
        </p:txBody>
      </p:sp>
      <p:sp>
        <p:nvSpPr>
          <p:cNvPr id="8" name="Text 5"/>
          <p:cNvSpPr/>
          <p:nvPr/>
        </p:nvSpPr>
        <p:spPr>
          <a:xfrm>
            <a:off x="6217920" y="21945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3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OUTER: estimate performance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217920" y="2560320"/>
            <a:ext cx="960120" cy="457200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0" name="Shape 7"/>
          <p:cNvSpPr/>
          <p:nvPr/>
        </p:nvSpPr>
        <p:spPr>
          <a:xfrm>
            <a:off x="7242048" y="2560320"/>
            <a:ext cx="960120" cy="457200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1" name="Shape 8"/>
          <p:cNvSpPr/>
          <p:nvPr/>
        </p:nvSpPr>
        <p:spPr>
          <a:xfrm>
            <a:off x="8266176" y="2560320"/>
            <a:ext cx="960120" cy="457200"/>
          </a:xfrm>
          <a:prstGeom prst="rect">
            <a:avLst/>
          </a:prstGeom>
          <a:solidFill>
            <a:srgbClr val="C2772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2" name="Shape 9"/>
          <p:cNvSpPr/>
          <p:nvPr/>
        </p:nvSpPr>
        <p:spPr>
          <a:xfrm>
            <a:off x="9290304" y="2560320"/>
            <a:ext cx="960120" cy="457200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3" name="Shape 10"/>
          <p:cNvSpPr/>
          <p:nvPr/>
        </p:nvSpPr>
        <p:spPr>
          <a:xfrm>
            <a:off x="10314432" y="2560320"/>
            <a:ext cx="960120" cy="457200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4" name="Text 11"/>
          <p:cNvSpPr/>
          <p:nvPr/>
        </p:nvSpPr>
        <p:spPr>
          <a:xfrm>
            <a:off x="8266176" y="30632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outer fold → judges only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6675120" y="3035808"/>
            <a:ext cx="0" cy="457200"/>
          </a:xfrm>
          <a:prstGeom prst="line">
            <a:avLst/>
          </a:prstGeom>
          <a:noFill/>
          <a:ln w="12700">
            <a:solidFill>
              <a:srgbClr val="5B6B70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16" name="Shape 13"/>
          <p:cNvSpPr/>
          <p:nvPr/>
        </p:nvSpPr>
        <p:spPr>
          <a:xfrm>
            <a:off x="6217920" y="3520440"/>
            <a:ext cx="5029200" cy="2286000"/>
          </a:xfrm>
          <a:prstGeom prst="roundRect">
            <a:avLst>
              <a:gd name="adj" fmla="val 3200"/>
            </a:avLst>
          </a:prstGeom>
          <a:solidFill>
            <a:srgbClr val="DCEDEE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7" name="Text 14"/>
          <p:cNvSpPr/>
          <p:nvPr/>
        </p:nvSpPr>
        <p:spPr>
          <a:xfrm>
            <a:off x="6400800" y="365760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INNER: select hyperparameters (on outer-training folds)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583680" y="4069080"/>
            <a:ext cx="868680" cy="310896"/>
          </a:xfrm>
          <a:prstGeom prst="rect">
            <a:avLst/>
          </a:prstGeom>
          <a:solidFill>
            <a:srgbClr val="14A6B0"/>
          </a:solidFill>
          <a:ln w="635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9" name="Shape 16"/>
          <p:cNvSpPr/>
          <p:nvPr/>
        </p:nvSpPr>
        <p:spPr>
          <a:xfrm>
            <a:off x="7498080" y="4069080"/>
            <a:ext cx="86868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0" name="Shape 17"/>
          <p:cNvSpPr/>
          <p:nvPr/>
        </p:nvSpPr>
        <p:spPr>
          <a:xfrm>
            <a:off x="8412480" y="4069080"/>
            <a:ext cx="86868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1" name="Shape 18"/>
          <p:cNvSpPr/>
          <p:nvPr/>
        </p:nvSpPr>
        <p:spPr>
          <a:xfrm>
            <a:off x="9326880" y="4069080"/>
            <a:ext cx="86868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2" name="Shape 19"/>
          <p:cNvSpPr/>
          <p:nvPr/>
        </p:nvSpPr>
        <p:spPr>
          <a:xfrm>
            <a:off x="6583680" y="4453128"/>
            <a:ext cx="86868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3" name="Shape 20"/>
          <p:cNvSpPr/>
          <p:nvPr/>
        </p:nvSpPr>
        <p:spPr>
          <a:xfrm>
            <a:off x="7498080" y="4453128"/>
            <a:ext cx="868680" cy="310896"/>
          </a:xfrm>
          <a:prstGeom prst="rect">
            <a:avLst/>
          </a:prstGeom>
          <a:solidFill>
            <a:srgbClr val="14A6B0"/>
          </a:solidFill>
          <a:ln w="635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4" name="Shape 21"/>
          <p:cNvSpPr/>
          <p:nvPr/>
        </p:nvSpPr>
        <p:spPr>
          <a:xfrm>
            <a:off x="8412480" y="4453128"/>
            <a:ext cx="86868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5" name="Shape 22"/>
          <p:cNvSpPr/>
          <p:nvPr/>
        </p:nvSpPr>
        <p:spPr>
          <a:xfrm>
            <a:off x="9326880" y="4453128"/>
            <a:ext cx="86868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6" name="Shape 23"/>
          <p:cNvSpPr/>
          <p:nvPr/>
        </p:nvSpPr>
        <p:spPr>
          <a:xfrm>
            <a:off x="6583680" y="4837176"/>
            <a:ext cx="86868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7" name="Shape 24"/>
          <p:cNvSpPr/>
          <p:nvPr/>
        </p:nvSpPr>
        <p:spPr>
          <a:xfrm>
            <a:off x="7498080" y="4837176"/>
            <a:ext cx="86868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8" name="Shape 25"/>
          <p:cNvSpPr/>
          <p:nvPr/>
        </p:nvSpPr>
        <p:spPr>
          <a:xfrm>
            <a:off x="8412480" y="4837176"/>
            <a:ext cx="868680" cy="310896"/>
          </a:xfrm>
          <a:prstGeom prst="rect">
            <a:avLst/>
          </a:prstGeom>
          <a:solidFill>
            <a:srgbClr val="14A6B0"/>
          </a:solidFill>
          <a:ln w="635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9" name="Shape 26"/>
          <p:cNvSpPr/>
          <p:nvPr/>
        </p:nvSpPr>
        <p:spPr>
          <a:xfrm>
            <a:off x="9326880" y="4837176"/>
            <a:ext cx="86868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0" name="Shape 27"/>
          <p:cNvSpPr/>
          <p:nvPr/>
        </p:nvSpPr>
        <p:spPr>
          <a:xfrm>
            <a:off x="6583680" y="5221224"/>
            <a:ext cx="86868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1" name="Shape 28"/>
          <p:cNvSpPr/>
          <p:nvPr/>
        </p:nvSpPr>
        <p:spPr>
          <a:xfrm>
            <a:off x="7498080" y="5221224"/>
            <a:ext cx="86868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2" name="Shape 29"/>
          <p:cNvSpPr/>
          <p:nvPr/>
        </p:nvSpPr>
        <p:spPr>
          <a:xfrm>
            <a:off x="8412480" y="5221224"/>
            <a:ext cx="86868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3" name="Shape 30"/>
          <p:cNvSpPr/>
          <p:nvPr/>
        </p:nvSpPr>
        <p:spPr>
          <a:xfrm>
            <a:off x="9326880" y="5221224"/>
            <a:ext cx="868680" cy="310896"/>
          </a:xfrm>
          <a:prstGeom prst="rect">
            <a:avLst/>
          </a:prstGeom>
          <a:solidFill>
            <a:srgbClr val="14A6B0"/>
          </a:solidFill>
          <a:ln w="635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4" name="Text 31"/>
          <p:cNvSpPr/>
          <p:nvPr/>
        </p:nvSpPr>
        <p:spPr>
          <a:xfrm>
            <a:off x="6217920" y="58978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inner CV chooses the best configuration; outer fold never sees it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VALIDATION BEYOND SIMPLE CV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nested CV matters in practice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it, tuned models report optimistic scores that don’t replicate.</a:t>
            </a:r>
            <a:endParaRPr lang="en-US" sz="15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main cause: small n, many hyperparameters, flexible models.</a:t>
            </a:r>
            <a:endParaRPr lang="en-US" sz="15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Rule: if you tuned on it, you cannot also report performance on it.</a:t>
            </a:r>
            <a:endParaRPr lang="en-US" sz="1550" dirty="0"/>
          </a:p>
        </p:txBody>
      </p:sp>
      <p:graphicFrame>
        <p:nvGraphicFramePr>
          <p:cNvPr id="8" name="Chart 0"/>
          <p:cNvGraphicFramePr/>
          <p:nvPr/>
        </p:nvGraphicFramePr>
        <p:xfrm>
          <a:off x="6583680" y="2286000"/>
          <a:ext cx="493776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5"/>
          <p:cNvSpPr/>
          <p:nvPr/>
        </p:nvSpPr>
        <p:spPr>
          <a:xfrm>
            <a:off x="6583680" y="55778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= tuning optimism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BATCH EFFECTS AND CORRECTION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models fail on new cohorts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can look great in-cohort and collapse on an independent dataset.</a:t>
            </a:r>
            <a:endParaRPr lang="en-US" sz="15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C2772B"/>
                </a:solidFill>
                <a:latin typeface="Calibri" pitchFamily="34" charset="0"/>
                <a:cs typeface="Calibri" pitchFamily="34" charset="-120"/>
              </a:rPr>
              <a:t>Model is good. Input is different (different normalization, batch effect, etc..).</a:t>
            </a:r>
            <a:endParaRPr lang="en-US" sz="15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setting: METABRIC (Illumina) vs GSE6532 (Affymetrix): different platforms, real batch.</a:t>
            </a:r>
            <a:endParaRPr lang="en-US" sz="15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Cross-cohort validation is the closest thing to truth before a clinical trial.</a:t>
            </a:r>
          </a:p>
        </p:txBody>
      </p:sp>
      <p:graphicFrame>
        <p:nvGraphicFramePr>
          <p:cNvPr id="8" name="Chart 0"/>
          <p:cNvGraphicFramePr/>
          <p:nvPr/>
        </p:nvGraphicFramePr>
        <p:xfrm>
          <a:off x="6583680" y="2286000"/>
          <a:ext cx="493776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5"/>
          <p:cNvSpPr/>
          <p:nvPr/>
        </p:nvSpPr>
        <p:spPr>
          <a:xfrm>
            <a:off x="6583680" y="55778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in-cohort CV does not predict cross-platform transfer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BATCH EFFECTS AND CORRECTION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Batch correction: ComBat and friends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1206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450" dirty="0" err="1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ComBat</a:t>
            </a: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or quantile normalization methods estimate and subtract batch effects.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Benefit: cohorts become comparable; cross-platform models can work.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Risk: aggressive correction can remove real biology </a:t>
            </a:r>
            <a:r>
              <a:rPr lang="en-US" sz="1450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(how?)</a:t>
            </a:r>
            <a:r>
              <a:rPr lang="en-US" sz="1450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or leak the outcome (next slide).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Pathway features are a gentler, more platform-robust alternative.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400800" y="3657600"/>
            <a:ext cx="274320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9" name="Text 6"/>
          <p:cNvSpPr/>
          <p:nvPr/>
        </p:nvSpPr>
        <p:spPr>
          <a:xfrm>
            <a:off x="6400800" y="33375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before: batch-separated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274151" y="4875206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" name="Shape 8"/>
          <p:cNvSpPr/>
          <p:nvPr/>
        </p:nvSpPr>
        <p:spPr>
          <a:xfrm>
            <a:off x="8252637" y="3916252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" name="Shape 9"/>
          <p:cNvSpPr/>
          <p:nvPr/>
        </p:nvSpPr>
        <p:spPr>
          <a:xfrm>
            <a:off x="6999197" y="5387036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" name="Shape 10"/>
          <p:cNvSpPr/>
          <p:nvPr/>
        </p:nvSpPr>
        <p:spPr>
          <a:xfrm>
            <a:off x="8679496" y="4379307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" name="Shape 11"/>
          <p:cNvSpPr/>
          <p:nvPr/>
        </p:nvSpPr>
        <p:spPr>
          <a:xfrm>
            <a:off x="6888013" y="5068471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" name="Shape 12"/>
          <p:cNvSpPr/>
          <p:nvPr/>
        </p:nvSpPr>
        <p:spPr>
          <a:xfrm>
            <a:off x="8500939" y="4188893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" name="Shape 13"/>
          <p:cNvSpPr/>
          <p:nvPr/>
        </p:nvSpPr>
        <p:spPr>
          <a:xfrm>
            <a:off x="6760377" y="3988022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7" name="Shape 14"/>
          <p:cNvSpPr/>
          <p:nvPr/>
        </p:nvSpPr>
        <p:spPr>
          <a:xfrm>
            <a:off x="8257824" y="5382171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8" name="Shape 15"/>
          <p:cNvSpPr/>
          <p:nvPr/>
        </p:nvSpPr>
        <p:spPr>
          <a:xfrm>
            <a:off x="6971782" y="4130880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9" name="Shape 16"/>
          <p:cNvSpPr/>
          <p:nvPr/>
        </p:nvSpPr>
        <p:spPr>
          <a:xfrm>
            <a:off x="8495408" y="5079785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0" name="Shape 17"/>
          <p:cNvSpPr/>
          <p:nvPr/>
        </p:nvSpPr>
        <p:spPr>
          <a:xfrm>
            <a:off x="6973860" y="4493406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1" name="Shape 18"/>
          <p:cNvSpPr/>
          <p:nvPr/>
        </p:nvSpPr>
        <p:spPr>
          <a:xfrm>
            <a:off x="8673670" y="5005646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2" name="Shape 19"/>
          <p:cNvSpPr/>
          <p:nvPr/>
        </p:nvSpPr>
        <p:spPr>
          <a:xfrm>
            <a:off x="6719810" y="5247049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3" name="Shape 20"/>
          <p:cNvSpPr/>
          <p:nvPr/>
        </p:nvSpPr>
        <p:spPr>
          <a:xfrm>
            <a:off x="8570791" y="5327868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4" name="Shape 21"/>
          <p:cNvSpPr/>
          <p:nvPr/>
        </p:nvSpPr>
        <p:spPr>
          <a:xfrm>
            <a:off x="7400354" y="4148259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5" name="Shape 22"/>
          <p:cNvSpPr/>
          <p:nvPr/>
        </p:nvSpPr>
        <p:spPr>
          <a:xfrm>
            <a:off x="8677080" y="5142770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6" name="Shape 23"/>
          <p:cNvSpPr/>
          <p:nvPr/>
        </p:nvSpPr>
        <p:spPr>
          <a:xfrm>
            <a:off x="7110717" y="4859814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7" name="Shape 24"/>
          <p:cNvSpPr/>
          <p:nvPr/>
        </p:nvSpPr>
        <p:spPr>
          <a:xfrm>
            <a:off x="8651007" y="5324812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8" name="Shape 25"/>
          <p:cNvSpPr/>
          <p:nvPr/>
        </p:nvSpPr>
        <p:spPr>
          <a:xfrm>
            <a:off x="6960619" y="4388645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9" name="Shape 26"/>
          <p:cNvSpPr/>
          <p:nvPr/>
        </p:nvSpPr>
        <p:spPr>
          <a:xfrm>
            <a:off x="8591936" y="5330999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0" name="Shape 27"/>
          <p:cNvSpPr/>
          <p:nvPr/>
        </p:nvSpPr>
        <p:spPr>
          <a:xfrm>
            <a:off x="6761028" y="4972447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1" name="Shape 28"/>
          <p:cNvSpPr/>
          <p:nvPr/>
        </p:nvSpPr>
        <p:spPr>
          <a:xfrm>
            <a:off x="8865821" y="5280427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2" name="Shape 29"/>
          <p:cNvSpPr/>
          <p:nvPr/>
        </p:nvSpPr>
        <p:spPr>
          <a:xfrm>
            <a:off x="7364742" y="4860851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3" name="Shape 30"/>
          <p:cNvSpPr/>
          <p:nvPr/>
        </p:nvSpPr>
        <p:spPr>
          <a:xfrm>
            <a:off x="8637726" y="4128069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4" name="Shape 31"/>
          <p:cNvSpPr/>
          <p:nvPr/>
        </p:nvSpPr>
        <p:spPr>
          <a:xfrm>
            <a:off x="7350625" y="4746063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5" name="Shape 32"/>
          <p:cNvSpPr/>
          <p:nvPr/>
        </p:nvSpPr>
        <p:spPr>
          <a:xfrm>
            <a:off x="8694600" y="3937433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6" name="Shape 33"/>
          <p:cNvSpPr/>
          <p:nvPr/>
        </p:nvSpPr>
        <p:spPr>
          <a:xfrm>
            <a:off x="6988129" y="5016268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7" name="Shape 34"/>
          <p:cNvSpPr/>
          <p:nvPr/>
        </p:nvSpPr>
        <p:spPr>
          <a:xfrm>
            <a:off x="8323450" y="5207480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8" name="Shape 35"/>
          <p:cNvSpPr/>
          <p:nvPr/>
        </p:nvSpPr>
        <p:spPr>
          <a:xfrm>
            <a:off x="7153834" y="3881258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9" name="Shape 36"/>
          <p:cNvSpPr/>
          <p:nvPr/>
        </p:nvSpPr>
        <p:spPr>
          <a:xfrm>
            <a:off x="8391081" y="5133977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0" name="Shape 37"/>
          <p:cNvSpPr/>
          <p:nvPr/>
        </p:nvSpPr>
        <p:spPr>
          <a:xfrm>
            <a:off x="7360278" y="4458139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1" name="Shape 38"/>
          <p:cNvSpPr/>
          <p:nvPr/>
        </p:nvSpPr>
        <p:spPr>
          <a:xfrm>
            <a:off x="8166740" y="4192575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2" name="Shape 39"/>
          <p:cNvSpPr/>
          <p:nvPr/>
        </p:nvSpPr>
        <p:spPr>
          <a:xfrm>
            <a:off x="7095013" y="4754905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3" name="Shape 40"/>
          <p:cNvSpPr/>
          <p:nvPr/>
        </p:nvSpPr>
        <p:spPr>
          <a:xfrm>
            <a:off x="8532835" y="5166935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4" name="Shape 41"/>
          <p:cNvSpPr/>
          <p:nvPr/>
        </p:nvSpPr>
        <p:spPr>
          <a:xfrm>
            <a:off x="7217139" y="3840697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5" name="Shape 42"/>
          <p:cNvSpPr/>
          <p:nvPr/>
        </p:nvSpPr>
        <p:spPr>
          <a:xfrm>
            <a:off x="8497203" y="4907240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6" name="Shape 43"/>
          <p:cNvSpPr/>
          <p:nvPr/>
        </p:nvSpPr>
        <p:spPr>
          <a:xfrm>
            <a:off x="9235440" y="3657600"/>
            <a:ext cx="274320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7" name="Text 44"/>
          <p:cNvSpPr/>
          <p:nvPr/>
        </p:nvSpPr>
        <p:spPr>
          <a:xfrm>
            <a:off x="9235440" y="33375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after: intermixed (biology kept)</a:t>
            </a:r>
            <a:endParaRPr lang="en-US" sz="1100" dirty="0"/>
          </a:p>
        </p:txBody>
      </p:sp>
      <p:sp>
        <p:nvSpPr>
          <p:cNvPr id="48" name="Shape 45"/>
          <p:cNvSpPr/>
          <p:nvPr/>
        </p:nvSpPr>
        <p:spPr>
          <a:xfrm>
            <a:off x="11415879" y="5078515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9" name="Shape 46"/>
          <p:cNvSpPr/>
          <p:nvPr/>
        </p:nvSpPr>
        <p:spPr>
          <a:xfrm>
            <a:off x="10694597" y="5114718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0" name="Shape 47"/>
          <p:cNvSpPr/>
          <p:nvPr/>
        </p:nvSpPr>
        <p:spPr>
          <a:xfrm>
            <a:off x="9899069" y="4229009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1" name="Shape 48"/>
          <p:cNvSpPr/>
          <p:nvPr/>
        </p:nvSpPr>
        <p:spPr>
          <a:xfrm>
            <a:off x="9838866" y="5377806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2" name="Shape 49"/>
          <p:cNvSpPr/>
          <p:nvPr/>
        </p:nvSpPr>
        <p:spPr>
          <a:xfrm>
            <a:off x="11502058" y="4752232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3" name="Shape 50"/>
          <p:cNvSpPr/>
          <p:nvPr/>
        </p:nvSpPr>
        <p:spPr>
          <a:xfrm>
            <a:off x="11324389" y="3843611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4" name="Shape 51"/>
          <p:cNvSpPr/>
          <p:nvPr/>
        </p:nvSpPr>
        <p:spPr>
          <a:xfrm>
            <a:off x="10761472" y="5298046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5" name="Shape 52"/>
          <p:cNvSpPr/>
          <p:nvPr/>
        </p:nvSpPr>
        <p:spPr>
          <a:xfrm>
            <a:off x="10598091" y="4747331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6" name="Shape 53"/>
          <p:cNvSpPr/>
          <p:nvPr/>
        </p:nvSpPr>
        <p:spPr>
          <a:xfrm>
            <a:off x="10066649" y="4694253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7" name="Shape 54"/>
          <p:cNvSpPr/>
          <p:nvPr/>
        </p:nvSpPr>
        <p:spPr>
          <a:xfrm>
            <a:off x="9682906" y="4372359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8" name="Shape 55"/>
          <p:cNvSpPr/>
          <p:nvPr/>
        </p:nvSpPr>
        <p:spPr>
          <a:xfrm>
            <a:off x="10382677" y="4587560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9" name="Shape 56"/>
          <p:cNvSpPr/>
          <p:nvPr/>
        </p:nvSpPr>
        <p:spPr>
          <a:xfrm>
            <a:off x="10596004" y="4861912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0" name="Shape 57"/>
          <p:cNvSpPr/>
          <p:nvPr/>
        </p:nvSpPr>
        <p:spPr>
          <a:xfrm>
            <a:off x="10960092" y="4546206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1" name="Shape 58"/>
          <p:cNvSpPr/>
          <p:nvPr/>
        </p:nvSpPr>
        <p:spPr>
          <a:xfrm>
            <a:off x="10204260" y="4144243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2" name="Shape 59"/>
          <p:cNvSpPr/>
          <p:nvPr/>
        </p:nvSpPr>
        <p:spPr>
          <a:xfrm>
            <a:off x="11135208" y="4266091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3" name="Shape 60"/>
          <p:cNvSpPr/>
          <p:nvPr/>
        </p:nvSpPr>
        <p:spPr>
          <a:xfrm>
            <a:off x="10524781" y="5093166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4" name="Shape 61"/>
          <p:cNvSpPr/>
          <p:nvPr/>
        </p:nvSpPr>
        <p:spPr>
          <a:xfrm>
            <a:off x="10430680" y="5247242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5" name="Shape 62"/>
          <p:cNvSpPr/>
          <p:nvPr/>
        </p:nvSpPr>
        <p:spPr>
          <a:xfrm>
            <a:off x="9773463" y="5395165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6" name="Shape 63"/>
          <p:cNvSpPr/>
          <p:nvPr/>
        </p:nvSpPr>
        <p:spPr>
          <a:xfrm>
            <a:off x="10788745" y="4975117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7" name="Shape 64"/>
          <p:cNvSpPr/>
          <p:nvPr/>
        </p:nvSpPr>
        <p:spPr>
          <a:xfrm>
            <a:off x="10908499" y="5048931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8" name="Shape 65"/>
          <p:cNvSpPr/>
          <p:nvPr/>
        </p:nvSpPr>
        <p:spPr>
          <a:xfrm>
            <a:off x="10423438" y="4824545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9" name="Shape 66"/>
          <p:cNvSpPr/>
          <p:nvPr/>
        </p:nvSpPr>
        <p:spPr>
          <a:xfrm>
            <a:off x="11034478" y="5133860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0" name="Shape 67"/>
          <p:cNvSpPr/>
          <p:nvPr/>
        </p:nvSpPr>
        <p:spPr>
          <a:xfrm>
            <a:off x="9846514" y="4703960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1" name="Shape 68"/>
          <p:cNvSpPr/>
          <p:nvPr/>
        </p:nvSpPr>
        <p:spPr>
          <a:xfrm>
            <a:off x="10496729" y="4575047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2" name="Shape 69"/>
          <p:cNvSpPr/>
          <p:nvPr/>
        </p:nvSpPr>
        <p:spPr>
          <a:xfrm>
            <a:off x="11420849" y="5262758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3" name="Shape 70"/>
          <p:cNvSpPr/>
          <p:nvPr/>
        </p:nvSpPr>
        <p:spPr>
          <a:xfrm>
            <a:off x="9861495" y="4945829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4" name="Shape 71"/>
          <p:cNvSpPr/>
          <p:nvPr/>
        </p:nvSpPr>
        <p:spPr>
          <a:xfrm>
            <a:off x="10809288" y="4031470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5" name="Shape 72"/>
          <p:cNvSpPr/>
          <p:nvPr/>
        </p:nvSpPr>
        <p:spPr>
          <a:xfrm>
            <a:off x="10158711" y="4228448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6" name="Shape 73"/>
          <p:cNvSpPr/>
          <p:nvPr/>
        </p:nvSpPr>
        <p:spPr>
          <a:xfrm>
            <a:off x="10449805" y="5474305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7" name="Shape 74"/>
          <p:cNvSpPr/>
          <p:nvPr/>
        </p:nvSpPr>
        <p:spPr>
          <a:xfrm>
            <a:off x="10506834" y="4528671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8" name="Shape 75"/>
          <p:cNvSpPr/>
          <p:nvPr/>
        </p:nvSpPr>
        <p:spPr>
          <a:xfrm>
            <a:off x="11278564" y="5417036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9" name="Shape 76"/>
          <p:cNvSpPr/>
          <p:nvPr/>
        </p:nvSpPr>
        <p:spPr>
          <a:xfrm>
            <a:off x="10904053" y="5074025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0" name="Shape 77"/>
          <p:cNvSpPr/>
          <p:nvPr/>
        </p:nvSpPr>
        <p:spPr>
          <a:xfrm>
            <a:off x="9774731" y="4461232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1" name="Shape 78"/>
          <p:cNvSpPr/>
          <p:nvPr/>
        </p:nvSpPr>
        <p:spPr>
          <a:xfrm>
            <a:off x="10793907" y="4235808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2" name="Shape 79"/>
          <p:cNvSpPr/>
          <p:nvPr/>
        </p:nvSpPr>
        <p:spPr>
          <a:xfrm>
            <a:off x="11469927" y="3958306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3" name="Shape 80"/>
          <p:cNvSpPr/>
          <p:nvPr/>
        </p:nvSpPr>
        <p:spPr>
          <a:xfrm>
            <a:off x="10290983" y="4729180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4" name="Text 81"/>
          <p:cNvSpPr/>
          <p:nvPr/>
        </p:nvSpPr>
        <p:spPr>
          <a:xfrm>
            <a:off x="6400800" y="58064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over-correction can erase real biology — handle with care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BATCH EFFECTS AND CORRECTION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batch correction belongs in the pipeline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10972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Correction must not use the outcome label, and must respect the split.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 correction on training data; apply the same transform to validation/test.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Correcting train + test together, using all data, is a leakage.</a:t>
            </a:r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A8403A"/>
                </a:solidFill>
                <a:latin typeface="Calibri" pitchFamily="34" charset="0"/>
                <a:cs typeface="Calibri" pitchFamily="34" charset="-120"/>
              </a:rPr>
              <a:t>RULE: start always with raw counts! Not normalized or batch corrected!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batch is perfectly confounded with outcome, no method can rescue it: design matters more.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731520" y="3840480"/>
            <a:ext cx="2468880" cy="868680"/>
          </a:xfrm>
          <a:prstGeom prst="roundRect">
            <a:avLst>
              <a:gd name="adj" fmla="val 6316"/>
            </a:avLst>
          </a:prstGeom>
          <a:solidFill>
            <a:srgbClr val="DCEEE4"/>
          </a:solidFill>
          <a:ln w="12700">
            <a:solidFill>
              <a:srgbClr val="2E7D57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9" name="Text 6"/>
          <p:cNvSpPr/>
          <p:nvPr/>
        </p:nvSpPr>
        <p:spPr>
          <a:xfrm>
            <a:off x="731520" y="384048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218688" y="4270248"/>
            <a:ext cx="329184" cy="0"/>
          </a:xfrm>
          <a:prstGeom prst="line">
            <a:avLst/>
          </a:prstGeom>
          <a:noFill/>
          <a:ln w="19050">
            <a:solidFill>
              <a:srgbClr val="2E7D57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11" name="Shape 8"/>
          <p:cNvSpPr/>
          <p:nvPr/>
        </p:nvSpPr>
        <p:spPr>
          <a:xfrm>
            <a:off x="3547872" y="3840480"/>
            <a:ext cx="2468880" cy="868680"/>
          </a:xfrm>
          <a:prstGeom prst="roundRect">
            <a:avLst>
              <a:gd name="adj" fmla="val 6316"/>
            </a:avLst>
          </a:prstGeom>
          <a:solidFill>
            <a:srgbClr val="DCEEE4"/>
          </a:solidFill>
          <a:ln w="12700">
            <a:solidFill>
              <a:srgbClr val="2E7D57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2" name="Text 9"/>
          <p:cNvSpPr/>
          <p:nvPr/>
        </p:nvSpPr>
        <p:spPr>
          <a:xfrm>
            <a:off x="3547872" y="384048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 correction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TRAIN only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035040" y="4270248"/>
            <a:ext cx="329184" cy="0"/>
          </a:xfrm>
          <a:prstGeom prst="line">
            <a:avLst/>
          </a:prstGeom>
          <a:noFill/>
          <a:ln w="19050">
            <a:solidFill>
              <a:srgbClr val="2E7D57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14" name="Shape 11"/>
          <p:cNvSpPr/>
          <p:nvPr/>
        </p:nvSpPr>
        <p:spPr>
          <a:xfrm>
            <a:off x="6364224" y="3840480"/>
            <a:ext cx="2468880" cy="868680"/>
          </a:xfrm>
          <a:prstGeom prst="roundRect">
            <a:avLst>
              <a:gd name="adj" fmla="val 6316"/>
            </a:avLst>
          </a:prstGeom>
          <a:solidFill>
            <a:srgbClr val="DCEEE4"/>
          </a:solidFill>
          <a:ln w="12700">
            <a:solidFill>
              <a:srgbClr val="2E7D57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5" name="Text 12"/>
          <p:cNvSpPr/>
          <p:nvPr/>
        </p:nvSpPr>
        <p:spPr>
          <a:xfrm>
            <a:off x="6364224" y="384048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same transform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held-out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8851392" y="4270248"/>
            <a:ext cx="329184" cy="0"/>
          </a:xfrm>
          <a:prstGeom prst="line">
            <a:avLst/>
          </a:prstGeom>
          <a:noFill/>
          <a:ln w="19050">
            <a:solidFill>
              <a:srgbClr val="2E7D57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17" name="Shape 14"/>
          <p:cNvSpPr/>
          <p:nvPr/>
        </p:nvSpPr>
        <p:spPr>
          <a:xfrm>
            <a:off x="9180576" y="3840480"/>
            <a:ext cx="2468880" cy="868680"/>
          </a:xfrm>
          <a:prstGeom prst="roundRect">
            <a:avLst>
              <a:gd name="adj" fmla="val 6316"/>
            </a:avLst>
          </a:prstGeom>
          <a:solidFill>
            <a:srgbClr val="DCEEE4"/>
          </a:solidFill>
          <a:ln w="12700">
            <a:solidFill>
              <a:srgbClr val="2E7D57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8" name="Text 15"/>
          <p:cNvSpPr/>
          <p:nvPr/>
        </p:nvSpPr>
        <p:spPr>
          <a:xfrm>
            <a:off x="9180576" y="384048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→ evaluate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731520" y="5029200"/>
            <a:ext cx="5486400" cy="640080"/>
          </a:xfrm>
          <a:prstGeom prst="roundRect">
            <a:avLst>
              <a:gd name="adj" fmla="val 8571"/>
            </a:avLst>
          </a:prstGeom>
          <a:solidFill>
            <a:srgbClr val="F2DEDB"/>
          </a:solidFill>
          <a:ln w="12700">
            <a:solidFill>
              <a:srgbClr val="A8403A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0" name="Text 17"/>
          <p:cNvSpPr/>
          <p:nvPr/>
        </p:nvSpPr>
        <p:spPr>
          <a:xfrm>
            <a:off x="731520" y="502920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correct train + test together (leakage)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400800" y="5029200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…and if batch is perfectly confounded with outcome, only better design — not any method — can help.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· MODEL INTERPRETATION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 importance and coefficients (and their traps)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100"/>
              </a:spcAft>
              <a:buSzPct val="100000"/>
              <a:buFontTx/>
              <a:buChar char="•"/>
            </a:pPr>
            <a:r>
              <a:rPr lang="en-US" sz="14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interpretation tools: linear coefficients, tree-based importance, SHAP values.</a:t>
            </a:r>
            <a:endParaRPr lang="en-US" sz="1500" dirty="0">
              <a:solidFill>
                <a:srgbClr val="12262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coefficients: direction + magnitude, but unstable/split with correlated partners (use pathways)</a:t>
            </a:r>
            <a:endParaRPr lang="en-US" sz="15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Random-forest importance: ranks usefulness for splitting, but is biased and unstable.</a:t>
            </a:r>
            <a:endParaRPr lang="en-US" sz="15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Correlated genes share/split importance: a top gene can be an artefact of correlation.</a:t>
            </a:r>
            <a:endParaRPr lang="en-US" sz="15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5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check stability across folds/resamples before believing a ranking.</a:t>
            </a:r>
          </a:p>
          <a:p>
            <a:pPr marL="203200" indent="-203200">
              <a:spcAft>
                <a:spcPts val="1100"/>
              </a:spcAft>
              <a:buSzPct val="100000"/>
              <a:buFontTx/>
              <a:buChar char="•"/>
            </a:pPr>
            <a:r>
              <a:rPr lang="en-US" sz="14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answer “what is the model using?” None answer “what causes recurrence?”</a:t>
            </a:r>
            <a:endParaRPr lang="en-US" sz="14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766560" y="2377440"/>
            <a:ext cx="448056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9" name="Shape 6"/>
          <p:cNvSpPr/>
          <p:nvPr/>
        </p:nvSpPr>
        <p:spPr>
          <a:xfrm>
            <a:off x="8229600" y="2697480"/>
            <a:ext cx="2409444" cy="27432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" name="Text 7"/>
          <p:cNvSpPr/>
          <p:nvPr/>
        </p:nvSpPr>
        <p:spPr>
          <a:xfrm>
            <a:off x="6812280" y="26517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proliferation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10525658" y="2834640"/>
            <a:ext cx="226771" cy="0"/>
          </a:xfrm>
          <a:prstGeom prst="line">
            <a:avLst/>
          </a:prstGeom>
          <a:noFill/>
          <a:ln w="19050">
            <a:solidFill>
              <a:srgbClr val="5B6B7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2" name="Shape 9"/>
          <p:cNvSpPr/>
          <p:nvPr/>
        </p:nvSpPr>
        <p:spPr>
          <a:xfrm>
            <a:off x="8229600" y="3227832"/>
            <a:ext cx="1757477" cy="27432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" name="Text 10"/>
          <p:cNvSpPr/>
          <p:nvPr/>
        </p:nvSpPr>
        <p:spPr>
          <a:xfrm>
            <a:off x="6812280" y="318211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 signalling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9845345" y="3364992"/>
            <a:ext cx="283464" cy="0"/>
          </a:xfrm>
          <a:prstGeom prst="line">
            <a:avLst/>
          </a:prstGeom>
          <a:noFill/>
          <a:ln w="19050">
            <a:solidFill>
              <a:srgbClr val="5B6B7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5" name="Shape 12"/>
          <p:cNvSpPr/>
          <p:nvPr/>
        </p:nvSpPr>
        <p:spPr>
          <a:xfrm>
            <a:off x="8229600" y="3758184"/>
            <a:ext cx="1559052" cy="274320"/>
          </a:xfrm>
          <a:prstGeom prst="rect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" name="Text 13"/>
          <p:cNvSpPr/>
          <p:nvPr/>
        </p:nvSpPr>
        <p:spPr>
          <a:xfrm>
            <a:off x="6812280" y="371246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 A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9193378" y="3895344"/>
            <a:ext cx="1190549" cy="0"/>
          </a:xfrm>
          <a:prstGeom prst="line">
            <a:avLst/>
          </a:prstGeom>
          <a:noFill/>
          <a:ln w="19050">
            <a:solidFill>
              <a:srgbClr val="5B6B7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8" name="Shape 15"/>
          <p:cNvSpPr/>
          <p:nvPr/>
        </p:nvSpPr>
        <p:spPr>
          <a:xfrm>
            <a:off x="8229600" y="4288536"/>
            <a:ext cx="1133856" cy="27432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9" name="Text 16"/>
          <p:cNvSpPr/>
          <p:nvPr/>
        </p:nvSpPr>
        <p:spPr>
          <a:xfrm>
            <a:off x="6812280" y="424281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immune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9193378" y="4425696"/>
            <a:ext cx="340157" cy="0"/>
          </a:xfrm>
          <a:prstGeom prst="line">
            <a:avLst/>
          </a:prstGeom>
          <a:noFill/>
          <a:ln w="19050">
            <a:solidFill>
              <a:srgbClr val="5B6B7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1" name="Shape 18"/>
          <p:cNvSpPr/>
          <p:nvPr/>
        </p:nvSpPr>
        <p:spPr>
          <a:xfrm>
            <a:off x="8229600" y="4818888"/>
            <a:ext cx="1077163" cy="274320"/>
          </a:xfrm>
          <a:prstGeom prst="rect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2" name="Text 19"/>
          <p:cNvSpPr/>
          <p:nvPr/>
        </p:nvSpPr>
        <p:spPr>
          <a:xfrm>
            <a:off x="6812280" y="477316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 B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8739835" y="4956048"/>
            <a:ext cx="1133856" cy="0"/>
          </a:xfrm>
          <a:prstGeom prst="line">
            <a:avLst/>
          </a:prstGeom>
          <a:noFill/>
          <a:ln w="19050">
            <a:solidFill>
              <a:srgbClr val="5B6B7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4" name="Text 21"/>
          <p:cNvSpPr/>
          <p:nvPr/>
        </p:nvSpPr>
        <p:spPr>
          <a:xfrm>
            <a:off x="6766560" y="50749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believe the stable features (small error bars), not the lucky ones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· MODEL INTERPRETATION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SHAP values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6692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attributes each prediction to its features: a consistent, per-patient explanation.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Useful: shows how the model reached a decision for an individual tumour.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Limit: it explains the model, not the biology: a faithful explanation of a flawed model is still flawed.</a:t>
            </a:r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C2772B"/>
                </a:solidFill>
                <a:latin typeface="Calibri" pitchFamily="34" charset="0"/>
                <a:cs typeface="Calibri" pitchFamily="34" charset="-120"/>
              </a:rPr>
              <a:t>Limit: correlated features get split contribution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b="1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present SHAP as evidence of mechanism or causation.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9144000" y="2560320"/>
            <a:ext cx="0" cy="2560320"/>
          </a:xfrm>
          <a:prstGeom prst="line">
            <a:avLst/>
          </a:prstGeom>
          <a:noFill/>
          <a:ln w="12700">
            <a:solidFill>
              <a:srgbClr val="5B6B7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0" name="Shape 7"/>
          <p:cNvSpPr/>
          <p:nvPr/>
        </p:nvSpPr>
        <p:spPr>
          <a:xfrm>
            <a:off x="9144000" y="2743200"/>
            <a:ext cx="1554480" cy="347472"/>
          </a:xfrm>
          <a:prstGeom prst="rect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" name="Text 8"/>
          <p:cNvSpPr/>
          <p:nvPr/>
        </p:nvSpPr>
        <p:spPr>
          <a:xfrm>
            <a:off x="6035040" y="272491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proliferation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9144000" y="3291840"/>
            <a:ext cx="621792" cy="347472"/>
          </a:xfrm>
          <a:prstGeom prst="rect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" name="Text 10"/>
          <p:cNvSpPr/>
          <p:nvPr/>
        </p:nvSpPr>
        <p:spPr>
          <a:xfrm>
            <a:off x="6035040" y="327355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tumour size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8677656" y="3840480"/>
            <a:ext cx="466344" cy="347472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" name="Text 12"/>
          <p:cNvSpPr/>
          <p:nvPr/>
        </p:nvSpPr>
        <p:spPr>
          <a:xfrm>
            <a:off x="6035040" y="382219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immune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7744968" y="4389120"/>
            <a:ext cx="1399032" cy="347472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7" name="Text 14"/>
          <p:cNvSpPr/>
          <p:nvPr/>
        </p:nvSpPr>
        <p:spPr>
          <a:xfrm>
            <a:off x="6035040" y="437083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 signalling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7040880" y="51206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lowers risk    raises risk →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· REPRODUCIBILITY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Reproducibility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6692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seeds: fix them, report them: results that change run-to-run aren’t results.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Pipelines: encapsulate preprocessing + model so the whole thing refits inside CV (no leakage).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control + environment capture: same code + data + versions = same result.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 organisation and experiment tracking: every reported number is regenerable.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7589520" y="2194560"/>
            <a:ext cx="3383280" cy="566928"/>
          </a:xfrm>
          <a:prstGeom prst="roundRect">
            <a:avLst>
              <a:gd name="adj" fmla="val 9677"/>
            </a:avLst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" name="Text 6"/>
          <p:cNvSpPr/>
          <p:nvPr/>
        </p:nvSpPr>
        <p:spPr>
          <a:xfrm>
            <a:off x="7589520" y="2194560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random seed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9281160" y="2770632"/>
            <a:ext cx="0" cy="246888"/>
          </a:xfrm>
          <a:prstGeom prst="line">
            <a:avLst/>
          </a:prstGeom>
          <a:noFill/>
          <a:ln w="16510">
            <a:solidFill>
              <a:srgbClr val="5B6B70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11" name="Shape 8"/>
          <p:cNvSpPr/>
          <p:nvPr/>
        </p:nvSpPr>
        <p:spPr>
          <a:xfrm>
            <a:off x="7589520" y="3017520"/>
            <a:ext cx="3383280" cy="566928"/>
          </a:xfrm>
          <a:prstGeom prst="roundRect">
            <a:avLst>
              <a:gd name="adj" fmla="val 9677"/>
            </a:avLst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" name="Text 9"/>
          <p:cNvSpPr/>
          <p:nvPr/>
        </p:nvSpPr>
        <p:spPr>
          <a:xfrm>
            <a:off x="7589520" y="3017520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encapsulated pipeline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9281160" y="3593592"/>
            <a:ext cx="0" cy="246888"/>
          </a:xfrm>
          <a:prstGeom prst="line">
            <a:avLst/>
          </a:prstGeom>
          <a:noFill/>
          <a:ln w="16510">
            <a:solidFill>
              <a:srgbClr val="5B6B70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14" name="Shape 11"/>
          <p:cNvSpPr/>
          <p:nvPr/>
        </p:nvSpPr>
        <p:spPr>
          <a:xfrm>
            <a:off x="7589520" y="3840480"/>
            <a:ext cx="3383280" cy="566928"/>
          </a:xfrm>
          <a:prstGeom prst="roundRect">
            <a:avLst>
              <a:gd name="adj" fmla="val 9677"/>
            </a:avLst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" name="Text 12"/>
          <p:cNvSpPr/>
          <p:nvPr/>
        </p:nvSpPr>
        <p:spPr>
          <a:xfrm>
            <a:off x="7589520" y="3840480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control + env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9281160" y="4416552"/>
            <a:ext cx="0" cy="246888"/>
          </a:xfrm>
          <a:prstGeom prst="line">
            <a:avLst/>
          </a:prstGeom>
          <a:noFill/>
          <a:ln w="16510">
            <a:solidFill>
              <a:srgbClr val="5B6B70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17" name="Shape 14"/>
          <p:cNvSpPr/>
          <p:nvPr/>
        </p:nvSpPr>
        <p:spPr>
          <a:xfrm>
            <a:off x="7589520" y="4663440"/>
            <a:ext cx="3383280" cy="566928"/>
          </a:xfrm>
          <a:prstGeom prst="roundRect">
            <a:avLst>
              <a:gd name="adj" fmla="val 9677"/>
            </a:avLst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8" name="Text 15"/>
          <p:cNvSpPr/>
          <p:nvPr/>
        </p:nvSpPr>
        <p:spPr>
          <a:xfrm>
            <a:off x="7589520" y="4663440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tracked experiment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9281160" y="5239512"/>
            <a:ext cx="0" cy="246888"/>
          </a:xfrm>
          <a:prstGeom prst="line">
            <a:avLst/>
          </a:prstGeom>
          <a:noFill/>
          <a:ln w="16510">
            <a:solidFill>
              <a:srgbClr val="5B6B70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20" name="Shape 17"/>
          <p:cNvSpPr/>
          <p:nvPr/>
        </p:nvSpPr>
        <p:spPr>
          <a:xfrm>
            <a:off x="7589520" y="5486400"/>
            <a:ext cx="3383280" cy="566928"/>
          </a:xfrm>
          <a:prstGeom prst="roundRect">
            <a:avLst>
              <a:gd name="adj" fmla="val 9677"/>
            </a:avLst>
          </a:prstGeom>
          <a:solidFill>
            <a:srgbClr val="2E7D5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1" name="Text 18"/>
          <p:cNvSpPr/>
          <p:nvPr/>
        </p:nvSpPr>
        <p:spPr>
          <a:xfrm>
            <a:off x="7589520" y="5486400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regenerable result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 · CHOOSING THE BEST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Choosing the best model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7607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best model is not the most complex, nor the one with the highest training score.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best model is robust, interpretable, reproducible, and well-validated.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rule: prefer the simplest model whose advantage survives honest validation.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clinic-bound biomarker, trust and transferability beat a fractional AUC gain.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7772400" y="2286000"/>
            <a:ext cx="2743200" cy="2743200"/>
          </a:xfrm>
          <a:prstGeom prst="ellipse">
            <a:avLst/>
          </a:prstGeom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9" name="Shape 6"/>
          <p:cNvSpPr/>
          <p:nvPr/>
        </p:nvSpPr>
        <p:spPr>
          <a:xfrm>
            <a:off x="8321040" y="2834640"/>
            <a:ext cx="1645920" cy="1645920"/>
          </a:xfrm>
          <a:prstGeom prst="ellipse">
            <a:avLst/>
          </a:prstGeom>
          <a:ln w="635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0" name="Shape 7"/>
          <p:cNvSpPr/>
          <p:nvPr/>
        </p:nvSpPr>
        <p:spPr>
          <a:xfrm>
            <a:off x="7772400" y="3657600"/>
            <a:ext cx="2743200" cy="0"/>
          </a:xfrm>
          <a:prstGeom prst="line">
            <a:avLst/>
          </a:prstGeom>
          <a:noFill/>
          <a:ln w="635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1" name="Shape 8"/>
          <p:cNvSpPr/>
          <p:nvPr/>
        </p:nvSpPr>
        <p:spPr>
          <a:xfrm>
            <a:off x="9144000" y="2286000"/>
            <a:ext cx="0" cy="2743200"/>
          </a:xfrm>
          <a:prstGeom prst="line">
            <a:avLst/>
          </a:prstGeom>
          <a:noFill/>
          <a:ln w="635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03" name="radar"/>
          <p:cNvSpPr/>
          <p:nvPr/>
        </p:nvSpPr>
        <p:spPr>
          <a:xfrm>
            <a:off x="8321040" y="2532888"/>
            <a:ext cx="1810512" cy="1741932"/>
          </a:xfrm>
          <a:custGeom>
            <a:avLst/>
            <a:gdLst/>
            <a:ahLst/>
            <a:cxnLst/>
            <a:rect l="0" t="0" r="0" b="0"/>
            <a:pathLst>
              <a:path w="1810512" h="1741932">
                <a:moveTo>
                  <a:pt x="822960" y="0"/>
                </a:moveTo>
                <a:lnTo>
                  <a:pt x="1810512" y="1124712"/>
                </a:lnTo>
                <a:lnTo>
                  <a:pt x="822960" y="1741932"/>
                </a:lnTo>
                <a:lnTo>
                  <a:pt x="0" y="1124712"/>
                </a:lnTo>
                <a:close/>
              </a:path>
            </a:pathLst>
          </a:custGeom>
          <a:solidFill>
            <a:srgbClr val="0E7C86">
              <a:alpha val="22000"/>
            </a:srgbClr>
          </a:solidFill>
          <a:ln w="25400">
            <a:solidFill>
              <a:srgbClr val="0E7C8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04" name="vtx"/>
          <p:cNvSpPr/>
          <p:nvPr/>
        </p:nvSpPr>
        <p:spPr>
          <a:xfrm>
            <a:off x="9092000" y="2480888"/>
            <a:ext cx="104000" cy="104000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5" name="vtx"/>
          <p:cNvSpPr/>
          <p:nvPr/>
        </p:nvSpPr>
        <p:spPr>
          <a:xfrm>
            <a:off x="10079552" y="3605600"/>
            <a:ext cx="104000" cy="104000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6" name="vtx"/>
          <p:cNvSpPr/>
          <p:nvPr/>
        </p:nvSpPr>
        <p:spPr>
          <a:xfrm>
            <a:off x="9092000" y="4222820"/>
            <a:ext cx="104000" cy="104000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7" name="vtx"/>
          <p:cNvSpPr/>
          <p:nvPr/>
        </p:nvSpPr>
        <p:spPr>
          <a:xfrm>
            <a:off x="8269040" y="3605600"/>
            <a:ext cx="104000" cy="104000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8229600" y="19659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robustness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0332720" y="35204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interpretability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8229600" y="5074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6400800" y="35204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reproducibility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8229600" y="3520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just AUC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B3B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1887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14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MAIN MESSAGE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914400" y="1828800"/>
            <a:ext cx="10332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“Better validation is usually more important than a better algorithm.”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4023360"/>
            <a:ext cx="10241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performance gains are smaller than expected; validation errors do more damage than model choice.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 requires caution; biological plausibility does not prove causality.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Recap &amp; bridge to the practical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7830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Objectives — ticked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48640" y="2194560"/>
            <a:ext cx="53949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model families; when trees help</a:t>
            </a:r>
            <a:endParaRPr lang="en-US" sz="1450" dirty="0"/>
          </a:p>
          <a:p>
            <a:pPr marL="0" indent="0">
              <a:buNone/>
            </a:pPr>
            <a:r>
              <a:rPr lang="en-US" sz="145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Hyperparameters &amp; tuning (grid/random)</a:t>
            </a:r>
            <a:endParaRPr lang="en-US" sz="1450" dirty="0"/>
          </a:p>
          <a:p>
            <a:pPr marL="0" indent="0">
              <a:buNone/>
            </a:pPr>
            <a:r>
              <a:rPr lang="en-US" sz="145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Nested cross-validation</a:t>
            </a:r>
            <a:endParaRPr lang="en-US" sz="1450" dirty="0"/>
          </a:p>
          <a:p>
            <a:pPr marL="0" indent="0">
              <a:buNone/>
            </a:pPr>
            <a:r>
              <a:rPr lang="en-US" sz="145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effects &amp; correction in the pipeline</a:t>
            </a:r>
            <a:endParaRPr lang="en-US" sz="1450" dirty="0"/>
          </a:p>
          <a:p>
            <a:pPr marL="0" indent="0">
              <a:buNone/>
            </a:pPr>
            <a:r>
              <a:rPr lang="en-US" sz="145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Interpretation; prediction ≠ causation</a:t>
            </a:r>
            <a:endParaRPr lang="en-US" sz="1450" dirty="0"/>
          </a:p>
          <a:p>
            <a:pPr marL="0" indent="0">
              <a:buNone/>
            </a:pPr>
            <a:r>
              <a:rPr lang="en-US" sz="145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Reproducibility; choosing on evidence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6309360" y="1783080"/>
            <a:ext cx="5303520" cy="3931920"/>
          </a:xfrm>
          <a:prstGeom prst="roundRect">
            <a:avLst>
              <a:gd name="adj" fmla="val 1860"/>
            </a:avLst>
          </a:prstGeom>
          <a:solidFill>
            <a:srgbClr val="DCEDEE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0" name="Text 7"/>
          <p:cNvSpPr/>
          <p:nvPr/>
        </p:nvSpPr>
        <p:spPr>
          <a:xfrm>
            <a:off x="6583680" y="19659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the practical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583680" y="242316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LR / Random Forest / Gradient Boosting on the SAME features</a:t>
            </a:r>
            <a:endParaRPr lang="en-US" sz="13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 one model (grid / random search)</a:t>
            </a:r>
            <a:endParaRPr lang="en-US" sz="13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 honestly with nested CV — measure the optimism gap</a:t>
            </a:r>
            <a:endParaRPr lang="en-US" sz="13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Batch-correction experiment: METABRIC → GSE6532, with vs without</a:t>
            </a:r>
            <a:endParaRPr lang="en-US" sz="13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importances responsibly; choose a model for publication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583680" y="5440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research-grade ML — survival models, external validation at scale.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15818F4-41D9-AAE7-5EB2-D7F34BD83E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9693055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/>
          <p:nvPr/>
        </p:nvSpPr>
        <p:spPr>
          <a:xfrm>
            <a:off x="548640" y="658368"/>
            <a:ext cx="1106424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Random forests — using and evaluating</a:t>
            </a:r>
            <a:endParaRPr lang="en-US" sz="2900" dirty="0"/>
          </a:p>
        </p:txBody>
      </p:sp>
      <p:sp>
        <p:nvSpPr>
          <p:cNvPr id="4" name="Intro"/>
          <p:cNvSpPr/>
          <p:nvPr/>
        </p:nvSpPr>
        <p:spPr>
          <a:xfrm>
            <a:off x="548640" y="13868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the forest is built, prediction and validation both fall out of the same bootstrap trick.</a:t>
            </a:r>
            <a:endParaRPr lang="en-US" sz="1500" dirty="0"/>
          </a:p>
        </p:txBody>
      </p:sp>
      <p:pic>
        <p:nvPicPr>
          <p:cNvPr id="20" name="RF use diagra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57400"/>
            <a:ext cx="11064240" cy="3032000"/>
          </a:xfrm>
          <a:prstGeom prst="rect">
            <a:avLst/>
          </a:prstGeom>
        </p:spPr>
      </p:pic>
      <p:sp>
        <p:nvSpPr>
          <p:cNvPr id="21" name="Takeaway"/>
          <p:cNvSpPr/>
          <p:nvPr/>
        </p:nvSpPr>
        <p:spPr>
          <a:xfrm>
            <a:off x="548640" y="54102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 the forest by trying different m (genes per split) and picking the value with the lowest out-of-bag error.</a:t>
            </a:r>
            <a:endParaRPr lang="en-US" sz="1400" dirty="0"/>
          </a:p>
        </p:txBody>
      </p:sp>
      <p:sp>
        <p:nvSpPr>
          <p:cNvPr id="5" name="Footer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/>
          <p:nvPr/>
        </p:nvSpPr>
        <p:spPr>
          <a:xfrm>
            <a:off x="548640" y="658368"/>
            <a:ext cx="1106424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 importance from a random forest</a:t>
            </a:r>
            <a:endParaRPr lang="en-US" sz="2900" dirty="0"/>
          </a:p>
        </p:txBody>
      </p:sp>
      <p:sp>
        <p:nvSpPr>
          <p:cNvPr id="4" name="Intro"/>
          <p:cNvSpPr/>
          <p:nvPr/>
        </p:nvSpPr>
        <p:spPr>
          <a:xfrm>
            <a:off x="548640" y="13868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number per gene: how much it helped the forest predict, summed across all trees. Two ways to measure it.</a:t>
            </a:r>
            <a:endParaRPr lang="en-US" sz="1500" dirty="0"/>
          </a:p>
        </p:txBody>
      </p:sp>
      <p:pic>
        <p:nvPicPr>
          <p:cNvPr id="20" name="RF importance diagra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11680"/>
            <a:ext cx="11064240" cy="3463065"/>
          </a:xfrm>
          <a:prstGeom prst="rect">
            <a:avLst/>
          </a:prstGeom>
        </p:spPr>
      </p:pic>
      <p:sp>
        <p:nvSpPr>
          <p:cNvPr id="21" name="Takeaway"/>
          <p:cNvSpPr/>
          <p:nvPr/>
        </p:nvSpPr>
        <p:spPr>
          <a:xfrm>
            <a:off x="548640" y="56388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it as a fast first look; reach for SHAP (Lecture 3) when the ranking actually drives a decision.</a:t>
            </a:r>
            <a:endParaRPr lang="en-US" sz="1400" dirty="0"/>
          </a:p>
        </p:txBody>
      </p:sp>
      <p:sp>
        <p:nvSpPr>
          <p:cNvPr id="5" name="Footer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329</TotalTime>
  <Words>3504</Words>
  <Application>Microsoft Macintosh PowerPoint</Application>
  <PresentationFormat>Widescreen</PresentationFormat>
  <Paragraphs>378</Paragraphs>
  <Slides>28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2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4 — Model Improvement, Validation, and Interpretation</dc:title>
  <dc:subject>PptxGenJS Presentation</dc:subject>
  <dc:creator>Practical ML for Transcriptomics in Cancer Research</dc:creator>
  <cp:lastModifiedBy>Zhan Yinxiu</cp:lastModifiedBy>
  <cp:revision>64</cp:revision>
  <dcterms:created xsi:type="dcterms:W3CDTF">2026-06-17T14:54:15Z</dcterms:created>
  <dcterms:modified xsi:type="dcterms:W3CDTF">2026-07-01T11:37:33Z</dcterms:modified>
</cp:coreProperties>
</file>