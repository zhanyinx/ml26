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262B"/>
                </a:solidFill>
                <a:latin typeface="Arial"/>
              </a:rPr>
              <a:t>same tuned model, two estimates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2772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2262B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Tuned, non-nested CV</c:v>
                </c:pt>
                <c:pt idx="1">
                  <c:v>Nested CV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</c:v>
                </c:pt>
                <c:pt idx="1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C2-1F40-80B5-97C8C3FC02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262B"/>
                </a:solidFill>
                <a:latin typeface="Arial"/>
              </a:rPr>
              <a:t>the same model, two cohorts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2262B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METABRIC (internal CV)</c:v>
                </c:pt>
                <c:pt idx="1">
                  <c:v>GSE6532 (external)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51-A14B-A39A-E848115B20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53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Frame the tension: students want fancier models; we'll honour that, but the lesson is that proving a model is better is harder than building a fancier one. A better algorithm is the easy part; a trustworthy estimate is the hard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Trustworthy problem (L1), model (L2), features (L3). You can build a biologically-informed baseline and you want to make it fancier. Today: more powerful families, proper tuning, and the validation that keeps them honest. Resist: 'more complex = better'.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Checklist ticked as we go. The two carrying the weight: nested cross-validation (why tuning inflates estimates) and batch correction done correctly (why models fail on new cohorts).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You own a validated baseline. The real question isn't 'can I build something fancier?' but 'can I SHOW it's better?' A complex model must EARN its complexity with validated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Compare on the same split/metrics/validation -- change only the model. A difference within CV noise is NOT an improvement. Prefer the simpler model unless the gain is real, validated,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 tree is a cascade of yes/no biological rules -- reads like clinical decision-making, very interpretable for ONE tree. But single trees are unstable (resample -&gt; different tree) and overfit without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Many trees on resampled data/features, voting. Averaging unstable trees -&gt; robust, lower-variance predictor. Free (caveated) importance. Limits: less interpretable, biased importances, not magic on small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Trees built sequentially, each correcting the last's mistakes. Often the strongest tabular predictor -- but the easiest to overfit and most tuning-sensitive. In p&gt;&gt;n with modest signal, its edge over a good baseline is often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Linear: interpretable, stable, strong in p&gt;&gt;n -- the default. RF: robust, low-tuning, weaker interpretability. GBM: highest ceiling, highest overfitting risk. Honest expectation: complex models rarely beat a good baseline by much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Parameters are learned FROM data during fitting (gene coefficients). Hyperparameters are set BEFORE fitting and control the model (depth, #trees, penalty C). You don't learn hyperparameters by fitting -- you search and must validate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Grid: every combination -- thorough but expensive. Random: sampled combinations -- often finds good values far cheaper. Every candidate scored by CV, never the test set. Cost explodes with #hyperparameters.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Every time you tune to the validation score, you use up its honesty. Tune hard enough and the score becomes optimistic -- you overfit the TUNING. The model never saw test data, yet the ESTIMATE is inflated. Fix is structural: nested 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k-fold rotates the held-out fold and averages. Everything data-dependent refits inside each fold. This estimates a FIXED modelling choice. But what if the choice (hyperparameters) was selected using the data?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Two loops: inner selects hyperparameters; outer estimates performance. The outer fold is never used to choose anything. Result: an honest estimate that INCLUDES the cost of tuning. Expensive but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Without it, tuned models report optimistic scores that don't replicate -- worst at small n, many hyperparameters, flexible models. Rule: if you tuned on it, you can't also report performance on it. Measured in the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 model can look great in-cohort and collapse on independent data. Usual culprit: technical variation between cohorts -- batch effects. Our setting: METABRIC (Illumina) vs GSE6532 (Affymetrix). Cross-cohort validation is the closest thing to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Systematic technical differences by platform/site/date/protocol -- not biology. Dangerous when larger than signal or correlated with outcome (confounding). PCA diagnoses, doesn't fix. The single biggest reason biomarkers don't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ComBat/RUV estimate and subtract batch effects -&gt; cohorts become comparable. Risk: aggressive correction removes real biology, or done wrong leaks the outcome. Pathway features (L3) are a gentler, more platform-robust alternative.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Cardinal rule: correction must not use the outcome and must respect the split. Estimate on train, apply same transform to held-out. Correcting everything together is leakage. If batch is perfectly confounded with outcome, no method can rescue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Three tools: coefficients, tree importance, SHAP. All answer 'what is the model USING?' -- none answer 'what CAUSES recurrence?'. Interpretation is for hypothesis generation and sanity-checking, not causal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Coefficients: direction+magnitude but scale/correlation-dependent. RF importance: biased, unstable. Correlated genes share/split importance. Always check stability across folds before believing a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SHAP attributes each prediction to its features -- a consistent per-patient explanation. Useful: shows HOW the model decided for an individual tumour. Limit: explains the MODEL, not the biology. Never present SHAP as mechanism/causation.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A predictive feature may be a bystander, a correlate of grade, or a batch artefact. Predictive value can be real &amp; useful WITHOUT a causal role -- but say so. Causal claims need interventional/causal-design evidence, not model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Random seeds: fix &amp; report. Pipelines: encapsulate preprocessing+model so it refits inside CV. Version control + environment capture. Notebook organisation &amp; experiment tracking: every number regenerable.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Irreproducible biomarkers have harmed patients and wasted trials (Duke/Potti). A result you can't regenerate is an anecdote. Reproducibility is self-defense: it catches your own leakage early. Reviewers increasingly require code + data +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Not the most complex, not the highest training score. The best model is robust, interpretable, reproducible, well-validated. Prefer the simplest model whose advantage survives honest (nested, cross-cohort)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Deliver the thesis. Three corollaries: gains are smaller than expected; validation errors do more damage than model choice; plausibility is not causation. This is where students graduate from building models to judging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Tick objectives. Practical: compare LR/RF/GBM on the same features; tune one with grid/random search; estimate honestly with nested CV; batch-correction experiment (METABRIC-&gt;GSE6532, with/without); interpret importances responsibly; choose a model for publication. Next: research-grade ML -- survival models, external validation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1005840" cy="0"/>
          </a:xfrm>
          <a:prstGeom prst="line">
            <a:avLst/>
          </a:prstGeom>
          <a:noFill/>
          <a:ln w="31750">
            <a:solidFill>
              <a:srgbClr val="14A6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960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241280" y="457200"/>
            <a:ext cx="384048" cy="457200"/>
          </a:xfrm>
          <a:prstGeom prst="triangle">
            <a:avLst/>
          </a:prstGeom>
          <a:solidFill>
            <a:srgbClr val="14A6B0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457200"/>
            <a:ext cx="384048" cy="457200"/>
          </a:xfrm>
          <a:prstGeom prst="triangle">
            <a:avLst/>
          </a:prstGeom>
          <a:solidFill>
            <a:srgbClr val="14A6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457200"/>
            <a:ext cx="384048" cy="457200"/>
          </a:xfrm>
          <a:prstGeom prst="triangle">
            <a:avLst/>
          </a:prstGeom>
          <a:solidFill>
            <a:srgbClr val="14A6B0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149840" y="960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69680" y="1737360"/>
            <a:ext cx="384048" cy="274320"/>
          </a:xfrm>
          <a:prstGeom prst="rect">
            <a:avLst/>
          </a:prstGeom>
          <a:solidFill>
            <a:srgbClr val="0E7C8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26880" y="1847088"/>
            <a:ext cx="384048" cy="274320"/>
          </a:xfrm>
          <a:prstGeom prst="rect">
            <a:avLst/>
          </a:prstGeom>
          <a:solidFill>
            <a:srgbClr val="0E7C86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1956816"/>
            <a:ext cx="384048" cy="274320"/>
          </a:xfrm>
          <a:prstGeom prst="rect">
            <a:avLst/>
          </a:prstGeom>
          <a:solidFill>
            <a:srgbClr val="0E7C86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2240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0" y="1828800"/>
            <a:ext cx="822960" cy="640080"/>
          </a:xfrm>
          <a:prstGeom prst="line">
            <a:avLst/>
          </a:prstGeom>
          <a:noFill/>
          <a:ln w="12700">
            <a:solidFill>
              <a:srgbClr val="DCED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0" y="2651760"/>
            <a:ext cx="1463040" cy="0"/>
          </a:xfrm>
          <a:prstGeom prst="line">
            <a:avLst/>
          </a:prstGeom>
          <a:noFill/>
          <a:ln w="25400">
            <a:solidFill>
              <a:srgbClr val="14A6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0" y="2651760"/>
            <a:ext cx="0" cy="457200"/>
          </a:xfrm>
          <a:prstGeom prst="line">
            <a:avLst/>
          </a:prstGeom>
          <a:noFill/>
          <a:ln w="25400">
            <a:solidFill>
              <a:srgbClr val="14A6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0" y="3063240"/>
            <a:ext cx="548640" cy="164592"/>
          </a:xfrm>
          <a:prstGeom prst="ellipse">
            <a:avLst/>
          </a:prstGeom>
          <a:solidFill>
            <a:srgbClr val="14A6B0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47120" y="3063240"/>
            <a:ext cx="548640" cy="164592"/>
          </a:xfrm>
          <a:prstGeom prst="ellipse">
            <a:avLst/>
          </a:prstGeom>
          <a:solidFill>
            <a:srgbClr val="14A6B0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1737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Improvement,</a:t>
            </a:r>
            <a:endParaRPr lang="en-US" sz="35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Validation, and Interpretation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Machine Learning for Transcriptomics in Cancer Research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4A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algorithm is the easy part. A trustworthy estimate is the hard part.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Yinxiu</a:t>
            </a:r>
            <a:r>
              <a:rPr lang="en-US" sz="12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Zhan · IEO/UNIMI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Recap, and the temptation we face today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1–3: trustworthy problem, trustworthy model, trustworthy features.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 a biologically-informed baseline — and you want to make it fancier.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more powerful model families, proper tuning, and the validation that keeps them honest.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temptation to resist: assuming a more complex model is automatically better.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10528" y="1984248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</p:sp>
      <p:sp>
        <p:nvSpPr>
          <p:cNvPr id="10" name="Text 7"/>
          <p:cNvSpPr/>
          <p:nvPr/>
        </p:nvSpPr>
        <p:spPr>
          <a:xfrm>
            <a:off x="651052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1783080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question → ML problem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715768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0528" y="2916936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</p:sp>
      <p:sp>
        <p:nvSpPr>
          <p:cNvPr id="14" name="Text 11"/>
          <p:cNvSpPr/>
          <p:nvPr/>
        </p:nvSpPr>
        <p:spPr>
          <a:xfrm>
            <a:off x="65105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40880" y="2715768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first model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09360" y="3648456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10528" y="3849624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</p:sp>
      <p:sp>
        <p:nvSpPr>
          <p:cNvPr id="18" name="Text 15"/>
          <p:cNvSpPr/>
          <p:nvPr/>
        </p:nvSpPr>
        <p:spPr>
          <a:xfrm>
            <a:off x="651052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40880" y="3648456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representation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09360" y="4581144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10528" y="478231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510528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40880" y="4581144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improvement &amp; validation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5513832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10528" y="5715000"/>
            <a:ext cx="365760" cy="365760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6" name="Text 23"/>
          <p:cNvSpPr/>
          <p:nvPr/>
        </p:nvSpPr>
        <p:spPr>
          <a:xfrm>
            <a:off x="6510528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040880" y="5513832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ML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75104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8288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families; when do trees help?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7860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724912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hyperparameters and tuning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28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3474720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33284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nested cross-validation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078224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4224528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4078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batch effects &amp; correction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09360" y="182880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1975104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49440" y="18288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outputs; prediction ≠ causation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309360" y="257860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92240" y="2724912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9" name="Text 26"/>
          <p:cNvSpPr/>
          <p:nvPr/>
        </p:nvSpPr>
        <p:spPr>
          <a:xfrm>
            <a:off x="649224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49440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reproducibility principles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309360" y="3328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92240" y="3474720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33" name="Text 30"/>
          <p:cNvSpPr/>
          <p:nvPr/>
        </p:nvSpPr>
        <p:spPr>
          <a:xfrm>
            <a:off x="649224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9440" y="33284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model on evidence, not complexity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309360" y="4078224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92240" y="4224528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37" name="Text 34"/>
          <p:cNvSpPr/>
          <p:nvPr/>
        </p:nvSpPr>
        <p:spPr>
          <a:xfrm>
            <a:off x="649224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949440" y="4078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field's common mistakes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WHEN IS A BASELINE NOT ENOUGH?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burden of proof is on complexity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have: Logistic Regression + biological features + honest cross-validation.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 not “can I build something fancier?” but “can I show it’s actually better?”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skepticism: a more complex model must earn its complexity with a validated gain.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“improvement” as a claim that requires evidence — not a default expectation.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052560" y="4572000"/>
            <a:ext cx="0" cy="0"/>
          </a:xfrm>
          <a:prstGeom prst="line">
            <a:avLst/>
          </a:prstGeom>
          <a:noFill/>
          <a:ln w="38100">
            <a:solidFill>
              <a:srgbClr val="5B6B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2880360"/>
            <a:ext cx="2926080" cy="0"/>
          </a:xfrm>
          <a:prstGeom prst="line">
            <a:avLst/>
          </a:prstGeom>
          <a:noFill/>
          <a:ln w="38100">
            <a:solidFill>
              <a:srgbClr val="5B6B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0" y="3017520"/>
            <a:ext cx="914400" cy="274320"/>
          </a:xfrm>
          <a:prstGeom prst="ellipse">
            <a:avLst/>
          </a:prstGeom>
          <a:solidFill>
            <a:srgbClr val="C2772B">
              <a:alpha val="9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132320" y="3337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966960" y="2560320"/>
            <a:ext cx="914400" cy="274320"/>
          </a:xfrm>
          <a:prstGeom prst="ellipse">
            <a:avLst/>
          </a:prstGeom>
          <a:solidFill>
            <a:srgbClr val="2E7D57">
              <a:alpha val="9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0" y="2880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must outweigh its cost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WHEN IS A BASELINE NOT ENOUGH?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 a model is “better”?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 the same split, the same metrics, the same validation — change only the model.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 within cross-validation noise is not an improvement.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the simpler model unless the gain is real, validated, and meaningful.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honest comparisons show smaller gaps than the literature implies.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0" y="2286000"/>
            <a:ext cx="4754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3156509"/>
            <a:ext cx="914400" cy="1461211"/>
          </a:xfrm>
          <a:prstGeom prst="rect">
            <a:avLst/>
          </a:prstGeom>
          <a:solidFill>
            <a:srgbClr val="0E7C86">
              <a:alpha val="45000"/>
            </a:srgbClr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0" y="3840480"/>
            <a:ext cx="9144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326880" y="2969971"/>
            <a:ext cx="914400" cy="1492301"/>
          </a:xfrm>
          <a:prstGeom prst="rect">
            <a:avLst/>
          </a:prstGeom>
          <a:solidFill>
            <a:srgbClr val="C2772B">
              <a:alpha val="45000"/>
            </a:srgbClr>
          </a:solidFill>
          <a:ln w="19050">
            <a:solidFill>
              <a:srgbClr val="C277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0" y="3653942"/>
            <a:ext cx="914400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 &gt; mean A — but the spreads overlap. Is it real?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 rot="16200000">
            <a:off x="626364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TREE-BASED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is a cascade of yes/no rules (“is proliferation score &gt; x?”).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clinical decision-making — highly interpretable for a single tree.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single trees are unstable: small data changes → a very different tree.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 overfit easily without constraints (depth, leaf size).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680960" y="210312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&gt; x?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310896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signalling &lt; y?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52560" y="31089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05256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41148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2DED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41148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 flipH="1">
            <a:off x="8138160" y="2613822"/>
            <a:ext cx="548640" cy="457200"/>
          </a:xfrm>
          <a:prstGeom prst="line">
            <a:avLst/>
          </a:prstGeom>
          <a:noFill/>
          <a:ln w="15240">
            <a:solidFill>
              <a:srgbClr val="5B6B7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0" y="2606040"/>
            <a:ext cx="457200" cy="502920"/>
          </a:xfrm>
          <a:prstGeom prst="line">
            <a:avLst/>
          </a:prstGeom>
          <a:noFill/>
          <a:ln w="15240">
            <a:solidFill>
              <a:srgbClr val="5B6B7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49440" y="3566160"/>
            <a:ext cx="0" cy="548640"/>
          </a:xfrm>
          <a:prstGeom prst="line">
            <a:avLst/>
          </a:prstGeom>
          <a:noFill/>
          <a:ln w="15240">
            <a:solidFill>
              <a:srgbClr val="5B6B7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3566160"/>
            <a:ext cx="548640" cy="548640"/>
          </a:xfrm>
          <a:prstGeom prst="line">
            <a:avLst/>
          </a:prstGeom>
          <a:noFill/>
          <a:ln w="15240">
            <a:solidFill>
              <a:srgbClr val="5B6B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0" y="261382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↙                                          ↘ no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TREE-BASED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grow many trees on resampled data and varied features; let them vote.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many unstable trees → a robust, lower-variance predictor.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feature-importance ranking “for free” (with caveats — Part 6).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less interpretable than one tree; importances biased; not magic on small 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0" y="2194560"/>
            <a:ext cx="640080" cy="731520"/>
          </a:xfrm>
          <a:prstGeom prst="triangle">
            <a:avLst/>
          </a:prstGeom>
          <a:solidFill>
            <a:srgbClr val="0E7C86">
              <a:alpha val="8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772400" y="2194560"/>
            <a:ext cx="640080" cy="731520"/>
          </a:xfrm>
          <a:prstGeom prst="triangle">
            <a:avLst/>
          </a:prstGeom>
          <a:solidFill>
            <a:srgbClr val="0E7C86">
              <a:alpha val="77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0" y="2194560"/>
            <a:ext cx="640080" cy="731520"/>
          </a:xfrm>
          <a:prstGeom prst="triangle">
            <a:avLst/>
          </a:prstGeom>
          <a:solidFill>
            <a:srgbClr val="0E7C86">
              <a:alpha val="69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0" y="3108960"/>
            <a:ext cx="640080" cy="731520"/>
          </a:xfrm>
          <a:prstGeom prst="triangle">
            <a:avLst/>
          </a:prstGeom>
          <a:solidFill>
            <a:srgbClr val="0E7C86">
              <a:alpha val="61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0" y="3108960"/>
            <a:ext cx="640080" cy="731520"/>
          </a:xfrm>
          <a:prstGeom prst="triangle">
            <a:avLst/>
          </a:prstGeom>
          <a:solidFill>
            <a:srgbClr val="0E7C86">
              <a:alpha val="53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0" y="3108960"/>
            <a:ext cx="640080" cy="731520"/>
          </a:xfrm>
          <a:prstGeom prst="triangle">
            <a:avLst/>
          </a:prstGeom>
          <a:solidFill>
            <a:srgbClr val="0E7C86">
              <a:alpha val="8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509760" y="3108960"/>
            <a:ext cx="822960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0424160" y="2697480"/>
            <a:ext cx="914400" cy="914400"/>
          </a:xfrm>
          <a:prstGeom prst="ellipse">
            <a:avLst/>
          </a:prstGeom>
          <a:solidFill>
            <a:srgbClr val="0B3B4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42416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unstable trees → one robust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TREE-BASED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build trees sequentially, each correcting the previous ones’ mistakes.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strongest tabular predictor — frequently wins benchmarks.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the easiest to overfit, and the most sensitive to tuning.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 ≫ n with modest signal, its edge over a good baseline is often small.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766560" y="4937760"/>
            <a:ext cx="548640" cy="502920"/>
          </a:xfrm>
          <a:prstGeom prst="triangle">
            <a:avLst/>
          </a:prstGeom>
          <a:solidFill>
            <a:srgbClr val="0E7C86">
              <a:alpha val="9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315200" y="5120640"/>
            <a:ext cx="228600" cy="0"/>
          </a:xfrm>
          <a:prstGeom prst="line">
            <a:avLst/>
          </a:prstGeom>
          <a:noFill/>
          <a:ln w="127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543800" y="4434840"/>
            <a:ext cx="548640" cy="502920"/>
          </a:xfrm>
          <a:prstGeom prst="triangle">
            <a:avLst/>
          </a:prstGeom>
          <a:solidFill>
            <a:srgbClr val="0E7C86">
              <a:alpha val="9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092440" y="4617720"/>
            <a:ext cx="228600" cy="0"/>
          </a:xfrm>
          <a:prstGeom prst="line">
            <a:avLst/>
          </a:prstGeom>
          <a:noFill/>
          <a:ln w="127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321040" y="3931920"/>
            <a:ext cx="548640" cy="502920"/>
          </a:xfrm>
          <a:prstGeom prst="triangle">
            <a:avLst/>
          </a:prstGeom>
          <a:solidFill>
            <a:srgbClr val="0E7C86">
              <a:alpha val="9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869680" y="4114800"/>
            <a:ext cx="228600" cy="0"/>
          </a:xfrm>
          <a:prstGeom prst="line">
            <a:avLst/>
          </a:prstGeom>
          <a:noFill/>
          <a:ln w="127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098280" y="3429000"/>
            <a:ext cx="548640" cy="502920"/>
          </a:xfrm>
          <a:prstGeom prst="triangle">
            <a:avLst/>
          </a:prstGeom>
          <a:solidFill>
            <a:srgbClr val="0E7C86">
              <a:alpha val="9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fixes the residual error of the last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692640" y="219456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701" name="curve"/>
          <p:cNvSpPr/>
          <p:nvPr/>
        </p:nvSpPr>
        <p:spPr>
          <a:xfrm>
            <a:off x="9752640" y="2380688"/>
            <a:ext cx="1627360" cy="961280"/>
          </a:xfrm>
          <a:custGeom>
            <a:avLst/>
            <a:gdLst/>
            <a:ahLst/>
            <a:cxnLst/>
            <a:rect l="0" t="0" r="0" b="0"/>
            <a:pathLst>
              <a:path w="1627360" h="961280">
                <a:moveTo>
                  <a:pt x="0" y="0"/>
                </a:moveTo>
                <a:lnTo>
                  <a:pt x="81368" y="48064"/>
                </a:lnTo>
                <a:lnTo>
                  <a:pt x="162736" y="96128"/>
                </a:lnTo>
                <a:lnTo>
                  <a:pt x="244104" y="144192"/>
                </a:lnTo>
                <a:lnTo>
                  <a:pt x="325472" y="192256"/>
                </a:lnTo>
                <a:lnTo>
                  <a:pt x="406840" y="240320"/>
                </a:lnTo>
                <a:lnTo>
                  <a:pt x="488208" y="288384"/>
                </a:lnTo>
                <a:lnTo>
                  <a:pt x="569576" y="336448"/>
                </a:lnTo>
                <a:lnTo>
                  <a:pt x="650944" y="384512"/>
                </a:lnTo>
                <a:lnTo>
                  <a:pt x="732312" y="432576"/>
                </a:lnTo>
                <a:lnTo>
                  <a:pt x="813680" y="480640"/>
                </a:lnTo>
                <a:lnTo>
                  <a:pt x="895048" y="528704"/>
                </a:lnTo>
                <a:lnTo>
                  <a:pt x="976416" y="576768"/>
                </a:lnTo>
                <a:lnTo>
                  <a:pt x="1057784" y="624832"/>
                </a:lnTo>
                <a:lnTo>
                  <a:pt x="1139152" y="672896"/>
                </a:lnTo>
                <a:lnTo>
                  <a:pt x="1220520" y="720960"/>
                </a:lnTo>
                <a:lnTo>
                  <a:pt x="1301888" y="769024"/>
                </a:lnTo>
                <a:lnTo>
                  <a:pt x="1383256" y="817088"/>
                </a:lnTo>
                <a:lnTo>
                  <a:pt x="1464624" y="865152"/>
                </a:lnTo>
                <a:lnTo>
                  <a:pt x="1545992" y="913216"/>
                </a:lnTo>
                <a:lnTo>
                  <a:pt x="1627360" y="961280"/>
                </a:lnTo>
              </a:path>
            </a:pathLst>
          </a:custGeom>
          <a:noFill/>
          <a:ln w="19050" cap="rnd">
            <a:solidFill>
              <a:srgbClr val="0E7C86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2" name="curve"/>
          <p:cNvSpPr/>
          <p:nvPr/>
        </p:nvSpPr>
        <p:spPr>
          <a:xfrm>
            <a:off x="9752640" y="2344640"/>
            <a:ext cx="1627360" cy="597195"/>
          </a:xfrm>
          <a:custGeom>
            <a:avLst/>
            <a:gdLst/>
            <a:ahLst/>
            <a:cxnLst/>
            <a:rect l="0" t="0" r="0" b="0"/>
            <a:pathLst>
              <a:path w="1627360" h="597195">
                <a:moveTo>
                  <a:pt x="0" y="0"/>
                </a:moveTo>
                <a:lnTo>
                  <a:pt x="81368" y="54672"/>
                </a:lnTo>
                <a:lnTo>
                  <a:pt x="162736" y="130523"/>
                </a:lnTo>
                <a:lnTo>
                  <a:pt x="244104" y="200667"/>
                </a:lnTo>
                <a:lnTo>
                  <a:pt x="325472" y="265103"/>
                </a:lnTo>
                <a:lnTo>
                  <a:pt x="406840" y="323831"/>
                </a:lnTo>
                <a:lnTo>
                  <a:pt x="488208" y="376851"/>
                </a:lnTo>
                <a:lnTo>
                  <a:pt x="569576" y="424164"/>
                </a:lnTo>
                <a:lnTo>
                  <a:pt x="650944" y="465770"/>
                </a:lnTo>
                <a:lnTo>
                  <a:pt x="732312" y="501668"/>
                </a:lnTo>
                <a:lnTo>
                  <a:pt x="813680" y="531858"/>
                </a:lnTo>
                <a:lnTo>
                  <a:pt x="895048" y="556340"/>
                </a:lnTo>
                <a:lnTo>
                  <a:pt x="976416" y="575115"/>
                </a:lnTo>
                <a:lnTo>
                  <a:pt x="1057784" y="588183"/>
                </a:lnTo>
                <a:lnTo>
                  <a:pt x="1139152" y="595543"/>
                </a:lnTo>
                <a:lnTo>
                  <a:pt x="1220520" y="597195"/>
                </a:lnTo>
                <a:lnTo>
                  <a:pt x="1301888" y="593139"/>
                </a:lnTo>
                <a:lnTo>
                  <a:pt x="1383256" y="583376"/>
                </a:lnTo>
                <a:lnTo>
                  <a:pt x="1464624" y="567906"/>
                </a:lnTo>
                <a:lnTo>
                  <a:pt x="1545992" y="546728"/>
                </a:lnTo>
                <a:lnTo>
                  <a:pt x="1627360" y="519842"/>
                </a:lnTo>
              </a:path>
            </a:pathLst>
          </a:custGeom>
          <a:noFill/>
          <a:ln w="19050" cap="rnd">
            <a:solidFill>
              <a:srgbClr val="C2772B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69264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↓ / val ↑ (overfit)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TREE-BASED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family, when?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468880" cy="658368"/>
          </a:xfrm>
          <a:prstGeom prst="rect">
            <a:avLst/>
          </a:prstGeom>
          <a:solidFill>
            <a:srgbClr val="0B3B40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0116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17520" y="2011680"/>
            <a:ext cx="2194560" cy="658368"/>
          </a:xfrm>
          <a:prstGeom prst="rect">
            <a:avLst/>
          </a:prstGeom>
          <a:solidFill>
            <a:srgbClr val="0B3B40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20116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2011680"/>
            <a:ext cx="1828800" cy="658368"/>
          </a:xfrm>
          <a:prstGeom prst="rect">
            <a:avLst/>
          </a:prstGeom>
          <a:solidFill>
            <a:srgbClr val="0B3B40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20116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40880" y="2011680"/>
            <a:ext cx="2011680" cy="658368"/>
          </a:xfrm>
          <a:prstGeom prst="rect">
            <a:avLst/>
          </a:prstGeom>
          <a:solidFill>
            <a:srgbClr val="0B3B40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2011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burden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52560" y="2011680"/>
            <a:ext cx="2560320" cy="658368"/>
          </a:xfrm>
          <a:prstGeom prst="rect">
            <a:avLst/>
          </a:prstGeom>
          <a:solidFill>
            <a:srgbClr val="0B3B40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98280" y="20116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edge (p ≫ 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2670048"/>
            <a:ext cx="2468880" cy="658368"/>
          </a:xfrm>
          <a:prstGeom prst="rect">
            <a:avLst/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26700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LR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017520" y="2670048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63240" y="26700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12080" y="2670048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26700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40880" y="2670048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86600" y="26700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052560" y="2670048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98280" y="2670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(the baseline)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3328416"/>
            <a:ext cx="2468880" cy="658368"/>
          </a:xfrm>
          <a:prstGeom prst="rect">
            <a:avLst/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33284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017520" y="3328416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63240" y="33284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212080" y="33284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57800" y="33284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040880" y="332841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086600" y="33284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052560" y="3328416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98280" y="33284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3986784"/>
            <a:ext cx="2468880" cy="658368"/>
          </a:xfrm>
          <a:prstGeom prst="rect">
            <a:avLst/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39867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017520" y="3986784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063240" y="39867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212080" y="3986784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57800" y="39867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040880" y="3986784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39867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9052560" y="3986784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098280" y="3986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(high risk)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expectation: complex models rarely beat a good biologically-informed baseline by much.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HYPERPARAMETER OPTIMISATION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vs hyperparameters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learned from the data during fitting (e.g. gene coefficients).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are set before fitting and control the model (tree depth, #trees, penalty C).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learn hyperparameters by fitting — you search for good ones and must validate honestly.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this wrong is the root of a major validation error (Part 4).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675120" y="228600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data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(parameters)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 coefficients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tree split thresholds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235440" y="228600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6E9D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2354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BEFORE fitting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2354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(hyperparameters)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41832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tree depth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number of trees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penalty strength 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89720" y="3474720"/>
            <a:ext cx="0" cy="0"/>
          </a:xfrm>
          <a:prstGeom prst="line">
            <a:avLst/>
          </a:prstGeom>
          <a:noFill/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HYPERPARAMETER OPTIMISATION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and random search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try every combination on a predefined grid — thorough but expensive.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search: sample combinations at random — often finds good values far cheaper.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is scored by cross-validation, never on the final test set.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 explodes with the number of hyperparameters.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766560" y="2377440"/>
            <a:ext cx="21945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138160" y="2651760"/>
            <a:ext cx="731520" cy="914400"/>
          </a:xfrm>
          <a:prstGeom prst="ellipse">
            <a:avLst/>
          </a:prstGeom>
          <a:solidFill>
            <a:srgbClr val="2E7D57">
              <a:alpha val="3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040880" y="265176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Shape 9"/>
          <p:cNvSpPr/>
          <p:nvPr/>
        </p:nvSpPr>
        <p:spPr>
          <a:xfrm>
            <a:off x="7040880" y="315468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Shape 10"/>
          <p:cNvSpPr/>
          <p:nvPr/>
        </p:nvSpPr>
        <p:spPr>
          <a:xfrm>
            <a:off x="7040880" y="365760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Shape 11"/>
          <p:cNvSpPr/>
          <p:nvPr/>
        </p:nvSpPr>
        <p:spPr>
          <a:xfrm>
            <a:off x="7040880" y="416052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Shape 12"/>
          <p:cNvSpPr/>
          <p:nvPr/>
        </p:nvSpPr>
        <p:spPr>
          <a:xfrm>
            <a:off x="7543800" y="265176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Shape 13"/>
          <p:cNvSpPr/>
          <p:nvPr/>
        </p:nvSpPr>
        <p:spPr>
          <a:xfrm>
            <a:off x="7543800" y="315468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Shape 14"/>
          <p:cNvSpPr/>
          <p:nvPr/>
        </p:nvSpPr>
        <p:spPr>
          <a:xfrm>
            <a:off x="7543800" y="365760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Shape 15"/>
          <p:cNvSpPr/>
          <p:nvPr/>
        </p:nvSpPr>
        <p:spPr>
          <a:xfrm>
            <a:off x="7543800" y="416052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Shape 16"/>
          <p:cNvSpPr/>
          <p:nvPr/>
        </p:nvSpPr>
        <p:spPr>
          <a:xfrm>
            <a:off x="8046720" y="265176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Shape 17"/>
          <p:cNvSpPr/>
          <p:nvPr/>
        </p:nvSpPr>
        <p:spPr>
          <a:xfrm>
            <a:off x="8046720" y="315468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Shape 18"/>
          <p:cNvSpPr/>
          <p:nvPr/>
        </p:nvSpPr>
        <p:spPr>
          <a:xfrm>
            <a:off x="8046720" y="365760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Shape 19"/>
          <p:cNvSpPr/>
          <p:nvPr/>
        </p:nvSpPr>
        <p:spPr>
          <a:xfrm>
            <a:off x="8046720" y="416052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Shape 20"/>
          <p:cNvSpPr/>
          <p:nvPr/>
        </p:nvSpPr>
        <p:spPr>
          <a:xfrm>
            <a:off x="8549640" y="265176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49640" y="315468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Shape 22"/>
          <p:cNvSpPr/>
          <p:nvPr/>
        </p:nvSpPr>
        <p:spPr>
          <a:xfrm>
            <a:off x="8549640" y="365760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Shape 23"/>
          <p:cNvSpPr/>
          <p:nvPr/>
        </p:nvSpPr>
        <p:spPr>
          <a:xfrm>
            <a:off x="8549640" y="416052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Shape 24"/>
          <p:cNvSpPr/>
          <p:nvPr/>
        </p:nvSpPr>
        <p:spPr>
          <a:xfrm>
            <a:off x="9235440" y="2377440"/>
            <a:ext cx="21945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3544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607040" y="2651760"/>
            <a:ext cx="731520" cy="914400"/>
          </a:xfrm>
          <a:prstGeom prst="ellipse">
            <a:avLst/>
          </a:prstGeom>
          <a:solidFill>
            <a:srgbClr val="2E7D57">
              <a:alpha val="3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0501341" y="3134980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1" name="Shape 28"/>
          <p:cNvSpPr/>
          <p:nvPr/>
        </p:nvSpPr>
        <p:spPr>
          <a:xfrm>
            <a:off x="10406196" y="4455773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2" name="Shape 29"/>
          <p:cNvSpPr/>
          <p:nvPr/>
        </p:nvSpPr>
        <p:spPr>
          <a:xfrm>
            <a:off x="10631868" y="3576517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3" name="Shape 30"/>
          <p:cNvSpPr/>
          <p:nvPr/>
        </p:nvSpPr>
        <p:spPr>
          <a:xfrm>
            <a:off x="10975358" y="4317967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4" name="Shape 31"/>
          <p:cNvSpPr/>
          <p:nvPr/>
        </p:nvSpPr>
        <p:spPr>
          <a:xfrm>
            <a:off x="9593577" y="4475516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5" name="Shape 32"/>
          <p:cNvSpPr/>
          <p:nvPr/>
        </p:nvSpPr>
        <p:spPr>
          <a:xfrm>
            <a:off x="9828249" y="2931607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6" name="Shape 33"/>
          <p:cNvSpPr/>
          <p:nvPr/>
        </p:nvSpPr>
        <p:spPr>
          <a:xfrm>
            <a:off x="11188822" y="2673680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7" name="Shape 34"/>
          <p:cNvSpPr/>
          <p:nvPr/>
        </p:nvSpPr>
        <p:spPr>
          <a:xfrm>
            <a:off x="10131298" y="2618414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8" name="Shape 35"/>
          <p:cNvSpPr/>
          <p:nvPr/>
        </p:nvSpPr>
        <p:spPr>
          <a:xfrm>
            <a:off x="9589119" y="3853955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9" name="Shape 36"/>
          <p:cNvSpPr/>
          <p:nvPr/>
        </p:nvSpPr>
        <p:spPr>
          <a:xfrm>
            <a:off x="11069384" y="4114906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0" name="Shape 37"/>
          <p:cNvSpPr/>
          <p:nvPr/>
        </p:nvSpPr>
        <p:spPr>
          <a:xfrm>
            <a:off x="10751812" y="2682664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1" name="Shape 38"/>
          <p:cNvSpPr/>
          <p:nvPr/>
        </p:nvSpPr>
        <p:spPr>
          <a:xfrm>
            <a:off x="10537935" y="3512679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2" name="Shape 39"/>
          <p:cNvSpPr/>
          <p:nvPr/>
        </p:nvSpPr>
        <p:spPr>
          <a:xfrm>
            <a:off x="9818285" y="4273787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3" name="Shape 40"/>
          <p:cNvSpPr/>
          <p:nvPr/>
        </p:nvSpPr>
        <p:spPr>
          <a:xfrm>
            <a:off x="9583767" y="4101759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4" name="Shape 41"/>
          <p:cNvSpPr/>
          <p:nvPr/>
        </p:nvSpPr>
        <p:spPr>
          <a:xfrm>
            <a:off x="9718293" y="2612561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5" name="Shape 42"/>
          <p:cNvSpPr/>
          <p:nvPr/>
        </p:nvSpPr>
        <p:spPr>
          <a:xfrm>
            <a:off x="10708838" y="3978970"/>
            <a:ext cx="109728" cy="10972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6" name="Text 43"/>
          <p:cNvSpPr/>
          <p:nvPr/>
        </p:nvSpPr>
        <p:spPr>
          <a:xfrm>
            <a:off x="6766560" y="5120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budget, better coverage of what matters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HYPERPARAMETER OPTIMISATION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danger hiding in tuning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tune to the validation score, you “use up” a little of its honesty.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hard enough and your validation score becomes optimistic — you’ve overfit the tuning.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Subtle: the model never saw the test data, yet your estimate is still inflated.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structural, not trying harder — enter nested cross-validation.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0" y="2377440"/>
            <a:ext cx="4754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59168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34656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10144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85632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0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436608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12096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387584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863072" y="3611880"/>
            <a:ext cx="475488" cy="0"/>
          </a:xfrm>
          <a:prstGeom prst="line">
            <a:avLst/>
          </a:prstGeom>
          <a:noFill/>
          <a:ln w="31750">
            <a:solidFill>
              <a:srgbClr val="5B6B7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3886200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59168" y="3776472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34656" y="3666744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0144" y="3557016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85632" y="3447288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61120" y="3337560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36608" y="3227832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912096" y="3118104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87584" y="3008376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863072" y="2898648"/>
            <a:ext cx="475488" cy="0"/>
          </a:xfrm>
          <a:prstGeom prst="line">
            <a:avLst/>
          </a:prstGeom>
          <a:noFill/>
          <a:ln w="31750">
            <a:solidFill>
              <a:srgbClr val="C277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6112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validation score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76656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performance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58368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tuning effort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60120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optimism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VALIDATION BEYOND SIMPLE CV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review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CV: rotate the held-out fold, average — a more stable estimate than one split.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data-dependent (scaling, selection) refits inside each fold (Lectures 2–3).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estimates performance for a fixed modelling choice.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if the modelling choice itself (the hyperparameters) was selected using the data?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766560" y="2377440"/>
            <a:ext cx="841248" cy="457200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672" y="2377440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58784" y="2377440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54896" y="2377440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51008" y="2377440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2944368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62672" y="2944368"/>
            <a:ext cx="841248" cy="457200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58784" y="2944368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454896" y="2944368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351008" y="2944368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3511296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62672" y="3511296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58784" y="3511296"/>
            <a:ext cx="841248" cy="457200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454896" y="3511296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351008" y="3511296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4078224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62672" y="4078224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58784" y="4078224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454896" y="4078224"/>
            <a:ext cx="841248" cy="457200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51008" y="4078224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66560" y="4645152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62672" y="4645152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58784" y="4645152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54896" y="4645152"/>
            <a:ext cx="841248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351008" y="4645152"/>
            <a:ext cx="841248" cy="457200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6656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row: 4 training folds + 1 held-out (amber)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VALIDATION BEYOND SIMPLE CV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cross-validation (the concept)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loops: an inner loop selects hyperparameters; an outer loop estimates performance.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fold is never used to choose anything — it only judges the finished, tuned model.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 honest performance estimate that includes the cost of tuning.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but the correct way to report tuned-model performance.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OUTER: estimate performance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560320"/>
            <a:ext cx="960120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42048" y="2560320"/>
            <a:ext cx="960120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66176" y="2560320"/>
            <a:ext cx="960120" cy="457200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90304" y="2560320"/>
            <a:ext cx="960120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314432" y="2560320"/>
            <a:ext cx="960120" cy="457200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66176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outer fold → judges only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675120" y="3035808"/>
            <a:ext cx="0" cy="457200"/>
          </a:xfrm>
          <a:prstGeom prst="line">
            <a:avLst/>
          </a:prstGeom>
          <a:noFill/>
          <a:ln w="127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7920" y="352044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3657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INNER: select hyperparameters (on outer-training folds)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4069080"/>
            <a:ext cx="868680" cy="310896"/>
          </a:xfrm>
          <a:prstGeom prst="rect">
            <a:avLst/>
          </a:prstGeom>
          <a:solidFill>
            <a:srgbClr val="14A6B0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0" y="406908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0" y="406908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6880" y="406908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0" y="445312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0" y="4453128"/>
            <a:ext cx="868680" cy="310896"/>
          </a:xfrm>
          <a:prstGeom prst="rect">
            <a:avLst/>
          </a:prstGeom>
          <a:solidFill>
            <a:srgbClr val="14A6B0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12480" y="445312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26880" y="445312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0" y="483717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98080" y="483717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0" y="4837176"/>
            <a:ext cx="868680" cy="310896"/>
          </a:xfrm>
          <a:prstGeom prst="rect">
            <a:avLst/>
          </a:prstGeom>
          <a:solidFill>
            <a:srgbClr val="14A6B0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26880" y="483717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52212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98080" y="52212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12480" y="52212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326880" y="5221224"/>
            <a:ext cx="868680" cy="310896"/>
          </a:xfrm>
          <a:prstGeom prst="rect">
            <a:avLst/>
          </a:prstGeom>
          <a:solidFill>
            <a:srgbClr val="14A6B0"/>
          </a:solidFill>
          <a:ln w="6350">
            <a:solidFill>
              <a:srgbClr val="C9D7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0" y="5897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CV chooses the best configuration; outer fold never sees it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VALIDATION BEYOND SIMPLE CV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nested CV matters in practice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tuned models report optimistic scores that don’t replicate.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inflation is largest exactly where we work: small n, many hyperparameters, flexible models.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 tuned on it, you cannot also report performance on it.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has you measure the optimism gap (flat CV vs nested CV) yourself.</a:t>
            </a:r>
            <a:endParaRPr lang="en-US" sz="15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583680" y="228600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6583680" y="5577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tuning optimism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BATCH EFFECTS AND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models fail on new cohorts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look great in-cohort and collapse on an independent dataset.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culprit: technical variation between cohorts — batch effects (Lecture 1).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setting: METABRIC (Illumina) vs GSE6532 (Affymetrix) — different platforms, real batch.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Cross-cohort validation is the closest thing to truth before a clinical trial.</a:t>
            </a:r>
            <a:endParaRPr lang="en-US" sz="15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583680" y="228600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6583680" y="5577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in-cohort CV does not predict cross-platform transfer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BATCH EFFECTS AND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effects, revisited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technical differences by platform, site, date, or protocol — not biology.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when larger than the signal, or correlated with outcome (confounding).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(not fixed) by PCA: do samples cluster by batch instead of biology?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reason transcriptomic biomarkers don’t transfer.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0" y="2377440"/>
            <a:ext cx="43891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31262" y="3942114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0" name="Shape 7"/>
          <p:cNvSpPr/>
          <p:nvPr/>
        </p:nvSpPr>
        <p:spPr>
          <a:xfrm>
            <a:off x="10538746" y="4309493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Shape 8"/>
          <p:cNvSpPr/>
          <p:nvPr/>
        </p:nvSpPr>
        <p:spPr>
          <a:xfrm>
            <a:off x="8221384" y="2816371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2" name="Shape 9"/>
          <p:cNvSpPr/>
          <p:nvPr/>
        </p:nvSpPr>
        <p:spPr>
          <a:xfrm>
            <a:off x="10659874" y="3645298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Shape 10"/>
          <p:cNvSpPr/>
          <p:nvPr/>
        </p:nvSpPr>
        <p:spPr>
          <a:xfrm>
            <a:off x="7465302" y="3974701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9828670" y="3093489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Shape 12"/>
          <p:cNvSpPr/>
          <p:nvPr/>
        </p:nvSpPr>
        <p:spPr>
          <a:xfrm>
            <a:off x="8014842" y="4068020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6" name="Shape 13"/>
          <p:cNvSpPr/>
          <p:nvPr/>
        </p:nvSpPr>
        <p:spPr>
          <a:xfrm>
            <a:off x="10344640" y="4145911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Shape 14"/>
          <p:cNvSpPr/>
          <p:nvPr/>
        </p:nvSpPr>
        <p:spPr>
          <a:xfrm>
            <a:off x="8018097" y="4417437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8" name="Shape 15"/>
          <p:cNvSpPr/>
          <p:nvPr/>
        </p:nvSpPr>
        <p:spPr>
          <a:xfrm>
            <a:off x="9637062" y="4249438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Shape 16"/>
          <p:cNvSpPr/>
          <p:nvPr/>
        </p:nvSpPr>
        <p:spPr>
          <a:xfrm>
            <a:off x="7731407" y="3186835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0" name="Shape 17"/>
          <p:cNvSpPr/>
          <p:nvPr/>
        </p:nvSpPr>
        <p:spPr>
          <a:xfrm>
            <a:off x="9641438" y="412266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Shape 18"/>
          <p:cNvSpPr/>
          <p:nvPr/>
        </p:nvSpPr>
        <p:spPr>
          <a:xfrm>
            <a:off x="7900292" y="3052437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2" name="Shape 19"/>
          <p:cNvSpPr/>
          <p:nvPr/>
        </p:nvSpPr>
        <p:spPr>
          <a:xfrm>
            <a:off x="10072821" y="3371925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Shape 20"/>
          <p:cNvSpPr/>
          <p:nvPr/>
        </p:nvSpPr>
        <p:spPr>
          <a:xfrm>
            <a:off x="8211752" y="3876114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4" name="Shape 21"/>
          <p:cNvSpPr/>
          <p:nvPr/>
        </p:nvSpPr>
        <p:spPr>
          <a:xfrm>
            <a:off x="10454461" y="3243191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Shape 22"/>
          <p:cNvSpPr/>
          <p:nvPr/>
        </p:nvSpPr>
        <p:spPr>
          <a:xfrm>
            <a:off x="8239089" y="4635712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6" name="Shape 23"/>
          <p:cNvSpPr/>
          <p:nvPr/>
        </p:nvSpPr>
        <p:spPr>
          <a:xfrm>
            <a:off x="10127355" y="4363201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Shape 24"/>
          <p:cNvSpPr/>
          <p:nvPr/>
        </p:nvSpPr>
        <p:spPr>
          <a:xfrm>
            <a:off x="7743806" y="3147178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8" name="Shape 25"/>
          <p:cNvSpPr/>
          <p:nvPr/>
        </p:nvSpPr>
        <p:spPr>
          <a:xfrm>
            <a:off x="10244239" y="4387954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Shape 26"/>
          <p:cNvSpPr/>
          <p:nvPr/>
        </p:nvSpPr>
        <p:spPr>
          <a:xfrm>
            <a:off x="8009389" y="3230129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0" name="Shape 27"/>
          <p:cNvSpPr/>
          <p:nvPr/>
        </p:nvSpPr>
        <p:spPr>
          <a:xfrm>
            <a:off x="10561392" y="4772665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Shape 28"/>
          <p:cNvSpPr/>
          <p:nvPr/>
        </p:nvSpPr>
        <p:spPr>
          <a:xfrm>
            <a:off x="7476915" y="4176101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2" name="Shape 29"/>
          <p:cNvSpPr/>
          <p:nvPr/>
        </p:nvSpPr>
        <p:spPr>
          <a:xfrm>
            <a:off x="10311105" y="3575285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3" name="Shape 30"/>
          <p:cNvSpPr/>
          <p:nvPr/>
        </p:nvSpPr>
        <p:spPr>
          <a:xfrm>
            <a:off x="8299364" y="3560888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4" name="Shape 31"/>
          <p:cNvSpPr/>
          <p:nvPr/>
        </p:nvSpPr>
        <p:spPr>
          <a:xfrm>
            <a:off x="10185172" y="3126121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5" name="Shape 32"/>
          <p:cNvSpPr/>
          <p:nvPr/>
        </p:nvSpPr>
        <p:spPr>
          <a:xfrm>
            <a:off x="7768092" y="2822141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6" name="Shape 33"/>
          <p:cNvSpPr/>
          <p:nvPr/>
        </p:nvSpPr>
        <p:spPr>
          <a:xfrm>
            <a:off x="10259342" y="486945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7" name="Shape 34"/>
          <p:cNvSpPr/>
          <p:nvPr/>
        </p:nvSpPr>
        <p:spPr>
          <a:xfrm>
            <a:off x="7560865" y="4858784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8" name="Shape 35"/>
          <p:cNvSpPr/>
          <p:nvPr/>
        </p:nvSpPr>
        <p:spPr>
          <a:xfrm>
            <a:off x="9886275" y="4264835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9" name="Shape 36"/>
          <p:cNvSpPr/>
          <p:nvPr/>
        </p:nvSpPr>
        <p:spPr>
          <a:xfrm>
            <a:off x="7437830" y="3179625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0" name="Shape 37"/>
          <p:cNvSpPr/>
          <p:nvPr/>
        </p:nvSpPr>
        <p:spPr>
          <a:xfrm>
            <a:off x="10238071" y="3142467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1" name="Shape 38"/>
          <p:cNvSpPr/>
          <p:nvPr/>
        </p:nvSpPr>
        <p:spPr>
          <a:xfrm>
            <a:off x="7691115" y="3877214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2" name="Shape 39"/>
          <p:cNvSpPr/>
          <p:nvPr/>
        </p:nvSpPr>
        <p:spPr>
          <a:xfrm>
            <a:off x="9530520" y="3327383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3" name="Shape 40"/>
          <p:cNvSpPr/>
          <p:nvPr/>
        </p:nvSpPr>
        <p:spPr>
          <a:xfrm>
            <a:off x="7549790" y="3069338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4" name="Shape 41"/>
          <p:cNvSpPr/>
          <p:nvPr/>
        </p:nvSpPr>
        <p:spPr>
          <a:xfrm>
            <a:off x="10412368" y="3492643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5" name="Shape 42"/>
          <p:cNvSpPr/>
          <p:nvPr/>
        </p:nvSpPr>
        <p:spPr>
          <a:xfrm>
            <a:off x="8144673" y="3171623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6" name="Shape 43"/>
          <p:cNvSpPr/>
          <p:nvPr/>
        </p:nvSpPr>
        <p:spPr>
          <a:xfrm>
            <a:off x="9694432" y="3882189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7" name="Shape 44"/>
          <p:cNvSpPr/>
          <p:nvPr/>
        </p:nvSpPr>
        <p:spPr>
          <a:xfrm>
            <a:off x="7914155" y="4648026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8" name="Shape 45"/>
          <p:cNvSpPr/>
          <p:nvPr/>
        </p:nvSpPr>
        <p:spPr>
          <a:xfrm>
            <a:off x="10083847" y="4873347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9" name="Shape 46"/>
          <p:cNvSpPr/>
          <p:nvPr/>
        </p:nvSpPr>
        <p:spPr>
          <a:xfrm>
            <a:off x="7628248" y="2775989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0" name="Shape 47"/>
          <p:cNvSpPr/>
          <p:nvPr/>
        </p:nvSpPr>
        <p:spPr>
          <a:xfrm>
            <a:off x="9628382" y="3023221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1" name="Shape 48"/>
          <p:cNvSpPr/>
          <p:nvPr/>
        </p:nvSpPr>
        <p:spPr>
          <a:xfrm>
            <a:off x="8085430" y="4457422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2" name="Shape 49"/>
          <p:cNvSpPr/>
          <p:nvPr/>
        </p:nvSpPr>
        <p:spPr>
          <a:xfrm>
            <a:off x="9964470" y="399046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3" name="Shape 50"/>
          <p:cNvSpPr/>
          <p:nvPr/>
        </p:nvSpPr>
        <p:spPr>
          <a:xfrm>
            <a:off x="7823277" y="4773328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4" name="Shape 51"/>
          <p:cNvSpPr/>
          <p:nvPr/>
        </p:nvSpPr>
        <p:spPr>
          <a:xfrm>
            <a:off x="10349955" y="3837124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5" name="Shape 52"/>
          <p:cNvSpPr/>
          <p:nvPr/>
        </p:nvSpPr>
        <p:spPr>
          <a:xfrm>
            <a:off x="8336583" y="4298354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6" name="Shape 53"/>
          <p:cNvSpPr/>
          <p:nvPr/>
        </p:nvSpPr>
        <p:spPr>
          <a:xfrm>
            <a:off x="10270624" y="4686165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7" name="Shape 54"/>
          <p:cNvSpPr/>
          <p:nvPr/>
        </p:nvSpPr>
        <p:spPr>
          <a:xfrm>
            <a:off x="8020274" y="4111563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8" name="Shape 55"/>
          <p:cNvSpPr/>
          <p:nvPr/>
        </p:nvSpPr>
        <p:spPr>
          <a:xfrm>
            <a:off x="9542482" y="2978928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9" name="Shape 56"/>
          <p:cNvSpPr/>
          <p:nvPr/>
        </p:nvSpPr>
        <p:spPr>
          <a:xfrm>
            <a:off x="8388732" y="3411951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0" name="Shape 57"/>
          <p:cNvSpPr/>
          <p:nvPr/>
        </p:nvSpPr>
        <p:spPr>
          <a:xfrm>
            <a:off x="9915947" y="4589205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1" name="Shape 58"/>
          <p:cNvSpPr/>
          <p:nvPr/>
        </p:nvSpPr>
        <p:spPr>
          <a:xfrm>
            <a:off x="8393199" y="3509547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2" name="Shape 59"/>
          <p:cNvSpPr/>
          <p:nvPr/>
        </p:nvSpPr>
        <p:spPr>
          <a:xfrm>
            <a:off x="9748503" y="4421187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3" name="Shape 60"/>
          <p:cNvSpPr/>
          <p:nvPr/>
        </p:nvSpPr>
        <p:spPr>
          <a:xfrm>
            <a:off x="8122931" y="3622614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4" name="Shape 61"/>
          <p:cNvSpPr/>
          <p:nvPr/>
        </p:nvSpPr>
        <p:spPr>
          <a:xfrm>
            <a:off x="9562940" y="291831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5" name="Shape 62"/>
          <p:cNvSpPr/>
          <p:nvPr/>
        </p:nvSpPr>
        <p:spPr>
          <a:xfrm>
            <a:off x="7481286" y="2877101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6" name="Shape 63"/>
          <p:cNvSpPr/>
          <p:nvPr/>
        </p:nvSpPr>
        <p:spPr>
          <a:xfrm>
            <a:off x="10211854" y="354563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7" name="Shape 64"/>
          <p:cNvSpPr/>
          <p:nvPr/>
        </p:nvSpPr>
        <p:spPr>
          <a:xfrm>
            <a:off x="8392848" y="3751092"/>
            <a:ext cx="118872" cy="118872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8" name="Shape 65"/>
          <p:cNvSpPr/>
          <p:nvPr/>
        </p:nvSpPr>
        <p:spPr>
          <a:xfrm>
            <a:off x="9969257" y="3843803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80" name="PC2 label"/>
          <p:cNvSpPr/>
          <p:nvPr/>
        </p:nvSpPr>
        <p:spPr>
          <a:xfrm rot="-5400000">
            <a:off x="6448000" y="3611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</a:rPr>
              <a:t>↑ PC2</a:t>
            </a:r>
          </a:p>
        </p:txBody>
      </p:sp>
      <p:sp>
        <p:nvSpPr>
          <p:cNvPr id="69" name="Text 66"/>
          <p:cNvSpPr/>
          <p:nvPr/>
        </p:nvSpPr>
        <p:spPr>
          <a:xfrm>
            <a:off x="685800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→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685800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  </a:t>
            </a: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Affymetrix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6858000" y="5029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by platform, not biology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BATCH EFFECTS AND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correction: ComBat and friends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and “remove unwanted variation” methods estimate and subtract batch effects.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cohorts become comparable; cross-platform models can work.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aggressive correction can remove real biology — or, done wrong, leak the outcome.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features (Lecture 3) are a gentler, more platform-robust alternative.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0" y="36576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batch-separated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74151" y="4875206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1" name="Shape 8"/>
          <p:cNvSpPr/>
          <p:nvPr/>
        </p:nvSpPr>
        <p:spPr>
          <a:xfrm>
            <a:off x="8252637" y="391625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Shape 9"/>
          <p:cNvSpPr/>
          <p:nvPr/>
        </p:nvSpPr>
        <p:spPr>
          <a:xfrm>
            <a:off x="6999197" y="5387036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3" name="Shape 10"/>
          <p:cNvSpPr/>
          <p:nvPr/>
        </p:nvSpPr>
        <p:spPr>
          <a:xfrm>
            <a:off x="8679496" y="4379307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Shape 11"/>
          <p:cNvSpPr/>
          <p:nvPr/>
        </p:nvSpPr>
        <p:spPr>
          <a:xfrm>
            <a:off x="6888013" y="5068471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5" name="Shape 12"/>
          <p:cNvSpPr/>
          <p:nvPr/>
        </p:nvSpPr>
        <p:spPr>
          <a:xfrm>
            <a:off x="8500939" y="4188893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Shape 13"/>
          <p:cNvSpPr/>
          <p:nvPr/>
        </p:nvSpPr>
        <p:spPr>
          <a:xfrm>
            <a:off x="6760377" y="3988022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7" name="Shape 14"/>
          <p:cNvSpPr/>
          <p:nvPr/>
        </p:nvSpPr>
        <p:spPr>
          <a:xfrm>
            <a:off x="8257824" y="5382171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Shape 15"/>
          <p:cNvSpPr/>
          <p:nvPr/>
        </p:nvSpPr>
        <p:spPr>
          <a:xfrm>
            <a:off x="6971782" y="4130880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9" name="Shape 16"/>
          <p:cNvSpPr/>
          <p:nvPr/>
        </p:nvSpPr>
        <p:spPr>
          <a:xfrm>
            <a:off x="8495408" y="5079785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Shape 17"/>
          <p:cNvSpPr/>
          <p:nvPr/>
        </p:nvSpPr>
        <p:spPr>
          <a:xfrm>
            <a:off x="6973860" y="4493406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1" name="Shape 18"/>
          <p:cNvSpPr/>
          <p:nvPr/>
        </p:nvSpPr>
        <p:spPr>
          <a:xfrm>
            <a:off x="8673670" y="5005646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Shape 19"/>
          <p:cNvSpPr/>
          <p:nvPr/>
        </p:nvSpPr>
        <p:spPr>
          <a:xfrm>
            <a:off x="6719810" y="5247049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570791" y="532786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Shape 21"/>
          <p:cNvSpPr/>
          <p:nvPr/>
        </p:nvSpPr>
        <p:spPr>
          <a:xfrm>
            <a:off x="7400354" y="4148259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5" name="Shape 22"/>
          <p:cNvSpPr/>
          <p:nvPr/>
        </p:nvSpPr>
        <p:spPr>
          <a:xfrm>
            <a:off x="8677080" y="514277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Shape 23"/>
          <p:cNvSpPr/>
          <p:nvPr/>
        </p:nvSpPr>
        <p:spPr>
          <a:xfrm>
            <a:off x="7110717" y="4859814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7" name="Shape 24"/>
          <p:cNvSpPr/>
          <p:nvPr/>
        </p:nvSpPr>
        <p:spPr>
          <a:xfrm>
            <a:off x="8651007" y="532481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8" name="Shape 25"/>
          <p:cNvSpPr/>
          <p:nvPr/>
        </p:nvSpPr>
        <p:spPr>
          <a:xfrm>
            <a:off x="6960619" y="4388645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9" name="Shape 26"/>
          <p:cNvSpPr/>
          <p:nvPr/>
        </p:nvSpPr>
        <p:spPr>
          <a:xfrm>
            <a:off x="8591936" y="5330999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Shape 27"/>
          <p:cNvSpPr/>
          <p:nvPr/>
        </p:nvSpPr>
        <p:spPr>
          <a:xfrm>
            <a:off x="6761028" y="4972447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1" name="Shape 28"/>
          <p:cNvSpPr/>
          <p:nvPr/>
        </p:nvSpPr>
        <p:spPr>
          <a:xfrm>
            <a:off x="8865821" y="5280427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Shape 29"/>
          <p:cNvSpPr/>
          <p:nvPr/>
        </p:nvSpPr>
        <p:spPr>
          <a:xfrm>
            <a:off x="7364742" y="4860851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3" name="Shape 30"/>
          <p:cNvSpPr/>
          <p:nvPr/>
        </p:nvSpPr>
        <p:spPr>
          <a:xfrm>
            <a:off x="8637726" y="4128069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4" name="Shape 31"/>
          <p:cNvSpPr/>
          <p:nvPr/>
        </p:nvSpPr>
        <p:spPr>
          <a:xfrm>
            <a:off x="7350625" y="4746063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5" name="Shape 32"/>
          <p:cNvSpPr/>
          <p:nvPr/>
        </p:nvSpPr>
        <p:spPr>
          <a:xfrm>
            <a:off x="8694600" y="3937433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6" name="Shape 33"/>
          <p:cNvSpPr/>
          <p:nvPr/>
        </p:nvSpPr>
        <p:spPr>
          <a:xfrm>
            <a:off x="6988129" y="5016268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7" name="Shape 34"/>
          <p:cNvSpPr/>
          <p:nvPr/>
        </p:nvSpPr>
        <p:spPr>
          <a:xfrm>
            <a:off x="8323450" y="520748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8" name="Shape 35"/>
          <p:cNvSpPr/>
          <p:nvPr/>
        </p:nvSpPr>
        <p:spPr>
          <a:xfrm>
            <a:off x="7153834" y="3881258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39" name="Shape 36"/>
          <p:cNvSpPr/>
          <p:nvPr/>
        </p:nvSpPr>
        <p:spPr>
          <a:xfrm>
            <a:off x="8391081" y="5133977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0" name="Shape 37"/>
          <p:cNvSpPr/>
          <p:nvPr/>
        </p:nvSpPr>
        <p:spPr>
          <a:xfrm>
            <a:off x="7360278" y="4458139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1" name="Shape 38"/>
          <p:cNvSpPr/>
          <p:nvPr/>
        </p:nvSpPr>
        <p:spPr>
          <a:xfrm>
            <a:off x="8166740" y="4192575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2" name="Shape 39"/>
          <p:cNvSpPr/>
          <p:nvPr/>
        </p:nvSpPr>
        <p:spPr>
          <a:xfrm>
            <a:off x="7095013" y="4754905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3" name="Shape 40"/>
          <p:cNvSpPr/>
          <p:nvPr/>
        </p:nvSpPr>
        <p:spPr>
          <a:xfrm>
            <a:off x="8532835" y="5166935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4" name="Shape 41"/>
          <p:cNvSpPr/>
          <p:nvPr/>
        </p:nvSpPr>
        <p:spPr>
          <a:xfrm>
            <a:off x="7217139" y="3840697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5" name="Shape 42"/>
          <p:cNvSpPr/>
          <p:nvPr/>
        </p:nvSpPr>
        <p:spPr>
          <a:xfrm>
            <a:off x="8497203" y="490724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6" name="Shape 43"/>
          <p:cNvSpPr/>
          <p:nvPr/>
        </p:nvSpPr>
        <p:spPr>
          <a:xfrm>
            <a:off x="9235440" y="36576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23544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intermixed (biology kept)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1415879" y="5078515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49" name="Shape 46"/>
          <p:cNvSpPr/>
          <p:nvPr/>
        </p:nvSpPr>
        <p:spPr>
          <a:xfrm>
            <a:off x="10694597" y="511471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0" name="Shape 47"/>
          <p:cNvSpPr/>
          <p:nvPr/>
        </p:nvSpPr>
        <p:spPr>
          <a:xfrm>
            <a:off x="9899069" y="4229009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1" name="Shape 48"/>
          <p:cNvSpPr/>
          <p:nvPr/>
        </p:nvSpPr>
        <p:spPr>
          <a:xfrm>
            <a:off x="9838866" y="5377806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2" name="Shape 49"/>
          <p:cNvSpPr/>
          <p:nvPr/>
        </p:nvSpPr>
        <p:spPr>
          <a:xfrm>
            <a:off x="11502058" y="4752232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3" name="Shape 50"/>
          <p:cNvSpPr/>
          <p:nvPr/>
        </p:nvSpPr>
        <p:spPr>
          <a:xfrm>
            <a:off x="11324389" y="3843611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4" name="Shape 51"/>
          <p:cNvSpPr/>
          <p:nvPr/>
        </p:nvSpPr>
        <p:spPr>
          <a:xfrm>
            <a:off x="10761472" y="5298046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5" name="Shape 52"/>
          <p:cNvSpPr/>
          <p:nvPr/>
        </p:nvSpPr>
        <p:spPr>
          <a:xfrm>
            <a:off x="10598091" y="4747331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6" name="Shape 53"/>
          <p:cNvSpPr/>
          <p:nvPr/>
        </p:nvSpPr>
        <p:spPr>
          <a:xfrm>
            <a:off x="10066649" y="4694253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7" name="Shape 54"/>
          <p:cNvSpPr/>
          <p:nvPr/>
        </p:nvSpPr>
        <p:spPr>
          <a:xfrm>
            <a:off x="9682906" y="4372359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8" name="Shape 55"/>
          <p:cNvSpPr/>
          <p:nvPr/>
        </p:nvSpPr>
        <p:spPr>
          <a:xfrm>
            <a:off x="10382677" y="4587560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59" name="Shape 56"/>
          <p:cNvSpPr/>
          <p:nvPr/>
        </p:nvSpPr>
        <p:spPr>
          <a:xfrm>
            <a:off x="10596004" y="486191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0" name="Shape 57"/>
          <p:cNvSpPr/>
          <p:nvPr/>
        </p:nvSpPr>
        <p:spPr>
          <a:xfrm>
            <a:off x="10960092" y="4546206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1" name="Shape 58"/>
          <p:cNvSpPr/>
          <p:nvPr/>
        </p:nvSpPr>
        <p:spPr>
          <a:xfrm>
            <a:off x="10204260" y="4144243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2" name="Shape 59"/>
          <p:cNvSpPr/>
          <p:nvPr/>
        </p:nvSpPr>
        <p:spPr>
          <a:xfrm>
            <a:off x="11135208" y="4266091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3" name="Shape 60"/>
          <p:cNvSpPr/>
          <p:nvPr/>
        </p:nvSpPr>
        <p:spPr>
          <a:xfrm>
            <a:off x="10524781" y="5093166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4" name="Shape 61"/>
          <p:cNvSpPr/>
          <p:nvPr/>
        </p:nvSpPr>
        <p:spPr>
          <a:xfrm>
            <a:off x="10430680" y="5247242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5" name="Shape 62"/>
          <p:cNvSpPr/>
          <p:nvPr/>
        </p:nvSpPr>
        <p:spPr>
          <a:xfrm>
            <a:off x="9773463" y="5395165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6" name="Shape 63"/>
          <p:cNvSpPr/>
          <p:nvPr/>
        </p:nvSpPr>
        <p:spPr>
          <a:xfrm>
            <a:off x="10788745" y="4975117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7" name="Shape 64"/>
          <p:cNvSpPr/>
          <p:nvPr/>
        </p:nvSpPr>
        <p:spPr>
          <a:xfrm>
            <a:off x="10908499" y="5048931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8" name="Shape 65"/>
          <p:cNvSpPr/>
          <p:nvPr/>
        </p:nvSpPr>
        <p:spPr>
          <a:xfrm>
            <a:off x="10423438" y="4824545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69" name="Shape 66"/>
          <p:cNvSpPr/>
          <p:nvPr/>
        </p:nvSpPr>
        <p:spPr>
          <a:xfrm>
            <a:off x="11034478" y="513386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0" name="Shape 67"/>
          <p:cNvSpPr/>
          <p:nvPr/>
        </p:nvSpPr>
        <p:spPr>
          <a:xfrm>
            <a:off x="9846514" y="4703960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71" name="Shape 68"/>
          <p:cNvSpPr/>
          <p:nvPr/>
        </p:nvSpPr>
        <p:spPr>
          <a:xfrm>
            <a:off x="10496729" y="4575047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2" name="Shape 69"/>
          <p:cNvSpPr/>
          <p:nvPr/>
        </p:nvSpPr>
        <p:spPr>
          <a:xfrm>
            <a:off x="11420849" y="5262758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73" name="Shape 70"/>
          <p:cNvSpPr/>
          <p:nvPr/>
        </p:nvSpPr>
        <p:spPr>
          <a:xfrm>
            <a:off x="9861495" y="4945829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4" name="Shape 71"/>
          <p:cNvSpPr/>
          <p:nvPr/>
        </p:nvSpPr>
        <p:spPr>
          <a:xfrm>
            <a:off x="10809288" y="4031470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75" name="Shape 72"/>
          <p:cNvSpPr/>
          <p:nvPr/>
        </p:nvSpPr>
        <p:spPr>
          <a:xfrm>
            <a:off x="10158711" y="422844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6" name="Shape 73"/>
          <p:cNvSpPr/>
          <p:nvPr/>
        </p:nvSpPr>
        <p:spPr>
          <a:xfrm>
            <a:off x="10449805" y="5474305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77" name="Shape 74"/>
          <p:cNvSpPr/>
          <p:nvPr/>
        </p:nvSpPr>
        <p:spPr>
          <a:xfrm>
            <a:off x="10506834" y="4528671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8" name="Shape 75"/>
          <p:cNvSpPr/>
          <p:nvPr/>
        </p:nvSpPr>
        <p:spPr>
          <a:xfrm>
            <a:off x="11278564" y="5417036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79" name="Shape 76"/>
          <p:cNvSpPr/>
          <p:nvPr/>
        </p:nvSpPr>
        <p:spPr>
          <a:xfrm>
            <a:off x="10904053" y="5074025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0" name="Shape 77"/>
          <p:cNvSpPr/>
          <p:nvPr/>
        </p:nvSpPr>
        <p:spPr>
          <a:xfrm>
            <a:off x="9774731" y="4461232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81" name="Shape 78"/>
          <p:cNvSpPr/>
          <p:nvPr/>
        </p:nvSpPr>
        <p:spPr>
          <a:xfrm>
            <a:off x="10793907" y="423580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2" name="Shape 79"/>
          <p:cNvSpPr/>
          <p:nvPr/>
        </p:nvSpPr>
        <p:spPr>
          <a:xfrm>
            <a:off x="11469927" y="3958306"/>
            <a:ext cx="91440" cy="9144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83" name="Shape 80"/>
          <p:cNvSpPr/>
          <p:nvPr/>
        </p:nvSpPr>
        <p:spPr>
          <a:xfrm>
            <a:off x="10290983" y="472918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4" name="Text 81"/>
          <p:cNvSpPr/>
          <p:nvPr/>
        </p:nvSpPr>
        <p:spPr>
          <a:xfrm>
            <a:off x="640080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over-correction can erase real biology — handle with care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BATCH EFFECTS AND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batch correction belongs in the pipeline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 rule: correction must not use the outcome label, and must respect the split.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correction on training data; apply the same transform to validation/test.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train + test together, using all data, is a leakage vector — very common.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batch is perfectly confounded with outcome, no method can rescue it — design matters more.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84048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DCEEE4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4270248"/>
            <a:ext cx="329184" cy="0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547872" y="384048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DCEEE4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47872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correction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TRAIN only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4270248"/>
            <a:ext cx="329184" cy="0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364224" y="384048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DCEEE4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64224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same transform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held-out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851392" y="4270248"/>
            <a:ext cx="329184" cy="0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180576" y="384048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DCEEE4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80576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evaluate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50292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2DEDB"/>
          </a:solidFill>
          <a:ln w="12700">
            <a:solidFill>
              <a:srgbClr val="A840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029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correct train + test together (leakage)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5029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if batch is perfectly confounded with outcome, only better design — not any method — can help.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MODEL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models responsibly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interpretation tools: linear coefficients, tree-based importance, SHAP values.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answer “what is the model using?” — none answer “what causes recurrence?”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is for hypothesis generation and sanity-checking, not causal claims.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damage in biomarker papers is done at the interpretation step.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49440" y="24688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49440" y="2468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model uses gene X”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52560" y="3337560"/>
            <a:ext cx="0" cy="640080"/>
          </a:xfrm>
          <a:prstGeom prst="line">
            <a:avLst/>
          </a:prstGeom>
          <a:noFill/>
          <a:ln w="25400">
            <a:solidFill>
              <a:srgbClr val="A8403A"/>
            </a:solidFill>
            <a:prstDash val="dash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914400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tempting leap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49440" y="411480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2DED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49440" y="4114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 X causes recurrence”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0" y="4892040"/>
            <a:ext cx="3840480" cy="0"/>
          </a:xfrm>
          <a:prstGeom prst="line">
            <a:avLst/>
          </a:prstGeom>
          <a:noFill/>
          <a:ln w="31750">
            <a:solidFill>
              <a:srgbClr val="A8403A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MODEL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and coefficients (and their traps)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coefficients: direction + magnitude, but depend on scaling and correlated partners.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Random-forest importance: ranks usefulness for splitting, but is biased and unstable.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genes share/split importance — a top gene can be an artefact of correlation.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stability across folds/resamples before believing a ranking.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66560" y="2377440"/>
            <a:ext cx="44805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2697480"/>
            <a:ext cx="2409444" cy="2743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7"/>
          <p:cNvSpPr/>
          <p:nvPr/>
        </p:nvSpPr>
        <p:spPr>
          <a:xfrm>
            <a:off x="681228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525658" y="2834640"/>
            <a:ext cx="226771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3227832"/>
            <a:ext cx="1757477" cy="2743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3182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signalling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845345" y="3364992"/>
            <a:ext cx="283464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3758184"/>
            <a:ext cx="1559052" cy="274320"/>
          </a:xfrm>
          <a:prstGeom prst="rect">
            <a:avLst/>
          </a:prstGeom>
          <a:solidFill>
            <a:srgbClr val="C2772B"/>
          </a:solidFill>
          <a:ln/>
        </p:spPr>
      </p:sp>
      <p:sp>
        <p:nvSpPr>
          <p:cNvPr id="16" name="Text 13"/>
          <p:cNvSpPr/>
          <p:nvPr/>
        </p:nvSpPr>
        <p:spPr>
          <a:xfrm>
            <a:off x="6812280" y="37124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93378" y="3895344"/>
            <a:ext cx="1190549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0" y="4288536"/>
            <a:ext cx="1133856" cy="2743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6"/>
          <p:cNvSpPr/>
          <p:nvPr/>
        </p:nvSpPr>
        <p:spPr>
          <a:xfrm>
            <a:off x="6812280" y="4242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193378" y="4425696"/>
            <a:ext cx="340157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0" y="4818888"/>
            <a:ext cx="1077163" cy="274320"/>
          </a:xfrm>
          <a:prstGeom prst="rect">
            <a:avLst/>
          </a:prstGeom>
          <a:solidFill>
            <a:srgbClr val="C2772B"/>
          </a:solidFill>
          <a:ln/>
        </p:spPr>
      </p:sp>
      <p:sp>
        <p:nvSpPr>
          <p:cNvPr id="22" name="Text 19"/>
          <p:cNvSpPr/>
          <p:nvPr/>
        </p:nvSpPr>
        <p:spPr>
          <a:xfrm>
            <a:off x="6812280" y="4773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B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739835" y="4956048"/>
            <a:ext cx="1133856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0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 the stable features (small error bars), not the lucky ones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MODEL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values (conceptual only)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attributes each prediction to its features — a consistent, per-patient explanation.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Useful: shows how the model reached a decision for an individual tumour.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it explains the model, not the biology — a faithful explanation of a flawed model is still flawed.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 SHAP as evidence of mechanism or causation.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2560320"/>
            <a:ext cx="0" cy="2560320"/>
          </a:xfrm>
          <a:prstGeom prst="line">
            <a:avLst/>
          </a:prstGeom>
          <a:noFill/>
          <a:ln w="12700">
            <a:solidFill>
              <a:srgbClr val="5B6B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→ prediction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144000" y="2743200"/>
            <a:ext cx="1554480" cy="347472"/>
          </a:xfrm>
          <a:prstGeom prst="rect">
            <a:avLst/>
          </a:prstGeom>
          <a:solidFill>
            <a:srgbClr val="C2772B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27249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144000" y="3291840"/>
            <a:ext cx="621792" cy="347472"/>
          </a:xfrm>
          <a:prstGeom prst="rect">
            <a:avLst/>
          </a:prstGeom>
          <a:solidFill>
            <a:srgbClr val="C2772B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size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677656" y="3840480"/>
            <a:ext cx="466344" cy="3474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44968" y="4389120"/>
            <a:ext cx="1399032" cy="3474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4370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signalling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40880" y="5120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lowers risk    raises risk →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MODEL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is not causation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feature may be a bystander, a correlate of grade, or a batch artefact.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“predictive” gene that merely tracks proliferation, which tracks tumour grade.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value can be real and useful without any causal role — but state it.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claims need interventional or causal-design evidence, not model weights.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875520" y="32918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B3B4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0" y="3291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240280"/>
            <a:ext cx="2377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2E7D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driver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23960" y="2560320"/>
            <a:ext cx="1005840" cy="1143000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400800" y="3337560"/>
            <a:ext cx="2377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C277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innocent correlate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(tracks grade)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823960" y="3657600"/>
            <a:ext cx="1005840" cy="45720"/>
          </a:xfrm>
          <a:prstGeom prst="line">
            <a:avLst/>
          </a:prstGeom>
          <a:noFill/>
          <a:ln w="19050">
            <a:solidFill>
              <a:srgbClr val="C2772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00800" y="4434840"/>
            <a:ext cx="2377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A840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artefact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probe)</a:t>
            </a:r>
            <a:endParaRPr lang="en-US" sz="1000" dirty="0"/>
          </a:p>
        </p:txBody>
      </p:sp>
      <p:cxnSp>
        <p:nvCxnSpPr>
          <p:cNvPr id="755" name="Shape 15"/>
          <p:cNvCxnSpPr/>
          <p:nvPr/>
        </p:nvCxnSpPr>
        <p:spPr>
          <a:xfrm flipV="1">
            <a:off x="8823960" y="4000000"/>
            <a:ext cx="1051560" cy="754880"/>
          </a:xfrm>
          <a:prstGeom prst="straightConnector1">
            <a:avLst/>
          </a:prstGeom>
          <a:ln w="19050">
            <a:solidFill>
              <a:srgbClr val="9E2B25"/>
            </a:solidFill>
            <a:tailEnd type="triangle" w="med" len="med"/>
          </a:ln>
        </p:spPr>
      </p:cxnSp>
      <p:sp>
        <p:nvSpPr>
          <p:cNvPr id="19" name="Text 16"/>
          <p:cNvSpPr/>
          <p:nvPr/>
        </p:nvSpPr>
        <p:spPr>
          <a:xfrm>
            <a:off x="640080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equally “predictive”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seeds: fix them, report them — results that change run-to-run aren’t results.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Pipelines: encapsulate preprocessing + model so the whole thing refits inside CV (no leakage).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+ environment capture: same code + data + versions = same result.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organisation and experiment tracking: every reported number is regenerable.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89520" y="219456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DCEDEE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21945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281160" y="2770632"/>
            <a:ext cx="0" cy="246888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589520" y="301752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DCEDEE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30175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pipeline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81160" y="3593592"/>
            <a:ext cx="0" cy="246888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589520" y="384048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DCEDEE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38404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+ env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281160" y="4416552"/>
            <a:ext cx="0" cy="246888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589520" y="466344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DCEDEE"/>
          </a:solidFill>
          <a:ln/>
        </p:spPr>
      </p:sp>
      <p:sp>
        <p:nvSpPr>
          <p:cNvPr id="18" name="Text 15"/>
          <p:cNvSpPr/>
          <p:nvPr/>
        </p:nvSpPr>
        <p:spPr>
          <a:xfrm>
            <a:off x="7589520" y="46634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experiment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281160" y="5239512"/>
            <a:ext cx="0" cy="246888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589520" y="548640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2E7D57"/>
          </a:solidFill>
          <a:ln/>
        </p:spPr>
      </p:sp>
      <p:sp>
        <p:nvSpPr>
          <p:cNvPr id="21" name="Text 18"/>
          <p:cNvSpPr/>
          <p:nvPr/>
        </p:nvSpPr>
        <p:spPr>
          <a:xfrm>
            <a:off x="7589520" y="54864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regenerable result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reproducibility is non-negotiable in biomarker research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Irreproducible biomarkers have harmed patients and wasted trials (Lecture 1’s Duke/Potti).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you cannot regenerate is not a finding — it is an anecdote.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self-defense: it catches your own leakage and bugs early.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increasingly require code + data + environment; build for that from day one.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315200" y="25603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DCEEE4"/>
          </a:solidFill>
          <a:ln w="25400">
            <a:solidFill>
              <a:srgbClr val="2E7D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2560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regenerable result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40690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2DEDB"/>
          </a:solidFill>
          <a:ln w="25400">
            <a:solidFill>
              <a:srgbClr val="A840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4069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an anecdote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CHOOSING THE BEST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best model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is not the most complex, nor the one with the highest training score.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is robust, interpretable, reproducible, and well-validated.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prefer the simplest model whose advantage survives honest validation.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clinic-bound biomarker, trust and transferability beat a fractional AUC gain.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ln w="12700">
            <a:solidFill>
              <a:srgbClr val="C9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0" y="2834640"/>
            <a:ext cx="1645920" cy="1645920"/>
          </a:xfrm>
          <a:prstGeom prst="ellipse">
            <a:avLst/>
          </a:prstGeom>
          <a:ln w="6350">
            <a:solidFill>
              <a:srgbClr val="C9D7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3657600"/>
            <a:ext cx="2743200" cy="0"/>
          </a:xfrm>
          <a:prstGeom prst="line">
            <a:avLst/>
          </a:prstGeom>
          <a:noFill/>
          <a:ln w="6350">
            <a:solidFill>
              <a:srgbClr val="C9D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0" y="2286000"/>
            <a:ext cx="0" cy="2743200"/>
          </a:xfrm>
          <a:prstGeom prst="line">
            <a:avLst/>
          </a:prstGeom>
          <a:noFill/>
          <a:ln w="6350">
            <a:solidFill>
              <a:srgbClr val="C9D7D9"/>
            </a:solidFill>
            <a:prstDash val="solid"/>
          </a:ln>
        </p:spPr>
      </p:sp>
      <p:sp>
        <p:nvSpPr>
          <p:cNvPr id="703" name="radar"/>
          <p:cNvSpPr/>
          <p:nvPr/>
        </p:nvSpPr>
        <p:spPr>
          <a:xfrm>
            <a:off x="8321040" y="2532888"/>
            <a:ext cx="1810512" cy="1741932"/>
          </a:xfrm>
          <a:custGeom>
            <a:avLst/>
            <a:gdLst/>
            <a:ahLst/>
            <a:cxnLst/>
            <a:rect l="0" t="0" r="0" b="0"/>
            <a:pathLst>
              <a:path w="1810512" h="1741932">
                <a:moveTo>
                  <a:pt x="822960" y="0"/>
                </a:moveTo>
                <a:lnTo>
                  <a:pt x="1810512" y="1124712"/>
                </a:lnTo>
                <a:lnTo>
                  <a:pt x="822960" y="1741932"/>
                </a:lnTo>
                <a:lnTo>
                  <a:pt x="0" y="1124712"/>
                </a:lnTo>
                <a:close/>
              </a:path>
            </a:pathLst>
          </a:custGeom>
          <a:solidFill>
            <a:srgbClr val="0E7C86">
              <a:alpha val="22000"/>
            </a:srgbClr>
          </a:solidFill>
          <a:ln w="25400">
            <a:solidFill>
              <a:srgbClr val="0E7C8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4" name="vtx"/>
          <p:cNvSpPr/>
          <p:nvPr/>
        </p:nvSpPr>
        <p:spPr>
          <a:xfrm>
            <a:off x="9092000" y="2480888"/>
            <a:ext cx="104000" cy="10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" name="vtx"/>
          <p:cNvSpPr/>
          <p:nvPr/>
        </p:nvSpPr>
        <p:spPr>
          <a:xfrm>
            <a:off x="10079552" y="3605600"/>
            <a:ext cx="104000" cy="10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" name="vtx"/>
          <p:cNvSpPr/>
          <p:nvPr/>
        </p:nvSpPr>
        <p:spPr>
          <a:xfrm>
            <a:off x="9092000" y="4222820"/>
            <a:ext cx="104000" cy="10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7" name="vtx"/>
          <p:cNvSpPr/>
          <p:nvPr/>
        </p:nvSpPr>
        <p:spPr>
          <a:xfrm>
            <a:off x="8269040" y="3605600"/>
            <a:ext cx="104000" cy="10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33272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AUC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MESSAGE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“Better validation is usually more important than a better algorithm.”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performance gains are smaller than expected; validation errors do more damage than model choice.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requires caution; biological plausibility does not prove causality.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bridge to the practical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ticked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families; when trees help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&amp; tuning (grid/random)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cross-validation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effects &amp; correction in the pipeline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Interpretation; prediction ≠ causation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Reproducibility; choosing on evidence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practical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LR / Random Forest / Gradient Boosting on the SAME features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one model (grid / random search)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honestly with nested CV — measure the optimism gap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Batch-correction experiment: METABRIC → GSE6532, with vs without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importances responsibly; choose a model for publication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research-grade ML — survival models, external validation at scale.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3830</Words>
  <Application>Microsoft Macintosh PowerPoint</Application>
  <PresentationFormat>Widescreen</PresentationFormat>
  <Paragraphs>422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— Model Improvement, Validation, and Interpretation</dc:title>
  <dc:subject>PptxGenJS Presentation</dc:subject>
  <dc:creator>Practical ML for Transcriptomics in Cancer Research</dc:creator>
  <cp:lastModifiedBy>Zhan Yinxiu</cp:lastModifiedBy>
  <cp:revision>4</cp:revision>
  <dcterms:created xsi:type="dcterms:W3CDTF">2026-06-17T14:54:15Z</dcterms:created>
  <dcterms:modified xsi:type="dcterms:W3CDTF">2026-06-21T08:24:23Z</dcterms:modified>
</cp:coreProperties>
</file>