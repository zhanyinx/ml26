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23"/>
    <p:sldId id="286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07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 dirty="0">
                <a:solidFill>
                  <a:srgbClr val="12262B"/>
                </a:solidFill>
                <a:latin typeface="Arial"/>
              </a:rPr>
              <a:t>per-gene variance (unsupervised)</a:t>
            </a:r>
          </a:p>
        </c:rich>
      </c:tx>
      <c:layout>
        <c:manualLayout>
          <c:xMode val="edge"/>
          <c:yMode val="edge"/>
          <c:x val="0.26151615307345843"/>
          <c:y val="1.1904761904761904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genes</c:v>
                </c:pt>
              </c:strCache>
            </c:strRef>
          </c:tx>
          <c:spPr>
            <a:solidFill>
              <a:srgbClr val="DCEDEE"/>
            </a:solidFill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57</c:v>
                </c:pt>
                <c:pt idx="1">
                  <c:v>78</c:v>
                </c:pt>
                <c:pt idx="2">
                  <c:v>94</c:v>
                </c:pt>
                <c:pt idx="3">
                  <c:v>100</c:v>
                </c:pt>
                <c:pt idx="4">
                  <c:v>94</c:v>
                </c:pt>
                <c:pt idx="5">
                  <c:v>78</c:v>
                </c:pt>
                <c:pt idx="6">
                  <c:v>57</c:v>
                </c:pt>
                <c:pt idx="7">
                  <c:v>37</c:v>
                </c:pt>
                <c:pt idx="8">
                  <c:v>21</c:v>
                </c:pt>
                <c:pt idx="9">
                  <c:v>11</c:v>
                </c:pt>
                <c:pt idx="10">
                  <c:v>5</c:v>
                </c:pt>
                <c:pt idx="11">
                  <c:v>2</c:v>
                </c:pt>
                <c:pt idx="12">
                  <c:v>1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52-3C4A-A746-738D2BD874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100" b="0" i="0" u="none" strike="noStrike">
                <a:solidFill>
                  <a:srgbClr val="12262B"/>
                </a:solidFill>
                <a:latin typeface="Arial"/>
              </a:rPr>
              <a:t>across patients (ordered by risk)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gene (jittery)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0.3901210165303764</c:v>
                </c:pt>
                <c:pt idx="1">
                  <c:v>0.28639419088670715</c:v>
                </c:pt>
                <c:pt idx="2">
                  <c:v>0.33929631721195591</c:v>
                </c:pt>
                <c:pt idx="3">
                  <c:v>0.61778628849088513</c:v>
                </c:pt>
                <c:pt idx="4">
                  <c:v>0.2734372854807588</c:v>
                </c:pt>
                <c:pt idx="5">
                  <c:v>0.44100730431545865</c:v>
                </c:pt>
                <c:pt idx="6">
                  <c:v>0.656774115775141</c:v>
                </c:pt>
                <c:pt idx="7">
                  <c:v>0.26954600813078972</c:v>
                </c:pt>
                <c:pt idx="8">
                  <c:v>0.30333270135025153</c:v>
                </c:pt>
                <c:pt idx="9">
                  <c:v>0.74463176153117416</c:v>
                </c:pt>
                <c:pt idx="10">
                  <c:v>0.44453101164872344</c:v>
                </c:pt>
                <c:pt idx="11">
                  <c:v>0.48037238128267801</c:v>
                </c:pt>
                <c:pt idx="12">
                  <c:v>0.66755042090897931</c:v>
                </c:pt>
                <c:pt idx="13">
                  <c:v>0.74105048196672019</c:v>
                </c:pt>
                <c:pt idx="14">
                  <c:v>0.5017758846756889</c:v>
                </c:pt>
                <c:pt idx="15">
                  <c:v>0.68568855834225595</c:v>
                </c:pt>
                <c:pt idx="16">
                  <c:v>0.64379562148535419</c:v>
                </c:pt>
                <c:pt idx="17">
                  <c:v>0.59875611072581081</c:v>
                </c:pt>
                <c:pt idx="18">
                  <c:v>0.78424924625281678</c:v>
                </c:pt>
                <c:pt idx="19">
                  <c:v>0.99867972157601248</c:v>
                </c:pt>
                <c:pt idx="20">
                  <c:v>0.81308101427884827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D20-874C-BCB8-A65707C85C5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aggregated score (smooth)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0.3</c:v>
                </c:pt>
                <c:pt idx="1">
                  <c:v>0.32500000000000001</c:v>
                </c:pt>
                <c:pt idx="2">
                  <c:v>0.35</c:v>
                </c:pt>
                <c:pt idx="3">
                  <c:v>0.375</c:v>
                </c:pt>
                <c:pt idx="4">
                  <c:v>0.4</c:v>
                </c:pt>
                <c:pt idx="5">
                  <c:v>0.42499999999999999</c:v>
                </c:pt>
                <c:pt idx="6">
                  <c:v>0.44999999999999996</c:v>
                </c:pt>
                <c:pt idx="7">
                  <c:v>0.47499999999999998</c:v>
                </c:pt>
                <c:pt idx="8">
                  <c:v>0.5</c:v>
                </c:pt>
                <c:pt idx="9">
                  <c:v>0.52500000000000002</c:v>
                </c:pt>
                <c:pt idx="10">
                  <c:v>0.55000000000000004</c:v>
                </c:pt>
                <c:pt idx="11">
                  <c:v>0.57499999999999996</c:v>
                </c:pt>
                <c:pt idx="12">
                  <c:v>0.6</c:v>
                </c:pt>
                <c:pt idx="13">
                  <c:v>0.625</c:v>
                </c:pt>
                <c:pt idx="14">
                  <c:v>0.64999999999999991</c:v>
                </c:pt>
                <c:pt idx="15">
                  <c:v>0.67500000000000004</c:v>
                </c:pt>
                <c:pt idx="16">
                  <c:v>0.7</c:v>
                </c:pt>
                <c:pt idx="17">
                  <c:v>0.72499999999999998</c:v>
                </c:pt>
                <c:pt idx="18">
                  <c:v>0.75</c:v>
                </c:pt>
                <c:pt idx="19">
                  <c:v>0.77499999999999991</c:v>
                </c:pt>
                <c:pt idx="20">
                  <c:v>0.8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FD20-874C-BCB8-A65707C85C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select-on-all-data vs select-inside-fold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Leaky CV</c:v>
                </c:pt>
                <c:pt idx="1">
                  <c:v>Honest CV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</c:v>
                </c:pt>
                <c:pt idx="1">
                  <c:v>0.66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24-EE4B-A2EB-1A983AC2DE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963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The turn the course has been building toward. The most important lecture: in transcriptomics, representation of the biology is usually a bigger lever than the algorithm — and it's where biology training becomes a modelling superpower.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L1 made problem &amp; data trustworthy; L2 gave a validated baseline by changing the MODEL. Today we freeze the model and change only the FEATURES — a controlled experiment. Representation is often the biggest lever on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that matter most: why biological aggregation helps, and recognising feature-selection leakage (subtler here — it hides in 'innocent' steps like DE filtering).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never sees biology; it sees numbers we chose. Change those numbers and you change everything — often more than swapping the model. The 'change representation' arrow is thick; 'change algorithm' is thin.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Garbage-in: a perfect algorithm on a poor representation still fails. 20k noisy genes carry huge noise per unit signal; 50 pathway scores far less. Features inject prior biology so the model needn't rediscover it from scarce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Same METABRIC patients, same Logistic Regression, different representations. A controlled experiment — only the representation changes. Hypothesis: fewer, biologically-coherent features generalise as well or better. Tested in the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 &gt;&gt; n again: ~200-2000 patients, ~20,000 genes. Some genes correlate with outcome by chance -&gt; noise, instability, overfitting. Representation is one of our few defences: it shrinks p toward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Each noisy feature is another chance to fit randomness. The model spreads finite attention across thousands of irrelevant genes. Aggregating to meaningful features concentrates signal and stabilises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Engineering CREATES new features (genes -&gt; score). Selection CHOOSES a subset (keep 100 genes). Complementary, not rivals. Both are data-dependent decisions -&gt; both respect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Drop genes that barely vary — they can't discriminate. Unsupervised (no labels) -&gt; low leakage risk, safe first pass. But high variance != biological relevance; a noisy probe can be high-variance.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Keep genes that differ between outcomes — powerful, but SUPERVISED (uses the label) -&gt; leakage hazard. If done on all data it peeks at test outcomes. Rule: DE filtering inside the split, never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Advantages: fewer features, faster, less overfitting, easier interpretation. Limitations: variance keeps noise; DE leaks &amp; is unstable. Filtering treats genes individually — ignores coordinated programmes. Motivates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Summarise coordinated gene programmes into a few scores. A signature score aggregates co-moving genes into one number. Benefits: less noise (averaging), prior knowledge, interpretable, stable. Biology becomes a modelling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Proliferation (cell-cycle) genes are among the strongest prognostic signals in HR+/HER2-. A proliferation score summarises aggressiveness — echoed by Ki-67 and commercial assays' proliferation modules. One robust score can beat hundreds of noisy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HR+ disease is defined by ER signalling. An ER-signalling score (ESR1, FOXA1, GATA3) captures luminal differentiation. Often protective: higher ER signalling -&gt; lower recurrence risk. Encodes the disease's defining biology in one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Immune signatures capture anti-tumour immunity (often favourable); stromal capture the microenvironment (can mark progression). The tumour is an ecosystem; single genes miss it, programme scores capture it. Transferable across cancers.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Averaging co-regulated genes cancels random noise. A score is more stable under resampling than any single gene (answers L1 non-uniqueness). Fewer features -&gt; less overfitting. And they carry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gene set is a curated list sharing a function. MSigDB Hallmarks (~50 non-redundant), Reactome, GO, KEGG. Turn 20,000 genes into ~50-100 interpretable pathway activities — systematic biological feature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These methods score, per patient, how active each gene set is. We use them as a TOOL, not derive them. Output: patients x pathways matrix. 20,000 genes -&gt; ~50-100 features, ready for the same Logistic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Far fewer features -&gt; friendlier p:n. Each feature averages many genes -&gt; less noise, cross-cohort stability. Pathway activities are more comparable across platforms than raw probes (helps L1 batch). Interpretable axes.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Filter: rank independently of model (variance, correlation, DE). Embedded: selection during fitting (LASSO, Elastic Net). Tree-based: rank by usefulness for splitting. Choice depends on goal: speed, sparsity, stability, interpretability.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LASSO -&gt; sparse panel; Elastic Net -&gt; correlated groups, more stable (L2). On pathway features: a tiny, interpretable, stable model. Synergy: good engineering (pathways) + honest selection (Elastic Net) = defensible biomarker.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classic killer: select on ALL data, then CV the reduced set. The features already saw the test patients -&gt; optimistic, unreproducible. The most common silent error in omics ML; it survives peer review constantly.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Wrong: selection -&gt; CV (once, on everything). Right: CV -&gt; selection INSIDE each fold -&gt; train -&gt; evaluate. Applies to filtering, DE, signature fitting. Fixed published gene sets are largely exempt (no fitting on your labels).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Leakage can inflate AUC by a large, study-changing margin. The inflated estimate is STABLE (CV launders it), so it looks trustworthy. Always ask: was selection inside the CV? Was there an external cohort? Measured in the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Pathway models are far easier to interpret than gene-level. 'Risk rises with proliferation and falls with ER signalling' — a sentence a clinician trusts. Supports validation, hypotheses, adoption. Limit: depends on the gene set chosen.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Strengths: less overfitting, stability, cross-platform robustness, interpretability, encoded prior biology. Limitations: wrong gene set hides signal; aggregation blurs single-gene effects; curation lags new biology. Engineering is a hypothesis — validate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Reorder instincts: representation and rigour first, algorithm last. The through-line: trustworthy problem (L1), trustworthy model (L2), trustworthy features (L3).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five representations of the SAME data — all genes, variance-filtered, DE, signatures, pathways — same model; compare ROC-AUC, PR-AUC, feature count, stability, interpretability; diagnose a leaky workflow. Next: improving &amp; validating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68756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" name="Shape 2"/>
          <p:cNvSpPr/>
          <p:nvPr/>
        </p:nvSpPr>
        <p:spPr>
          <a:xfrm>
            <a:off x="5888736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" name="Shape 3"/>
          <p:cNvSpPr/>
          <p:nvPr/>
        </p:nvSpPr>
        <p:spPr>
          <a:xfrm>
            <a:off x="6089904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" name="Shape 4"/>
          <p:cNvSpPr/>
          <p:nvPr/>
        </p:nvSpPr>
        <p:spPr>
          <a:xfrm>
            <a:off x="629107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Shape 6"/>
          <p:cNvSpPr/>
          <p:nvPr/>
        </p:nvSpPr>
        <p:spPr>
          <a:xfrm>
            <a:off x="6693408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" name="Shape 7"/>
          <p:cNvSpPr/>
          <p:nvPr/>
        </p:nvSpPr>
        <p:spPr>
          <a:xfrm>
            <a:off x="689457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" name="Shape 8"/>
          <p:cNvSpPr/>
          <p:nvPr/>
        </p:nvSpPr>
        <p:spPr>
          <a:xfrm>
            <a:off x="709574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" name="Shape 9"/>
          <p:cNvSpPr/>
          <p:nvPr/>
        </p:nvSpPr>
        <p:spPr>
          <a:xfrm>
            <a:off x="729691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0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3" name="Shape 11"/>
          <p:cNvSpPr/>
          <p:nvPr/>
        </p:nvSpPr>
        <p:spPr>
          <a:xfrm>
            <a:off x="769924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810158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0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5"/>
          <p:cNvSpPr/>
          <p:nvPr/>
        </p:nvSpPr>
        <p:spPr>
          <a:xfrm>
            <a:off x="5687568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8873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990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2" name="Shape 20"/>
          <p:cNvSpPr/>
          <p:nvPr/>
        </p:nvSpPr>
        <p:spPr>
          <a:xfrm>
            <a:off x="669340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3" name="Shape 21"/>
          <p:cNvSpPr/>
          <p:nvPr/>
        </p:nvSpPr>
        <p:spPr>
          <a:xfrm>
            <a:off x="689457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4" name="Shape 22"/>
          <p:cNvSpPr/>
          <p:nvPr/>
        </p:nvSpPr>
        <p:spPr>
          <a:xfrm>
            <a:off x="7095744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5" name="Shape 23"/>
          <p:cNvSpPr/>
          <p:nvPr/>
        </p:nvSpPr>
        <p:spPr>
          <a:xfrm>
            <a:off x="7296912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0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7" name="Shape 25"/>
          <p:cNvSpPr/>
          <p:nvPr/>
        </p:nvSpPr>
        <p:spPr>
          <a:xfrm>
            <a:off x="769924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8" name="Shape 26"/>
          <p:cNvSpPr/>
          <p:nvPr/>
        </p:nvSpPr>
        <p:spPr>
          <a:xfrm>
            <a:off x="790041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9" name="Shape 27"/>
          <p:cNvSpPr/>
          <p:nvPr/>
        </p:nvSpPr>
        <p:spPr>
          <a:xfrm>
            <a:off x="810158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1" name="Shape 29"/>
          <p:cNvSpPr/>
          <p:nvPr/>
        </p:nvSpPr>
        <p:spPr>
          <a:xfrm>
            <a:off x="5687568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2" name="Shape 30"/>
          <p:cNvSpPr/>
          <p:nvPr/>
        </p:nvSpPr>
        <p:spPr>
          <a:xfrm>
            <a:off x="588873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3" name="Shape 31"/>
          <p:cNvSpPr/>
          <p:nvPr/>
        </p:nvSpPr>
        <p:spPr>
          <a:xfrm>
            <a:off x="6089904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4" name="Shape 32"/>
          <p:cNvSpPr/>
          <p:nvPr/>
        </p:nvSpPr>
        <p:spPr>
          <a:xfrm>
            <a:off x="6291072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5" name="Shape 33"/>
          <p:cNvSpPr/>
          <p:nvPr/>
        </p:nvSpPr>
        <p:spPr>
          <a:xfrm>
            <a:off x="6492240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6" name="Shape 34"/>
          <p:cNvSpPr/>
          <p:nvPr/>
        </p:nvSpPr>
        <p:spPr>
          <a:xfrm>
            <a:off x="6693408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7" name="Shape 35"/>
          <p:cNvSpPr/>
          <p:nvPr/>
        </p:nvSpPr>
        <p:spPr>
          <a:xfrm>
            <a:off x="689457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8" name="Shape 36"/>
          <p:cNvSpPr/>
          <p:nvPr/>
        </p:nvSpPr>
        <p:spPr>
          <a:xfrm>
            <a:off x="709574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7296912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0" name="Shape 38"/>
          <p:cNvSpPr/>
          <p:nvPr/>
        </p:nvSpPr>
        <p:spPr>
          <a:xfrm>
            <a:off x="749808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1" name="Shape 39"/>
          <p:cNvSpPr/>
          <p:nvPr/>
        </p:nvSpPr>
        <p:spPr>
          <a:xfrm>
            <a:off x="7699248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2" name="Shape 40"/>
          <p:cNvSpPr/>
          <p:nvPr/>
        </p:nvSpPr>
        <p:spPr>
          <a:xfrm>
            <a:off x="7900416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3" name="Shape 41"/>
          <p:cNvSpPr/>
          <p:nvPr/>
        </p:nvSpPr>
        <p:spPr>
          <a:xfrm>
            <a:off x="810158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0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5" name="Shape 43"/>
          <p:cNvSpPr/>
          <p:nvPr/>
        </p:nvSpPr>
        <p:spPr>
          <a:xfrm>
            <a:off x="5687568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6" name="Shape 44"/>
          <p:cNvSpPr/>
          <p:nvPr/>
        </p:nvSpPr>
        <p:spPr>
          <a:xfrm>
            <a:off x="588873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7" name="Shape 45"/>
          <p:cNvSpPr/>
          <p:nvPr/>
        </p:nvSpPr>
        <p:spPr>
          <a:xfrm>
            <a:off x="608990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8" name="Shape 46"/>
          <p:cNvSpPr/>
          <p:nvPr/>
        </p:nvSpPr>
        <p:spPr>
          <a:xfrm>
            <a:off x="6291072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9" name="Shape 47"/>
          <p:cNvSpPr/>
          <p:nvPr/>
        </p:nvSpPr>
        <p:spPr>
          <a:xfrm>
            <a:off x="649224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0" name="Shape 48"/>
          <p:cNvSpPr/>
          <p:nvPr/>
        </p:nvSpPr>
        <p:spPr>
          <a:xfrm>
            <a:off x="669340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1" name="Shape 49"/>
          <p:cNvSpPr/>
          <p:nvPr/>
        </p:nvSpPr>
        <p:spPr>
          <a:xfrm>
            <a:off x="6894576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2" name="Shape 50"/>
          <p:cNvSpPr/>
          <p:nvPr/>
        </p:nvSpPr>
        <p:spPr>
          <a:xfrm>
            <a:off x="7095744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53" name="Shape 51"/>
          <p:cNvSpPr/>
          <p:nvPr/>
        </p:nvSpPr>
        <p:spPr>
          <a:xfrm>
            <a:off x="7296912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2"/>
          <p:cNvSpPr/>
          <p:nvPr/>
        </p:nvSpPr>
        <p:spPr>
          <a:xfrm>
            <a:off x="749808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5" name="Shape 53"/>
          <p:cNvSpPr/>
          <p:nvPr/>
        </p:nvSpPr>
        <p:spPr>
          <a:xfrm>
            <a:off x="769924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6" name="Shape 54"/>
          <p:cNvSpPr/>
          <p:nvPr/>
        </p:nvSpPr>
        <p:spPr>
          <a:xfrm>
            <a:off x="790041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7" name="Shape 55"/>
          <p:cNvSpPr/>
          <p:nvPr/>
        </p:nvSpPr>
        <p:spPr>
          <a:xfrm>
            <a:off x="810158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640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9" name="Shape 57"/>
          <p:cNvSpPr/>
          <p:nvPr/>
        </p:nvSpPr>
        <p:spPr>
          <a:xfrm>
            <a:off x="568756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8873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1" name="Shape 59"/>
          <p:cNvSpPr/>
          <p:nvPr/>
        </p:nvSpPr>
        <p:spPr>
          <a:xfrm>
            <a:off x="6089904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2" name="Shape 60"/>
          <p:cNvSpPr/>
          <p:nvPr/>
        </p:nvSpPr>
        <p:spPr>
          <a:xfrm>
            <a:off x="6291072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3" name="Shape 61"/>
          <p:cNvSpPr/>
          <p:nvPr/>
        </p:nvSpPr>
        <p:spPr>
          <a:xfrm>
            <a:off x="649224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340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5" name="Shape 63"/>
          <p:cNvSpPr/>
          <p:nvPr/>
        </p:nvSpPr>
        <p:spPr>
          <a:xfrm>
            <a:off x="689457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6" name="Shape 64"/>
          <p:cNvSpPr/>
          <p:nvPr/>
        </p:nvSpPr>
        <p:spPr>
          <a:xfrm>
            <a:off x="7095744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7" name="Shape 65"/>
          <p:cNvSpPr/>
          <p:nvPr/>
        </p:nvSpPr>
        <p:spPr>
          <a:xfrm>
            <a:off x="7296912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0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9" name="Shape 67"/>
          <p:cNvSpPr/>
          <p:nvPr/>
        </p:nvSpPr>
        <p:spPr>
          <a:xfrm>
            <a:off x="7699248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0" name="Shape 68"/>
          <p:cNvSpPr/>
          <p:nvPr/>
        </p:nvSpPr>
        <p:spPr>
          <a:xfrm>
            <a:off x="790041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1" name="Shape 69"/>
          <p:cNvSpPr/>
          <p:nvPr/>
        </p:nvSpPr>
        <p:spPr>
          <a:xfrm>
            <a:off x="8101584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2" name="Shape 70"/>
          <p:cNvSpPr/>
          <p:nvPr/>
        </p:nvSpPr>
        <p:spPr>
          <a:xfrm>
            <a:off x="548640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8756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8873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3"/>
          <p:cNvSpPr/>
          <p:nvPr/>
        </p:nvSpPr>
        <p:spPr>
          <a:xfrm>
            <a:off x="608990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6" name="Shape 74"/>
          <p:cNvSpPr/>
          <p:nvPr/>
        </p:nvSpPr>
        <p:spPr>
          <a:xfrm>
            <a:off x="6291072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7" name="Shape 75"/>
          <p:cNvSpPr/>
          <p:nvPr/>
        </p:nvSpPr>
        <p:spPr>
          <a:xfrm>
            <a:off x="649224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9340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9457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0" name="Shape 78"/>
          <p:cNvSpPr/>
          <p:nvPr/>
        </p:nvSpPr>
        <p:spPr>
          <a:xfrm>
            <a:off x="709574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1" name="Shape 79"/>
          <p:cNvSpPr/>
          <p:nvPr/>
        </p:nvSpPr>
        <p:spPr>
          <a:xfrm>
            <a:off x="7296912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2" name="Shape 80"/>
          <p:cNvSpPr/>
          <p:nvPr/>
        </p:nvSpPr>
        <p:spPr>
          <a:xfrm>
            <a:off x="749808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3" name="Shape 81"/>
          <p:cNvSpPr/>
          <p:nvPr/>
        </p:nvSpPr>
        <p:spPr>
          <a:xfrm>
            <a:off x="7699248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4" name="Shape 82"/>
          <p:cNvSpPr/>
          <p:nvPr/>
        </p:nvSpPr>
        <p:spPr>
          <a:xfrm>
            <a:off x="7900416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5" name="Shape 83"/>
          <p:cNvSpPr/>
          <p:nvPr/>
        </p:nvSpPr>
        <p:spPr>
          <a:xfrm>
            <a:off x="8101584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6" name="Shape 84"/>
          <p:cNvSpPr/>
          <p:nvPr/>
        </p:nvSpPr>
        <p:spPr>
          <a:xfrm>
            <a:off x="548640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7568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8" name="Shape 86"/>
          <p:cNvSpPr/>
          <p:nvPr/>
        </p:nvSpPr>
        <p:spPr>
          <a:xfrm>
            <a:off x="588873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9" name="Shape 87"/>
          <p:cNvSpPr/>
          <p:nvPr/>
        </p:nvSpPr>
        <p:spPr>
          <a:xfrm>
            <a:off x="608990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0" name="Shape 88"/>
          <p:cNvSpPr/>
          <p:nvPr/>
        </p:nvSpPr>
        <p:spPr>
          <a:xfrm>
            <a:off x="629107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1" name="Shape 89"/>
          <p:cNvSpPr/>
          <p:nvPr/>
        </p:nvSpPr>
        <p:spPr>
          <a:xfrm>
            <a:off x="6492240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2" name="Shape 90"/>
          <p:cNvSpPr/>
          <p:nvPr/>
        </p:nvSpPr>
        <p:spPr>
          <a:xfrm>
            <a:off x="669340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3" name="Shape 91"/>
          <p:cNvSpPr/>
          <p:nvPr/>
        </p:nvSpPr>
        <p:spPr>
          <a:xfrm>
            <a:off x="6894576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4" name="Shape 92"/>
          <p:cNvSpPr/>
          <p:nvPr/>
        </p:nvSpPr>
        <p:spPr>
          <a:xfrm>
            <a:off x="709574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691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6" name="Shape 94"/>
          <p:cNvSpPr/>
          <p:nvPr/>
        </p:nvSpPr>
        <p:spPr>
          <a:xfrm>
            <a:off x="749808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7" name="Shape 95"/>
          <p:cNvSpPr/>
          <p:nvPr/>
        </p:nvSpPr>
        <p:spPr>
          <a:xfrm>
            <a:off x="769924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8" name="Shape 96"/>
          <p:cNvSpPr/>
          <p:nvPr/>
        </p:nvSpPr>
        <p:spPr>
          <a:xfrm>
            <a:off x="790041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9" name="Shape 97"/>
          <p:cNvSpPr/>
          <p:nvPr/>
        </p:nvSpPr>
        <p:spPr>
          <a:xfrm>
            <a:off x="8101584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86400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68756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88736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89904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29107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92240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69340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89457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095744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29691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498080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699248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90041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101584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486400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68756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888736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089904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291072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49224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69340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89457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095744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6912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49808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69924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90041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101584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412480" y="1234440"/>
            <a:ext cx="82296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9418320" y="1234440"/>
            <a:ext cx="310896" cy="146304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9838944" y="502920"/>
            <a:ext cx="310896" cy="219456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259568" y="1783080"/>
            <a:ext cx="310896" cy="9144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80192" y="868680"/>
            <a:ext cx="310896" cy="18288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1100816" y="1508760"/>
            <a:ext cx="310896" cy="118872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4" name="Text 132"/>
          <p:cNvSpPr/>
          <p:nvPr/>
        </p:nvSpPr>
        <p:spPr>
          <a:xfrm>
            <a:off x="923544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pathways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136" name="Text 134"/>
          <p:cNvSpPr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Representation</a:t>
            </a:r>
            <a:endParaRPr lang="en-US" sz="3600" dirty="0"/>
          </a:p>
        </p:txBody>
      </p:sp>
      <p:sp>
        <p:nvSpPr>
          <p:cNvPr id="137" name="Text 135"/>
          <p:cNvSpPr/>
          <p:nvPr/>
        </p:nvSpPr>
        <p:spPr>
          <a:xfrm>
            <a:off x="640080" y="379476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64008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data, same model — change what the model sees.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UNIMI/IEO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turn we take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1: framed the problem, the data, leakage, batch, validation.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2: a trustworthy baseline — Logistic Regression, regularisation, honest evaluation.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hold the algorithm fixed and change the features — the representation of the biology.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defend: representation is often the biggest lever on performance.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feature representation matters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Re-explain the curse of dimensionality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feature engineering from selection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gene-filtering strategies (variance, DE)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biological signatures &amp; pathway features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LASSO-based selection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feature-selection leakage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feature strategies in biomarker studies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 idea: representation over algorithm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biology can be described many ways: 20,000 raw genes, or 50 pathway scores.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do not see “biology” — they see the numbers we choose to feed them.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those numbers (the representation) often beats changing the model.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lecture’s thesis; everything else is evidence for it.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30175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30175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32520" y="3246120"/>
            <a:ext cx="137160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100553" y="2894951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0100553" y="2894951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algorithm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3611880"/>
            <a:ext cx="1371600" cy="914400"/>
          </a:xfrm>
          <a:prstGeom prst="line">
            <a:avLst/>
          </a:prstGeom>
          <a:noFill/>
          <a:ln w="635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058400" y="393192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0" y="3931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representation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features matter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algorithm on a poor representation still fails.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noisy genes vs 50 meaningful pathway scores: the latter carries far less noise per feature.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biomarker studies the winning move is frequently a better feature, not a fancier classifier.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prior biology the model would otherwise have to rediscover from scarce data.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Shape 6"/>
          <p:cNvSpPr/>
          <p:nvPr/>
        </p:nvSpPr>
        <p:spPr>
          <a:xfrm>
            <a:off x="697687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709574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" name="Shape 8"/>
          <p:cNvSpPr/>
          <p:nvPr/>
        </p:nvSpPr>
        <p:spPr>
          <a:xfrm>
            <a:off x="7214616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745236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571232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90104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80897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7" name="Shape 14"/>
          <p:cNvSpPr/>
          <p:nvPr/>
        </p:nvSpPr>
        <p:spPr>
          <a:xfrm>
            <a:off x="792784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0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6559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828446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1" name="Shape 18"/>
          <p:cNvSpPr/>
          <p:nvPr/>
        </p:nvSpPr>
        <p:spPr>
          <a:xfrm>
            <a:off x="840333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2" name="Shape 19"/>
          <p:cNvSpPr/>
          <p:nvPr/>
        </p:nvSpPr>
        <p:spPr>
          <a:xfrm>
            <a:off x="852220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864108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8759952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5" name="Shape 22"/>
          <p:cNvSpPr/>
          <p:nvPr/>
        </p:nvSpPr>
        <p:spPr>
          <a:xfrm>
            <a:off x="887882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6" name="Shape 23"/>
          <p:cNvSpPr/>
          <p:nvPr/>
        </p:nvSpPr>
        <p:spPr>
          <a:xfrm>
            <a:off x="6858000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697687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8" name="Shape 25"/>
          <p:cNvSpPr/>
          <p:nvPr/>
        </p:nvSpPr>
        <p:spPr>
          <a:xfrm>
            <a:off x="709574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9" name="Shape 26"/>
          <p:cNvSpPr/>
          <p:nvPr/>
        </p:nvSpPr>
        <p:spPr>
          <a:xfrm>
            <a:off x="721461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733348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7452360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2" name="Shape 29"/>
          <p:cNvSpPr/>
          <p:nvPr/>
        </p:nvSpPr>
        <p:spPr>
          <a:xfrm>
            <a:off x="7571232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7690104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4" name="Shape 31"/>
          <p:cNvSpPr/>
          <p:nvPr/>
        </p:nvSpPr>
        <p:spPr>
          <a:xfrm>
            <a:off x="780897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5" name="Shape 32"/>
          <p:cNvSpPr/>
          <p:nvPr/>
        </p:nvSpPr>
        <p:spPr>
          <a:xfrm>
            <a:off x="792784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804672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816559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8" name="Shape 35"/>
          <p:cNvSpPr/>
          <p:nvPr/>
        </p:nvSpPr>
        <p:spPr>
          <a:xfrm>
            <a:off x="8284464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8403336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8522208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1" name="Shape 38"/>
          <p:cNvSpPr/>
          <p:nvPr/>
        </p:nvSpPr>
        <p:spPr>
          <a:xfrm>
            <a:off x="864108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2" name="Shape 39"/>
          <p:cNvSpPr/>
          <p:nvPr/>
        </p:nvSpPr>
        <p:spPr>
          <a:xfrm>
            <a:off x="875995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3" name="Shape 40"/>
          <p:cNvSpPr/>
          <p:nvPr/>
        </p:nvSpPr>
        <p:spPr>
          <a:xfrm>
            <a:off x="887882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4" name="Shape 41"/>
          <p:cNvSpPr/>
          <p:nvPr/>
        </p:nvSpPr>
        <p:spPr>
          <a:xfrm>
            <a:off x="685800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697687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6" name="Shape 43"/>
          <p:cNvSpPr/>
          <p:nvPr/>
        </p:nvSpPr>
        <p:spPr>
          <a:xfrm>
            <a:off x="709574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7214616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8" name="Shape 45"/>
          <p:cNvSpPr/>
          <p:nvPr/>
        </p:nvSpPr>
        <p:spPr>
          <a:xfrm>
            <a:off x="7333488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45236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7571232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769010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2" name="Shape 49"/>
          <p:cNvSpPr/>
          <p:nvPr/>
        </p:nvSpPr>
        <p:spPr>
          <a:xfrm>
            <a:off x="780897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7927848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46720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5" name="Shape 52"/>
          <p:cNvSpPr/>
          <p:nvPr/>
        </p:nvSpPr>
        <p:spPr>
          <a:xfrm>
            <a:off x="816559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6" name="Shape 53"/>
          <p:cNvSpPr/>
          <p:nvPr/>
        </p:nvSpPr>
        <p:spPr>
          <a:xfrm>
            <a:off x="8284464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7" name="Shape 54"/>
          <p:cNvSpPr/>
          <p:nvPr/>
        </p:nvSpPr>
        <p:spPr>
          <a:xfrm>
            <a:off x="840333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8522208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9" name="Shape 56"/>
          <p:cNvSpPr/>
          <p:nvPr/>
        </p:nvSpPr>
        <p:spPr>
          <a:xfrm>
            <a:off x="8641080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8759952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1" name="Shape 58"/>
          <p:cNvSpPr/>
          <p:nvPr/>
        </p:nvSpPr>
        <p:spPr>
          <a:xfrm>
            <a:off x="8878824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2" name="Shape 59"/>
          <p:cNvSpPr/>
          <p:nvPr/>
        </p:nvSpPr>
        <p:spPr>
          <a:xfrm>
            <a:off x="685800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697687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4" name="Shape 61"/>
          <p:cNvSpPr/>
          <p:nvPr/>
        </p:nvSpPr>
        <p:spPr>
          <a:xfrm>
            <a:off x="709574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721461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6" name="Shape 63"/>
          <p:cNvSpPr/>
          <p:nvPr/>
        </p:nvSpPr>
        <p:spPr>
          <a:xfrm>
            <a:off x="733348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7" name="Shape 64"/>
          <p:cNvSpPr/>
          <p:nvPr/>
        </p:nvSpPr>
        <p:spPr>
          <a:xfrm>
            <a:off x="7452360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8" name="Shape 65"/>
          <p:cNvSpPr/>
          <p:nvPr/>
        </p:nvSpPr>
        <p:spPr>
          <a:xfrm>
            <a:off x="7571232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7690104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0" name="Shape 67"/>
          <p:cNvSpPr/>
          <p:nvPr/>
        </p:nvSpPr>
        <p:spPr>
          <a:xfrm>
            <a:off x="7808976" y="2542032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1" name="Shape 68"/>
          <p:cNvSpPr/>
          <p:nvPr/>
        </p:nvSpPr>
        <p:spPr>
          <a:xfrm>
            <a:off x="7927848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804672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3" name="Shape 70"/>
          <p:cNvSpPr/>
          <p:nvPr/>
        </p:nvSpPr>
        <p:spPr>
          <a:xfrm>
            <a:off x="8165592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4" name="Shape 71"/>
          <p:cNvSpPr/>
          <p:nvPr/>
        </p:nvSpPr>
        <p:spPr>
          <a:xfrm>
            <a:off x="828446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840333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852220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7" name="Shape 74"/>
          <p:cNvSpPr/>
          <p:nvPr/>
        </p:nvSpPr>
        <p:spPr>
          <a:xfrm>
            <a:off x="864108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8" name="Shape 75"/>
          <p:cNvSpPr/>
          <p:nvPr/>
        </p:nvSpPr>
        <p:spPr>
          <a:xfrm>
            <a:off x="875995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9" name="Shape 76"/>
          <p:cNvSpPr/>
          <p:nvPr/>
        </p:nvSpPr>
        <p:spPr>
          <a:xfrm>
            <a:off x="8878824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0" name="Shape 77"/>
          <p:cNvSpPr/>
          <p:nvPr/>
        </p:nvSpPr>
        <p:spPr>
          <a:xfrm>
            <a:off x="6858000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1" name="Shape 78"/>
          <p:cNvSpPr/>
          <p:nvPr/>
        </p:nvSpPr>
        <p:spPr>
          <a:xfrm>
            <a:off x="6976872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2" name="Shape 79"/>
          <p:cNvSpPr/>
          <p:nvPr/>
        </p:nvSpPr>
        <p:spPr>
          <a:xfrm>
            <a:off x="709574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214616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733348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5" name="Shape 82"/>
          <p:cNvSpPr/>
          <p:nvPr/>
        </p:nvSpPr>
        <p:spPr>
          <a:xfrm>
            <a:off x="745236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6" name="Shape 83"/>
          <p:cNvSpPr/>
          <p:nvPr/>
        </p:nvSpPr>
        <p:spPr>
          <a:xfrm>
            <a:off x="757123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7690104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8" name="Shape 85"/>
          <p:cNvSpPr/>
          <p:nvPr/>
        </p:nvSpPr>
        <p:spPr>
          <a:xfrm>
            <a:off x="7808976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9" name="Shape 86"/>
          <p:cNvSpPr/>
          <p:nvPr/>
        </p:nvSpPr>
        <p:spPr>
          <a:xfrm>
            <a:off x="792784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0" name="Shape 87"/>
          <p:cNvSpPr/>
          <p:nvPr/>
        </p:nvSpPr>
        <p:spPr>
          <a:xfrm>
            <a:off x="804672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1" name="Shape 88"/>
          <p:cNvSpPr/>
          <p:nvPr/>
        </p:nvSpPr>
        <p:spPr>
          <a:xfrm>
            <a:off x="816559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8284464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3" name="Shape 90"/>
          <p:cNvSpPr/>
          <p:nvPr/>
        </p:nvSpPr>
        <p:spPr>
          <a:xfrm>
            <a:off x="8403336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4" name="Shape 91"/>
          <p:cNvSpPr/>
          <p:nvPr/>
        </p:nvSpPr>
        <p:spPr>
          <a:xfrm>
            <a:off x="8522208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5" name="Shape 92"/>
          <p:cNvSpPr/>
          <p:nvPr/>
        </p:nvSpPr>
        <p:spPr>
          <a:xfrm>
            <a:off x="8641080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6" name="Shape 93"/>
          <p:cNvSpPr/>
          <p:nvPr/>
        </p:nvSpPr>
        <p:spPr>
          <a:xfrm>
            <a:off x="8759952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7" name="Shape 94"/>
          <p:cNvSpPr/>
          <p:nvPr/>
        </p:nvSpPr>
        <p:spPr>
          <a:xfrm>
            <a:off x="887882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685800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9" name="Shape 96"/>
          <p:cNvSpPr/>
          <p:nvPr/>
        </p:nvSpPr>
        <p:spPr>
          <a:xfrm>
            <a:off x="697687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0" name="Shape 97"/>
          <p:cNvSpPr/>
          <p:nvPr/>
        </p:nvSpPr>
        <p:spPr>
          <a:xfrm>
            <a:off x="709574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7214616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2" name="Shape 99"/>
          <p:cNvSpPr/>
          <p:nvPr/>
        </p:nvSpPr>
        <p:spPr>
          <a:xfrm>
            <a:off x="7333488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3" name="Shape 100"/>
          <p:cNvSpPr/>
          <p:nvPr/>
        </p:nvSpPr>
        <p:spPr>
          <a:xfrm>
            <a:off x="7452360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57123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69010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7808976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7927848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046720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16559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28446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8403336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8522208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64108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4" name="Shape 111"/>
          <p:cNvSpPr/>
          <p:nvPr/>
        </p:nvSpPr>
        <p:spPr>
          <a:xfrm>
            <a:off x="875995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5" name="Shape 112"/>
          <p:cNvSpPr/>
          <p:nvPr/>
        </p:nvSpPr>
        <p:spPr>
          <a:xfrm>
            <a:off x="887882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6" name="Text 113"/>
          <p:cNvSpPr/>
          <p:nvPr/>
        </p:nvSpPr>
        <p:spPr>
          <a:xfrm>
            <a:off x="6858000" y="303580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genes (mostly noise)</a:t>
            </a:r>
            <a:endParaRPr lang="en-US" sz="900" dirty="0"/>
          </a:p>
        </p:txBody>
      </p:sp>
      <p:sp>
        <p:nvSpPr>
          <p:cNvPr id="117" name="Shape 114"/>
          <p:cNvSpPr/>
          <p:nvPr/>
        </p:nvSpPr>
        <p:spPr>
          <a:xfrm>
            <a:off x="10058400" y="2103120"/>
            <a:ext cx="20116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8" name="Shape 115"/>
          <p:cNvSpPr/>
          <p:nvPr/>
        </p:nvSpPr>
        <p:spPr>
          <a:xfrm>
            <a:off x="10332720" y="2514600"/>
            <a:ext cx="201168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6"/>
          <p:cNvSpPr/>
          <p:nvPr/>
        </p:nvSpPr>
        <p:spPr>
          <a:xfrm>
            <a:off x="10607040" y="2286000"/>
            <a:ext cx="201168" cy="7315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7"/>
          <p:cNvSpPr/>
          <p:nvPr/>
        </p:nvSpPr>
        <p:spPr>
          <a:xfrm>
            <a:off x="10881360" y="2651760"/>
            <a:ext cx="20116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1" name="Shape 118"/>
          <p:cNvSpPr/>
          <p:nvPr/>
        </p:nvSpPr>
        <p:spPr>
          <a:xfrm>
            <a:off x="11155680" y="2377440"/>
            <a:ext cx="201168" cy="6400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Text 119"/>
          <p:cNvSpPr/>
          <p:nvPr/>
        </p:nvSpPr>
        <p:spPr>
          <a:xfrm>
            <a:off x="1005840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 scores</a:t>
            </a:r>
            <a:endParaRPr lang="en-US" sz="900" dirty="0"/>
          </a:p>
        </p:txBody>
      </p:sp>
      <p:sp>
        <p:nvSpPr>
          <p:cNvPr id="123" name="Shape 120"/>
          <p:cNvSpPr/>
          <p:nvPr/>
        </p:nvSpPr>
        <p:spPr>
          <a:xfrm>
            <a:off x="822960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4" name="Text 121"/>
          <p:cNvSpPr/>
          <p:nvPr/>
        </p:nvSpPr>
        <p:spPr>
          <a:xfrm>
            <a:off x="8229600" y="4206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Logistic Regression</a:t>
            </a:r>
            <a:endParaRPr lang="en-US" sz="1100" dirty="0"/>
          </a:p>
        </p:txBody>
      </p:sp>
      <p:sp>
        <p:nvSpPr>
          <p:cNvPr id="125" name="Shape 122"/>
          <p:cNvSpPr/>
          <p:nvPr/>
        </p:nvSpPr>
        <p:spPr>
          <a:xfrm>
            <a:off x="7680960" y="3383280"/>
            <a:ext cx="1097280" cy="7772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26" name="Shape 123"/>
          <p:cNvSpPr/>
          <p:nvPr/>
        </p:nvSpPr>
        <p:spPr>
          <a:xfrm flipH="1">
            <a:off x="9546336" y="3310128"/>
            <a:ext cx="877824" cy="850392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concrete comparison (our case study)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METABRIC patients, same Logistic Regression, three representations: all genes / filtered genes / pathway scores.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we test in the practical: fewer, biologically-coherent features generalise as well or better.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changing the model — only what it is allowed to see.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97280" y="374904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97280" y="3749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flipV="1">
            <a:off x="3200400" y="4160520"/>
            <a:ext cx="1463040" cy="13716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75488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flipV="1">
            <a:off x="3200400" y="3749040"/>
            <a:ext cx="1463040" cy="54864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75488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genes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4297680"/>
            <a:ext cx="1463040" cy="27432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75488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scores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66560" y="4297680"/>
            <a:ext cx="10972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955280" y="38404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955280" y="3840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12680" y="4297680"/>
            <a:ext cx="6400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10698480" y="3931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curse of dimensionality, revisited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again: ~200–2,000 patients, ~20,000 genes — far more features than samples.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 many features, some will correlate with outcome by pure chance.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Consequences: noise accumulation, unstable models, overfitting as the default.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is one of our few real defences — fewer, better features shrink p toward n.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76656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6656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" name="Shape 9"/>
          <p:cNvSpPr/>
          <p:nvPr/>
        </p:nvSpPr>
        <p:spPr>
          <a:xfrm>
            <a:off x="73152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6384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804672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822960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9" name="Shape 16"/>
          <p:cNvSpPr/>
          <p:nvPr/>
        </p:nvSpPr>
        <p:spPr>
          <a:xfrm>
            <a:off x="859536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0" name="Shape 17"/>
          <p:cNvSpPr/>
          <p:nvPr/>
        </p:nvSpPr>
        <p:spPr>
          <a:xfrm>
            <a:off x="877824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96112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91440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3" name="Shape 20"/>
          <p:cNvSpPr/>
          <p:nvPr/>
        </p:nvSpPr>
        <p:spPr>
          <a:xfrm>
            <a:off x="932688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4" name="Shape 21"/>
          <p:cNvSpPr/>
          <p:nvPr/>
        </p:nvSpPr>
        <p:spPr>
          <a:xfrm>
            <a:off x="950976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5" name="Shape 22"/>
          <p:cNvSpPr/>
          <p:nvPr/>
        </p:nvSpPr>
        <p:spPr>
          <a:xfrm>
            <a:off x="96926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6" name="Shape 23"/>
          <p:cNvSpPr/>
          <p:nvPr/>
        </p:nvSpPr>
        <p:spPr>
          <a:xfrm>
            <a:off x="987552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7" name="Shape 24"/>
          <p:cNvSpPr/>
          <p:nvPr/>
        </p:nvSpPr>
        <p:spPr>
          <a:xfrm>
            <a:off x="100584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8" name="Shape 25"/>
          <p:cNvSpPr/>
          <p:nvPr/>
        </p:nvSpPr>
        <p:spPr>
          <a:xfrm>
            <a:off x="1024128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42416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106070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078992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097280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3" name="Shape 30"/>
          <p:cNvSpPr/>
          <p:nvPr/>
        </p:nvSpPr>
        <p:spPr>
          <a:xfrm>
            <a:off x="1115568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133856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5" name="Shape 32"/>
          <p:cNvSpPr/>
          <p:nvPr/>
        </p:nvSpPr>
        <p:spPr>
          <a:xfrm>
            <a:off x="676656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6" name="Shape 33"/>
          <p:cNvSpPr/>
          <p:nvPr/>
        </p:nvSpPr>
        <p:spPr>
          <a:xfrm>
            <a:off x="69494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713232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76809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786384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2" name="Shape 39"/>
          <p:cNvSpPr/>
          <p:nvPr/>
        </p:nvSpPr>
        <p:spPr>
          <a:xfrm>
            <a:off x="804672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3" name="Shape 40"/>
          <p:cNvSpPr/>
          <p:nvPr/>
        </p:nvSpPr>
        <p:spPr>
          <a:xfrm>
            <a:off x="82296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5" name="Shape 42"/>
          <p:cNvSpPr/>
          <p:nvPr/>
        </p:nvSpPr>
        <p:spPr>
          <a:xfrm>
            <a:off x="859536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6" name="Shape 43"/>
          <p:cNvSpPr/>
          <p:nvPr/>
        </p:nvSpPr>
        <p:spPr>
          <a:xfrm>
            <a:off x="87782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896112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8" name="Shape 45"/>
          <p:cNvSpPr/>
          <p:nvPr/>
        </p:nvSpPr>
        <p:spPr>
          <a:xfrm>
            <a:off x="91440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268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0" name="Shape 47"/>
          <p:cNvSpPr/>
          <p:nvPr/>
        </p:nvSpPr>
        <p:spPr>
          <a:xfrm>
            <a:off x="950976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1" name="Shape 48"/>
          <p:cNvSpPr/>
          <p:nvPr/>
        </p:nvSpPr>
        <p:spPr>
          <a:xfrm>
            <a:off x="969264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987552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005840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1"/>
          <p:cNvSpPr/>
          <p:nvPr/>
        </p:nvSpPr>
        <p:spPr>
          <a:xfrm>
            <a:off x="102412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241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106070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7" name="Shape 54"/>
          <p:cNvSpPr/>
          <p:nvPr/>
        </p:nvSpPr>
        <p:spPr>
          <a:xfrm>
            <a:off x="1078992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8" name="Shape 55"/>
          <p:cNvSpPr/>
          <p:nvPr/>
        </p:nvSpPr>
        <p:spPr>
          <a:xfrm>
            <a:off x="109728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9" name="Shape 56"/>
          <p:cNvSpPr/>
          <p:nvPr/>
        </p:nvSpPr>
        <p:spPr>
          <a:xfrm>
            <a:off x="1115568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0" name="Shape 57"/>
          <p:cNvSpPr/>
          <p:nvPr/>
        </p:nvSpPr>
        <p:spPr>
          <a:xfrm>
            <a:off x="113385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67665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694944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3" name="Shape 60"/>
          <p:cNvSpPr/>
          <p:nvPr/>
        </p:nvSpPr>
        <p:spPr>
          <a:xfrm>
            <a:off x="71323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4" name="Shape 61"/>
          <p:cNvSpPr/>
          <p:nvPr/>
        </p:nvSpPr>
        <p:spPr>
          <a:xfrm>
            <a:off x="731520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5" name="Shape 62"/>
          <p:cNvSpPr/>
          <p:nvPr/>
        </p:nvSpPr>
        <p:spPr>
          <a:xfrm>
            <a:off x="749808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6" name="Shape 63"/>
          <p:cNvSpPr/>
          <p:nvPr/>
        </p:nvSpPr>
        <p:spPr>
          <a:xfrm>
            <a:off x="76809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786384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80467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9" name="Shape 66"/>
          <p:cNvSpPr/>
          <p:nvPr/>
        </p:nvSpPr>
        <p:spPr>
          <a:xfrm>
            <a:off x="822960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841248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1" name="Shape 68"/>
          <p:cNvSpPr/>
          <p:nvPr/>
        </p:nvSpPr>
        <p:spPr>
          <a:xfrm>
            <a:off x="859536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2" name="Shape 69"/>
          <p:cNvSpPr/>
          <p:nvPr/>
        </p:nvSpPr>
        <p:spPr>
          <a:xfrm>
            <a:off x="877824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3" name="Shape 70"/>
          <p:cNvSpPr/>
          <p:nvPr/>
        </p:nvSpPr>
        <p:spPr>
          <a:xfrm>
            <a:off x="89611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4" name="Shape 71"/>
          <p:cNvSpPr/>
          <p:nvPr/>
        </p:nvSpPr>
        <p:spPr>
          <a:xfrm>
            <a:off x="914400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2"/>
          <p:cNvSpPr/>
          <p:nvPr/>
        </p:nvSpPr>
        <p:spPr>
          <a:xfrm>
            <a:off x="932688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95097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969264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98755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05840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1024128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1042416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2" name="Shape 79"/>
          <p:cNvSpPr/>
          <p:nvPr/>
        </p:nvSpPr>
        <p:spPr>
          <a:xfrm>
            <a:off x="1060704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3" name="Shape 80"/>
          <p:cNvSpPr/>
          <p:nvPr/>
        </p:nvSpPr>
        <p:spPr>
          <a:xfrm>
            <a:off x="1078992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1097280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5" name="Shape 82"/>
          <p:cNvSpPr/>
          <p:nvPr/>
        </p:nvSpPr>
        <p:spPr>
          <a:xfrm>
            <a:off x="1115568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1133856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7" name="Shape 84"/>
          <p:cNvSpPr/>
          <p:nvPr/>
        </p:nvSpPr>
        <p:spPr>
          <a:xfrm>
            <a:off x="67665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694944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13232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0" name="Shape 87"/>
          <p:cNvSpPr/>
          <p:nvPr/>
        </p:nvSpPr>
        <p:spPr>
          <a:xfrm>
            <a:off x="731520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1" name="Shape 88"/>
          <p:cNvSpPr/>
          <p:nvPr/>
        </p:nvSpPr>
        <p:spPr>
          <a:xfrm>
            <a:off x="74980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2" name="Shape 89"/>
          <p:cNvSpPr/>
          <p:nvPr/>
        </p:nvSpPr>
        <p:spPr>
          <a:xfrm>
            <a:off x="76809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786384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4" name="Shape 91"/>
          <p:cNvSpPr/>
          <p:nvPr/>
        </p:nvSpPr>
        <p:spPr>
          <a:xfrm>
            <a:off x="804672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5" name="Shape 92"/>
          <p:cNvSpPr/>
          <p:nvPr/>
        </p:nvSpPr>
        <p:spPr>
          <a:xfrm>
            <a:off x="822960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841248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7" name="Shape 94"/>
          <p:cNvSpPr/>
          <p:nvPr/>
        </p:nvSpPr>
        <p:spPr>
          <a:xfrm>
            <a:off x="85953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8" name="Shape 95"/>
          <p:cNvSpPr/>
          <p:nvPr/>
        </p:nvSpPr>
        <p:spPr>
          <a:xfrm>
            <a:off x="877824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9" name="Shape 96"/>
          <p:cNvSpPr/>
          <p:nvPr/>
        </p:nvSpPr>
        <p:spPr>
          <a:xfrm>
            <a:off x="896112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914400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1" name="Shape 98"/>
          <p:cNvSpPr/>
          <p:nvPr/>
        </p:nvSpPr>
        <p:spPr>
          <a:xfrm>
            <a:off x="93268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2" name="Shape 99"/>
          <p:cNvSpPr/>
          <p:nvPr/>
        </p:nvSpPr>
        <p:spPr>
          <a:xfrm>
            <a:off x="95097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969264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87552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005840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102412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04241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1060704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1078992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97280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1" name="Shape 108"/>
          <p:cNvSpPr/>
          <p:nvPr/>
        </p:nvSpPr>
        <p:spPr>
          <a:xfrm>
            <a:off x="111556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113385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778240" y="3840480"/>
            <a:ext cx="0" cy="45720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4" name="Text 111"/>
          <p:cNvSpPr/>
          <p:nvPr/>
        </p:nvSpPr>
        <p:spPr>
          <a:xfrm>
            <a:off x="6766560" y="4343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→ 50 pathways  (n unchanged)</a:t>
            </a:r>
            <a:endParaRPr lang="en-US" sz="1100" dirty="0"/>
          </a:p>
        </p:txBody>
      </p:sp>
      <p:sp>
        <p:nvSpPr>
          <p:cNvPr id="115" name="Shape 112"/>
          <p:cNvSpPr/>
          <p:nvPr/>
        </p:nvSpPr>
        <p:spPr>
          <a:xfrm>
            <a:off x="822960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6" name="Shape 113"/>
          <p:cNvSpPr/>
          <p:nvPr/>
        </p:nvSpPr>
        <p:spPr>
          <a:xfrm>
            <a:off x="841248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7" name="Shape 114"/>
          <p:cNvSpPr/>
          <p:nvPr/>
        </p:nvSpPr>
        <p:spPr>
          <a:xfrm>
            <a:off x="859536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8" name="Shape 115"/>
          <p:cNvSpPr/>
          <p:nvPr/>
        </p:nvSpPr>
        <p:spPr>
          <a:xfrm>
            <a:off x="877824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6"/>
          <p:cNvSpPr/>
          <p:nvPr/>
        </p:nvSpPr>
        <p:spPr>
          <a:xfrm>
            <a:off x="896112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7"/>
          <p:cNvSpPr/>
          <p:nvPr/>
        </p:nvSpPr>
        <p:spPr>
          <a:xfrm>
            <a:off x="914400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1" name="Shape 118"/>
          <p:cNvSpPr/>
          <p:nvPr/>
        </p:nvSpPr>
        <p:spPr>
          <a:xfrm>
            <a:off x="932688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Shape 119"/>
          <p:cNvSpPr/>
          <p:nvPr/>
        </p:nvSpPr>
        <p:spPr>
          <a:xfrm>
            <a:off x="950976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22960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41248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5" name="Shape 122"/>
          <p:cNvSpPr/>
          <p:nvPr/>
        </p:nvSpPr>
        <p:spPr>
          <a:xfrm>
            <a:off x="859536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6" name="Shape 123"/>
          <p:cNvSpPr/>
          <p:nvPr/>
        </p:nvSpPr>
        <p:spPr>
          <a:xfrm>
            <a:off x="877824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7" name="Shape 124"/>
          <p:cNvSpPr/>
          <p:nvPr/>
        </p:nvSpPr>
        <p:spPr>
          <a:xfrm>
            <a:off x="896112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14400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9" name="Shape 126"/>
          <p:cNvSpPr/>
          <p:nvPr/>
        </p:nvSpPr>
        <p:spPr>
          <a:xfrm>
            <a:off x="932688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0" name="Shape 127"/>
          <p:cNvSpPr/>
          <p:nvPr/>
        </p:nvSpPr>
        <p:spPr>
          <a:xfrm>
            <a:off x="950976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31" name="Shape 128"/>
          <p:cNvSpPr/>
          <p:nvPr/>
        </p:nvSpPr>
        <p:spPr>
          <a:xfrm>
            <a:off x="822960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412480" y="506577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59536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77824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96112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6" name="Shape 133"/>
          <p:cNvSpPr/>
          <p:nvPr/>
        </p:nvSpPr>
        <p:spPr>
          <a:xfrm>
            <a:off x="9144000" y="506577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7" name="Shape 134"/>
          <p:cNvSpPr/>
          <p:nvPr/>
        </p:nvSpPr>
        <p:spPr>
          <a:xfrm>
            <a:off x="9326880" y="506577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50976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9" name="Shape 136"/>
          <p:cNvSpPr/>
          <p:nvPr/>
        </p:nvSpPr>
        <p:spPr>
          <a:xfrm>
            <a:off x="8229600" y="526694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0" name="Shape 137"/>
          <p:cNvSpPr/>
          <p:nvPr/>
        </p:nvSpPr>
        <p:spPr>
          <a:xfrm>
            <a:off x="841248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1" name="Shape 138"/>
          <p:cNvSpPr/>
          <p:nvPr/>
        </p:nvSpPr>
        <p:spPr>
          <a:xfrm>
            <a:off x="859536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2" name="Shape 139"/>
          <p:cNvSpPr/>
          <p:nvPr/>
        </p:nvSpPr>
        <p:spPr>
          <a:xfrm>
            <a:off x="8778240" y="5266944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3" name="Shape 140"/>
          <p:cNvSpPr/>
          <p:nvPr/>
        </p:nvSpPr>
        <p:spPr>
          <a:xfrm>
            <a:off x="8961120" y="526694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4" name="Shape 141"/>
          <p:cNvSpPr/>
          <p:nvPr/>
        </p:nvSpPr>
        <p:spPr>
          <a:xfrm>
            <a:off x="9144000" y="5266944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5" name="Shape 142"/>
          <p:cNvSpPr/>
          <p:nvPr/>
        </p:nvSpPr>
        <p:spPr>
          <a:xfrm>
            <a:off x="932688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6" name="Shape 143"/>
          <p:cNvSpPr/>
          <p:nvPr/>
        </p:nvSpPr>
        <p:spPr>
          <a:xfrm>
            <a:off x="950976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dimensionality hurts, intuitively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added noisy feature is another chance to fit randomness.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and correlations become unreliable in very high dimensions.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spreads its limited attention across thousands of mostly-irrelevant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to meaningful features concentrates signal and stabilises what the model learns.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194560"/>
            <a:ext cx="29260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52274" y="29207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3022" y="4663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7776920" y="30388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911443" y="42933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8139582" y="30705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8306797" y="50855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8731375" y="2996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7943433" y="28767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7862158" y="43057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8403548" y="40233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7392059" y="465999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120732" y="49356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9239050" y="232803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9490828" y="487388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25293" y="40788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8052538" y="4224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6794541" y="40369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7522379" y="34424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7150451" y="32106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8433216" y="350581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7595909" y="50258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3080" y="30496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8217305" y="251272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2" name="Shape 29"/>
          <p:cNvSpPr/>
          <p:nvPr/>
        </p:nvSpPr>
        <p:spPr>
          <a:xfrm>
            <a:off x="8661708" y="2567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3" name="Shape 30"/>
          <p:cNvSpPr/>
          <p:nvPr/>
        </p:nvSpPr>
        <p:spPr>
          <a:xfrm>
            <a:off x="8845231" y="33024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9236063" y="25658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517014" y="35631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7170841" y="31553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8615889" y="26361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9066341" y="34739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6938156" y="4586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7822983" y="28688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7092252" y="334862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8793921" y="471808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7695679" y="48305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768497" y="415355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9071799" y="36187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7785841" y="4477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62963" y="354713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9468696" y="308449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8354857" y="31069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7773451" y="248852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7890569" y="26541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8123801" y="393247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6925626" y="23431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7161666" y="29790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5" name="Shape 52"/>
          <p:cNvSpPr/>
          <p:nvPr/>
        </p:nvSpPr>
        <p:spPr>
          <a:xfrm>
            <a:off x="8141061" y="4727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7963155" y="269676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7" name="Shape 54"/>
          <p:cNvSpPr/>
          <p:nvPr/>
        </p:nvSpPr>
        <p:spPr>
          <a:xfrm>
            <a:off x="8787646" y="39903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8625839" y="275104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9" name="Shape 56"/>
          <p:cNvSpPr/>
          <p:nvPr/>
        </p:nvSpPr>
        <p:spPr>
          <a:xfrm>
            <a:off x="7092273" y="37968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6878022" y="499294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8449947" y="25346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7576856" y="33106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3" name="Shape 60"/>
          <p:cNvSpPr/>
          <p:nvPr/>
        </p:nvSpPr>
        <p:spPr>
          <a:xfrm>
            <a:off x="8900824" y="28145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4" name="Shape 61"/>
          <p:cNvSpPr/>
          <p:nvPr/>
        </p:nvSpPr>
        <p:spPr>
          <a:xfrm>
            <a:off x="7695725" y="42010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6786476" y="255295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6" name="Shape 63"/>
          <p:cNvSpPr/>
          <p:nvPr/>
        </p:nvSpPr>
        <p:spPr>
          <a:xfrm>
            <a:off x="8108653" y="46599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8181835" y="2681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7571727" y="41152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8985805" y="360885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7678520" y="42170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8398664" y="307812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8800856" y="4748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3" name="Shape 70"/>
          <p:cNvSpPr/>
          <p:nvPr/>
        </p:nvSpPr>
        <p:spPr>
          <a:xfrm>
            <a:off x="7450540" y="263953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4" name="Shape 71"/>
          <p:cNvSpPr/>
          <p:nvPr/>
        </p:nvSpPr>
        <p:spPr>
          <a:xfrm>
            <a:off x="8024517" y="47504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8918371" y="337401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6" name="Shape 73"/>
          <p:cNvSpPr/>
          <p:nvPr/>
        </p:nvSpPr>
        <p:spPr>
          <a:xfrm>
            <a:off x="7764587" y="272544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9288348" y="31777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9074232" y="49591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9" name="Shape 76"/>
          <p:cNvSpPr/>
          <p:nvPr/>
        </p:nvSpPr>
        <p:spPr>
          <a:xfrm>
            <a:off x="7150165" y="30334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7679566" y="48258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9357286" y="42799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2" name="Shape 79"/>
          <p:cNvSpPr/>
          <p:nvPr/>
        </p:nvSpPr>
        <p:spPr>
          <a:xfrm>
            <a:off x="7318380" y="27425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998718" y="47722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8261718" y="4808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5" name="Shape 82"/>
          <p:cNvSpPr/>
          <p:nvPr/>
        </p:nvSpPr>
        <p:spPr>
          <a:xfrm>
            <a:off x="6767265" y="2937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8144220" y="2922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6970058" y="52108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7260998" y="37103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057708" y="275393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0" name="Shape 87"/>
          <p:cNvSpPr/>
          <p:nvPr/>
        </p:nvSpPr>
        <p:spPr>
          <a:xfrm>
            <a:off x="7204976" y="49216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1" name="Shape 88"/>
          <p:cNvSpPr/>
          <p:nvPr/>
        </p:nvSpPr>
        <p:spPr>
          <a:xfrm>
            <a:off x="7288069" y="23461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7211541" y="331670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8720924" y="469375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8227820" y="302480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5" name="Shape 92"/>
          <p:cNvSpPr/>
          <p:nvPr/>
        </p:nvSpPr>
        <p:spPr>
          <a:xfrm>
            <a:off x="7079158" y="45405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7093045" y="38958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7" name="Shape 94"/>
          <p:cNvSpPr/>
          <p:nvPr/>
        </p:nvSpPr>
        <p:spPr>
          <a:xfrm>
            <a:off x="8220204" y="4604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9400050" y="376522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9" name="Shape 96"/>
          <p:cNvSpPr/>
          <p:nvPr/>
        </p:nvSpPr>
        <p:spPr>
          <a:xfrm>
            <a:off x="7315042" y="32313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7829440" y="37579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9310096" y="349013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8542437" y="31767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367110" y="3357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243212" y="419199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083736" y="251097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6" name="Shape 103"/>
          <p:cNvSpPr/>
          <p:nvPr/>
        </p:nvSpPr>
        <p:spPr>
          <a:xfrm>
            <a:off x="7069655" y="46457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836182" y="391467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8" name="Shape 105"/>
          <p:cNvSpPr/>
          <p:nvPr/>
        </p:nvSpPr>
        <p:spPr>
          <a:xfrm>
            <a:off x="7940540" y="34215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6836132" y="31502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7083015" y="503692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1" name="Shape 108"/>
          <p:cNvSpPr/>
          <p:nvPr/>
        </p:nvSpPr>
        <p:spPr>
          <a:xfrm>
            <a:off x="6812949" y="23245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7036871" y="36093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7065939" y="30019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4" name="Shape 111"/>
          <p:cNvSpPr/>
          <p:nvPr/>
        </p:nvSpPr>
        <p:spPr>
          <a:xfrm>
            <a:off x="8269141" y="2740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5" name="Shape 112"/>
          <p:cNvSpPr/>
          <p:nvPr/>
        </p:nvSpPr>
        <p:spPr>
          <a:xfrm>
            <a:off x="7080842" y="47457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6" name="Shape 113"/>
          <p:cNvSpPr/>
          <p:nvPr/>
        </p:nvSpPr>
        <p:spPr>
          <a:xfrm>
            <a:off x="7871979" y="35456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7" name="Shape 114"/>
          <p:cNvSpPr/>
          <p:nvPr/>
        </p:nvSpPr>
        <p:spPr>
          <a:xfrm>
            <a:off x="9328676" y="445561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8" name="Shape 115"/>
          <p:cNvSpPr/>
          <p:nvPr/>
        </p:nvSpPr>
        <p:spPr>
          <a:xfrm>
            <a:off x="8598381" y="47458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9" name="Shape 116"/>
          <p:cNvSpPr/>
          <p:nvPr/>
        </p:nvSpPr>
        <p:spPr>
          <a:xfrm>
            <a:off x="7462567" y="23275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0" name="Shape 117"/>
          <p:cNvSpPr/>
          <p:nvPr/>
        </p:nvSpPr>
        <p:spPr>
          <a:xfrm>
            <a:off x="7809862" y="39902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261804" y="48281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779580" y="391127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441751" y="483306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793100" y="37687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953981" y="51116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6" name="Shape 123"/>
          <p:cNvSpPr/>
          <p:nvPr/>
        </p:nvSpPr>
        <p:spPr>
          <a:xfrm>
            <a:off x="8676595" y="4191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945066" y="43722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376112" y="41615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552944" y="3438144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0" name="Shape 127"/>
          <p:cNvSpPr/>
          <p:nvPr/>
        </p:nvSpPr>
        <p:spPr>
          <a:xfrm>
            <a:off x="8430768" y="4370832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1" name="Shape 128"/>
          <p:cNvSpPr/>
          <p:nvPr/>
        </p:nvSpPr>
        <p:spPr>
          <a:xfrm>
            <a:off x="8138160" y="29718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869680" y="3904488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845552" y="4059936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4" name="Text 131"/>
          <p:cNvSpPr/>
          <p:nvPr/>
        </p:nvSpPr>
        <p:spPr>
          <a:xfrm>
            <a:off x="6675120" y="5349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genes lost in noise</a:t>
            </a:r>
            <a:endParaRPr lang="en-US" sz="1000" dirty="0"/>
          </a:p>
        </p:txBody>
      </p:sp>
      <p:sp>
        <p:nvSpPr>
          <p:cNvPr id="135" name="Shape 132"/>
          <p:cNvSpPr/>
          <p:nvPr/>
        </p:nvSpPr>
        <p:spPr>
          <a:xfrm>
            <a:off x="9692640" y="3749040"/>
            <a:ext cx="6400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6" name="Shape 133"/>
          <p:cNvSpPr/>
          <p:nvPr/>
        </p:nvSpPr>
        <p:spPr>
          <a:xfrm>
            <a:off x="10515600" y="2743200"/>
            <a:ext cx="640080" cy="20116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7" name="Text 134"/>
          <p:cNvSpPr/>
          <p:nvPr/>
        </p:nvSpPr>
        <p:spPr>
          <a:xfrm>
            <a:off x="11247120" y="3108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bright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FEATURE ENGINEERING VS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jobs: feature engineering vs feature selection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create new, more informative features (e.g. a proliferation score from many genes).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selection: choose a subset of existing features (e.g. keep 100 genes, drop the rest).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rivals: engineer good features, then select among them.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must respect the split — decisions made on data are data-dependent (Lecture 2).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= build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3108960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3364992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7132320" y="3621024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132320" y="3877056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132320" y="4133088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7406640" y="3749040"/>
            <a:ext cx="640080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183880" y="3611880"/>
            <a:ext cx="457200" cy="45720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score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32688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= pick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10168128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10552176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10936224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10168128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10552176" y="36576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936224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Text 25"/>
          <p:cNvSpPr/>
          <p:nvPr/>
        </p:nvSpPr>
        <p:spPr>
          <a:xfrm>
            <a:off x="932688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few, drop the rest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variance filtering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genes that barely vary across patients — they cannot help discriminate.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unsupervised (uses no labels) → low leakage risk; a safe first pass.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high variance ≠ biological relevance (a noisy probe can be high-variance).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to shrink 20,000 → a few thousand before more careful steps.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694775184"/>
              </p:ext>
            </p:extLst>
          </p:nvPr>
        </p:nvGraphicFramePr>
        <p:xfrm>
          <a:off x="6583680" y="2286000"/>
          <a:ext cx="49377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8229600" y="2468880"/>
            <a:ext cx="0" cy="301752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8321040" y="27203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675120" y="5120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drop (low variance)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59536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→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differential expression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genes whose expression differs between outcomes (recurrence vs not).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— directly targets discriminating genes — but supervised, so it uses the label.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 a leakage hazard: on all data, it peeks at the outcome of test patients.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(Lecture 2, extended): DE filtering happens inside the split, never before.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249803" y="35730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9071642" y="41425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9855744" y="275956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225644" y="269078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9815330" y="38085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9878758" y="31197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8101571" y="38728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8189902" y="355694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10736280" y="42850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9079113" y="26355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8822272" y="38396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1171" y="27076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367459" y="41799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7806134" y="462119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8214904" y="24765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7328519" y="36671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8707252" y="39011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8573966" y="47781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8744165" y="43750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10994025" y="34097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8669348" y="347187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10248999" y="37362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3052" y="260625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441929" y="251433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10106464" y="38059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0373639" y="44604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529135" y="37297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9974600" y="42006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8045458" y="40743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7481565" y="246923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7357880" y="378131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8145673" y="442012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8063139" y="32484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10136514" y="35210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539775" y="298440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893432" y="493387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9863399" y="51825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6969078" y="46079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8591006" y="41264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7059760" y="33932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7365325" y="50522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8007296" y="36451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8955425" y="32517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8130789" y="42359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0503514" y="39220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58023" y="375624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5" name="Shape 52"/>
          <p:cNvSpPr/>
          <p:nvPr/>
        </p:nvSpPr>
        <p:spPr>
          <a:xfrm>
            <a:off x="9082024" y="24925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7046913" y="285775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801029" y="44458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7530401" y="249008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9435477" y="44939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10029988" y="466314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9142342" y="39259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10561721" y="46912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3" name="Shape 60"/>
          <p:cNvSpPr/>
          <p:nvPr/>
        </p:nvSpPr>
        <p:spPr>
          <a:xfrm>
            <a:off x="10396584" y="45785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4" name="Shape 61"/>
          <p:cNvSpPr/>
          <p:nvPr/>
        </p:nvSpPr>
        <p:spPr>
          <a:xfrm>
            <a:off x="8925501" y="42123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9163055" y="43660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6" name="Shape 63"/>
          <p:cNvSpPr/>
          <p:nvPr/>
        </p:nvSpPr>
        <p:spPr>
          <a:xfrm>
            <a:off x="10267786" y="253520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9465377" y="36069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9770591" y="50974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10556754" y="51441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8166126" y="47390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10134668" y="37078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9607130" y="28792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3" name="Shape 70"/>
          <p:cNvSpPr/>
          <p:nvPr/>
        </p:nvSpPr>
        <p:spPr>
          <a:xfrm>
            <a:off x="9240189" y="44961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4" name="Shape 71"/>
          <p:cNvSpPr/>
          <p:nvPr/>
        </p:nvSpPr>
        <p:spPr>
          <a:xfrm>
            <a:off x="10163340" y="391194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10714268" y="245245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6" name="Shape 73"/>
          <p:cNvSpPr/>
          <p:nvPr/>
        </p:nvSpPr>
        <p:spPr>
          <a:xfrm>
            <a:off x="11040076" y="394020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7704659" y="51296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10336076" y="357522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9" name="Shape 76"/>
          <p:cNvSpPr/>
          <p:nvPr/>
        </p:nvSpPr>
        <p:spPr>
          <a:xfrm>
            <a:off x="9065526" y="28389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10512776" y="368822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10872846" y="25477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82" name="Shape 79"/>
          <p:cNvSpPr/>
          <p:nvPr/>
        </p:nvSpPr>
        <p:spPr>
          <a:xfrm>
            <a:off x="6999784" y="51405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544975" y="480099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10228965" y="40934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5" name="Shape 82"/>
          <p:cNvSpPr/>
          <p:nvPr/>
        </p:nvSpPr>
        <p:spPr>
          <a:xfrm>
            <a:off x="11070941" y="45890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7192175" y="33128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8041219" y="39796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11012474" y="40126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776869" y="47531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0" name="Shape 87"/>
          <p:cNvSpPr/>
          <p:nvPr/>
        </p:nvSpPr>
        <p:spPr>
          <a:xfrm>
            <a:off x="7238723" y="299071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91" name="Shape 88"/>
          <p:cNvSpPr/>
          <p:nvPr/>
        </p:nvSpPr>
        <p:spPr>
          <a:xfrm>
            <a:off x="10283568" y="34335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7756753" y="47504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10946880" y="51492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7295525" y="38920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5" name="Shape 92"/>
          <p:cNvSpPr/>
          <p:nvPr/>
        </p:nvSpPr>
        <p:spPr>
          <a:xfrm>
            <a:off x="9020454" y="369176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8862873" y="31277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7" name="Shape 94"/>
          <p:cNvSpPr/>
          <p:nvPr/>
        </p:nvSpPr>
        <p:spPr>
          <a:xfrm>
            <a:off x="8783568" y="390847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10738002" y="37705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9" name="Shape 96"/>
          <p:cNvSpPr/>
          <p:nvPr/>
        </p:nvSpPr>
        <p:spPr>
          <a:xfrm>
            <a:off x="10500937" y="45787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020943" y="44271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7235847" y="40275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9065922" y="30529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688980" y="359525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064851" y="41566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0452013" y="36560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6" name="Shape 103"/>
          <p:cNvSpPr/>
          <p:nvPr/>
        </p:nvSpPr>
        <p:spPr>
          <a:xfrm>
            <a:off x="9712695" y="43362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643021" y="416570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8" name="Shape 105"/>
          <p:cNvSpPr/>
          <p:nvPr/>
        </p:nvSpPr>
        <p:spPr>
          <a:xfrm>
            <a:off x="10072267" y="285064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9242099" y="25417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099504" y="48872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1" name="Shape 108"/>
          <p:cNvSpPr/>
          <p:nvPr/>
        </p:nvSpPr>
        <p:spPr>
          <a:xfrm>
            <a:off x="8055973" y="36807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7239829" y="47405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005511" y="47297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270753" y="311856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5" name="Shape 112"/>
          <p:cNvSpPr/>
          <p:nvPr/>
        </p:nvSpPr>
        <p:spPr>
          <a:xfrm>
            <a:off x="7667728" y="310757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6" name="Shape 113"/>
          <p:cNvSpPr/>
          <p:nvPr/>
        </p:nvSpPr>
        <p:spPr>
          <a:xfrm>
            <a:off x="9715404" y="51674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7" name="Shape 114"/>
          <p:cNvSpPr/>
          <p:nvPr/>
        </p:nvSpPr>
        <p:spPr>
          <a:xfrm>
            <a:off x="8095214" y="34556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8" name="Shape 115"/>
          <p:cNvSpPr/>
          <p:nvPr/>
        </p:nvSpPr>
        <p:spPr>
          <a:xfrm>
            <a:off x="9755185" y="30963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9" name="Shape 116"/>
          <p:cNvSpPr/>
          <p:nvPr/>
        </p:nvSpPr>
        <p:spPr>
          <a:xfrm>
            <a:off x="10088988" y="435346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970414" y="39925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7795552" y="27252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0456356" y="43073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286924" y="46988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046325" y="37407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959667" y="42688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0226804" y="32284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752851" y="39055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460405" y="35955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8115116" y="43197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0" name="Shape 127"/>
          <p:cNvSpPr/>
          <p:nvPr/>
        </p:nvSpPr>
        <p:spPr>
          <a:xfrm>
            <a:off x="9658279" y="502411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456672" y="300251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341839" y="257893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171842" y="377988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4" name="Shape 131"/>
          <p:cNvSpPr/>
          <p:nvPr/>
        </p:nvSpPr>
        <p:spPr>
          <a:xfrm>
            <a:off x="7108777" y="41366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5" name="Shape 132"/>
          <p:cNvSpPr/>
          <p:nvPr/>
        </p:nvSpPr>
        <p:spPr>
          <a:xfrm>
            <a:off x="10794810" y="27846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6" name="Shape 133"/>
          <p:cNvSpPr/>
          <p:nvPr/>
        </p:nvSpPr>
        <p:spPr>
          <a:xfrm>
            <a:off x="9894371" y="43019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7" name="Shape 134"/>
          <p:cNvSpPr/>
          <p:nvPr/>
        </p:nvSpPr>
        <p:spPr>
          <a:xfrm>
            <a:off x="10163234" y="51323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404060" y="37574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0820824" y="266727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40" name="Shape 137"/>
          <p:cNvSpPr/>
          <p:nvPr/>
        </p:nvSpPr>
        <p:spPr>
          <a:xfrm>
            <a:off x="10294727" y="475926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1" name="Shape 138"/>
          <p:cNvSpPr/>
          <p:nvPr/>
        </p:nvSpPr>
        <p:spPr>
          <a:xfrm>
            <a:off x="10386736" y="35654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7145927" y="33324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3" name="Shape 140"/>
          <p:cNvSpPr/>
          <p:nvPr/>
        </p:nvSpPr>
        <p:spPr>
          <a:xfrm>
            <a:off x="7787040" y="500341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564130" y="46661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5" name="Shape 142"/>
          <p:cNvSpPr/>
          <p:nvPr/>
        </p:nvSpPr>
        <p:spPr>
          <a:xfrm>
            <a:off x="9685291" y="48247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6" name="Shape 143"/>
          <p:cNvSpPr/>
          <p:nvPr/>
        </p:nvSpPr>
        <p:spPr>
          <a:xfrm>
            <a:off x="10613140" y="424940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7" name="Shape 144"/>
          <p:cNvSpPr/>
          <p:nvPr/>
        </p:nvSpPr>
        <p:spPr>
          <a:xfrm>
            <a:off x="8004244" y="41147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207340" y="50514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9" name="Text 146"/>
          <p:cNvSpPr/>
          <p:nvPr/>
        </p:nvSpPr>
        <p:spPr>
          <a:xfrm>
            <a:off x="67665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fold-change →</a:t>
            </a:r>
            <a:endParaRPr lang="en-US" sz="900" dirty="0"/>
          </a:p>
        </p:txBody>
      </p:sp>
      <p:sp>
        <p:nvSpPr>
          <p:cNvPr id="150" name="Text 147"/>
          <p:cNvSpPr/>
          <p:nvPr/>
        </p:nvSpPr>
        <p:spPr>
          <a:xfrm>
            <a:off x="685800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−log10 p</a:t>
            </a:r>
            <a:endParaRPr lang="en-US" sz="900" dirty="0"/>
          </a:p>
        </p:txBody>
      </p:sp>
      <p:sp>
        <p:nvSpPr>
          <p:cNvPr id="151" name="Text 148"/>
          <p:cNvSpPr/>
          <p:nvPr/>
        </p:nvSpPr>
        <p:spPr>
          <a:xfrm>
            <a:off x="914400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(uses the label!)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Filtering: advantages and limitations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faster models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interpretation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filtering can keep noise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can leak and be unstable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genes individually — ignores coordinated programmes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that last limitation motivates the next idea: aggregate genes by biology.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feature engineering — the core idea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20,000 independent genes, summarise coordinated gene programmes into a few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signature score aggregates many genes that move together biologically into one number.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less noise (averaging), built-in prior knowledge, interpretable, more 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domain biology becomes a modelling advantage, not just context.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315200" y="246888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0" y="2468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32520" y="2670048"/>
            <a:ext cx="1188720" cy="1078992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3035808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0" y="3035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3236976"/>
            <a:ext cx="1188720" cy="512064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3602736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36027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3803904"/>
            <a:ext cx="1188720" cy="0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0" y="4169664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16966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V="1">
            <a:off x="8732520" y="3858769"/>
            <a:ext cx="1188720" cy="512063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0" y="4736592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47365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flipV="1">
            <a:off x="8732520" y="3858769"/>
            <a:ext cx="1188720" cy="1078991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0" y="34290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0058400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Proliferation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(cell-cycle) genes are among the strongest prognostic signals in HR+/HER2− disease.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proliferation score (averaging MKI67, AURKA, CCNB1, …) summarises tumour aggressiveness.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echoed by Ki-67 and by commercial recurrence assays’ proliferation modules.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robust score can rival or beat hundreds of individual noisy genes.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69494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3210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1" name="Text 8"/>
          <p:cNvSpPr/>
          <p:nvPr/>
        </p:nvSpPr>
        <p:spPr>
          <a:xfrm>
            <a:off x="83210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69494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3210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9494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TOP2A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3210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9" name="Text 16"/>
          <p:cNvSpPr/>
          <p:nvPr/>
        </p:nvSpPr>
        <p:spPr>
          <a:xfrm>
            <a:off x="83210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 flipH="1">
            <a:off x="8331314" y="3803904"/>
            <a:ext cx="7192" cy="73152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966906" y="4677516"/>
            <a:ext cx="2743200" cy="7315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2" name="Text 19"/>
          <p:cNvSpPr/>
          <p:nvPr/>
        </p:nvSpPr>
        <p:spPr>
          <a:xfrm>
            <a:off x="6784026" y="467751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score = tumour aggressiveness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Estrogen / ER signalling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disease is defined by estrogen-receptor signalling — a biologically central axis.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ER-signalling score (ESR1, FOXA1, GATA3, …) captures luminal differentiation.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protective: higher ER signalling tends to associate with lower recurrence risk.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example of a score encoding the disease’s defining biology in one feature.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32320" y="237744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132320" y="288036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880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FOXA1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38328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0" y="3383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GATA3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132320" y="388620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XBP1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595360" y="3063240"/>
            <a:ext cx="7315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8" name="Text 15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higher score → lower recurrence risk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Immune and stromal signatures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signatures (T-cell / cytotoxic markers) capture anti-tumour immunity — often favourable.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Stromal signatures capture the microenvironment (fibroblasts, ECM) — can associate with progression.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tumour is an ecosystem; single genes miss it, programme-level scores capture it.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signatures are reused across cancer types — transferable biological features.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914400" cy="822960"/>
          </a:xfrm>
          <a:prstGeom prst="ellipse">
            <a:avLst/>
          </a:prstGeom>
          <a:solidFill>
            <a:srgbClr val="0E7C86">
              <a:alpha val="70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cells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784080" y="2697480"/>
            <a:ext cx="64008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49440" y="3337560"/>
            <a:ext cx="914400" cy="822960"/>
          </a:xfrm>
          <a:prstGeom prst="ellipse">
            <a:avLst/>
          </a:prstGeom>
          <a:solidFill>
            <a:srgbClr val="2E7D57">
              <a:alpha val="70000"/>
            </a:srgbClr>
          </a:solidFill>
          <a:ln w="19050">
            <a:solidFill>
              <a:srgbClr val="2E7D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0" y="3337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infiltrate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784080" y="3749040"/>
            <a:ext cx="64008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7" name="Text 14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4389120"/>
            <a:ext cx="914400" cy="822960"/>
          </a:xfrm>
          <a:prstGeom prst="ellipse">
            <a:avLst/>
          </a:prstGeom>
          <a:solidFill>
            <a:srgbClr val="C2772B">
              <a:alpha val="70000"/>
            </a:srgbClr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0" y="43891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4800600"/>
            <a:ext cx="640080" cy="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22" name="Text 19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tumour is an ecosystem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biological features can outperform single genes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co-regulated genes cancels random noise (signal adds, noise partially cancels).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is more stable under resampling than any single gene (answers Lecture 1’s non-uniqueness).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lower p → less overfitting → better generalisation.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carry meaning — a clinician can reason about “high proliferation”.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926080"/>
          <a:ext cx="51206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Pathway-level features — gene sets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set is a curated list of genes sharing a function or pathway (e.g. a hallmark).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Databases: MSigDB Hallmarks (~50 curated programmes), Reactome, GO, KEGG.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turn 20,000 genes into ~50–100 interpretable pathway activities.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biological feature engineering done systematically, at genome scale.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19456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219456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229600" y="219456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274320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86600" y="274320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229600" y="27432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G2M checkpoint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29184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2918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29600" y="3291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early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949440" y="384048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86600" y="3840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229600" y="384048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late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49440" y="438912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43891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38912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Interferon-γ response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49440" y="493776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86600" y="493776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229600" y="493776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4944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curated, non-redundant programmes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genes to pathway activities (GSVA / ssGSEA, conceptually)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methods score, per patient, how active each gene set is — a single number per pathway.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Conceptually: rank/aggregate the genes of a set within each sample to a pathway-activity score.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them as a tool; we do not derive them — the output is a patients × pathways matrix.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20,000 genes → ~50–100 pathway features, ready for the same Logistic Regression.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2" name="Shape 9"/>
          <p:cNvSpPr/>
          <p:nvPr/>
        </p:nvSpPr>
        <p:spPr>
          <a:xfrm>
            <a:off x="12801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146304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4" name="Shape 11"/>
          <p:cNvSpPr/>
          <p:nvPr/>
        </p:nvSpPr>
        <p:spPr>
          <a:xfrm>
            <a:off x="16459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18288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68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21945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237744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9" name="Shape 16"/>
          <p:cNvSpPr/>
          <p:nvPr/>
        </p:nvSpPr>
        <p:spPr>
          <a:xfrm>
            <a:off x="25603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292608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2" name="Shape 19"/>
          <p:cNvSpPr/>
          <p:nvPr/>
        </p:nvSpPr>
        <p:spPr>
          <a:xfrm>
            <a:off x="31089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329184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34747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5" name="Shape 22"/>
          <p:cNvSpPr/>
          <p:nvPr/>
        </p:nvSpPr>
        <p:spPr>
          <a:xfrm>
            <a:off x="365760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6" name="Shape 23"/>
          <p:cNvSpPr/>
          <p:nvPr/>
        </p:nvSpPr>
        <p:spPr>
          <a:xfrm>
            <a:off x="384048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7" name="Shape 24"/>
          <p:cNvSpPr/>
          <p:nvPr/>
        </p:nvSpPr>
        <p:spPr>
          <a:xfrm>
            <a:off x="402336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8" name="Shape 25"/>
          <p:cNvSpPr/>
          <p:nvPr/>
        </p:nvSpPr>
        <p:spPr>
          <a:xfrm>
            <a:off x="420624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9" name="Shape 26"/>
          <p:cNvSpPr/>
          <p:nvPr/>
        </p:nvSpPr>
        <p:spPr>
          <a:xfrm>
            <a:off x="73152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9144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0972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2801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3" name="Shape 30"/>
          <p:cNvSpPr/>
          <p:nvPr/>
        </p:nvSpPr>
        <p:spPr>
          <a:xfrm>
            <a:off x="146304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6459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5" name="Shape 32"/>
          <p:cNvSpPr/>
          <p:nvPr/>
        </p:nvSpPr>
        <p:spPr>
          <a:xfrm>
            <a:off x="18288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6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21945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8" name="Shape 35"/>
          <p:cNvSpPr/>
          <p:nvPr/>
        </p:nvSpPr>
        <p:spPr>
          <a:xfrm>
            <a:off x="237744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9" name="Shape 36"/>
          <p:cNvSpPr/>
          <p:nvPr/>
        </p:nvSpPr>
        <p:spPr>
          <a:xfrm>
            <a:off x="256032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27432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1" name="Shape 38"/>
          <p:cNvSpPr/>
          <p:nvPr/>
        </p:nvSpPr>
        <p:spPr>
          <a:xfrm>
            <a:off x="292608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2" name="Shape 39"/>
          <p:cNvSpPr/>
          <p:nvPr/>
        </p:nvSpPr>
        <p:spPr>
          <a:xfrm>
            <a:off x="31089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3" name="Shape 40"/>
          <p:cNvSpPr/>
          <p:nvPr/>
        </p:nvSpPr>
        <p:spPr>
          <a:xfrm>
            <a:off x="32918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4" name="Shape 41"/>
          <p:cNvSpPr/>
          <p:nvPr/>
        </p:nvSpPr>
        <p:spPr>
          <a:xfrm>
            <a:off x="34747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5" name="Shape 42"/>
          <p:cNvSpPr/>
          <p:nvPr/>
        </p:nvSpPr>
        <p:spPr>
          <a:xfrm>
            <a:off x="36576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6" name="Shape 43"/>
          <p:cNvSpPr/>
          <p:nvPr/>
        </p:nvSpPr>
        <p:spPr>
          <a:xfrm>
            <a:off x="38404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402336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42062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9" name="Shape 46"/>
          <p:cNvSpPr/>
          <p:nvPr/>
        </p:nvSpPr>
        <p:spPr>
          <a:xfrm>
            <a:off x="7315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0" name="Shape 47"/>
          <p:cNvSpPr/>
          <p:nvPr/>
        </p:nvSpPr>
        <p:spPr>
          <a:xfrm>
            <a:off x="9144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1" name="Shape 48"/>
          <p:cNvSpPr/>
          <p:nvPr/>
        </p:nvSpPr>
        <p:spPr>
          <a:xfrm>
            <a:off x="109728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128016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4630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1"/>
          <p:cNvSpPr/>
          <p:nvPr/>
        </p:nvSpPr>
        <p:spPr>
          <a:xfrm>
            <a:off x="16459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5" name="Shape 52"/>
          <p:cNvSpPr/>
          <p:nvPr/>
        </p:nvSpPr>
        <p:spPr>
          <a:xfrm>
            <a:off x="182880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68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7" name="Shape 54"/>
          <p:cNvSpPr/>
          <p:nvPr/>
        </p:nvSpPr>
        <p:spPr>
          <a:xfrm>
            <a:off x="219456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8" name="Shape 55"/>
          <p:cNvSpPr/>
          <p:nvPr/>
        </p:nvSpPr>
        <p:spPr>
          <a:xfrm>
            <a:off x="23774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9" name="Shape 56"/>
          <p:cNvSpPr/>
          <p:nvPr/>
        </p:nvSpPr>
        <p:spPr>
          <a:xfrm>
            <a:off x="256032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274320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29260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2" name="Shape 59"/>
          <p:cNvSpPr/>
          <p:nvPr/>
        </p:nvSpPr>
        <p:spPr>
          <a:xfrm>
            <a:off x="31089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3" name="Shape 60"/>
          <p:cNvSpPr/>
          <p:nvPr/>
        </p:nvSpPr>
        <p:spPr>
          <a:xfrm>
            <a:off x="32918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4" name="Shape 61"/>
          <p:cNvSpPr/>
          <p:nvPr/>
        </p:nvSpPr>
        <p:spPr>
          <a:xfrm>
            <a:off x="34747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6" name="Shape 63"/>
          <p:cNvSpPr/>
          <p:nvPr/>
        </p:nvSpPr>
        <p:spPr>
          <a:xfrm>
            <a:off x="38404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7" name="Shape 64"/>
          <p:cNvSpPr/>
          <p:nvPr/>
        </p:nvSpPr>
        <p:spPr>
          <a:xfrm>
            <a:off x="40233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8" name="Shape 65"/>
          <p:cNvSpPr/>
          <p:nvPr/>
        </p:nvSpPr>
        <p:spPr>
          <a:xfrm>
            <a:off x="42062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9" name="Shape 66"/>
          <p:cNvSpPr/>
          <p:nvPr/>
        </p:nvSpPr>
        <p:spPr>
          <a:xfrm>
            <a:off x="73152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9144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10972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12801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3" name="Shape 70"/>
          <p:cNvSpPr/>
          <p:nvPr/>
        </p:nvSpPr>
        <p:spPr>
          <a:xfrm>
            <a:off x="14630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4" name="Shape 71"/>
          <p:cNvSpPr/>
          <p:nvPr/>
        </p:nvSpPr>
        <p:spPr>
          <a:xfrm>
            <a:off x="16459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2"/>
          <p:cNvSpPr/>
          <p:nvPr/>
        </p:nvSpPr>
        <p:spPr>
          <a:xfrm>
            <a:off x="182880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6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219456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8" name="Shape 75"/>
          <p:cNvSpPr/>
          <p:nvPr/>
        </p:nvSpPr>
        <p:spPr>
          <a:xfrm>
            <a:off x="23774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9" name="Shape 76"/>
          <p:cNvSpPr/>
          <p:nvPr/>
        </p:nvSpPr>
        <p:spPr>
          <a:xfrm>
            <a:off x="25603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0" name="Shape 77"/>
          <p:cNvSpPr/>
          <p:nvPr/>
        </p:nvSpPr>
        <p:spPr>
          <a:xfrm>
            <a:off x="274320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1" name="Shape 78"/>
          <p:cNvSpPr/>
          <p:nvPr/>
        </p:nvSpPr>
        <p:spPr>
          <a:xfrm>
            <a:off x="29260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2" name="Shape 79"/>
          <p:cNvSpPr/>
          <p:nvPr/>
        </p:nvSpPr>
        <p:spPr>
          <a:xfrm>
            <a:off x="31089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3" name="Shape 80"/>
          <p:cNvSpPr/>
          <p:nvPr/>
        </p:nvSpPr>
        <p:spPr>
          <a:xfrm>
            <a:off x="329184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4" name="Shape 81"/>
          <p:cNvSpPr/>
          <p:nvPr/>
        </p:nvSpPr>
        <p:spPr>
          <a:xfrm>
            <a:off x="347472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5" name="Shape 82"/>
          <p:cNvSpPr/>
          <p:nvPr/>
        </p:nvSpPr>
        <p:spPr>
          <a:xfrm>
            <a:off x="36576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38404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7" name="Shape 84"/>
          <p:cNvSpPr/>
          <p:nvPr/>
        </p:nvSpPr>
        <p:spPr>
          <a:xfrm>
            <a:off x="402336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420624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315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0" name="Shape 87"/>
          <p:cNvSpPr/>
          <p:nvPr/>
        </p:nvSpPr>
        <p:spPr>
          <a:xfrm>
            <a:off x="91440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1" name="Shape 88"/>
          <p:cNvSpPr/>
          <p:nvPr/>
        </p:nvSpPr>
        <p:spPr>
          <a:xfrm>
            <a:off x="10972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2" name="Shape 89"/>
          <p:cNvSpPr/>
          <p:nvPr/>
        </p:nvSpPr>
        <p:spPr>
          <a:xfrm>
            <a:off x="12801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3" name="Shape 90"/>
          <p:cNvSpPr/>
          <p:nvPr/>
        </p:nvSpPr>
        <p:spPr>
          <a:xfrm>
            <a:off x="14630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16459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5" name="Shape 92"/>
          <p:cNvSpPr/>
          <p:nvPr/>
        </p:nvSpPr>
        <p:spPr>
          <a:xfrm>
            <a:off x="182880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68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7" name="Shape 94"/>
          <p:cNvSpPr/>
          <p:nvPr/>
        </p:nvSpPr>
        <p:spPr>
          <a:xfrm>
            <a:off x="21945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8" name="Shape 95"/>
          <p:cNvSpPr/>
          <p:nvPr/>
        </p:nvSpPr>
        <p:spPr>
          <a:xfrm>
            <a:off x="23774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9" name="Shape 96"/>
          <p:cNvSpPr/>
          <p:nvPr/>
        </p:nvSpPr>
        <p:spPr>
          <a:xfrm>
            <a:off x="256032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27432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1" name="Shape 98"/>
          <p:cNvSpPr/>
          <p:nvPr/>
        </p:nvSpPr>
        <p:spPr>
          <a:xfrm>
            <a:off x="292608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31089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32918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347472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5" name="Shape 102"/>
          <p:cNvSpPr/>
          <p:nvPr/>
        </p:nvSpPr>
        <p:spPr>
          <a:xfrm>
            <a:off x="36576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8404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0233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42062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7315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144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1" name="Shape 108"/>
          <p:cNvSpPr/>
          <p:nvPr/>
        </p:nvSpPr>
        <p:spPr>
          <a:xfrm>
            <a:off x="10972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12801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14630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164592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182880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6" name="Shape 113"/>
          <p:cNvSpPr/>
          <p:nvPr/>
        </p:nvSpPr>
        <p:spPr>
          <a:xfrm>
            <a:off x="20116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7" name="Shape 114"/>
          <p:cNvSpPr/>
          <p:nvPr/>
        </p:nvSpPr>
        <p:spPr>
          <a:xfrm>
            <a:off x="21945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8" name="Shape 115"/>
          <p:cNvSpPr/>
          <p:nvPr/>
        </p:nvSpPr>
        <p:spPr>
          <a:xfrm>
            <a:off x="23774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9" name="Shape 116"/>
          <p:cNvSpPr/>
          <p:nvPr/>
        </p:nvSpPr>
        <p:spPr>
          <a:xfrm>
            <a:off x="25603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0" name="Shape 117"/>
          <p:cNvSpPr/>
          <p:nvPr/>
        </p:nvSpPr>
        <p:spPr>
          <a:xfrm>
            <a:off x="274320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292608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22" name="Shape 119"/>
          <p:cNvSpPr/>
          <p:nvPr/>
        </p:nvSpPr>
        <p:spPr>
          <a:xfrm>
            <a:off x="310896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32918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34747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6576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6" name="Shape 123"/>
          <p:cNvSpPr/>
          <p:nvPr/>
        </p:nvSpPr>
        <p:spPr>
          <a:xfrm>
            <a:off x="38404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7" name="Shape 124"/>
          <p:cNvSpPr/>
          <p:nvPr/>
        </p:nvSpPr>
        <p:spPr>
          <a:xfrm>
            <a:off x="402336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8" name="Shape 125"/>
          <p:cNvSpPr/>
          <p:nvPr/>
        </p:nvSpPr>
        <p:spPr>
          <a:xfrm>
            <a:off x="42062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4572000" y="4526280"/>
            <a:ext cx="155448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0" name="Text 127"/>
          <p:cNvSpPr/>
          <p:nvPr/>
        </p:nvSpPr>
        <p:spPr>
          <a:xfrm>
            <a:off x="457200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ssGSEA / GSVA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(used as a tool)</a:t>
            </a:r>
            <a:endParaRPr lang="en-US" sz="1000" dirty="0"/>
          </a:p>
        </p:txBody>
      </p:sp>
      <p:sp>
        <p:nvSpPr>
          <p:cNvPr id="131" name="Text 128"/>
          <p:cNvSpPr/>
          <p:nvPr/>
        </p:nvSpPr>
        <p:spPr>
          <a:xfrm>
            <a:off x="658368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~50 pathways</a:t>
            </a:r>
            <a:endParaRPr lang="en-US" sz="1100" dirty="0"/>
          </a:p>
        </p:txBody>
      </p:sp>
      <p:sp>
        <p:nvSpPr>
          <p:cNvPr id="132" name="Shape 129"/>
          <p:cNvSpPr/>
          <p:nvPr/>
        </p:nvSpPr>
        <p:spPr>
          <a:xfrm>
            <a:off x="6949440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260336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4" name="Shape 131"/>
          <p:cNvSpPr/>
          <p:nvPr/>
        </p:nvSpPr>
        <p:spPr>
          <a:xfrm>
            <a:off x="7571232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5" name="Shape 132"/>
          <p:cNvSpPr/>
          <p:nvPr/>
        </p:nvSpPr>
        <p:spPr>
          <a:xfrm>
            <a:off x="7882128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193024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503920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8" name="Shape 135"/>
          <p:cNvSpPr/>
          <p:nvPr/>
        </p:nvSpPr>
        <p:spPr>
          <a:xfrm>
            <a:off x="6949440" y="416052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9" name="Shape 136"/>
          <p:cNvSpPr/>
          <p:nvPr/>
        </p:nvSpPr>
        <p:spPr>
          <a:xfrm>
            <a:off x="7260336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0" name="Shape 137"/>
          <p:cNvSpPr/>
          <p:nvPr/>
        </p:nvSpPr>
        <p:spPr>
          <a:xfrm>
            <a:off x="7571232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1" name="Shape 138"/>
          <p:cNvSpPr/>
          <p:nvPr/>
        </p:nvSpPr>
        <p:spPr>
          <a:xfrm>
            <a:off x="7882128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2" name="Shape 139"/>
          <p:cNvSpPr/>
          <p:nvPr/>
        </p:nvSpPr>
        <p:spPr>
          <a:xfrm>
            <a:off x="8193024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3" name="Shape 140"/>
          <p:cNvSpPr/>
          <p:nvPr/>
        </p:nvSpPr>
        <p:spPr>
          <a:xfrm>
            <a:off x="8503920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4" name="Shape 141"/>
          <p:cNvSpPr/>
          <p:nvPr/>
        </p:nvSpPr>
        <p:spPr>
          <a:xfrm>
            <a:off x="6949440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5" name="Shape 142"/>
          <p:cNvSpPr/>
          <p:nvPr/>
        </p:nvSpPr>
        <p:spPr>
          <a:xfrm>
            <a:off x="7260336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6" name="Shape 143"/>
          <p:cNvSpPr/>
          <p:nvPr/>
        </p:nvSpPr>
        <p:spPr>
          <a:xfrm>
            <a:off x="7571232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7" name="Shape 144"/>
          <p:cNvSpPr/>
          <p:nvPr/>
        </p:nvSpPr>
        <p:spPr>
          <a:xfrm>
            <a:off x="7882128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193024" y="434340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503920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0" name="Shape 147"/>
          <p:cNvSpPr/>
          <p:nvPr/>
        </p:nvSpPr>
        <p:spPr>
          <a:xfrm>
            <a:off x="694944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1" name="Shape 148"/>
          <p:cNvSpPr/>
          <p:nvPr/>
        </p:nvSpPr>
        <p:spPr>
          <a:xfrm>
            <a:off x="7260336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2" name="Shape 149"/>
          <p:cNvSpPr/>
          <p:nvPr/>
        </p:nvSpPr>
        <p:spPr>
          <a:xfrm>
            <a:off x="7571232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3" name="Shape 150"/>
          <p:cNvSpPr/>
          <p:nvPr/>
        </p:nvSpPr>
        <p:spPr>
          <a:xfrm>
            <a:off x="7882128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4" name="Shape 151"/>
          <p:cNvSpPr/>
          <p:nvPr/>
        </p:nvSpPr>
        <p:spPr>
          <a:xfrm>
            <a:off x="8193024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5" name="Shape 152"/>
          <p:cNvSpPr/>
          <p:nvPr/>
        </p:nvSpPr>
        <p:spPr>
          <a:xfrm>
            <a:off x="850392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6" name="Shape 153"/>
          <p:cNvSpPr/>
          <p:nvPr/>
        </p:nvSpPr>
        <p:spPr>
          <a:xfrm>
            <a:off x="6949440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7" name="Shape 154"/>
          <p:cNvSpPr/>
          <p:nvPr/>
        </p:nvSpPr>
        <p:spPr>
          <a:xfrm>
            <a:off x="7260336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8" name="Shape 155"/>
          <p:cNvSpPr/>
          <p:nvPr/>
        </p:nvSpPr>
        <p:spPr>
          <a:xfrm>
            <a:off x="7571232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9" name="Shape 156"/>
          <p:cNvSpPr/>
          <p:nvPr/>
        </p:nvSpPr>
        <p:spPr>
          <a:xfrm>
            <a:off x="7882128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0" name="Shape 157"/>
          <p:cNvSpPr/>
          <p:nvPr/>
        </p:nvSpPr>
        <p:spPr>
          <a:xfrm>
            <a:off x="8193024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1" name="Shape 158"/>
          <p:cNvSpPr/>
          <p:nvPr/>
        </p:nvSpPr>
        <p:spPr>
          <a:xfrm>
            <a:off x="8503920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2" name="Shape 159"/>
          <p:cNvSpPr/>
          <p:nvPr/>
        </p:nvSpPr>
        <p:spPr>
          <a:xfrm>
            <a:off x="694944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3" name="Shape 160"/>
          <p:cNvSpPr/>
          <p:nvPr/>
        </p:nvSpPr>
        <p:spPr>
          <a:xfrm>
            <a:off x="7260336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4" name="Shape 161"/>
          <p:cNvSpPr/>
          <p:nvPr/>
        </p:nvSpPr>
        <p:spPr>
          <a:xfrm>
            <a:off x="7571232" y="48920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5" name="Shape 162"/>
          <p:cNvSpPr/>
          <p:nvPr/>
        </p:nvSpPr>
        <p:spPr>
          <a:xfrm>
            <a:off x="7882128" y="489204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6" name="Shape 163"/>
          <p:cNvSpPr/>
          <p:nvPr/>
        </p:nvSpPr>
        <p:spPr>
          <a:xfrm>
            <a:off x="8193024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7" name="Shape 164"/>
          <p:cNvSpPr/>
          <p:nvPr/>
        </p:nvSpPr>
        <p:spPr>
          <a:xfrm>
            <a:off x="850392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8" name="Text 165"/>
          <p:cNvSpPr/>
          <p:nvPr/>
        </p:nvSpPr>
        <p:spPr>
          <a:xfrm>
            <a:off x="73152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· friendlier shape · feeds the same model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pathway features produce more robust models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fewer features for the same patients → a much friendlier p : n ratio.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an average over many genes → less noise, more stable across cohorts.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activities are more comparable across platforms than raw probes (helps Lecture 1’s batch problem).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axes → models you can explain and defend.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genes: split by platform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48865" y="424774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590312" y="35375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7632322" y="36918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8624386" y="44252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372060" y="39479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5" name="Shape 12"/>
          <p:cNvSpPr/>
          <p:nvPr/>
        </p:nvSpPr>
        <p:spPr>
          <a:xfrm>
            <a:off x="8641363" y="34283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281183" y="459671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7" name="Shape 14"/>
          <p:cNvSpPr/>
          <p:nvPr/>
        </p:nvSpPr>
        <p:spPr>
          <a:xfrm>
            <a:off x="8532872" y="265829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313649" y="267947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8845621" y="36201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7372276" y="273758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8713340" y="29735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Shape 19"/>
          <p:cNvSpPr/>
          <p:nvPr/>
        </p:nvSpPr>
        <p:spPr>
          <a:xfrm>
            <a:off x="7608405" y="267130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0674" y="325456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7463328" y="278993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8708059" y="296142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Shape 23"/>
          <p:cNvSpPr/>
          <p:nvPr/>
        </p:nvSpPr>
        <p:spPr>
          <a:xfrm>
            <a:off x="7546074" y="271710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8843442" y="321437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8" name="Shape 25"/>
          <p:cNvSpPr/>
          <p:nvPr/>
        </p:nvSpPr>
        <p:spPr>
          <a:xfrm>
            <a:off x="7528271" y="392670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8804814" y="3024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7260308" y="310541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8655598" y="27685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Shape 29"/>
          <p:cNvSpPr/>
          <p:nvPr/>
        </p:nvSpPr>
        <p:spPr>
          <a:xfrm>
            <a:off x="7307202" y="380154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8673838" y="29300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4" name="Shape 31"/>
          <p:cNvSpPr/>
          <p:nvPr/>
        </p:nvSpPr>
        <p:spPr>
          <a:xfrm>
            <a:off x="7517223" y="462047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8888299" y="294045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7515085" y="420458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8849322" y="26775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7445881" y="324548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8895679" y="3293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pathways: aligned by biology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877957" y="448013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055427" y="343128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099009" y="413028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5" name="Shape 42"/>
          <p:cNvSpPr/>
          <p:nvPr/>
        </p:nvSpPr>
        <p:spPr>
          <a:xfrm>
            <a:off x="10665959" y="310179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0257645" y="424526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11024116" y="341982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8" name="Shape 45"/>
          <p:cNvSpPr/>
          <p:nvPr/>
        </p:nvSpPr>
        <p:spPr>
          <a:xfrm>
            <a:off x="10198730" y="403829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149543" y="333594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849548" y="39611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3597" y="294097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0415510" y="436264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337454" y="328660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4" name="Shape 51"/>
          <p:cNvSpPr/>
          <p:nvPr/>
        </p:nvSpPr>
        <p:spPr>
          <a:xfrm>
            <a:off x="10585734" y="442326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5526" y="32277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009560" y="396515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731655" y="31332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1018503" y="421555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641894" y="29814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680160" y="41306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10668468" y="294824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14585" y="399190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248291" y="331932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10882851" y="407295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5" name="Shape 62"/>
          <p:cNvSpPr/>
          <p:nvPr/>
        </p:nvSpPr>
        <p:spPr>
          <a:xfrm>
            <a:off x="10336248" y="342066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6" name="Shape 63"/>
          <p:cNvSpPr/>
          <p:nvPr/>
        </p:nvSpPr>
        <p:spPr>
          <a:xfrm>
            <a:off x="10316417" y="406360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10781080" y="310801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10410249" y="416556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9" name="Shape 66"/>
          <p:cNvSpPr/>
          <p:nvPr/>
        </p:nvSpPr>
        <p:spPr>
          <a:xfrm>
            <a:off x="10360106" y="30346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0" name="Shape 67"/>
          <p:cNvSpPr/>
          <p:nvPr/>
        </p:nvSpPr>
        <p:spPr>
          <a:xfrm>
            <a:off x="10556025" y="427341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1" name="Shape 68"/>
          <p:cNvSpPr/>
          <p:nvPr/>
        </p:nvSpPr>
        <p:spPr>
          <a:xfrm>
            <a:off x="10528819" y="33201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 — the three families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features independently of the model.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variance · correlation · differential expression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14" name="Text 11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Embedded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happens during model fitting.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61772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LASSO · Elastic Net (Lecture 2)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usefulness for splitting.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45820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random-forest / gradient-boosting importance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depends on goals: speed · sparsity · stability · interpretability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frame"/>
          <p:cNvSpPr/>
          <p:nvPr/>
        </p:nvSpPr>
        <p:spPr>
          <a:xfrm>
            <a:off x="6766560" y="2377440"/>
            <a:ext cx="45720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302" name="zero"/>
          <p:cNvCxnSpPr/>
          <p:nvPr/>
        </p:nvCxnSpPr>
        <p:spPr>
          <a:xfrm>
            <a:off x="6886560" y="3840480"/>
            <a:ext cx="436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303" name="path"/>
          <p:cNvSpPr/>
          <p:nvPr/>
        </p:nvSpPr>
        <p:spPr>
          <a:xfrm>
            <a:off x="6886560" y="3073116"/>
            <a:ext cx="4362000" cy="767364"/>
          </a:xfrm>
          <a:custGeom>
            <a:avLst/>
            <a:gdLst/>
            <a:ahLst/>
            <a:cxnLst/>
            <a:rect l="0" t="0" r="0" b="0"/>
            <a:pathLst>
              <a:path w="4362000" h="767364">
                <a:moveTo>
                  <a:pt x="0" y="0"/>
                </a:moveTo>
                <a:lnTo>
                  <a:pt x="96933" y="108944"/>
                </a:lnTo>
                <a:lnTo>
                  <a:pt x="193866" y="213869"/>
                </a:lnTo>
                <a:lnTo>
                  <a:pt x="290800" y="314380"/>
                </a:lnTo>
                <a:lnTo>
                  <a:pt x="387733" y="409970"/>
                </a:lnTo>
                <a:lnTo>
                  <a:pt x="484666" y="499962"/>
                </a:lnTo>
                <a:lnTo>
                  <a:pt x="581600" y="583395"/>
                </a:lnTo>
                <a:lnTo>
                  <a:pt x="678533" y="658765"/>
                </a:lnTo>
                <a:lnTo>
                  <a:pt x="775466" y="723259"/>
                </a:lnTo>
                <a:lnTo>
                  <a:pt x="872400" y="767364"/>
                </a:lnTo>
                <a:lnTo>
                  <a:pt x="872400" y="767364"/>
                </a:lnTo>
                <a:lnTo>
                  <a:pt x="4362000" y="767364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4" name="path"/>
          <p:cNvSpPr/>
          <p:nvPr/>
        </p:nvSpPr>
        <p:spPr>
          <a:xfrm>
            <a:off x="6886560" y="3311264"/>
            <a:ext cx="4362000" cy="529216"/>
          </a:xfrm>
          <a:custGeom>
            <a:avLst/>
            <a:gdLst/>
            <a:ahLst/>
            <a:cxnLst/>
            <a:rect l="0" t="0" r="0" b="0"/>
            <a:pathLst>
              <a:path w="4362000" h="529216">
                <a:moveTo>
                  <a:pt x="0" y="0"/>
                </a:moveTo>
                <a:lnTo>
                  <a:pt x="130860" y="75133"/>
                </a:lnTo>
                <a:lnTo>
                  <a:pt x="261720" y="147495"/>
                </a:lnTo>
                <a:lnTo>
                  <a:pt x="392580" y="216813"/>
                </a:lnTo>
                <a:lnTo>
                  <a:pt x="523440" y="282737"/>
                </a:lnTo>
                <a:lnTo>
                  <a:pt x="654300" y="344801"/>
                </a:lnTo>
                <a:lnTo>
                  <a:pt x="785160" y="402341"/>
                </a:lnTo>
                <a:lnTo>
                  <a:pt x="916020" y="454320"/>
                </a:lnTo>
                <a:lnTo>
                  <a:pt x="1046880" y="498798"/>
                </a:lnTo>
                <a:lnTo>
                  <a:pt x="1177740" y="529216"/>
                </a:lnTo>
                <a:lnTo>
                  <a:pt x="1177740" y="529216"/>
                </a:lnTo>
                <a:lnTo>
                  <a:pt x="4362000" y="529216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5" name="path"/>
          <p:cNvSpPr/>
          <p:nvPr/>
        </p:nvSpPr>
        <p:spPr>
          <a:xfrm>
            <a:off x="6886560" y="3840480"/>
            <a:ext cx="4362000" cy="446433"/>
          </a:xfrm>
          <a:custGeom>
            <a:avLst/>
            <a:gdLst/>
            <a:ahLst/>
            <a:cxnLst/>
            <a:rect l="0" t="0" r="0" b="0"/>
            <a:pathLst>
              <a:path w="4362000" h="446433">
                <a:moveTo>
                  <a:pt x="0" y="446433"/>
                </a:moveTo>
                <a:lnTo>
                  <a:pt x="145400" y="383052"/>
                </a:lnTo>
                <a:lnTo>
                  <a:pt x="290800" y="322009"/>
                </a:lnTo>
                <a:lnTo>
                  <a:pt x="436200" y="263534"/>
                </a:lnTo>
                <a:lnTo>
                  <a:pt x="581600" y="207923"/>
                </a:lnTo>
                <a:lnTo>
                  <a:pt x="727000" y="155567"/>
                </a:lnTo>
                <a:lnTo>
                  <a:pt x="872400" y="107028"/>
                </a:lnTo>
                <a:lnTo>
                  <a:pt x="1017800" y="63180"/>
                </a:lnTo>
                <a:lnTo>
                  <a:pt x="1163200" y="25659"/>
                </a:lnTo>
                <a:lnTo>
                  <a:pt x="1308600" y="0"/>
                </a:lnTo>
                <a:lnTo>
                  <a:pt x="1308600" y="0"/>
                </a:lnTo>
                <a:lnTo>
                  <a:pt x="436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6" name="path"/>
          <p:cNvSpPr/>
          <p:nvPr/>
        </p:nvSpPr>
        <p:spPr>
          <a:xfrm>
            <a:off x="6886560" y="3178960"/>
            <a:ext cx="4362000" cy="661520"/>
          </a:xfrm>
          <a:custGeom>
            <a:avLst/>
            <a:gdLst/>
            <a:ahLst/>
            <a:cxnLst/>
            <a:rect l="0" t="0" r="0" b="0"/>
            <a:pathLst>
              <a:path w="4362000" h="661520">
                <a:moveTo>
                  <a:pt x="0" y="0"/>
                </a:moveTo>
                <a:lnTo>
                  <a:pt x="174480" y="93916"/>
                </a:lnTo>
                <a:lnTo>
                  <a:pt x="348960" y="184369"/>
                </a:lnTo>
                <a:lnTo>
                  <a:pt x="523440" y="271017"/>
                </a:lnTo>
                <a:lnTo>
                  <a:pt x="697920" y="353422"/>
                </a:lnTo>
                <a:lnTo>
                  <a:pt x="872400" y="431001"/>
                </a:lnTo>
                <a:lnTo>
                  <a:pt x="1046880" y="502926"/>
                </a:lnTo>
                <a:lnTo>
                  <a:pt x="1221360" y="567900"/>
                </a:lnTo>
                <a:lnTo>
                  <a:pt x="1395840" y="623498"/>
                </a:lnTo>
                <a:lnTo>
                  <a:pt x="1570320" y="661520"/>
                </a:lnTo>
                <a:lnTo>
                  <a:pt x="1570320" y="661520"/>
                </a:lnTo>
                <a:lnTo>
                  <a:pt x="4362000" y="661520"/>
                </a:lnTo>
              </a:path>
            </a:pathLst>
          </a:custGeom>
          <a:noFill/>
          <a:ln w="15875" cap="rnd">
            <a:solidFill>
              <a:srgbClr val="16363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7" name="path"/>
          <p:cNvSpPr/>
          <p:nvPr/>
        </p:nvSpPr>
        <p:spPr>
          <a:xfrm>
            <a:off x="6886560" y="3840480"/>
            <a:ext cx="4362000" cy="603998"/>
          </a:xfrm>
          <a:custGeom>
            <a:avLst/>
            <a:gdLst/>
            <a:ahLst/>
            <a:cxnLst/>
            <a:rect l="0" t="0" r="0" b="0"/>
            <a:pathLst>
              <a:path w="4362000" h="603998">
                <a:moveTo>
                  <a:pt x="0" y="603998"/>
                </a:moveTo>
                <a:lnTo>
                  <a:pt x="203560" y="518247"/>
                </a:lnTo>
                <a:lnTo>
                  <a:pt x="407120" y="435660"/>
                </a:lnTo>
                <a:lnTo>
                  <a:pt x="610680" y="356547"/>
                </a:lnTo>
                <a:lnTo>
                  <a:pt x="814240" y="281307"/>
                </a:lnTo>
                <a:lnTo>
                  <a:pt x="1017800" y="210474"/>
                </a:lnTo>
                <a:lnTo>
                  <a:pt x="1221360" y="144803"/>
                </a:lnTo>
                <a:lnTo>
                  <a:pt x="1424920" y="85479"/>
                </a:lnTo>
                <a:lnTo>
                  <a:pt x="1628480" y="34715"/>
                </a:lnTo>
                <a:lnTo>
                  <a:pt x="1832040" y="0"/>
                </a:lnTo>
                <a:lnTo>
                  <a:pt x="1832040" y="0"/>
                </a:lnTo>
                <a:lnTo>
                  <a:pt x="436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8" name="path"/>
          <p:cNvSpPr/>
          <p:nvPr/>
        </p:nvSpPr>
        <p:spPr>
          <a:xfrm>
            <a:off x="6886560" y="3443568"/>
            <a:ext cx="4362000" cy="396912"/>
          </a:xfrm>
          <a:custGeom>
            <a:avLst/>
            <a:gdLst/>
            <a:ahLst/>
            <a:cxnLst/>
            <a:rect l="0" t="0" r="0" b="0"/>
            <a:pathLst>
              <a:path w="4362000" h="396912">
                <a:moveTo>
                  <a:pt x="0" y="0"/>
                </a:moveTo>
                <a:lnTo>
                  <a:pt x="232640" y="56350"/>
                </a:lnTo>
                <a:lnTo>
                  <a:pt x="465280" y="110621"/>
                </a:lnTo>
                <a:lnTo>
                  <a:pt x="697920" y="162610"/>
                </a:lnTo>
                <a:lnTo>
                  <a:pt x="930560" y="212053"/>
                </a:lnTo>
                <a:lnTo>
                  <a:pt x="1163200" y="258600"/>
                </a:lnTo>
                <a:lnTo>
                  <a:pt x="1395840" y="301755"/>
                </a:lnTo>
                <a:lnTo>
                  <a:pt x="1628480" y="340740"/>
                </a:lnTo>
                <a:lnTo>
                  <a:pt x="1861120" y="374099"/>
                </a:lnTo>
                <a:lnTo>
                  <a:pt x="2093760" y="396912"/>
                </a:lnTo>
                <a:lnTo>
                  <a:pt x="2093760" y="396912"/>
                </a:lnTo>
                <a:lnTo>
                  <a:pt x="4362000" y="396912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9" name="path"/>
          <p:cNvSpPr/>
          <p:nvPr/>
        </p:nvSpPr>
        <p:spPr>
          <a:xfrm>
            <a:off x="6886560" y="3840480"/>
            <a:ext cx="4362000" cy="341390"/>
          </a:xfrm>
          <a:custGeom>
            <a:avLst/>
            <a:gdLst/>
            <a:ahLst/>
            <a:cxnLst/>
            <a:rect l="0" t="0" r="0" b="0"/>
            <a:pathLst>
              <a:path w="4362000" h="341390">
                <a:moveTo>
                  <a:pt x="0" y="341390"/>
                </a:moveTo>
                <a:lnTo>
                  <a:pt x="266566" y="292922"/>
                </a:lnTo>
                <a:lnTo>
                  <a:pt x="533133" y="246242"/>
                </a:lnTo>
                <a:lnTo>
                  <a:pt x="799700" y="201526"/>
                </a:lnTo>
                <a:lnTo>
                  <a:pt x="1066266" y="158999"/>
                </a:lnTo>
                <a:lnTo>
                  <a:pt x="1332833" y="118963"/>
                </a:lnTo>
                <a:lnTo>
                  <a:pt x="1599400" y="81845"/>
                </a:lnTo>
                <a:lnTo>
                  <a:pt x="1865966" y="48314"/>
                </a:lnTo>
                <a:lnTo>
                  <a:pt x="2132533" y="19621"/>
                </a:lnTo>
                <a:lnTo>
                  <a:pt x="2399100" y="0"/>
                </a:lnTo>
                <a:lnTo>
                  <a:pt x="2399100" y="0"/>
                </a:lnTo>
                <a:lnTo>
                  <a:pt x="436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0" name="path"/>
          <p:cNvSpPr/>
          <p:nvPr/>
        </p:nvSpPr>
        <p:spPr>
          <a:xfrm>
            <a:off x="6886560" y="3575872"/>
            <a:ext cx="4362000" cy="264608"/>
          </a:xfrm>
          <a:custGeom>
            <a:avLst/>
            <a:gdLst/>
            <a:ahLst/>
            <a:cxnLst/>
            <a:rect l="0" t="0" r="0" b="0"/>
            <a:pathLst>
              <a:path w="4362000" h="264608">
                <a:moveTo>
                  <a:pt x="0" y="0"/>
                </a:moveTo>
                <a:lnTo>
                  <a:pt x="300493" y="37566"/>
                </a:lnTo>
                <a:lnTo>
                  <a:pt x="600986" y="73747"/>
                </a:lnTo>
                <a:lnTo>
                  <a:pt x="901480" y="108406"/>
                </a:lnTo>
                <a:lnTo>
                  <a:pt x="1201973" y="141368"/>
                </a:lnTo>
                <a:lnTo>
                  <a:pt x="1502466" y="172400"/>
                </a:lnTo>
                <a:lnTo>
                  <a:pt x="1802960" y="201170"/>
                </a:lnTo>
                <a:lnTo>
                  <a:pt x="2103453" y="227160"/>
                </a:lnTo>
                <a:lnTo>
                  <a:pt x="2403946" y="249399"/>
                </a:lnTo>
                <a:lnTo>
                  <a:pt x="2704440" y="264608"/>
                </a:lnTo>
                <a:lnTo>
                  <a:pt x="2704440" y="264608"/>
                </a:lnTo>
                <a:lnTo>
                  <a:pt x="4362000" y="264608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1" name="path"/>
          <p:cNvSpPr/>
          <p:nvPr/>
        </p:nvSpPr>
        <p:spPr>
          <a:xfrm>
            <a:off x="6886560" y="2702665"/>
            <a:ext cx="4362000" cy="432370"/>
          </a:xfrm>
          <a:custGeom>
            <a:avLst/>
            <a:gdLst/>
            <a:ahLst/>
            <a:cxnLst/>
            <a:rect l="0" t="0" r="0" b="0"/>
            <a:pathLst>
              <a:path w="4362000" h="432370">
                <a:moveTo>
                  <a:pt x="0" y="0"/>
                </a:moveTo>
                <a:lnTo>
                  <a:pt x="363500" y="46195"/>
                </a:lnTo>
                <a:lnTo>
                  <a:pt x="727000" y="86202"/>
                </a:lnTo>
                <a:lnTo>
                  <a:pt x="1090500" y="124166"/>
                </a:lnTo>
                <a:lnTo>
                  <a:pt x="1454000" y="160859"/>
                </a:lnTo>
                <a:lnTo>
                  <a:pt x="1817500" y="196637"/>
                </a:lnTo>
                <a:lnTo>
                  <a:pt x="2181000" y="231701"/>
                </a:lnTo>
                <a:lnTo>
                  <a:pt x="2544500" y="266183"/>
                </a:lnTo>
                <a:lnTo>
                  <a:pt x="2908000" y="300174"/>
                </a:lnTo>
                <a:lnTo>
                  <a:pt x="3271500" y="333742"/>
                </a:lnTo>
                <a:lnTo>
                  <a:pt x="3635000" y="366937"/>
                </a:lnTo>
                <a:lnTo>
                  <a:pt x="3998500" y="399802"/>
                </a:lnTo>
                <a:lnTo>
                  <a:pt x="4362000" y="432370"/>
                </a:lnTo>
              </a:path>
            </a:pathLst>
          </a:custGeom>
          <a:noFill/>
          <a:ln w="25400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2" name="path"/>
          <p:cNvSpPr/>
          <p:nvPr/>
        </p:nvSpPr>
        <p:spPr>
          <a:xfrm>
            <a:off x="6886560" y="3443568"/>
            <a:ext cx="4362000" cy="178610"/>
          </a:xfrm>
          <a:custGeom>
            <a:avLst/>
            <a:gdLst/>
            <a:ahLst/>
            <a:cxnLst/>
            <a:rect l="0" t="0" r="0" b="0"/>
            <a:pathLst>
              <a:path w="4362000" h="178610">
                <a:moveTo>
                  <a:pt x="0" y="0"/>
                </a:moveTo>
                <a:lnTo>
                  <a:pt x="363500" y="19082"/>
                </a:lnTo>
                <a:lnTo>
                  <a:pt x="727000" y="35609"/>
                </a:lnTo>
                <a:lnTo>
                  <a:pt x="1090500" y="51292"/>
                </a:lnTo>
                <a:lnTo>
                  <a:pt x="1454000" y="66450"/>
                </a:lnTo>
                <a:lnTo>
                  <a:pt x="1817500" y="81230"/>
                </a:lnTo>
                <a:lnTo>
                  <a:pt x="2181000" y="95714"/>
                </a:lnTo>
                <a:lnTo>
                  <a:pt x="2544500" y="109959"/>
                </a:lnTo>
                <a:lnTo>
                  <a:pt x="2908000" y="124000"/>
                </a:lnTo>
                <a:lnTo>
                  <a:pt x="3271500" y="137867"/>
                </a:lnTo>
                <a:lnTo>
                  <a:pt x="3635000" y="151580"/>
                </a:lnTo>
                <a:lnTo>
                  <a:pt x="3998500" y="165157"/>
                </a:lnTo>
                <a:lnTo>
                  <a:pt x="4362000" y="178610"/>
                </a:lnTo>
              </a:path>
            </a:pathLst>
          </a:custGeom>
          <a:noFill/>
          <a:ln w="25400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 and Elastic Net as selectors (callback)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drives coefficients to zero → an automatic sparse panel (Lecture 2).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keeps correlated groups together → more stable signatures (Lecture 2).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pathway features, embedded selection yields a tiny, interpretable, stable model.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Synergy: good engineering (pathways) + honest selection (Elastic Net) = a defensible biomarker.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9784080" y="383525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9784080" y="303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response</a:t>
            </a:r>
            <a:endParaRPr lang="en-US" sz="900" dirty="0"/>
          </a:p>
        </p:txBody>
      </p:sp>
      <p:sp>
        <p:nvSpPr>
          <p:cNvPr id="84" name="Text 81"/>
          <p:cNvSpPr/>
          <p:nvPr/>
        </p:nvSpPr>
        <p:spPr>
          <a:xfrm>
            <a:off x="6766560" y="5376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penalty → · most pathways → 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Feature-selection leakage — the critical section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killer: select features using all the data, then cross-validate the reduced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features have already “seen” the test patients → optimistic, unreproducible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silent error in omics ML — and it survives peer review constantly.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it makes you a better reader of the literature, not just a better builder.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 ALL 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06840" y="2743200"/>
            <a:ext cx="64008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92640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92640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200" dirty="0"/>
          </a:p>
        </p:txBody>
      </p:sp>
      <p:sp>
        <p:nvSpPr>
          <p:cNvPr id="9313" name="loop"/>
          <p:cNvSpPr/>
          <p:nvPr/>
        </p:nvSpPr>
        <p:spPr>
          <a:xfrm>
            <a:off x="7909560" y="3108960"/>
            <a:ext cx="2697480" cy="850000"/>
          </a:xfrm>
          <a:custGeom>
            <a:avLst/>
            <a:gdLst/>
            <a:ahLst/>
            <a:cxnLst/>
            <a:rect l="0" t="0" r="0" b="0"/>
            <a:pathLst>
              <a:path w="2697480" h="850000">
                <a:moveTo>
                  <a:pt x="2697480" y="0"/>
                </a:moveTo>
                <a:lnTo>
                  <a:pt x="2697480" y="850000"/>
                </a:lnTo>
                <a:lnTo>
                  <a:pt x="0" y="850000"/>
                </a:ln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9E2B25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3126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“great” AUC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0" y="4078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pipe: the selected features already saw the test patients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vs right workflow, side by side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46888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6888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(once, on all data)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8348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48640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50392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0392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AUC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3774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→  inside each fold: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6888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6888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340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66344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3796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85800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5800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filtering, DE selection, signature fitting — anything that uses the data.  Fixed, pre-published gene sets are largely exempt (no fitting on your labels).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big is the leakage effect?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can inflate AUC by a large, study-changing margin — turning noise into a “great” biomarker.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inflated estimate is stable (CV around a leaky pipeline launders it) — so it looks trustworthy.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ask: was selection inside the cross-validation? Was there an external cohort?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28600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400800" y="5577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= optimism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INTERPRETABILITY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interpretability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 models are usually far easier to interpret than gene-level models.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“Recurrence risk rises with proliferation and falls with ER signalling” — a sentence a clinician trusts.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supports validation, mechanistic hypotheses, and clinical adoption.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pathway scores depend on the gene set chosen; curation introduces assumptions.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gene-level: hundreds of coefficients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583680" y="2909758"/>
            <a:ext cx="91440" cy="3820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6702552" y="3015171"/>
            <a:ext cx="91440" cy="27666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6821424" y="3145449"/>
            <a:ext cx="91440" cy="146391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6940296" y="3224377"/>
            <a:ext cx="91440" cy="67463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7059168" y="2849120"/>
            <a:ext cx="91440" cy="44272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7178040" y="3068932"/>
            <a:ext cx="91440" cy="222908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7296912" y="2948305"/>
            <a:ext cx="91440" cy="34353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7415784" y="2897971"/>
            <a:ext cx="91440" cy="39386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7534656" y="3208703"/>
            <a:ext cx="91440" cy="8313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7653528" y="2827803"/>
            <a:ext cx="91440" cy="46403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7772400" y="3134299"/>
            <a:ext cx="91440" cy="157541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891272" y="2800121"/>
            <a:ext cx="91440" cy="49171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10144" y="3059764"/>
            <a:ext cx="91440" cy="23207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8129016" y="3163098"/>
            <a:ext cx="91440" cy="12874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2913916"/>
            <a:ext cx="91440" cy="3779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8366760" y="3148556"/>
            <a:ext cx="91440" cy="14328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8485632" y="2986286"/>
            <a:ext cx="91440" cy="30555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8604504" y="3173668"/>
            <a:ext cx="91440" cy="11817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8723376" y="2917643"/>
            <a:ext cx="91440" cy="37419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8842248" y="2993360"/>
            <a:ext cx="91440" cy="29848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6583680" y="4012288"/>
            <a:ext cx="91440" cy="10251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6702552" y="3894164"/>
            <a:ext cx="91440" cy="2206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6821424" y="3615855"/>
            <a:ext cx="91440" cy="49894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2" name="Shape 29"/>
          <p:cNvSpPr/>
          <p:nvPr/>
        </p:nvSpPr>
        <p:spPr>
          <a:xfrm>
            <a:off x="6940296" y="3811885"/>
            <a:ext cx="91440" cy="30291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3" name="Shape 30"/>
          <p:cNvSpPr/>
          <p:nvPr/>
        </p:nvSpPr>
        <p:spPr>
          <a:xfrm>
            <a:off x="7059168" y="4046624"/>
            <a:ext cx="91440" cy="6817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7178040" y="3726734"/>
            <a:ext cx="91440" cy="38806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296912" y="3759744"/>
            <a:ext cx="91440" cy="35505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7415784" y="3723318"/>
            <a:ext cx="91440" cy="3914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7534656" y="3714630"/>
            <a:ext cx="91440" cy="40017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7653528" y="3632200"/>
            <a:ext cx="91440" cy="48260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7772400" y="3782090"/>
            <a:ext cx="91440" cy="33271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7891272" y="3736856"/>
            <a:ext cx="91440" cy="37794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8010144" y="3834345"/>
            <a:ext cx="91440" cy="28045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8129016" y="3982618"/>
            <a:ext cx="91440" cy="1321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8247888" y="3613466"/>
            <a:ext cx="91440" cy="50133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366760" y="3781668"/>
            <a:ext cx="91440" cy="33313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8485632" y="3743737"/>
            <a:ext cx="91440" cy="371063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8604504" y="3733246"/>
            <a:ext cx="91440" cy="38155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8723376" y="3930288"/>
            <a:ext cx="91440" cy="18451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8842248" y="3623244"/>
            <a:ext cx="91440" cy="49155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9" name="Text 46"/>
          <p:cNvSpPr/>
          <p:nvPr/>
        </p:nvSpPr>
        <p:spPr>
          <a:xfrm>
            <a:off x="93268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pathway-level: a few named axes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058400" y="2743200"/>
            <a:ext cx="1316736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1" name="Text 48"/>
          <p:cNvSpPr/>
          <p:nvPr/>
        </p:nvSpPr>
        <p:spPr>
          <a:xfrm>
            <a:off x="9144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10058400" y="3310128"/>
            <a:ext cx="877824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3" name="Text 50"/>
          <p:cNvSpPr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9034272" y="3877056"/>
            <a:ext cx="1024128" cy="36576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55" name="Text 52"/>
          <p:cNvSpPr/>
          <p:nvPr/>
        </p:nvSpPr>
        <p:spPr>
          <a:xfrm>
            <a:off x="9144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473184" y="4443984"/>
            <a:ext cx="585216" cy="36576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57" name="Text 54"/>
          <p:cNvSpPr/>
          <p:nvPr/>
        </p:nvSpPr>
        <p:spPr>
          <a:xfrm>
            <a:off x="9144000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058400" y="2697480"/>
            <a:ext cx="0" cy="2286000"/>
          </a:xfrm>
          <a:prstGeom prst="line">
            <a:avLst/>
          </a:prstGeom>
          <a:noFill/>
          <a:ln w="9525">
            <a:solidFill>
              <a:srgbClr val="5B6B70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and limitations, honestly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overfitting; friendlier p:n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stability across resamples &amp; cohorts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robustness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prior biology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5603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wrong/biased gene set hides signal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can blur a true single-gene effect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lags new biology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is a hypothesis — it can be wrong, and must be validated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biological representation often improves predictive performance more than changing algorithms.”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matters, features matter, validation matters — before sophisticated models.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leverage: representation and rigour first, algorithm last.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representation matters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dimensionality, revisited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vs selection; gene filtering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signatures &amp; pathway features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&amp; its three families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Feature-selection leakage &amp; the fix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19648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representations of the SAME METABRIC data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 · variance-filtered · DE genes · signatures · pathways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Logistic Regression on each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ROC-AUC, PR-AUC, #features, stability, interpretability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deliberately leaky workflow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now features are right, we return to improving &amp; validating models.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3805</Words>
  <Application>Microsoft Macintosh PowerPoint</Application>
  <PresentationFormat>Widescreen</PresentationFormat>
  <Paragraphs>436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 — Feature Engineering and Biological Representation</dc:title>
  <dc:subject>PptxGenJS Presentation</dc:subject>
  <dc:creator>Practical ML for Transcriptomics in Cancer Research</dc:creator>
  <cp:lastModifiedBy>Zhan Yinxiu</cp:lastModifiedBy>
  <cp:revision>10</cp:revision>
  <dcterms:created xsi:type="dcterms:W3CDTF">2026-06-17T14:02:34Z</dcterms:created>
  <dcterms:modified xsi:type="dcterms:W3CDTF">2026-06-21T08:04:31Z</dcterms:modified>
</cp:coreProperties>
</file>