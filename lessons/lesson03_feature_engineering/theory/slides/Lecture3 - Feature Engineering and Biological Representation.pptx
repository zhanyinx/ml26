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per-gene variance (unsupervised)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genes</c:v>
                </c:pt>
              </c:strCache>
            </c:strRef>
          </c:tx>
          <c:spPr>
            <a:solidFill>
              <a:srgbClr val="DCED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57</c:v>
                </c:pt>
                <c:pt idx="1">
                  <c:v>78</c:v>
                </c:pt>
                <c:pt idx="2">
                  <c:v>94</c:v>
                </c:pt>
                <c:pt idx="3">
                  <c:v>100</c:v>
                </c:pt>
                <c:pt idx="4">
                  <c:v>94</c:v>
                </c:pt>
                <c:pt idx="5">
                  <c:v>78</c:v>
                </c:pt>
                <c:pt idx="6">
                  <c:v>57</c:v>
                </c:pt>
                <c:pt idx="7">
                  <c:v>37</c:v>
                </c:pt>
                <c:pt idx="8">
                  <c:v>21</c:v>
                </c:pt>
                <c:pt idx="9">
                  <c:v>11</c:v>
                </c:pt>
                <c:pt idx="10">
                  <c:v>5</c:v>
                </c:pt>
                <c:pt idx="11">
                  <c:v>2</c:v>
                </c:pt>
                <c:pt idx="12">
                  <c:v>1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2262B"/>
                </a:solidFill>
                <a:latin typeface="Arial"/>
              </a:rPr>
              <a:t>across patients (ordered by risk)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single gene (jittery)</c:v>
                </c:pt>
              </c:strCache>
            </c:strRef>
          </c:tx>
          <c:spPr>
            <a:solidFill>
              <a:srgbClr val="C9D7D9"/>
            </a:solidFill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0.3901210165303764</c:v>
                </c:pt>
                <c:pt idx="1">
                  <c:v>0.28639419088670715</c:v>
                </c:pt>
                <c:pt idx="2">
                  <c:v>0.3392963172119559</c:v>
                </c:pt>
                <c:pt idx="3">
                  <c:v>0.6177862884908851</c:v>
                </c:pt>
                <c:pt idx="4">
                  <c:v>0.2734372854807588</c:v>
                </c:pt>
                <c:pt idx="5">
                  <c:v>0.44100730431545865</c:v>
                </c:pt>
                <c:pt idx="6">
                  <c:v>0.656774115775141</c:v>
                </c:pt>
                <c:pt idx="7">
                  <c:v>0.2695460081307897</c:v>
                </c:pt>
                <c:pt idx="8">
                  <c:v>0.30333270135025153</c:v>
                </c:pt>
                <c:pt idx="9">
                  <c:v>0.7446317615311742</c:v>
                </c:pt>
                <c:pt idx="10">
                  <c:v>0.44453101164872344</c:v>
                </c:pt>
                <c:pt idx="11">
                  <c:v>0.480372381282678</c:v>
                </c:pt>
                <c:pt idx="12">
                  <c:v>0.6675504209089793</c:v>
                </c:pt>
                <c:pt idx="13">
                  <c:v>0.7410504819667202</c:v>
                </c:pt>
                <c:pt idx="14">
                  <c:v>0.5017758846756889</c:v>
                </c:pt>
                <c:pt idx="15">
                  <c:v>0.685688558342256</c:v>
                </c:pt>
                <c:pt idx="16">
                  <c:v>0.6437956214853542</c:v>
                </c:pt>
                <c:pt idx="17">
                  <c:v>0.5987561107258108</c:v>
                </c:pt>
                <c:pt idx="18">
                  <c:v>0.7842492462528168</c:v>
                </c:pt>
                <c:pt idx="19">
                  <c:v>0.9986797215760125</c:v>
                </c:pt>
                <c:pt idx="20">
                  <c:v>0.8130810142788483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aggregated score (smooth)</c:v>
                </c:pt>
              </c:strCache>
            </c:strRef>
          </c:tx>
          <c:spPr>
            <a:solidFill>
              <a:srgbClr val="0E7C86"/>
            </a:solidFill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0.3</c:v>
                </c:pt>
                <c:pt idx="1">
                  <c:v>0.325</c:v>
                </c:pt>
                <c:pt idx="2">
                  <c:v>0.35</c:v>
                </c:pt>
                <c:pt idx="3">
                  <c:v>0.375</c:v>
                </c:pt>
                <c:pt idx="4">
                  <c:v>0.4</c:v>
                </c:pt>
                <c:pt idx="5">
                  <c:v>0.425</c:v>
                </c:pt>
                <c:pt idx="6">
                  <c:v>0.44999999999999996</c:v>
                </c:pt>
                <c:pt idx="7">
                  <c:v>0.475</c:v>
                </c:pt>
                <c:pt idx="8">
                  <c:v>0.5</c:v>
                </c:pt>
                <c:pt idx="9">
                  <c:v>0.525</c:v>
                </c:pt>
                <c:pt idx="10">
                  <c:v>0.55</c:v>
                </c:pt>
                <c:pt idx="11">
                  <c:v>0.575</c:v>
                </c:pt>
                <c:pt idx="12">
                  <c:v>0.6</c:v>
                </c:pt>
                <c:pt idx="13">
                  <c:v>0.625</c:v>
                </c:pt>
                <c:pt idx="14">
                  <c:v>0.6499999999999999</c:v>
                </c:pt>
                <c:pt idx="15">
                  <c:v>0.675</c:v>
                </c:pt>
                <c:pt idx="16">
                  <c:v>0.7</c:v>
                </c:pt>
                <c:pt idx="17">
                  <c:v>0.725</c:v>
                </c:pt>
                <c:pt idx="18">
                  <c:v>0.75</c:v>
                </c:pt>
                <c:pt idx="19">
                  <c:v>0.7749999999999999</c:v>
                </c:pt>
                <c:pt idx="20">
                  <c:v>0.8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select-on-all-data vs select-inside-fold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226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Leaky CV</c:v>
                  </c:pt>
                  <c:pt idx="1">
                    <c:v>Honest CV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</c:v>
                </c:pt>
                <c:pt idx="1">
                  <c:v>0.66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226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The turn the course has been building toward. The most important lecture: in transcriptomics, representation of the biology is usually a bigger lever than the algorithm — and it's where biology training becomes a modelling superpower.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L1 made problem &amp; data trustworthy; L2 gave a validated baseline by changing the MODEL. Today we freeze the model and change only the FEATURES — a controlled experiment. Representation is often the biggest lever on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Checklist ticked as we go. The two that matter most: why biological aggregation helps, and recognising feature-selection leakage (subtler here — it hides in 'innocent' steps like DE filtering).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model never sees biology; it sees numbers we chose. Change those numbers and you change everything — often more than swapping the model. The 'change representation' arrow is thick; 'change algorithm' is thin.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Garbage-in: a perfect algorithm on a poor representation still fails. 20k noisy genes carry huge noise per unit signal; 50 pathway scores far less. Features inject prior biology so the model needn't rediscover it from scarce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Same METABRIC patients, same Logistic Regression, different representations. A controlled experiment — only the representation changes. Hypothesis: fewer, biologically-coherent features generalise as well or better. Tested in the practical.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 &gt;&gt; n again: ~200-2000 patients, ~20,000 genes. Some genes correlate with outcome by chance -&gt; noise, instability, overfitting. Representation is one of our few defences: it shrinks p toward 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Each noisy feature is another chance to fit randomness. The model spreads finite attention across thousands of irrelevant genes. Aggregating to meaningful features concentrates signal and stabilises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Engineering CREATES new features (genes -&gt; score). Selection CHOOSES a subset (keep 100 genes). Complementary, not rivals. Both are data-dependent decisions -&gt; both respect the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Drop genes that barely vary — they can't discriminate. Unsupervised (no labels) -&gt; low leakage risk, safe first pass. But high variance != biological relevance; a noisy probe can be high-variance.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Keep genes that differ between outcomes — powerful, but SUPERVISED (uses the label) -&gt; leakage hazard. If done on all data it peeks at test outcomes. Rule: DE filtering inside the split, never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Advantages: fewer features, faster, less overfitting, easier interpretation. Limitations: variance keeps noise; DE leaks &amp; is unstable. Filtering treats genes individually — ignores coordinated programmes. Motivates aggregation.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Summarise coordinated gene programmes into a few scores. A signature score aggregates co-moving genes into one number. Benefits: less noise (averaging), prior knowledge, interpretable, stable. Biology becomes a modelling advantage.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Proliferation (cell-cycle) genes are among the strongest prognostic signals in HR+/HER2-. A proliferation score summarises aggressiveness — echoed by Ki-67 and commercial assays' proliferation modules. One robust score can beat hundreds of noisy genes.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HR+ disease is defined by ER signalling. An ER-signalling score (ESR1, FOXA1, GATA3) captures luminal differentiation. Often protective: higher ER signalling -&gt; lower recurrence risk. Encodes the disease's defining biology in one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Immune signatures capture anti-tumour immunity (often favourable); stromal capture the microenvironment (can mark progression). The tumour is an ecosystem; single genes miss it, programme scores capture it. Transferable across cancers.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Averaging co-regulated genes cancels random noise. A score is more stable under resampling than any single gene (answers L1 non-uniqueness). Fewer features -&gt; less overfitting. And they carry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 gene set is a curated list sharing a function. MSigDB Hallmarks (~50 non-redundant), Reactome, GO, KEGG. Turn 20,000 genes into ~50-100 interpretable pathway activities — systematic biological feature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These methods score, per patient, how active each gene set is. We use them as a TOOL, not derive them. Output: patients x pathways matrix. 20,000 genes -&gt; ~50-100 features, ready for the same Logistic Regression.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Far fewer features -&gt; friendlier p:n. Each feature averages many genes -&gt; less noise, cross-cohort stability. Pathway activities are more comparable across platforms than raw probes (helps L1 batch). Interpretable axes.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Filter: rank independently of model (variance, correlation, DE). Embedded: selection during fitting (LASSO, Elastic Net). Tree-based: rank by usefulness for splitting. Choice depends on goal: speed, sparsity, stability, interpretability.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LASSO -&gt; sparse panel; Elastic Net -&gt; correlated groups, more stable (L2). On pathway features: a tiny, interpretable, stable model. Synergy: good engineering (pathways) + honest selection (Elastic Net) = defensible biomarker.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classic killer: select on ALL data, then CV the reduced set. The features already saw the test patients -&gt; optimistic, unreproducible. The most common silent error in omics ML; it survives peer review constantly.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Wrong: selection -&gt; CV (once, on everything). Right: CV -&gt; selection INSIDE each fold -&gt; train -&gt; evaluate. Applies to filtering, DE, signature fitting. Fixed published gene sets are largely exempt (no fitting on your labels).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Leakage can inflate AUC by a large, study-changing margin. The inflated estimate is STABLE (CV launders it), so it looks trustworthy. Always ask: was selection inside the CV? Was there an external cohort? Measured in the practical.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Pathway models are far easier to interpret than gene-level. 'Risk rises with proliferation and falls with ER signalling' — a sentence a clinician trusts. Supports validation, hypotheses, adoption. Limit: depends on the gene set chosen.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Strengths: less overfitting, stability, cross-platform robustness, interpretability, encoded prior biology. Limitations: wrong gene set hides signal; aggregation blurs single-gene effects; curation lags new biology. Engineering is a hypothesis — validate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thesis. Reorder instincts: representation and rigour first, algorithm last. The through-line: trustworthy problem (L1), trustworthy model (L2), trustworthy features (L3).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five representations of the SAME data — all genes, variance-filtered, DE, signatures, pathways — same model; compare ROC-AUC, PR-AUC, feature count, stability, interpretability; diagnose a leaky workflow. Next: improving &amp; validating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Shape 1"/>
          <p:cNvSpPr/>
          <p:nvPr/>
        </p:nvSpPr>
        <p:spPr>
          <a:xfrm>
            <a:off x="5687568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4" name="Shape 2"/>
          <p:cNvSpPr/>
          <p:nvPr/>
        </p:nvSpPr>
        <p:spPr>
          <a:xfrm>
            <a:off x="5888736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" name="Shape 3"/>
          <p:cNvSpPr/>
          <p:nvPr/>
        </p:nvSpPr>
        <p:spPr>
          <a:xfrm>
            <a:off x="6089904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" name="Shape 4"/>
          <p:cNvSpPr/>
          <p:nvPr/>
        </p:nvSpPr>
        <p:spPr>
          <a:xfrm>
            <a:off x="6291072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" name="Shape 6"/>
          <p:cNvSpPr/>
          <p:nvPr/>
        </p:nvSpPr>
        <p:spPr>
          <a:xfrm>
            <a:off x="6693408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" name="Shape 7"/>
          <p:cNvSpPr/>
          <p:nvPr/>
        </p:nvSpPr>
        <p:spPr>
          <a:xfrm>
            <a:off x="6894576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" name="Shape 8"/>
          <p:cNvSpPr/>
          <p:nvPr/>
        </p:nvSpPr>
        <p:spPr>
          <a:xfrm>
            <a:off x="7095744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1" name="Shape 9"/>
          <p:cNvSpPr/>
          <p:nvPr/>
        </p:nvSpPr>
        <p:spPr>
          <a:xfrm>
            <a:off x="7296912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0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3" name="Shape 11"/>
          <p:cNvSpPr/>
          <p:nvPr/>
        </p:nvSpPr>
        <p:spPr>
          <a:xfrm>
            <a:off x="7699248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0416" y="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5" name="Shape 13"/>
          <p:cNvSpPr/>
          <p:nvPr/>
        </p:nvSpPr>
        <p:spPr>
          <a:xfrm>
            <a:off x="8101584" y="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0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7" name="Shape 15"/>
          <p:cNvSpPr/>
          <p:nvPr/>
        </p:nvSpPr>
        <p:spPr>
          <a:xfrm>
            <a:off x="5687568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8" name="Shape 16"/>
          <p:cNvSpPr/>
          <p:nvPr/>
        </p:nvSpPr>
        <p:spPr>
          <a:xfrm>
            <a:off x="588873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9904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0" name="Shape 18"/>
          <p:cNvSpPr/>
          <p:nvPr/>
        </p:nvSpPr>
        <p:spPr>
          <a:xfrm>
            <a:off x="6291072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2" name="Shape 20"/>
          <p:cNvSpPr/>
          <p:nvPr/>
        </p:nvSpPr>
        <p:spPr>
          <a:xfrm>
            <a:off x="6693408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3" name="Shape 21"/>
          <p:cNvSpPr/>
          <p:nvPr/>
        </p:nvSpPr>
        <p:spPr>
          <a:xfrm>
            <a:off x="689457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24" name="Shape 22"/>
          <p:cNvSpPr/>
          <p:nvPr/>
        </p:nvSpPr>
        <p:spPr>
          <a:xfrm>
            <a:off x="7095744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5" name="Shape 23"/>
          <p:cNvSpPr/>
          <p:nvPr/>
        </p:nvSpPr>
        <p:spPr>
          <a:xfrm>
            <a:off x="7296912" y="2743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6" name="Shape 24"/>
          <p:cNvSpPr/>
          <p:nvPr/>
        </p:nvSpPr>
        <p:spPr>
          <a:xfrm>
            <a:off x="7498080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27" name="Shape 25"/>
          <p:cNvSpPr/>
          <p:nvPr/>
        </p:nvSpPr>
        <p:spPr>
          <a:xfrm>
            <a:off x="7699248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8" name="Shape 26"/>
          <p:cNvSpPr/>
          <p:nvPr/>
        </p:nvSpPr>
        <p:spPr>
          <a:xfrm>
            <a:off x="7900416" y="2743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29" name="Shape 27"/>
          <p:cNvSpPr/>
          <p:nvPr/>
        </p:nvSpPr>
        <p:spPr>
          <a:xfrm>
            <a:off x="8101584" y="2743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0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31" name="Shape 29"/>
          <p:cNvSpPr/>
          <p:nvPr/>
        </p:nvSpPr>
        <p:spPr>
          <a:xfrm>
            <a:off x="5687568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32" name="Shape 30"/>
          <p:cNvSpPr/>
          <p:nvPr/>
        </p:nvSpPr>
        <p:spPr>
          <a:xfrm>
            <a:off x="5888736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3" name="Shape 31"/>
          <p:cNvSpPr/>
          <p:nvPr/>
        </p:nvSpPr>
        <p:spPr>
          <a:xfrm>
            <a:off x="6089904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4" name="Shape 32"/>
          <p:cNvSpPr/>
          <p:nvPr/>
        </p:nvSpPr>
        <p:spPr>
          <a:xfrm>
            <a:off x="6291072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5" name="Shape 33"/>
          <p:cNvSpPr/>
          <p:nvPr/>
        </p:nvSpPr>
        <p:spPr>
          <a:xfrm>
            <a:off x="6492240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6" name="Shape 34"/>
          <p:cNvSpPr/>
          <p:nvPr/>
        </p:nvSpPr>
        <p:spPr>
          <a:xfrm>
            <a:off x="6693408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7" name="Shape 35"/>
          <p:cNvSpPr/>
          <p:nvPr/>
        </p:nvSpPr>
        <p:spPr>
          <a:xfrm>
            <a:off x="6894576" y="5486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8" name="Shape 36"/>
          <p:cNvSpPr/>
          <p:nvPr/>
        </p:nvSpPr>
        <p:spPr>
          <a:xfrm>
            <a:off x="7095744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39" name="Shape 37"/>
          <p:cNvSpPr/>
          <p:nvPr/>
        </p:nvSpPr>
        <p:spPr>
          <a:xfrm>
            <a:off x="7296912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0" name="Shape 38"/>
          <p:cNvSpPr/>
          <p:nvPr/>
        </p:nvSpPr>
        <p:spPr>
          <a:xfrm>
            <a:off x="7498080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41" name="Shape 39"/>
          <p:cNvSpPr/>
          <p:nvPr/>
        </p:nvSpPr>
        <p:spPr>
          <a:xfrm>
            <a:off x="7699248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2" name="Shape 40"/>
          <p:cNvSpPr/>
          <p:nvPr/>
        </p:nvSpPr>
        <p:spPr>
          <a:xfrm>
            <a:off x="7900416" y="5486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3" name="Shape 41"/>
          <p:cNvSpPr/>
          <p:nvPr/>
        </p:nvSpPr>
        <p:spPr>
          <a:xfrm>
            <a:off x="8101584" y="5486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6400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5" name="Shape 43"/>
          <p:cNvSpPr/>
          <p:nvPr/>
        </p:nvSpPr>
        <p:spPr>
          <a:xfrm>
            <a:off x="5687568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46" name="Shape 44"/>
          <p:cNvSpPr/>
          <p:nvPr/>
        </p:nvSpPr>
        <p:spPr>
          <a:xfrm>
            <a:off x="5888736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7" name="Shape 45"/>
          <p:cNvSpPr/>
          <p:nvPr/>
        </p:nvSpPr>
        <p:spPr>
          <a:xfrm>
            <a:off x="6089904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8" name="Shape 46"/>
          <p:cNvSpPr/>
          <p:nvPr/>
        </p:nvSpPr>
        <p:spPr>
          <a:xfrm>
            <a:off x="6291072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49" name="Shape 47"/>
          <p:cNvSpPr/>
          <p:nvPr/>
        </p:nvSpPr>
        <p:spPr>
          <a:xfrm>
            <a:off x="6492240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0" name="Shape 48"/>
          <p:cNvSpPr/>
          <p:nvPr/>
        </p:nvSpPr>
        <p:spPr>
          <a:xfrm>
            <a:off x="6693408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1" name="Shape 49"/>
          <p:cNvSpPr/>
          <p:nvPr/>
        </p:nvSpPr>
        <p:spPr>
          <a:xfrm>
            <a:off x="6894576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2" name="Shape 50"/>
          <p:cNvSpPr/>
          <p:nvPr/>
        </p:nvSpPr>
        <p:spPr>
          <a:xfrm>
            <a:off x="7095744" y="8229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53" name="Shape 51"/>
          <p:cNvSpPr/>
          <p:nvPr/>
        </p:nvSpPr>
        <p:spPr>
          <a:xfrm>
            <a:off x="7296912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4" name="Shape 52"/>
          <p:cNvSpPr/>
          <p:nvPr/>
        </p:nvSpPr>
        <p:spPr>
          <a:xfrm>
            <a:off x="7498080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5" name="Shape 53"/>
          <p:cNvSpPr/>
          <p:nvPr/>
        </p:nvSpPr>
        <p:spPr>
          <a:xfrm>
            <a:off x="7699248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6" name="Shape 54"/>
          <p:cNvSpPr/>
          <p:nvPr/>
        </p:nvSpPr>
        <p:spPr>
          <a:xfrm>
            <a:off x="7900416" y="8229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7" name="Shape 55"/>
          <p:cNvSpPr/>
          <p:nvPr/>
        </p:nvSpPr>
        <p:spPr>
          <a:xfrm>
            <a:off x="8101584" y="8229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6400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9" name="Shape 57"/>
          <p:cNvSpPr/>
          <p:nvPr/>
        </p:nvSpPr>
        <p:spPr>
          <a:xfrm>
            <a:off x="5687568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8873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61" name="Shape 59"/>
          <p:cNvSpPr/>
          <p:nvPr/>
        </p:nvSpPr>
        <p:spPr>
          <a:xfrm>
            <a:off x="6089904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62" name="Shape 60"/>
          <p:cNvSpPr/>
          <p:nvPr/>
        </p:nvSpPr>
        <p:spPr>
          <a:xfrm>
            <a:off x="6291072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3" name="Shape 61"/>
          <p:cNvSpPr/>
          <p:nvPr/>
        </p:nvSpPr>
        <p:spPr>
          <a:xfrm>
            <a:off x="6492240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4" name="Shape 62"/>
          <p:cNvSpPr/>
          <p:nvPr/>
        </p:nvSpPr>
        <p:spPr>
          <a:xfrm>
            <a:off x="6693408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5" name="Shape 63"/>
          <p:cNvSpPr/>
          <p:nvPr/>
        </p:nvSpPr>
        <p:spPr>
          <a:xfrm>
            <a:off x="689457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66" name="Shape 64"/>
          <p:cNvSpPr/>
          <p:nvPr/>
        </p:nvSpPr>
        <p:spPr>
          <a:xfrm>
            <a:off x="7095744" y="109728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7" name="Shape 65"/>
          <p:cNvSpPr/>
          <p:nvPr/>
        </p:nvSpPr>
        <p:spPr>
          <a:xfrm>
            <a:off x="7296912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68" name="Shape 66"/>
          <p:cNvSpPr/>
          <p:nvPr/>
        </p:nvSpPr>
        <p:spPr>
          <a:xfrm>
            <a:off x="7498080" y="109728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9" name="Shape 67"/>
          <p:cNvSpPr/>
          <p:nvPr/>
        </p:nvSpPr>
        <p:spPr>
          <a:xfrm>
            <a:off x="7699248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70" name="Shape 68"/>
          <p:cNvSpPr/>
          <p:nvPr/>
        </p:nvSpPr>
        <p:spPr>
          <a:xfrm>
            <a:off x="7900416" y="109728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71" name="Shape 69"/>
          <p:cNvSpPr/>
          <p:nvPr/>
        </p:nvSpPr>
        <p:spPr>
          <a:xfrm>
            <a:off x="8101584" y="109728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2" name="Shape 70"/>
          <p:cNvSpPr/>
          <p:nvPr/>
        </p:nvSpPr>
        <p:spPr>
          <a:xfrm>
            <a:off x="548640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87568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88736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5" name="Shape 73"/>
          <p:cNvSpPr/>
          <p:nvPr/>
        </p:nvSpPr>
        <p:spPr>
          <a:xfrm>
            <a:off x="6089904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76" name="Shape 74"/>
          <p:cNvSpPr/>
          <p:nvPr/>
        </p:nvSpPr>
        <p:spPr>
          <a:xfrm>
            <a:off x="6291072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7" name="Shape 75"/>
          <p:cNvSpPr/>
          <p:nvPr/>
        </p:nvSpPr>
        <p:spPr>
          <a:xfrm>
            <a:off x="649224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93408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94576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0" name="Shape 78"/>
          <p:cNvSpPr/>
          <p:nvPr/>
        </p:nvSpPr>
        <p:spPr>
          <a:xfrm>
            <a:off x="7095744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81" name="Shape 79"/>
          <p:cNvSpPr/>
          <p:nvPr/>
        </p:nvSpPr>
        <p:spPr>
          <a:xfrm>
            <a:off x="7296912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82" name="Shape 80"/>
          <p:cNvSpPr/>
          <p:nvPr/>
        </p:nvSpPr>
        <p:spPr>
          <a:xfrm>
            <a:off x="7498080" y="137160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3" name="Shape 81"/>
          <p:cNvSpPr/>
          <p:nvPr/>
        </p:nvSpPr>
        <p:spPr>
          <a:xfrm>
            <a:off x="7699248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84" name="Shape 82"/>
          <p:cNvSpPr/>
          <p:nvPr/>
        </p:nvSpPr>
        <p:spPr>
          <a:xfrm>
            <a:off x="7900416" y="137160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85" name="Shape 83"/>
          <p:cNvSpPr/>
          <p:nvPr/>
        </p:nvSpPr>
        <p:spPr>
          <a:xfrm>
            <a:off x="8101584" y="137160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6" name="Shape 84"/>
          <p:cNvSpPr/>
          <p:nvPr/>
        </p:nvSpPr>
        <p:spPr>
          <a:xfrm>
            <a:off x="5486400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7" name="Shape 85"/>
          <p:cNvSpPr/>
          <p:nvPr/>
        </p:nvSpPr>
        <p:spPr>
          <a:xfrm>
            <a:off x="5687568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8" name="Shape 86"/>
          <p:cNvSpPr/>
          <p:nvPr/>
        </p:nvSpPr>
        <p:spPr>
          <a:xfrm>
            <a:off x="5888736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9" name="Shape 87"/>
          <p:cNvSpPr/>
          <p:nvPr/>
        </p:nvSpPr>
        <p:spPr>
          <a:xfrm>
            <a:off x="6089904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0" name="Shape 88"/>
          <p:cNvSpPr/>
          <p:nvPr/>
        </p:nvSpPr>
        <p:spPr>
          <a:xfrm>
            <a:off x="6291072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91" name="Shape 89"/>
          <p:cNvSpPr/>
          <p:nvPr/>
        </p:nvSpPr>
        <p:spPr>
          <a:xfrm>
            <a:off x="6492240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92" name="Shape 90"/>
          <p:cNvSpPr/>
          <p:nvPr/>
        </p:nvSpPr>
        <p:spPr>
          <a:xfrm>
            <a:off x="6693408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3" name="Shape 91"/>
          <p:cNvSpPr/>
          <p:nvPr/>
        </p:nvSpPr>
        <p:spPr>
          <a:xfrm>
            <a:off x="6894576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94" name="Shape 92"/>
          <p:cNvSpPr/>
          <p:nvPr/>
        </p:nvSpPr>
        <p:spPr>
          <a:xfrm>
            <a:off x="7095744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6912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96" name="Shape 94"/>
          <p:cNvSpPr/>
          <p:nvPr/>
        </p:nvSpPr>
        <p:spPr>
          <a:xfrm>
            <a:off x="7498080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7" name="Shape 95"/>
          <p:cNvSpPr/>
          <p:nvPr/>
        </p:nvSpPr>
        <p:spPr>
          <a:xfrm>
            <a:off x="7699248" y="164592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8" name="Shape 96"/>
          <p:cNvSpPr/>
          <p:nvPr/>
        </p:nvSpPr>
        <p:spPr>
          <a:xfrm>
            <a:off x="7900416" y="164592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9" name="Shape 97"/>
          <p:cNvSpPr/>
          <p:nvPr/>
        </p:nvSpPr>
        <p:spPr>
          <a:xfrm>
            <a:off x="8101584" y="164592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86400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687568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888736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089904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291072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92240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693408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894576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095744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296912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498080" y="192024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699248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900416" y="192024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101584" y="192024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486400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68756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888736" y="21945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089904" y="2194560"/>
            <a:ext cx="192024" cy="265176"/>
          </a:xfrm>
          <a:prstGeom prst="rect">
            <a:avLst/>
          </a:prstGeom>
          <a:solidFill>
            <a:srgbClr val="0B3B4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291072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492240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69340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894576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095744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6912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498080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699248" y="2194560"/>
            <a:ext cx="192024" cy="26517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900416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101584" y="2194560"/>
            <a:ext cx="192024" cy="26517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412480" y="1234440"/>
            <a:ext cx="822960" cy="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9418320" y="1234440"/>
            <a:ext cx="310896" cy="146304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9838944" y="502920"/>
            <a:ext cx="310896" cy="219456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10259568" y="1783080"/>
            <a:ext cx="310896" cy="91440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10680192" y="868680"/>
            <a:ext cx="310896" cy="182880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1100816" y="1508760"/>
            <a:ext cx="310896" cy="1188720"/>
          </a:xfrm>
          <a:prstGeom prst="rect">
            <a:avLst/>
          </a:prstGeom>
          <a:solidFill>
            <a:srgbClr val="14A6B0">
              <a:alpha val="85000"/>
            </a:srgbClr>
          </a:solidFill>
          <a:ln/>
        </p:spPr>
      </p:sp>
      <p:sp>
        <p:nvSpPr>
          <p:cNvPr id="134" name="Text 132"/>
          <p:cNvSpPr/>
          <p:nvPr/>
        </p:nvSpPr>
        <p:spPr>
          <a:xfrm>
            <a:off x="9235440" y="2834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pathways</a:t>
            </a:r>
            <a:endParaRPr lang="en-US" sz="1100" dirty="0"/>
          </a:p>
        </p:txBody>
      </p:sp>
      <p:sp>
        <p:nvSpPr>
          <p:cNvPr id="135" name="Text 133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</a:t>
            </a:r>
            <a:endParaRPr lang="en-US" sz="1500" dirty="0"/>
          </a:p>
        </p:txBody>
      </p:sp>
      <p:sp>
        <p:nvSpPr>
          <p:cNvPr id="136" name="Text 134"/>
          <p:cNvSpPr/>
          <p:nvPr/>
        </p:nvSpPr>
        <p:spPr>
          <a:xfrm>
            <a:off x="64008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and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Representation</a:t>
            </a:r>
            <a:endParaRPr lang="en-US" sz="3600" dirty="0"/>
          </a:p>
        </p:txBody>
      </p:sp>
      <p:sp>
        <p:nvSpPr>
          <p:cNvPr id="137" name="Text 135"/>
          <p:cNvSpPr/>
          <p:nvPr/>
        </p:nvSpPr>
        <p:spPr>
          <a:xfrm>
            <a:off x="640080" y="379476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138" name="Text 136"/>
          <p:cNvSpPr/>
          <p:nvPr/>
        </p:nvSpPr>
        <p:spPr>
          <a:xfrm>
            <a:off x="640080" y="4434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data, same model — change what the model sees.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name · Affiliation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Recap, and the turn we take today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1: framed the problem, the data, leakage, batch, validation.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2: a trustworthy baseline — Logistic Regression, regularisation, honest evaluation.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hold the algorithm fixed and change the features — the representation of the biology.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we defend: representation is often the biggest lever on performance.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&amp; validating models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feature representation matters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Re-explain the curse of dimensionality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feature engineering from selection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gene-filtering strategies (variance, DE)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biological signatures &amp; pathway features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LASSO-based selection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feature-selection leakage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Critically evaluate feature strategies in biomarker studies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FEATURES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big idea: representation over algorithm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biology can be described many ways: 20,000 raw genes, or 50 pathway scores.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do not see “biology” — they see the numbers we choose to feed them.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those numbers (the representation) often beats changing the model.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lecture’s thesis; everything else is evidence for it.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0" y="3017520"/>
            <a:ext cx="1828800" cy="822960"/>
          </a:xfrm>
          <a:prstGeom prst="roundRect">
            <a:avLst>
              <a:gd name="adj" fmla="val 8889"/>
            </a:avLst>
          </a:prstGeom>
          <a:solidFill>
            <a:srgbClr val="12262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0" y="30175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732520" y="3246120"/>
            <a:ext cx="1371600" cy="-91440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10058400" y="1965960"/>
            <a:ext cx="2103120" cy="640080"/>
          </a:xfrm>
          <a:prstGeom prst="roundRect">
            <a:avLst>
              <a:gd name="adj" fmla="val 11429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0058400" y="1965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algorithm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32520" y="3611880"/>
            <a:ext cx="1371600" cy="914400"/>
          </a:xfrm>
          <a:prstGeom prst="line">
            <a:avLst/>
          </a:prstGeom>
          <a:noFill/>
          <a:ln w="635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058400" y="393192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058400" y="39319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representation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FEATURES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features matter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 algorithm on a poor representation still fails.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noisy genes vs 50 meaningful pathway scores: the latter carries far less noise per feature.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biomarker studies the winning move is frequently a better feature, not a fancier classifier.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encode prior biology the model would otherwise have to rediscover from scarce data.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" name="Shape 6"/>
          <p:cNvSpPr/>
          <p:nvPr/>
        </p:nvSpPr>
        <p:spPr>
          <a:xfrm>
            <a:off x="6976872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" name="Shape 7"/>
          <p:cNvSpPr/>
          <p:nvPr/>
        </p:nvSpPr>
        <p:spPr>
          <a:xfrm>
            <a:off x="709574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1" name="Shape 8"/>
          <p:cNvSpPr/>
          <p:nvPr/>
        </p:nvSpPr>
        <p:spPr>
          <a:xfrm>
            <a:off x="7214616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" name="Shape 9"/>
          <p:cNvSpPr/>
          <p:nvPr/>
        </p:nvSpPr>
        <p:spPr>
          <a:xfrm>
            <a:off x="7333488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3" name="Shape 10"/>
          <p:cNvSpPr/>
          <p:nvPr/>
        </p:nvSpPr>
        <p:spPr>
          <a:xfrm>
            <a:off x="745236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571232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90104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7808976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7" name="Shape 14"/>
          <p:cNvSpPr/>
          <p:nvPr/>
        </p:nvSpPr>
        <p:spPr>
          <a:xfrm>
            <a:off x="7927848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8046720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65592" y="210312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0" name="Shape 17"/>
          <p:cNvSpPr/>
          <p:nvPr/>
        </p:nvSpPr>
        <p:spPr>
          <a:xfrm>
            <a:off x="828446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21" name="Shape 18"/>
          <p:cNvSpPr/>
          <p:nvPr/>
        </p:nvSpPr>
        <p:spPr>
          <a:xfrm>
            <a:off x="8403336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2" name="Shape 19"/>
          <p:cNvSpPr/>
          <p:nvPr/>
        </p:nvSpPr>
        <p:spPr>
          <a:xfrm>
            <a:off x="8522208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8641080" y="210312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4" name="Shape 21"/>
          <p:cNvSpPr/>
          <p:nvPr/>
        </p:nvSpPr>
        <p:spPr>
          <a:xfrm>
            <a:off x="8759952" y="210312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5" name="Shape 22"/>
          <p:cNvSpPr/>
          <p:nvPr/>
        </p:nvSpPr>
        <p:spPr>
          <a:xfrm>
            <a:off x="8878824" y="210312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26" name="Shape 23"/>
          <p:cNvSpPr/>
          <p:nvPr/>
        </p:nvSpPr>
        <p:spPr>
          <a:xfrm>
            <a:off x="6858000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7" name="Shape 24"/>
          <p:cNvSpPr/>
          <p:nvPr/>
        </p:nvSpPr>
        <p:spPr>
          <a:xfrm>
            <a:off x="697687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28" name="Shape 25"/>
          <p:cNvSpPr/>
          <p:nvPr/>
        </p:nvSpPr>
        <p:spPr>
          <a:xfrm>
            <a:off x="7095744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29" name="Shape 26"/>
          <p:cNvSpPr/>
          <p:nvPr/>
        </p:nvSpPr>
        <p:spPr>
          <a:xfrm>
            <a:off x="7214616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0" name="Shape 27"/>
          <p:cNvSpPr/>
          <p:nvPr/>
        </p:nvSpPr>
        <p:spPr>
          <a:xfrm>
            <a:off x="7333488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1" name="Shape 28"/>
          <p:cNvSpPr/>
          <p:nvPr/>
        </p:nvSpPr>
        <p:spPr>
          <a:xfrm>
            <a:off x="7452360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2" name="Shape 29"/>
          <p:cNvSpPr/>
          <p:nvPr/>
        </p:nvSpPr>
        <p:spPr>
          <a:xfrm>
            <a:off x="7571232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3" name="Shape 30"/>
          <p:cNvSpPr/>
          <p:nvPr/>
        </p:nvSpPr>
        <p:spPr>
          <a:xfrm>
            <a:off x="7690104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4" name="Shape 31"/>
          <p:cNvSpPr/>
          <p:nvPr/>
        </p:nvSpPr>
        <p:spPr>
          <a:xfrm>
            <a:off x="7808976" y="2249424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5" name="Shape 32"/>
          <p:cNvSpPr/>
          <p:nvPr/>
        </p:nvSpPr>
        <p:spPr>
          <a:xfrm>
            <a:off x="7927848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6" name="Shape 33"/>
          <p:cNvSpPr/>
          <p:nvPr/>
        </p:nvSpPr>
        <p:spPr>
          <a:xfrm>
            <a:off x="8046720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7" name="Shape 34"/>
          <p:cNvSpPr/>
          <p:nvPr/>
        </p:nvSpPr>
        <p:spPr>
          <a:xfrm>
            <a:off x="816559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38" name="Shape 35"/>
          <p:cNvSpPr/>
          <p:nvPr/>
        </p:nvSpPr>
        <p:spPr>
          <a:xfrm>
            <a:off x="8284464" y="2249424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9" name="Shape 36"/>
          <p:cNvSpPr/>
          <p:nvPr/>
        </p:nvSpPr>
        <p:spPr>
          <a:xfrm>
            <a:off x="8403336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0" name="Shape 37"/>
          <p:cNvSpPr/>
          <p:nvPr/>
        </p:nvSpPr>
        <p:spPr>
          <a:xfrm>
            <a:off x="8522208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1" name="Shape 38"/>
          <p:cNvSpPr/>
          <p:nvPr/>
        </p:nvSpPr>
        <p:spPr>
          <a:xfrm>
            <a:off x="8641080" y="2249424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2" name="Shape 39"/>
          <p:cNvSpPr/>
          <p:nvPr/>
        </p:nvSpPr>
        <p:spPr>
          <a:xfrm>
            <a:off x="8759952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43" name="Shape 40"/>
          <p:cNvSpPr/>
          <p:nvPr/>
        </p:nvSpPr>
        <p:spPr>
          <a:xfrm>
            <a:off x="8878824" y="2249424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44" name="Shape 41"/>
          <p:cNvSpPr/>
          <p:nvPr/>
        </p:nvSpPr>
        <p:spPr>
          <a:xfrm>
            <a:off x="6858000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5" name="Shape 42"/>
          <p:cNvSpPr/>
          <p:nvPr/>
        </p:nvSpPr>
        <p:spPr>
          <a:xfrm>
            <a:off x="6976872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6" name="Shape 43"/>
          <p:cNvSpPr/>
          <p:nvPr/>
        </p:nvSpPr>
        <p:spPr>
          <a:xfrm>
            <a:off x="7095744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7" name="Shape 44"/>
          <p:cNvSpPr/>
          <p:nvPr/>
        </p:nvSpPr>
        <p:spPr>
          <a:xfrm>
            <a:off x="7214616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8" name="Shape 45"/>
          <p:cNvSpPr/>
          <p:nvPr/>
        </p:nvSpPr>
        <p:spPr>
          <a:xfrm>
            <a:off x="7333488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7452360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0" name="Shape 47"/>
          <p:cNvSpPr/>
          <p:nvPr/>
        </p:nvSpPr>
        <p:spPr>
          <a:xfrm>
            <a:off x="7571232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1" name="Shape 48"/>
          <p:cNvSpPr/>
          <p:nvPr/>
        </p:nvSpPr>
        <p:spPr>
          <a:xfrm>
            <a:off x="7690104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2" name="Shape 49"/>
          <p:cNvSpPr/>
          <p:nvPr/>
        </p:nvSpPr>
        <p:spPr>
          <a:xfrm>
            <a:off x="7808976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3" name="Shape 50"/>
          <p:cNvSpPr/>
          <p:nvPr/>
        </p:nvSpPr>
        <p:spPr>
          <a:xfrm>
            <a:off x="7927848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4" name="Shape 51"/>
          <p:cNvSpPr/>
          <p:nvPr/>
        </p:nvSpPr>
        <p:spPr>
          <a:xfrm>
            <a:off x="8046720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5" name="Shape 52"/>
          <p:cNvSpPr/>
          <p:nvPr/>
        </p:nvSpPr>
        <p:spPr>
          <a:xfrm>
            <a:off x="8165592" y="2395728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6" name="Shape 53"/>
          <p:cNvSpPr/>
          <p:nvPr/>
        </p:nvSpPr>
        <p:spPr>
          <a:xfrm>
            <a:off x="8284464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7" name="Shape 54"/>
          <p:cNvSpPr/>
          <p:nvPr/>
        </p:nvSpPr>
        <p:spPr>
          <a:xfrm>
            <a:off x="8403336" y="2395728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8" name="Shape 55"/>
          <p:cNvSpPr/>
          <p:nvPr/>
        </p:nvSpPr>
        <p:spPr>
          <a:xfrm>
            <a:off x="8522208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59" name="Shape 56"/>
          <p:cNvSpPr/>
          <p:nvPr/>
        </p:nvSpPr>
        <p:spPr>
          <a:xfrm>
            <a:off x="8641080" y="2395728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0" name="Shape 57"/>
          <p:cNvSpPr/>
          <p:nvPr/>
        </p:nvSpPr>
        <p:spPr>
          <a:xfrm>
            <a:off x="8759952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1" name="Shape 58"/>
          <p:cNvSpPr/>
          <p:nvPr/>
        </p:nvSpPr>
        <p:spPr>
          <a:xfrm>
            <a:off x="8878824" y="2395728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2" name="Shape 59"/>
          <p:cNvSpPr/>
          <p:nvPr/>
        </p:nvSpPr>
        <p:spPr>
          <a:xfrm>
            <a:off x="685800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3" name="Shape 60"/>
          <p:cNvSpPr/>
          <p:nvPr/>
        </p:nvSpPr>
        <p:spPr>
          <a:xfrm>
            <a:off x="6976872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64" name="Shape 61"/>
          <p:cNvSpPr/>
          <p:nvPr/>
        </p:nvSpPr>
        <p:spPr>
          <a:xfrm>
            <a:off x="7095744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5" name="Shape 62"/>
          <p:cNvSpPr/>
          <p:nvPr/>
        </p:nvSpPr>
        <p:spPr>
          <a:xfrm>
            <a:off x="7214616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66" name="Shape 63"/>
          <p:cNvSpPr/>
          <p:nvPr/>
        </p:nvSpPr>
        <p:spPr>
          <a:xfrm>
            <a:off x="7333488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67" name="Shape 64"/>
          <p:cNvSpPr/>
          <p:nvPr/>
        </p:nvSpPr>
        <p:spPr>
          <a:xfrm>
            <a:off x="7452360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68" name="Shape 65"/>
          <p:cNvSpPr/>
          <p:nvPr/>
        </p:nvSpPr>
        <p:spPr>
          <a:xfrm>
            <a:off x="7571232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9" name="Shape 66"/>
          <p:cNvSpPr/>
          <p:nvPr/>
        </p:nvSpPr>
        <p:spPr>
          <a:xfrm>
            <a:off x="7690104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0" name="Shape 67"/>
          <p:cNvSpPr/>
          <p:nvPr/>
        </p:nvSpPr>
        <p:spPr>
          <a:xfrm>
            <a:off x="7808976" y="2542032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71" name="Shape 68"/>
          <p:cNvSpPr/>
          <p:nvPr/>
        </p:nvSpPr>
        <p:spPr>
          <a:xfrm>
            <a:off x="7927848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2" name="Shape 69"/>
          <p:cNvSpPr/>
          <p:nvPr/>
        </p:nvSpPr>
        <p:spPr>
          <a:xfrm>
            <a:off x="804672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3" name="Shape 70"/>
          <p:cNvSpPr/>
          <p:nvPr/>
        </p:nvSpPr>
        <p:spPr>
          <a:xfrm>
            <a:off x="8165592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4" name="Shape 71"/>
          <p:cNvSpPr/>
          <p:nvPr/>
        </p:nvSpPr>
        <p:spPr>
          <a:xfrm>
            <a:off x="8284464" y="2542032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5" name="Shape 72"/>
          <p:cNvSpPr/>
          <p:nvPr/>
        </p:nvSpPr>
        <p:spPr>
          <a:xfrm>
            <a:off x="8403336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6" name="Shape 73"/>
          <p:cNvSpPr/>
          <p:nvPr/>
        </p:nvSpPr>
        <p:spPr>
          <a:xfrm>
            <a:off x="8522208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7" name="Shape 74"/>
          <p:cNvSpPr/>
          <p:nvPr/>
        </p:nvSpPr>
        <p:spPr>
          <a:xfrm>
            <a:off x="8641080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8" name="Shape 75"/>
          <p:cNvSpPr/>
          <p:nvPr/>
        </p:nvSpPr>
        <p:spPr>
          <a:xfrm>
            <a:off x="8759952" y="2542032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9" name="Shape 76"/>
          <p:cNvSpPr/>
          <p:nvPr/>
        </p:nvSpPr>
        <p:spPr>
          <a:xfrm>
            <a:off x="8878824" y="2542032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0" name="Shape 77"/>
          <p:cNvSpPr/>
          <p:nvPr/>
        </p:nvSpPr>
        <p:spPr>
          <a:xfrm>
            <a:off x="6858000" y="2688336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81" name="Shape 78"/>
          <p:cNvSpPr/>
          <p:nvPr/>
        </p:nvSpPr>
        <p:spPr>
          <a:xfrm>
            <a:off x="6976872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2" name="Shape 79"/>
          <p:cNvSpPr/>
          <p:nvPr/>
        </p:nvSpPr>
        <p:spPr>
          <a:xfrm>
            <a:off x="7095744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3" name="Shape 80"/>
          <p:cNvSpPr/>
          <p:nvPr/>
        </p:nvSpPr>
        <p:spPr>
          <a:xfrm>
            <a:off x="7214616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4" name="Shape 81"/>
          <p:cNvSpPr/>
          <p:nvPr/>
        </p:nvSpPr>
        <p:spPr>
          <a:xfrm>
            <a:off x="7333488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85" name="Shape 82"/>
          <p:cNvSpPr/>
          <p:nvPr/>
        </p:nvSpPr>
        <p:spPr>
          <a:xfrm>
            <a:off x="7452360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6" name="Shape 83"/>
          <p:cNvSpPr/>
          <p:nvPr/>
        </p:nvSpPr>
        <p:spPr>
          <a:xfrm>
            <a:off x="7571232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7" name="Shape 84"/>
          <p:cNvSpPr/>
          <p:nvPr/>
        </p:nvSpPr>
        <p:spPr>
          <a:xfrm>
            <a:off x="7690104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8" name="Shape 85"/>
          <p:cNvSpPr/>
          <p:nvPr/>
        </p:nvSpPr>
        <p:spPr>
          <a:xfrm>
            <a:off x="7808976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9" name="Shape 86"/>
          <p:cNvSpPr/>
          <p:nvPr/>
        </p:nvSpPr>
        <p:spPr>
          <a:xfrm>
            <a:off x="7927848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0" name="Shape 87"/>
          <p:cNvSpPr/>
          <p:nvPr/>
        </p:nvSpPr>
        <p:spPr>
          <a:xfrm>
            <a:off x="8046720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1" name="Shape 88"/>
          <p:cNvSpPr/>
          <p:nvPr/>
        </p:nvSpPr>
        <p:spPr>
          <a:xfrm>
            <a:off x="8165592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2" name="Shape 89"/>
          <p:cNvSpPr/>
          <p:nvPr/>
        </p:nvSpPr>
        <p:spPr>
          <a:xfrm>
            <a:off x="8284464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3" name="Shape 90"/>
          <p:cNvSpPr/>
          <p:nvPr/>
        </p:nvSpPr>
        <p:spPr>
          <a:xfrm>
            <a:off x="8403336" y="2688336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4" name="Shape 91"/>
          <p:cNvSpPr/>
          <p:nvPr/>
        </p:nvSpPr>
        <p:spPr>
          <a:xfrm>
            <a:off x="8522208" y="2688336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5" name="Shape 92"/>
          <p:cNvSpPr/>
          <p:nvPr/>
        </p:nvSpPr>
        <p:spPr>
          <a:xfrm>
            <a:off x="8641080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6" name="Shape 93"/>
          <p:cNvSpPr/>
          <p:nvPr/>
        </p:nvSpPr>
        <p:spPr>
          <a:xfrm>
            <a:off x="8759952" y="2688336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7" name="Shape 94"/>
          <p:cNvSpPr/>
          <p:nvPr/>
        </p:nvSpPr>
        <p:spPr>
          <a:xfrm>
            <a:off x="8878824" y="2688336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8" name="Shape 95"/>
          <p:cNvSpPr/>
          <p:nvPr/>
        </p:nvSpPr>
        <p:spPr>
          <a:xfrm>
            <a:off x="6858000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9" name="Shape 96"/>
          <p:cNvSpPr/>
          <p:nvPr/>
        </p:nvSpPr>
        <p:spPr>
          <a:xfrm>
            <a:off x="6976872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0" name="Shape 97"/>
          <p:cNvSpPr/>
          <p:nvPr/>
        </p:nvSpPr>
        <p:spPr>
          <a:xfrm>
            <a:off x="7095744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1" name="Shape 98"/>
          <p:cNvSpPr/>
          <p:nvPr/>
        </p:nvSpPr>
        <p:spPr>
          <a:xfrm>
            <a:off x="7214616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2" name="Shape 99"/>
          <p:cNvSpPr/>
          <p:nvPr/>
        </p:nvSpPr>
        <p:spPr>
          <a:xfrm>
            <a:off x="7333488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3" name="Shape 100"/>
          <p:cNvSpPr/>
          <p:nvPr/>
        </p:nvSpPr>
        <p:spPr>
          <a:xfrm>
            <a:off x="7452360" y="283464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571232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7690104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7808976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7927848" y="2834640"/>
            <a:ext cx="109728" cy="13716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046720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9" name="Shape 106"/>
          <p:cNvSpPr/>
          <p:nvPr/>
        </p:nvSpPr>
        <p:spPr>
          <a:xfrm>
            <a:off x="8165592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0" name="Shape 107"/>
          <p:cNvSpPr/>
          <p:nvPr/>
        </p:nvSpPr>
        <p:spPr>
          <a:xfrm>
            <a:off x="8284464" y="2834640"/>
            <a:ext cx="109728" cy="137160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11" name="Shape 108"/>
          <p:cNvSpPr/>
          <p:nvPr/>
        </p:nvSpPr>
        <p:spPr>
          <a:xfrm>
            <a:off x="8403336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2" name="Shape 109"/>
          <p:cNvSpPr/>
          <p:nvPr/>
        </p:nvSpPr>
        <p:spPr>
          <a:xfrm>
            <a:off x="8522208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3" name="Shape 110"/>
          <p:cNvSpPr/>
          <p:nvPr/>
        </p:nvSpPr>
        <p:spPr>
          <a:xfrm>
            <a:off x="8641080" y="2834640"/>
            <a:ext cx="109728" cy="1371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4" name="Shape 111"/>
          <p:cNvSpPr/>
          <p:nvPr/>
        </p:nvSpPr>
        <p:spPr>
          <a:xfrm>
            <a:off x="8759952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5" name="Shape 112"/>
          <p:cNvSpPr/>
          <p:nvPr/>
        </p:nvSpPr>
        <p:spPr>
          <a:xfrm>
            <a:off x="8878824" y="2834640"/>
            <a:ext cx="109728" cy="13716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6" name="Text 113"/>
          <p:cNvSpPr/>
          <p:nvPr/>
        </p:nvSpPr>
        <p:spPr>
          <a:xfrm>
            <a:off x="6858000" y="303580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genes (mostly noise)</a:t>
            </a:r>
            <a:endParaRPr lang="en-US" sz="900" dirty="0"/>
          </a:p>
        </p:txBody>
      </p:sp>
      <p:sp>
        <p:nvSpPr>
          <p:cNvPr id="117" name="Shape 114"/>
          <p:cNvSpPr/>
          <p:nvPr/>
        </p:nvSpPr>
        <p:spPr>
          <a:xfrm>
            <a:off x="10058400" y="2103120"/>
            <a:ext cx="201168" cy="9144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8" name="Shape 115"/>
          <p:cNvSpPr/>
          <p:nvPr/>
        </p:nvSpPr>
        <p:spPr>
          <a:xfrm>
            <a:off x="10332720" y="2514600"/>
            <a:ext cx="201168" cy="502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9" name="Shape 116"/>
          <p:cNvSpPr/>
          <p:nvPr/>
        </p:nvSpPr>
        <p:spPr>
          <a:xfrm>
            <a:off x="10607040" y="2286000"/>
            <a:ext cx="201168" cy="7315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0" name="Shape 117"/>
          <p:cNvSpPr/>
          <p:nvPr/>
        </p:nvSpPr>
        <p:spPr>
          <a:xfrm>
            <a:off x="10881360" y="2651760"/>
            <a:ext cx="201168" cy="365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1" name="Shape 118"/>
          <p:cNvSpPr/>
          <p:nvPr/>
        </p:nvSpPr>
        <p:spPr>
          <a:xfrm>
            <a:off x="11155680" y="2377440"/>
            <a:ext cx="201168" cy="6400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2" name="Text 119"/>
          <p:cNvSpPr/>
          <p:nvPr/>
        </p:nvSpPr>
        <p:spPr>
          <a:xfrm>
            <a:off x="10058400" y="30358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pathway scores</a:t>
            </a:r>
            <a:endParaRPr lang="en-US" sz="900" dirty="0"/>
          </a:p>
        </p:txBody>
      </p:sp>
      <p:sp>
        <p:nvSpPr>
          <p:cNvPr id="123" name="Shape 120"/>
          <p:cNvSpPr/>
          <p:nvPr/>
        </p:nvSpPr>
        <p:spPr>
          <a:xfrm>
            <a:off x="8229600" y="420624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12262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4" name="Text 121"/>
          <p:cNvSpPr/>
          <p:nvPr/>
        </p:nvSpPr>
        <p:spPr>
          <a:xfrm>
            <a:off x="8229600" y="42062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Logistic Regression</a:t>
            </a:r>
            <a:endParaRPr lang="en-US" sz="1100" dirty="0"/>
          </a:p>
        </p:txBody>
      </p:sp>
      <p:sp>
        <p:nvSpPr>
          <p:cNvPr id="125" name="Shape 122"/>
          <p:cNvSpPr/>
          <p:nvPr/>
        </p:nvSpPr>
        <p:spPr>
          <a:xfrm>
            <a:off x="7680960" y="3383280"/>
            <a:ext cx="1097280" cy="77724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26" name="Shape 123"/>
          <p:cNvSpPr/>
          <p:nvPr/>
        </p:nvSpPr>
        <p:spPr>
          <a:xfrm>
            <a:off x="10607040" y="3108960"/>
            <a:ext cx="-731520" cy="1051560"/>
          </a:xfrm>
          <a:prstGeom prst="line">
            <a:avLst/>
          </a:prstGeom>
          <a:noFill/>
          <a:ln w="15240">
            <a:solidFill>
              <a:srgbClr val="5B6B7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WHY FEATURES MATTER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concrete comparison (our case study)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METABRIC patients, same Logistic Regression, three representations: all genes / filtered genes / pathway scores.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we test in the practical: fewer, biologically-coherent features generalise as well or better.</a:t>
            </a:r>
            <a:endParaRPr lang="en-US" sz="160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changing the model — only what it is allowed to see.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097280" y="3749040"/>
            <a:ext cx="201168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1097280" y="37490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00400" y="4297680"/>
            <a:ext cx="1463040" cy="-64008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1" name="Text 8"/>
          <p:cNvSpPr/>
          <p:nvPr/>
        </p:nvSpPr>
        <p:spPr>
          <a:xfrm>
            <a:off x="4754880" y="3520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200400" y="4297680"/>
            <a:ext cx="1463040" cy="-18288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4754880" y="3977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genes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00400" y="4297680"/>
            <a:ext cx="1463040" cy="27432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4754880" y="4434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scores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66560" y="4297680"/>
            <a:ext cx="1097280" cy="0"/>
          </a:xfrm>
          <a:prstGeom prst="line">
            <a:avLst/>
          </a:prstGeom>
          <a:noFill/>
          <a:ln w="1778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955280" y="38404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2262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955280" y="38404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12680" y="4297680"/>
            <a:ext cx="640080" cy="0"/>
          </a:xfrm>
          <a:prstGeom prst="line">
            <a:avLst/>
          </a:prstGeom>
          <a:noFill/>
          <a:ln w="1778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20" name="Text 17"/>
          <p:cNvSpPr/>
          <p:nvPr/>
        </p:nvSpPr>
        <p:spPr>
          <a:xfrm>
            <a:off x="10698480" y="3931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wins?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CURSE OF DIMENSIONALITY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curse of dimensionality, revisited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≫ n again: ~200–2,000 patients, ~20,000 genes — far more features than samples.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so many features, some will correlate with outcome by pure chance.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Consequences: noise accumulation, unstable models, overfitting as the default.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is one of our few real defences — fewer, better features shrink p toward n.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766560" y="2194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20,000 genes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76656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" name="Shape 7"/>
          <p:cNvSpPr/>
          <p:nvPr/>
        </p:nvSpPr>
        <p:spPr>
          <a:xfrm>
            <a:off x="694944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0" y="2514600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" name="Shape 9"/>
          <p:cNvSpPr/>
          <p:nvPr/>
        </p:nvSpPr>
        <p:spPr>
          <a:xfrm>
            <a:off x="731520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2514600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6384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6" name="Shape 13"/>
          <p:cNvSpPr/>
          <p:nvPr/>
        </p:nvSpPr>
        <p:spPr>
          <a:xfrm>
            <a:off x="804672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7" name="Shape 14"/>
          <p:cNvSpPr/>
          <p:nvPr/>
        </p:nvSpPr>
        <p:spPr>
          <a:xfrm>
            <a:off x="822960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8" name="Shape 15"/>
          <p:cNvSpPr/>
          <p:nvPr/>
        </p:nvSpPr>
        <p:spPr>
          <a:xfrm>
            <a:off x="841248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9" name="Shape 16"/>
          <p:cNvSpPr/>
          <p:nvPr/>
        </p:nvSpPr>
        <p:spPr>
          <a:xfrm>
            <a:off x="859536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0" name="Shape 17"/>
          <p:cNvSpPr/>
          <p:nvPr/>
        </p:nvSpPr>
        <p:spPr>
          <a:xfrm>
            <a:off x="877824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1" name="Shape 18"/>
          <p:cNvSpPr/>
          <p:nvPr/>
        </p:nvSpPr>
        <p:spPr>
          <a:xfrm>
            <a:off x="896112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2" name="Shape 19"/>
          <p:cNvSpPr/>
          <p:nvPr/>
        </p:nvSpPr>
        <p:spPr>
          <a:xfrm>
            <a:off x="914400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3" name="Shape 20"/>
          <p:cNvSpPr/>
          <p:nvPr/>
        </p:nvSpPr>
        <p:spPr>
          <a:xfrm>
            <a:off x="932688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4" name="Shape 21"/>
          <p:cNvSpPr/>
          <p:nvPr/>
        </p:nvSpPr>
        <p:spPr>
          <a:xfrm>
            <a:off x="9509760" y="2514600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5" name="Shape 22"/>
          <p:cNvSpPr/>
          <p:nvPr/>
        </p:nvSpPr>
        <p:spPr>
          <a:xfrm>
            <a:off x="969264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6" name="Shape 23"/>
          <p:cNvSpPr/>
          <p:nvPr/>
        </p:nvSpPr>
        <p:spPr>
          <a:xfrm>
            <a:off x="987552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7" name="Shape 24"/>
          <p:cNvSpPr/>
          <p:nvPr/>
        </p:nvSpPr>
        <p:spPr>
          <a:xfrm>
            <a:off x="1005840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8" name="Shape 25"/>
          <p:cNvSpPr/>
          <p:nvPr/>
        </p:nvSpPr>
        <p:spPr>
          <a:xfrm>
            <a:off x="1024128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9" name="Shape 26"/>
          <p:cNvSpPr/>
          <p:nvPr/>
        </p:nvSpPr>
        <p:spPr>
          <a:xfrm>
            <a:off x="1042416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0" name="Shape 27"/>
          <p:cNvSpPr/>
          <p:nvPr/>
        </p:nvSpPr>
        <p:spPr>
          <a:xfrm>
            <a:off x="1060704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1" name="Shape 28"/>
          <p:cNvSpPr/>
          <p:nvPr/>
        </p:nvSpPr>
        <p:spPr>
          <a:xfrm>
            <a:off x="10789920" y="251460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2" name="Shape 29"/>
          <p:cNvSpPr/>
          <p:nvPr/>
        </p:nvSpPr>
        <p:spPr>
          <a:xfrm>
            <a:off x="10972800" y="2514600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3" name="Shape 30"/>
          <p:cNvSpPr/>
          <p:nvPr/>
        </p:nvSpPr>
        <p:spPr>
          <a:xfrm>
            <a:off x="11155680" y="2514600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4" name="Shape 31"/>
          <p:cNvSpPr/>
          <p:nvPr/>
        </p:nvSpPr>
        <p:spPr>
          <a:xfrm>
            <a:off x="11338560" y="2514600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5" name="Shape 32"/>
          <p:cNvSpPr/>
          <p:nvPr/>
        </p:nvSpPr>
        <p:spPr>
          <a:xfrm>
            <a:off x="676656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6" name="Shape 33"/>
          <p:cNvSpPr/>
          <p:nvPr/>
        </p:nvSpPr>
        <p:spPr>
          <a:xfrm>
            <a:off x="694944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7" name="Shape 34"/>
          <p:cNvSpPr/>
          <p:nvPr/>
        </p:nvSpPr>
        <p:spPr>
          <a:xfrm>
            <a:off x="713232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8" name="Shape 35"/>
          <p:cNvSpPr/>
          <p:nvPr/>
        </p:nvSpPr>
        <p:spPr>
          <a:xfrm>
            <a:off x="731520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0" name="Shape 37"/>
          <p:cNvSpPr/>
          <p:nvPr/>
        </p:nvSpPr>
        <p:spPr>
          <a:xfrm>
            <a:off x="768096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1" name="Shape 38"/>
          <p:cNvSpPr/>
          <p:nvPr/>
        </p:nvSpPr>
        <p:spPr>
          <a:xfrm>
            <a:off x="786384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2" name="Shape 39"/>
          <p:cNvSpPr/>
          <p:nvPr/>
        </p:nvSpPr>
        <p:spPr>
          <a:xfrm>
            <a:off x="804672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3" name="Shape 40"/>
          <p:cNvSpPr/>
          <p:nvPr/>
        </p:nvSpPr>
        <p:spPr>
          <a:xfrm>
            <a:off x="822960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4" name="Shape 41"/>
          <p:cNvSpPr/>
          <p:nvPr/>
        </p:nvSpPr>
        <p:spPr>
          <a:xfrm>
            <a:off x="841248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5" name="Shape 42"/>
          <p:cNvSpPr/>
          <p:nvPr/>
        </p:nvSpPr>
        <p:spPr>
          <a:xfrm>
            <a:off x="859536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6" name="Shape 43"/>
          <p:cNvSpPr/>
          <p:nvPr/>
        </p:nvSpPr>
        <p:spPr>
          <a:xfrm>
            <a:off x="877824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7" name="Shape 44"/>
          <p:cNvSpPr/>
          <p:nvPr/>
        </p:nvSpPr>
        <p:spPr>
          <a:xfrm>
            <a:off x="896112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8" name="Shape 45"/>
          <p:cNvSpPr/>
          <p:nvPr/>
        </p:nvSpPr>
        <p:spPr>
          <a:xfrm>
            <a:off x="914400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9" name="Shape 46"/>
          <p:cNvSpPr/>
          <p:nvPr/>
        </p:nvSpPr>
        <p:spPr>
          <a:xfrm>
            <a:off x="932688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0" name="Shape 47"/>
          <p:cNvSpPr/>
          <p:nvPr/>
        </p:nvSpPr>
        <p:spPr>
          <a:xfrm>
            <a:off x="950976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1" name="Shape 48"/>
          <p:cNvSpPr/>
          <p:nvPr/>
        </p:nvSpPr>
        <p:spPr>
          <a:xfrm>
            <a:off x="969264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2" name="Shape 49"/>
          <p:cNvSpPr/>
          <p:nvPr/>
        </p:nvSpPr>
        <p:spPr>
          <a:xfrm>
            <a:off x="987552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3" name="Shape 50"/>
          <p:cNvSpPr/>
          <p:nvPr/>
        </p:nvSpPr>
        <p:spPr>
          <a:xfrm>
            <a:off x="1005840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4" name="Shape 51"/>
          <p:cNvSpPr/>
          <p:nvPr/>
        </p:nvSpPr>
        <p:spPr>
          <a:xfrm>
            <a:off x="10241280" y="271576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5" name="Shape 52"/>
          <p:cNvSpPr/>
          <p:nvPr/>
        </p:nvSpPr>
        <p:spPr>
          <a:xfrm>
            <a:off x="1042416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6" name="Shape 53"/>
          <p:cNvSpPr/>
          <p:nvPr/>
        </p:nvSpPr>
        <p:spPr>
          <a:xfrm>
            <a:off x="1060704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7" name="Shape 54"/>
          <p:cNvSpPr/>
          <p:nvPr/>
        </p:nvSpPr>
        <p:spPr>
          <a:xfrm>
            <a:off x="1078992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8" name="Shape 55"/>
          <p:cNvSpPr/>
          <p:nvPr/>
        </p:nvSpPr>
        <p:spPr>
          <a:xfrm>
            <a:off x="1097280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9" name="Shape 56"/>
          <p:cNvSpPr/>
          <p:nvPr/>
        </p:nvSpPr>
        <p:spPr>
          <a:xfrm>
            <a:off x="11155680" y="271576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60" name="Shape 57"/>
          <p:cNvSpPr/>
          <p:nvPr/>
        </p:nvSpPr>
        <p:spPr>
          <a:xfrm>
            <a:off x="11338560" y="2715768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1" name="Shape 58"/>
          <p:cNvSpPr/>
          <p:nvPr/>
        </p:nvSpPr>
        <p:spPr>
          <a:xfrm>
            <a:off x="676656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2" name="Shape 59"/>
          <p:cNvSpPr/>
          <p:nvPr/>
        </p:nvSpPr>
        <p:spPr>
          <a:xfrm>
            <a:off x="694944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3" name="Shape 60"/>
          <p:cNvSpPr/>
          <p:nvPr/>
        </p:nvSpPr>
        <p:spPr>
          <a:xfrm>
            <a:off x="713232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4" name="Shape 61"/>
          <p:cNvSpPr/>
          <p:nvPr/>
        </p:nvSpPr>
        <p:spPr>
          <a:xfrm>
            <a:off x="731520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5" name="Shape 62"/>
          <p:cNvSpPr/>
          <p:nvPr/>
        </p:nvSpPr>
        <p:spPr>
          <a:xfrm>
            <a:off x="749808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6" name="Shape 63"/>
          <p:cNvSpPr/>
          <p:nvPr/>
        </p:nvSpPr>
        <p:spPr>
          <a:xfrm>
            <a:off x="768096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7" name="Shape 64"/>
          <p:cNvSpPr/>
          <p:nvPr/>
        </p:nvSpPr>
        <p:spPr>
          <a:xfrm>
            <a:off x="786384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8" name="Shape 65"/>
          <p:cNvSpPr/>
          <p:nvPr/>
        </p:nvSpPr>
        <p:spPr>
          <a:xfrm>
            <a:off x="804672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9" name="Shape 66"/>
          <p:cNvSpPr/>
          <p:nvPr/>
        </p:nvSpPr>
        <p:spPr>
          <a:xfrm>
            <a:off x="822960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0" name="Shape 67"/>
          <p:cNvSpPr/>
          <p:nvPr/>
        </p:nvSpPr>
        <p:spPr>
          <a:xfrm>
            <a:off x="841248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1" name="Shape 68"/>
          <p:cNvSpPr/>
          <p:nvPr/>
        </p:nvSpPr>
        <p:spPr>
          <a:xfrm>
            <a:off x="859536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2" name="Shape 69"/>
          <p:cNvSpPr/>
          <p:nvPr/>
        </p:nvSpPr>
        <p:spPr>
          <a:xfrm>
            <a:off x="877824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3" name="Shape 70"/>
          <p:cNvSpPr/>
          <p:nvPr/>
        </p:nvSpPr>
        <p:spPr>
          <a:xfrm>
            <a:off x="896112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4" name="Shape 71"/>
          <p:cNvSpPr/>
          <p:nvPr/>
        </p:nvSpPr>
        <p:spPr>
          <a:xfrm>
            <a:off x="914400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5" name="Shape 72"/>
          <p:cNvSpPr/>
          <p:nvPr/>
        </p:nvSpPr>
        <p:spPr>
          <a:xfrm>
            <a:off x="932688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6" name="Shape 73"/>
          <p:cNvSpPr/>
          <p:nvPr/>
        </p:nvSpPr>
        <p:spPr>
          <a:xfrm>
            <a:off x="950976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7" name="Shape 74"/>
          <p:cNvSpPr/>
          <p:nvPr/>
        </p:nvSpPr>
        <p:spPr>
          <a:xfrm>
            <a:off x="969264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8" name="Shape 75"/>
          <p:cNvSpPr/>
          <p:nvPr/>
        </p:nvSpPr>
        <p:spPr>
          <a:xfrm>
            <a:off x="987552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9" name="Shape 76"/>
          <p:cNvSpPr/>
          <p:nvPr/>
        </p:nvSpPr>
        <p:spPr>
          <a:xfrm>
            <a:off x="1005840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0" name="Shape 77"/>
          <p:cNvSpPr/>
          <p:nvPr/>
        </p:nvSpPr>
        <p:spPr>
          <a:xfrm>
            <a:off x="1024128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1" name="Shape 78"/>
          <p:cNvSpPr/>
          <p:nvPr/>
        </p:nvSpPr>
        <p:spPr>
          <a:xfrm>
            <a:off x="1042416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2" name="Shape 79"/>
          <p:cNvSpPr/>
          <p:nvPr/>
        </p:nvSpPr>
        <p:spPr>
          <a:xfrm>
            <a:off x="1060704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83" name="Shape 80"/>
          <p:cNvSpPr/>
          <p:nvPr/>
        </p:nvSpPr>
        <p:spPr>
          <a:xfrm>
            <a:off x="1078992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4" name="Shape 81"/>
          <p:cNvSpPr/>
          <p:nvPr/>
        </p:nvSpPr>
        <p:spPr>
          <a:xfrm>
            <a:off x="10972800" y="291693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85" name="Shape 82"/>
          <p:cNvSpPr/>
          <p:nvPr/>
        </p:nvSpPr>
        <p:spPr>
          <a:xfrm>
            <a:off x="11155680" y="2916936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6" name="Shape 83"/>
          <p:cNvSpPr/>
          <p:nvPr/>
        </p:nvSpPr>
        <p:spPr>
          <a:xfrm>
            <a:off x="11338560" y="291693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7" name="Shape 84"/>
          <p:cNvSpPr/>
          <p:nvPr/>
        </p:nvSpPr>
        <p:spPr>
          <a:xfrm>
            <a:off x="676656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8" name="Shape 85"/>
          <p:cNvSpPr/>
          <p:nvPr/>
        </p:nvSpPr>
        <p:spPr>
          <a:xfrm>
            <a:off x="694944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9" name="Shape 86"/>
          <p:cNvSpPr/>
          <p:nvPr/>
        </p:nvSpPr>
        <p:spPr>
          <a:xfrm>
            <a:off x="713232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0" name="Shape 87"/>
          <p:cNvSpPr/>
          <p:nvPr/>
        </p:nvSpPr>
        <p:spPr>
          <a:xfrm>
            <a:off x="731520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1" name="Shape 88"/>
          <p:cNvSpPr/>
          <p:nvPr/>
        </p:nvSpPr>
        <p:spPr>
          <a:xfrm>
            <a:off x="749808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2" name="Shape 89"/>
          <p:cNvSpPr/>
          <p:nvPr/>
        </p:nvSpPr>
        <p:spPr>
          <a:xfrm>
            <a:off x="768096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3" name="Shape 90"/>
          <p:cNvSpPr/>
          <p:nvPr/>
        </p:nvSpPr>
        <p:spPr>
          <a:xfrm>
            <a:off x="786384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4" name="Shape 91"/>
          <p:cNvSpPr/>
          <p:nvPr/>
        </p:nvSpPr>
        <p:spPr>
          <a:xfrm>
            <a:off x="804672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5" name="Shape 92"/>
          <p:cNvSpPr/>
          <p:nvPr/>
        </p:nvSpPr>
        <p:spPr>
          <a:xfrm>
            <a:off x="822960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6" name="Shape 93"/>
          <p:cNvSpPr/>
          <p:nvPr/>
        </p:nvSpPr>
        <p:spPr>
          <a:xfrm>
            <a:off x="841248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7" name="Shape 94"/>
          <p:cNvSpPr/>
          <p:nvPr/>
        </p:nvSpPr>
        <p:spPr>
          <a:xfrm>
            <a:off x="859536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8" name="Shape 95"/>
          <p:cNvSpPr/>
          <p:nvPr/>
        </p:nvSpPr>
        <p:spPr>
          <a:xfrm>
            <a:off x="877824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9" name="Shape 96"/>
          <p:cNvSpPr/>
          <p:nvPr/>
        </p:nvSpPr>
        <p:spPr>
          <a:xfrm>
            <a:off x="896112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0" name="Shape 97"/>
          <p:cNvSpPr/>
          <p:nvPr/>
        </p:nvSpPr>
        <p:spPr>
          <a:xfrm>
            <a:off x="914400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1" name="Shape 98"/>
          <p:cNvSpPr/>
          <p:nvPr/>
        </p:nvSpPr>
        <p:spPr>
          <a:xfrm>
            <a:off x="932688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2" name="Shape 99"/>
          <p:cNvSpPr/>
          <p:nvPr/>
        </p:nvSpPr>
        <p:spPr>
          <a:xfrm>
            <a:off x="950976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969264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87552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005840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1024128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7" name="Shape 104"/>
          <p:cNvSpPr/>
          <p:nvPr/>
        </p:nvSpPr>
        <p:spPr>
          <a:xfrm>
            <a:off x="1042416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8" name="Shape 105"/>
          <p:cNvSpPr/>
          <p:nvPr/>
        </p:nvSpPr>
        <p:spPr>
          <a:xfrm>
            <a:off x="10607040" y="311810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9" name="Shape 106"/>
          <p:cNvSpPr/>
          <p:nvPr/>
        </p:nvSpPr>
        <p:spPr>
          <a:xfrm>
            <a:off x="1078992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097280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1" name="Shape 108"/>
          <p:cNvSpPr/>
          <p:nvPr/>
        </p:nvSpPr>
        <p:spPr>
          <a:xfrm>
            <a:off x="11155680" y="311810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2" name="Shape 109"/>
          <p:cNvSpPr/>
          <p:nvPr/>
        </p:nvSpPr>
        <p:spPr>
          <a:xfrm>
            <a:off x="11338560" y="3118104"/>
            <a:ext cx="173736" cy="1920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3" name="Shape 110"/>
          <p:cNvSpPr/>
          <p:nvPr/>
        </p:nvSpPr>
        <p:spPr>
          <a:xfrm>
            <a:off x="8778240" y="3840480"/>
            <a:ext cx="0" cy="45720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14" name="Text 111"/>
          <p:cNvSpPr/>
          <p:nvPr/>
        </p:nvSpPr>
        <p:spPr>
          <a:xfrm>
            <a:off x="6766560" y="4343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→ 50 pathways  (n unchanged)</a:t>
            </a:r>
            <a:endParaRPr lang="en-US" sz="1100" dirty="0"/>
          </a:p>
        </p:txBody>
      </p:sp>
      <p:sp>
        <p:nvSpPr>
          <p:cNvPr id="115" name="Shape 112"/>
          <p:cNvSpPr/>
          <p:nvPr/>
        </p:nvSpPr>
        <p:spPr>
          <a:xfrm>
            <a:off x="8229600" y="4663440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6" name="Shape 113"/>
          <p:cNvSpPr/>
          <p:nvPr/>
        </p:nvSpPr>
        <p:spPr>
          <a:xfrm>
            <a:off x="8412480" y="4663440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7" name="Shape 114"/>
          <p:cNvSpPr/>
          <p:nvPr/>
        </p:nvSpPr>
        <p:spPr>
          <a:xfrm>
            <a:off x="8595360" y="466344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8" name="Shape 115"/>
          <p:cNvSpPr/>
          <p:nvPr/>
        </p:nvSpPr>
        <p:spPr>
          <a:xfrm>
            <a:off x="8778240" y="4663440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19" name="Shape 116"/>
          <p:cNvSpPr/>
          <p:nvPr/>
        </p:nvSpPr>
        <p:spPr>
          <a:xfrm>
            <a:off x="8961120" y="4663440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0" name="Shape 117"/>
          <p:cNvSpPr/>
          <p:nvPr/>
        </p:nvSpPr>
        <p:spPr>
          <a:xfrm>
            <a:off x="9144000" y="466344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1" name="Shape 118"/>
          <p:cNvSpPr/>
          <p:nvPr/>
        </p:nvSpPr>
        <p:spPr>
          <a:xfrm>
            <a:off x="9326880" y="4663440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2" name="Shape 119"/>
          <p:cNvSpPr/>
          <p:nvPr/>
        </p:nvSpPr>
        <p:spPr>
          <a:xfrm>
            <a:off x="9509760" y="4663440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229600" y="486460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412480" y="486460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5" name="Shape 122"/>
          <p:cNvSpPr/>
          <p:nvPr/>
        </p:nvSpPr>
        <p:spPr>
          <a:xfrm>
            <a:off x="8595360" y="486460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6" name="Shape 123"/>
          <p:cNvSpPr/>
          <p:nvPr/>
        </p:nvSpPr>
        <p:spPr>
          <a:xfrm>
            <a:off x="8778240" y="486460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7" name="Shape 124"/>
          <p:cNvSpPr/>
          <p:nvPr/>
        </p:nvSpPr>
        <p:spPr>
          <a:xfrm>
            <a:off x="8961120" y="486460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8" name="Shape 125"/>
          <p:cNvSpPr/>
          <p:nvPr/>
        </p:nvSpPr>
        <p:spPr>
          <a:xfrm>
            <a:off x="9144000" y="486460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29" name="Shape 126"/>
          <p:cNvSpPr/>
          <p:nvPr/>
        </p:nvSpPr>
        <p:spPr>
          <a:xfrm>
            <a:off x="9326880" y="4864608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0" name="Shape 127"/>
          <p:cNvSpPr/>
          <p:nvPr/>
        </p:nvSpPr>
        <p:spPr>
          <a:xfrm>
            <a:off x="9509760" y="4864608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31" name="Shape 128"/>
          <p:cNvSpPr/>
          <p:nvPr/>
        </p:nvSpPr>
        <p:spPr>
          <a:xfrm>
            <a:off x="8229600" y="5065776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412480" y="5065776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33" name="Shape 130"/>
          <p:cNvSpPr/>
          <p:nvPr/>
        </p:nvSpPr>
        <p:spPr>
          <a:xfrm>
            <a:off x="8595360" y="5065776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4" name="Shape 131"/>
          <p:cNvSpPr/>
          <p:nvPr/>
        </p:nvSpPr>
        <p:spPr>
          <a:xfrm>
            <a:off x="8778240" y="5065776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5" name="Shape 132"/>
          <p:cNvSpPr/>
          <p:nvPr/>
        </p:nvSpPr>
        <p:spPr>
          <a:xfrm>
            <a:off x="8961120" y="5065776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6" name="Shape 133"/>
          <p:cNvSpPr/>
          <p:nvPr/>
        </p:nvSpPr>
        <p:spPr>
          <a:xfrm>
            <a:off x="9144000" y="506577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7" name="Shape 134"/>
          <p:cNvSpPr/>
          <p:nvPr/>
        </p:nvSpPr>
        <p:spPr>
          <a:xfrm>
            <a:off x="9326880" y="5065776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509760" y="5065776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9" name="Shape 136"/>
          <p:cNvSpPr/>
          <p:nvPr/>
        </p:nvSpPr>
        <p:spPr>
          <a:xfrm>
            <a:off x="8229600" y="526694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0" name="Shape 137"/>
          <p:cNvSpPr/>
          <p:nvPr/>
        </p:nvSpPr>
        <p:spPr>
          <a:xfrm>
            <a:off x="8412480" y="526694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1" name="Shape 138"/>
          <p:cNvSpPr/>
          <p:nvPr/>
        </p:nvSpPr>
        <p:spPr>
          <a:xfrm>
            <a:off x="8595360" y="526694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2" name="Shape 139"/>
          <p:cNvSpPr/>
          <p:nvPr/>
        </p:nvSpPr>
        <p:spPr>
          <a:xfrm>
            <a:off x="8778240" y="5266944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3" name="Shape 140"/>
          <p:cNvSpPr/>
          <p:nvPr/>
        </p:nvSpPr>
        <p:spPr>
          <a:xfrm>
            <a:off x="8961120" y="5266944"/>
            <a:ext cx="173736" cy="192024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4" name="Shape 141"/>
          <p:cNvSpPr/>
          <p:nvPr/>
        </p:nvSpPr>
        <p:spPr>
          <a:xfrm>
            <a:off x="9144000" y="5266944"/>
            <a:ext cx="173736" cy="19202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5" name="Shape 142"/>
          <p:cNvSpPr/>
          <p:nvPr/>
        </p:nvSpPr>
        <p:spPr>
          <a:xfrm>
            <a:off x="9326880" y="526694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6" name="Shape 143"/>
          <p:cNvSpPr/>
          <p:nvPr/>
        </p:nvSpPr>
        <p:spPr>
          <a:xfrm>
            <a:off x="9509760" y="5266944"/>
            <a:ext cx="173736" cy="192024"/>
          </a:xfrm>
          <a:prstGeom prst="rect">
            <a:avLst/>
          </a:prstGeom>
          <a:solidFill>
            <a:srgbClr val="DCEDEE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CURSE OF DIMENSIONALITY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dimensionality hurts, intuitively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added noisy feature is another chance to fit randomness.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and correlations become unreliable in very high dimensions.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spreads its limited attention across thousands of mostly-irrelevant genes.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to meaningful features concentrates signal and stabilises what the model learns.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194560"/>
            <a:ext cx="29260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52274" y="292071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" name="Shape 7"/>
          <p:cNvSpPr/>
          <p:nvPr/>
        </p:nvSpPr>
        <p:spPr>
          <a:xfrm>
            <a:off x="8963022" y="46632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" name="Shape 8"/>
          <p:cNvSpPr/>
          <p:nvPr/>
        </p:nvSpPr>
        <p:spPr>
          <a:xfrm>
            <a:off x="7776920" y="303887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" name="Shape 9"/>
          <p:cNvSpPr/>
          <p:nvPr/>
        </p:nvSpPr>
        <p:spPr>
          <a:xfrm>
            <a:off x="7911443" y="429338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" name="Shape 10"/>
          <p:cNvSpPr/>
          <p:nvPr/>
        </p:nvSpPr>
        <p:spPr>
          <a:xfrm>
            <a:off x="8139582" y="307055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" name="Shape 11"/>
          <p:cNvSpPr/>
          <p:nvPr/>
        </p:nvSpPr>
        <p:spPr>
          <a:xfrm>
            <a:off x="8306797" y="508556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5" name="Shape 12"/>
          <p:cNvSpPr/>
          <p:nvPr/>
        </p:nvSpPr>
        <p:spPr>
          <a:xfrm>
            <a:off x="8731375" y="29962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6" name="Shape 13"/>
          <p:cNvSpPr/>
          <p:nvPr/>
        </p:nvSpPr>
        <p:spPr>
          <a:xfrm>
            <a:off x="7943433" y="28767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7" name="Shape 14"/>
          <p:cNvSpPr/>
          <p:nvPr/>
        </p:nvSpPr>
        <p:spPr>
          <a:xfrm>
            <a:off x="7862158" y="43057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8" name="Shape 15"/>
          <p:cNvSpPr/>
          <p:nvPr/>
        </p:nvSpPr>
        <p:spPr>
          <a:xfrm>
            <a:off x="8403548" y="40233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9" name="Shape 16"/>
          <p:cNvSpPr/>
          <p:nvPr/>
        </p:nvSpPr>
        <p:spPr>
          <a:xfrm>
            <a:off x="7392059" y="465999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0" name="Shape 17"/>
          <p:cNvSpPr/>
          <p:nvPr/>
        </p:nvSpPr>
        <p:spPr>
          <a:xfrm>
            <a:off x="7120732" y="493569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1" name="Shape 18"/>
          <p:cNvSpPr/>
          <p:nvPr/>
        </p:nvSpPr>
        <p:spPr>
          <a:xfrm>
            <a:off x="9239050" y="232803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2" name="Shape 19"/>
          <p:cNvSpPr/>
          <p:nvPr/>
        </p:nvSpPr>
        <p:spPr>
          <a:xfrm>
            <a:off x="9490828" y="487388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3" name="Shape 20"/>
          <p:cNvSpPr/>
          <p:nvPr/>
        </p:nvSpPr>
        <p:spPr>
          <a:xfrm>
            <a:off x="7725293" y="407887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4" name="Shape 21"/>
          <p:cNvSpPr/>
          <p:nvPr/>
        </p:nvSpPr>
        <p:spPr>
          <a:xfrm>
            <a:off x="8052538" y="42247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5" name="Shape 22"/>
          <p:cNvSpPr/>
          <p:nvPr/>
        </p:nvSpPr>
        <p:spPr>
          <a:xfrm>
            <a:off x="6794541" y="40369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6" name="Shape 23"/>
          <p:cNvSpPr/>
          <p:nvPr/>
        </p:nvSpPr>
        <p:spPr>
          <a:xfrm>
            <a:off x="7522379" y="344246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7" name="Shape 24"/>
          <p:cNvSpPr/>
          <p:nvPr/>
        </p:nvSpPr>
        <p:spPr>
          <a:xfrm>
            <a:off x="7150451" y="321067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8" name="Shape 25"/>
          <p:cNvSpPr/>
          <p:nvPr/>
        </p:nvSpPr>
        <p:spPr>
          <a:xfrm>
            <a:off x="8433216" y="350581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9" name="Shape 26"/>
          <p:cNvSpPr/>
          <p:nvPr/>
        </p:nvSpPr>
        <p:spPr>
          <a:xfrm>
            <a:off x="7595909" y="502581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0" name="Shape 27"/>
          <p:cNvSpPr/>
          <p:nvPr/>
        </p:nvSpPr>
        <p:spPr>
          <a:xfrm>
            <a:off x="8783080" y="304964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1" name="Shape 28"/>
          <p:cNvSpPr/>
          <p:nvPr/>
        </p:nvSpPr>
        <p:spPr>
          <a:xfrm>
            <a:off x="8217305" y="251272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2" name="Shape 29"/>
          <p:cNvSpPr/>
          <p:nvPr/>
        </p:nvSpPr>
        <p:spPr>
          <a:xfrm>
            <a:off x="8661708" y="25672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3" name="Shape 30"/>
          <p:cNvSpPr/>
          <p:nvPr/>
        </p:nvSpPr>
        <p:spPr>
          <a:xfrm>
            <a:off x="8845231" y="33024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4" name="Shape 31"/>
          <p:cNvSpPr/>
          <p:nvPr/>
        </p:nvSpPr>
        <p:spPr>
          <a:xfrm>
            <a:off x="9236063" y="256589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5" name="Shape 32"/>
          <p:cNvSpPr/>
          <p:nvPr/>
        </p:nvSpPr>
        <p:spPr>
          <a:xfrm>
            <a:off x="7517014" y="356317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6" name="Shape 33"/>
          <p:cNvSpPr/>
          <p:nvPr/>
        </p:nvSpPr>
        <p:spPr>
          <a:xfrm>
            <a:off x="7170841" y="315533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7" name="Shape 34"/>
          <p:cNvSpPr/>
          <p:nvPr/>
        </p:nvSpPr>
        <p:spPr>
          <a:xfrm>
            <a:off x="8615889" y="263614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8" name="Shape 35"/>
          <p:cNvSpPr/>
          <p:nvPr/>
        </p:nvSpPr>
        <p:spPr>
          <a:xfrm>
            <a:off x="9066341" y="347391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9" name="Shape 36"/>
          <p:cNvSpPr/>
          <p:nvPr/>
        </p:nvSpPr>
        <p:spPr>
          <a:xfrm>
            <a:off x="6938156" y="458647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0" name="Shape 37"/>
          <p:cNvSpPr/>
          <p:nvPr/>
        </p:nvSpPr>
        <p:spPr>
          <a:xfrm>
            <a:off x="7822983" y="286880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1" name="Shape 38"/>
          <p:cNvSpPr/>
          <p:nvPr/>
        </p:nvSpPr>
        <p:spPr>
          <a:xfrm>
            <a:off x="7092252" y="334862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2" name="Shape 39"/>
          <p:cNvSpPr/>
          <p:nvPr/>
        </p:nvSpPr>
        <p:spPr>
          <a:xfrm>
            <a:off x="8793921" y="471808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3" name="Shape 40"/>
          <p:cNvSpPr/>
          <p:nvPr/>
        </p:nvSpPr>
        <p:spPr>
          <a:xfrm>
            <a:off x="7695679" y="483051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4" name="Shape 41"/>
          <p:cNvSpPr/>
          <p:nvPr/>
        </p:nvSpPr>
        <p:spPr>
          <a:xfrm>
            <a:off x="8768497" y="415355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5" name="Shape 42"/>
          <p:cNvSpPr/>
          <p:nvPr/>
        </p:nvSpPr>
        <p:spPr>
          <a:xfrm>
            <a:off x="9071799" y="361875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6" name="Shape 43"/>
          <p:cNvSpPr/>
          <p:nvPr/>
        </p:nvSpPr>
        <p:spPr>
          <a:xfrm>
            <a:off x="7785841" y="44777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7" name="Shape 44"/>
          <p:cNvSpPr/>
          <p:nvPr/>
        </p:nvSpPr>
        <p:spPr>
          <a:xfrm>
            <a:off x="9362963" y="354713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8" name="Shape 45"/>
          <p:cNvSpPr/>
          <p:nvPr/>
        </p:nvSpPr>
        <p:spPr>
          <a:xfrm>
            <a:off x="9468696" y="308449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9" name="Shape 46"/>
          <p:cNvSpPr/>
          <p:nvPr/>
        </p:nvSpPr>
        <p:spPr>
          <a:xfrm>
            <a:off x="8354857" y="310690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0" name="Shape 47"/>
          <p:cNvSpPr/>
          <p:nvPr/>
        </p:nvSpPr>
        <p:spPr>
          <a:xfrm>
            <a:off x="7773451" y="248852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1" name="Shape 48"/>
          <p:cNvSpPr/>
          <p:nvPr/>
        </p:nvSpPr>
        <p:spPr>
          <a:xfrm>
            <a:off x="7890569" y="265413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2" name="Shape 49"/>
          <p:cNvSpPr/>
          <p:nvPr/>
        </p:nvSpPr>
        <p:spPr>
          <a:xfrm>
            <a:off x="8123801" y="393247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3" name="Shape 50"/>
          <p:cNvSpPr/>
          <p:nvPr/>
        </p:nvSpPr>
        <p:spPr>
          <a:xfrm>
            <a:off x="6925626" y="23431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4" name="Shape 51"/>
          <p:cNvSpPr/>
          <p:nvPr/>
        </p:nvSpPr>
        <p:spPr>
          <a:xfrm>
            <a:off x="7161666" y="29790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5" name="Shape 52"/>
          <p:cNvSpPr/>
          <p:nvPr/>
        </p:nvSpPr>
        <p:spPr>
          <a:xfrm>
            <a:off x="8141061" y="47272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6" name="Shape 53"/>
          <p:cNvSpPr/>
          <p:nvPr/>
        </p:nvSpPr>
        <p:spPr>
          <a:xfrm>
            <a:off x="7963155" y="269676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7" name="Shape 54"/>
          <p:cNvSpPr/>
          <p:nvPr/>
        </p:nvSpPr>
        <p:spPr>
          <a:xfrm>
            <a:off x="8787646" y="399036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8" name="Shape 55"/>
          <p:cNvSpPr/>
          <p:nvPr/>
        </p:nvSpPr>
        <p:spPr>
          <a:xfrm>
            <a:off x="8625839" y="275104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9" name="Shape 56"/>
          <p:cNvSpPr/>
          <p:nvPr/>
        </p:nvSpPr>
        <p:spPr>
          <a:xfrm>
            <a:off x="7092273" y="379682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0" name="Shape 57"/>
          <p:cNvSpPr/>
          <p:nvPr/>
        </p:nvSpPr>
        <p:spPr>
          <a:xfrm>
            <a:off x="6878022" y="499294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1" name="Shape 58"/>
          <p:cNvSpPr/>
          <p:nvPr/>
        </p:nvSpPr>
        <p:spPr>
          <a:xfrm>
            <a:off x="8449947" y="25346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2" name="Shape 59"/>
          <p:cNvSpPr/>
          <p:nvPr/>
        </p:nvSpPr>
        <p:spPr>
          <a:xfrm>
            <a:off x="7576856" y="33106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3" name="Shape 60"/>
          <p:cNvSpPr/>
          <p:nvPr/>
        </p:nvSpPr>
        <p:spPr>
          <a:xfrm>
            <a:off x="8900824" y="28145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4" name="Shape 61"/>
          <p:cNvSpPr/>
          <p:nvPr/>
        </p:nvSpPr>
        <p:spPr>
          <a:xfrm>
            <a:off x="7695725" y="420107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5" name="Shape 62"/>
          <p:cNvSpPr/>
          <p:nvPr/>
        </p:nvSpPr>
        <p:spPr>
          <a:xfrm>
            <a:off x="6786476" y="255295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6" name="Shape 63"/>
          <p:cNvSpPr/>
          <p:nvPr/>
        </p:nvSpPr>
        <p:spPr>
          <a:xfrm>
            <a:off x="8108653" y="46599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7" name="Shape 64"/>
          <p:cNvSpPr/>
          <p:nvPr/>
        </p:nvSpPr>
        <p:spPr>
          <a:xfrm>
            <a:off x="8181835" y="268107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8" name="Shape 65"/>
          <p:cNvSpPr/>
          <p:nvPr/>
        </p:nvSpPr>
        <p:spPr>
          <a:xfrm>
            <a:off x="7571727" y="41152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9" name="Shape 66"/>
          <p:cNvSpPr/>
          <p:nvPr/>
        </p:nvSpPr>
        <p:spPr>
          <a:xfrm>
            <a:off x="8985805" y="360885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0" name="Shape 67"/>
          <p:cNvSpPr/>
          <p:nvPr/>
        </p:nvSpPr>
        <p:spPr>
          <a:xfrm>
            <a:off x="7678520" y="421708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1" name="Shape 68"/>
          <p:cNvSpPr/>
          <p:nvPr/>
        </p:nvSpPr>
        <p:spPr>
          <a:xfrm>
            <a:off x="8398664" y="307812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2" name="Shape 69"/>
          <p:cNvSpPr/>
          <p:nvPr/>
        </p:nvSpPr>
        <p:spPr>
          <a:xfrm>
            <a:off x="8800856" y="47482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3" name="Shape 70"/>
          <p:cNvSpPr/>
          <p:nvPr/>
        </p:nvSpPr>
        <p:spPr>
          <a:xfrm>
            <a:off x="7450540" y="263953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4" name="Shape 71"/>
          <p:cNvSpPr/>
          <p:nvPr/>
        </p:nvSpPr>
        <p:spPr>
          <a:xfrm>
            <a:off x="8024517" y="47504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5" name="Shape 72"/>
          <p:cNvSpPr/>
          <p:nvPr/>
        </p:nvSpPr>
        <p:spPr>
          <a:xfrm>
            <a:off x="8918371" y="337401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6" name="Shape 73"/>
          <p:cNvSpPr/>
          <p:nvPr/>
        </p:nvSpPr>
        <p:spPr>
          <a:xfrm>
            <a:off x="7764587" y="272544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7" name="Shape 74"/>
          <p:cNvSpPr/>
          <p:nvPr/>
        </p:nvSpPr>
        <p:spPr>
          <a:xfrm>
            <a:off x="9288348" y="317776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8" name="Shape 75"/>
          <p:cNvSpPr/>
          <p:nvPr/>
        </p:nvSpPr>
        <p:spPr>
          <a:xfrm>
            <a:off x="9074232" y="495918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9" name="Shape 76"/>
          <p:cNvSpPr/>
          <p:nvPr/>
        </p:nvSpPr>
        <p:spPr>
          <a:xfrm>
            <a:off x="7150165" y="303349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0" name="Shape 77"/>
          <p:cNvSpPr/>
          <p:nvPr/>
        </p:nvSpPr>
        <p:spPr>
          <a:xfrm>
            <a:off x="7679566" y="48258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1" name="Shape 78"/>
          <p:cNvSpPr/>
          <p:nvPr/>
        </p:nvSpPr>
        <p:spPr>
          <a:xfrm>
            <a:off x="9357286" y="427998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2" name="Shape 79"/>
          <p:cNvSpPr/>
          <p:nvPr/>
        </p:nvSpPr>
        <p:spPr>
          <a:xfrm>
            <a:off x="7318380" y="274254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3" name="Shape 80"/>
          <p:cNvSpPr/>
          <p:nvPr/>
        </p:nvSpPr>
        <p:spPr>
          <a:xfrm>
            <a:off x="7998718" y="477228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4" name="Shape 81"/>
          <p:cNvSpPr/>
          <p:nvPr/>
        </p:nvSpPr>
        <p:spPr>
          <a:xfrm>
            <a:off x="8261718" y="480807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5" name="Shape 82"/>
          <p:cNvSpPr/>
          <p:nvPr/>
        </p:nvSpPr>
        <p:spPr>
          <a:xfrm>
            <a:off x="6767265" y="293734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6" name="Shape 83"/>
          <p:cNvSpPr/>
          <p:nvPr/>
        </p:nvSpPr>
        <p:spPr>
          <a:xfrm>
            <a:off x="8144220" y="292225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7" name="Shape 84"/>
          <p:cNvSpPr/>
          <p:nvPr/>
        </p:nvSpPr>
        <p:spPr>
          <a:xfrm>
            <a:off x="6970058" y="52108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8" name="Shape 85"/>
          <p:cNvSpPr/>
          <p:nvPr/>
        </p:nvSpPr>
        <p:spPr>
          <a:xfrm>
            <a:off x="7260998" y="371031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9" name="Shape 86"/>
          <p:cNvSpPr/>
          <p:nvPr/>
        </p:nvSpPr>
        <p:spPr>
          <a:xfrm>
            <a:off x="7057708" y="275393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0" name="Shape 87"/>
          <p:cNvSpPr/>
          <p:nvPr/>
        </p:nvSpPr>
        <p:spPr>
          <a:xfrm>
            <a:off x="7204976" y="49216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1" name="Shape 88"/>
          <p:cNvSpPr/>
          <p:nvPr/>
        </p:nvSpPr>
        <p:spPr>
          <a:xfrm>
            <a:off x="7288069" y="23461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2" name="Shape 89"/>
          <p:cNvSpPr/>
          <p:nvPr/>
        </p:nvSpPr>
        <p:spPr>
          <a:xfrm>
            <a:off x="7211541" y="331670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3" name="Shape 90"/>
          <p:cNvSpPr/>
          <p:nvPr/>
        </p:nvSpPr>
        <p:spPr>
          <a:xfrm>
            <a:off x="8720924" y="469375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4" name="Shape 91"/>
          <p:cNvSpPr/>
          <p:nvPr/>
        </p:nvSpPr>
        <p:spPr>
          <a:xfrm>
            <a:off x="8227820" y="302480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5" name="Shape 92"/>
          <p:cNvSpPr/>
          <p:nvPr/>
        </p:nvSpPr>
        <p:spPr>
          <a:xfrm>
            <a:off x="7079158" y="454056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6" name="Shape 93"/>
          <p:cNvSpPr/>
          <p:nvPr/>
        </p:nvSpPr>
        <p:spPr>
          <a:xfrm>
            <a:off x="7093045" y="38958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7" name="Shape 94"/>
          <p:cNvSpPr/>
          <p:nvPr/>
        </p:nvSpPr>
        <p:spPr>
          <a:xfrm>
            <a:off x="8220204" y="460425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8" name="Shape 95"/>
          <p:cNvSpPr/>
          <p:nvPr/>
        </p:nvSpPr>
        <p:spPr>
          <a:xfrm>
            <a:off x="9400050" y="376522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9" name="Shape 96"/>
          <p:cNvSpPr/>
          <p:nvPr/>
        </p:nvSpPr>
        <p:spPr>
          <a:xfrm>
            <a:off x="7315042" y="323139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0" name="Shape 97"/>
          <p:cNvSpPr/>
          <p:nvPr/>
        </p:nvSpPr>
        <p:spPr>
          <a:xfrm>
            <a:off x="7829440" y="375794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1" name="Shape 98"/>
          <p:cNvSpPr/>
          <p:nvPr/>
        </p:nvSpPr>
        <p:spPr>
          <a:xfrm>
            <a:off x="9310096" y="349013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8542437" y="317674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367110" y="3357474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4" name="Shape 101"/>
          <p:cNvSpPr/>
          <p:nvPr/>
        </p:nvSpPr>
        <p:spPr>
          <a:xfrm>
            <a:off x="9243212" y="419199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5" name="Shape 102"/>
          <p:cNvSpPr/>
          <p:nvPr/>
        </p:nvSpPr>
        <p:spPr>
          <a:xfrm>
            <a:off x="7083736" y="251097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6" name="Shape 103"/>
          <p:cNvSpPr/>
          <p:nvPr/>
        </p:nvSpPr>
        <p:spPr>
          <a:xfrm>
            <a:off x="7069655" y="464576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7" name="Shape 104"/>
          <p:cNvSpPr/>
          <p:nvPr/>
        </p:nvSpPr>
        <p:spPr>
          <a:xfrm>
            <a:off x="8836182" y="391467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8" name="Shape 105"/>
          <p:cNvSpPr/>
          <p:nvPr/>
        </p:nvSpPr>
        <p:spPr>
          <a:xfrm>
            <a:off x="7940540" y="342151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9" name="Shape 106"/>
          <p:cNvSpPr/>
          <p:nvPr/>
        </p:nvSpPr>
        <p:spPr>
          <a:xfrm>
            <a:off x="6836132" y="315028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0" name="Shape 107"/>
          <p:cNvSpPr/>
          <p:nvPr/>
        </p:nvSpPr>
        <p:spPr>
          <a:xfrm>
            <a:off x="7083015" y="503692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1" name="Shape 108"/>
          <p:cNvSpPr/>
          <p:nvPr/>
        </p:nvSpPr>
        <p:spPr>
          <a:xfrm>
            <a:off x="6812949" y="232456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2" name="Shape 109"/>
          <p:cNvSpPr/>
          <p:nvPr/>
        </p:nvSpPr>
        <p:spPr>
          <a:xfrm>
            <a:off x="7036871" y="360936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3" name="Shape 110"/>
          <p:cNvSpPr/>
          <p:nvPr/>
        </p:nvSpPr>
        <p:spPr>
          <a:xfrm>
            <a:off x="7065939" y="3001901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4" name="Shape 111"/>
          <p:cNvSpPr/>
          <p:nvPr/>
        </p:nvSpPr>
        <p:spPr>
          <a:xfrm>
            <a:off x="8269141" y="274034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5" name="Shape 112"/>
          <p:cNvSpPr/>
          <p:nvPr/>
        </p:nvSpPr>
        <p:spPr>
          <a:xfrm>
            <a:off x="7080842" y="4745769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6" name="Shape 113"/>
          <p:cNvSpPr/>
          <p:nvPr/>
        </p:nvSpPr>
        <p:spPr>
          <a:xfrm>
            <a:off x="7871979" y="354563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7" name="Shape 114"/>
          <p:cNvSpPr/>
          <p:nvPr/>
        </p:nvSpPr>
        <p:spPr>
          <a:xfrm>
            <a:off x="9328676" y="445561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8" name="Shape 115"/>
          <p:cNvSpPr/>
          <p:nvPr/>
        </p:nvSpPr>
        <p:spPr>
          <a:xfrm>
            <a:off x="8598381" y="474587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9" name="Shape 116"/>
          <p:cNvSpPr/>
          <p:nvPr/>
        </p:nvSpPr>
        <p:spPr>
          <a:xfrm>
            <a:off x="7462567" y="232758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0" name="Shape 117"/>
          <p:cNvSpPr/>
          <p:nvPr/>
        </p:nvSpPr>
        <p:spPr>
          <a:xfrm>
            <a:off x="7809862" y="399026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1" name="Shape 118"/>
          <p:cNvSpPr/>
          <p:nvPr/>
        </p:nvSpPr>
        <p:spPr>
          <a:xfrm>
            <a:off x="8261804" y="4828110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2" name="Shape 119"/>
          <p:cNvSpPr/>
          <p:nvPr/>
        </p:nvSpPr>
        <p:spPr>
          <a:xfrm>
            <a:off x="7779580" y="3911277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441751" y="4833066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4" name="Shape 121"/>
          <p:cNvSpPr/>
          <p:nvPr/>
        </p:nvSpPr>
        <p:spPr>
          <a:xfrm>
            <a:off x="7793100" y="376871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5" name="Shape 122"/>
          <p:cNvSpPr/>
          <p:nvPr/>
        </p:nvSpPr>
        <p:spPr>
          <a:xfrm>
            <a:off x="7953981" y="5111628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6" name="Shape 123"/>
          <p:cNvSpPr/>
          <p:nvPr/>
        </p:nvSpPr>
        <p:spPr>
          <a:xfrm>
            <a:off x="8676595" y="4191223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7" name="Shape 124"/>
          <p:cNvSpPr/>
          <p:nvPr/>
        </p:nvSpPr>
        <p:spPr>
          <a:xfrm>
            <a:off x="7945066" y="4372205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8" name="Shape 125"/>
          <p:cNvSpPr/>
          <p:nvPr/>
        </p:nvSpPr>
        <p:spPr>
          <a:xfrm>
            <a:off x="7376112" y="4161532"/>
            <a:ext cx="54864" cy="54864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9" name="Shape 126"/>
          <p:cNvSpPr/>
          <p:nvPr/>
        </p:nvSpPr>
        <p:spPr>
          <a:xfrm>
            <a:off x="7552944" y="3438144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0" name="Shape 127"/>
          <p:cNvSpPr/>
          <p:nvPr/>
        </p:nvSpPr>
        <p:spPr>
          <a:xfrm>
            <a:off x="8430768" y="4370832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1" name="Shape 128"/>
          <p:cNvSpPr/>
          <p:nvPr/>
        </p:nvSpPr>
        <p:spPr>
          <a:xfrm>
            <a:off x="8138160" y="2971800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869680" y="3904488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3" name="Shape 130"/>
          <p:cNvSpPr/>
          <p:nvPr/>
        </p:nvSpPr>
        <p:spPr>
          <a:xfrm>
            <a:off x="7845552" y="4059936"/>
            <a:ext cx="109728" cy="10972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4" name="Text 131"/>
          <p:cNvSpPr/>
          <p:nvPr/>
        </p:nvSpPr>
        <p:spPr>
          <a:xfrm>
            <a:off x="6675120" y="5349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genes lost in noise</a:t>
            </a:r>
            <a:endParaRPr lang="en-US" sz="1000" dirty="0"/>
          </a:p>
        </p:txBody>
      </p:sp>
      <p:sp>
        <p:nvSpPr>
          <p:cNvPr id="135" name="Shape 132"/>
          <p:cNvSpPr/>
          <p:nvPr/>
        </p:nvSpPr>
        <p:spPr>
          <a:xfrm>
            <a:off x="9692640" y="3749040"/>
            <a:ext cx="64008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36" name="Shape 133"/>
          <p:cNvSpPr/>
          <p:nvPr/>
        </p:nvSpPr>
        <p:spPr>
          <a:xfrm>
            <a:off x="10515600" y="2743200"/>
            <a:ext cx="640080" cy="20116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7" name="Text 134"/>
          <p:cNvSpPr/>
          <p:nvPr/>
        </p:nvSpPr>
        <p:spPr>
          <a:xfrm>
            <a:off x="11247120" y="3108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bright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FEATURE ENGINEERING VS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jobs: feature engineering vs feature selection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create new, more informative features (e.g. a proliferation score from many genes).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selection: choose a subset of existing features (e.g. keep 100 genes, drop the rest).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Complementary, not rivals: engineer good features, then select among them.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must respect the split — decisions made on data are data-dependent (Lecture 2).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28600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= build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32320" y="3108960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0" y="3364992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7132320" y="3621024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7132320" y="3877056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132320" y="4133088"/>
            <a:ext cx="164592" cy="16459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7406640" y="3749040"/>
            <a:ext cx="640080" cy="0"/>
          </a:xfrm>
          <a:prstGeom prst="line">
            <a:avLst/>
          </a:prstGeom>
          <a:noFill/>
          <a:ln w="1651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183880" y="3611880"/>
            <a:ext cx="457200" cy="45720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new score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326880" y="228600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F6E9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326880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= pick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784080" y="32004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1" name="Shape 18"/>
          <p:cNvSpPr/>
          <p:nvPr/>
        </p:nvSpPr>
        <p:spPr>
          <a:xfrm>
            <a:off x="10168128" y="32004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2" name="Shape 19"/>
          <p:cNvSpPr/>
          <p:nvPr/>
        </p:nvSpPr>
        <p:spPr>
          <a:xfrm>
            <a:off x="10552176" y="32004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3" name="Shape 20"/>
          <p:cNvSpPr/>
          <p:nvPr/>
        </p:nvSpPr>
        <p:spPr>
          <a:xfrm>
            <a:off x="10936224" y="32004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5" name="Shape 22"/>
          <p:cNvSpPr/>
          <p:nvPr/>
        </p:nvSpPr>
        <p:spPr>
          <a:xfrm>
            <a:off x="10168128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6" name="Shape 23"/>
          <p:cNvSpPr/>
          <p:nvPr/>
        </p:nvSpPr>
        <p:spPr>
          <a:xfrm>
            <a:off x="10552176" y="3657600"/>
            <a:ext cx="201168" cy="20116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10936224" y="3657600"/>
            <a:ext cx="201168" cy="20116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8" name="Text 25"/>
          <p:cNvSpPr/>
          <p:nvPr/>
        </p:nvSpPr>
        <p:spPr>
          <a:xfrm>
            <a:off x="9326880" y="4754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few, drop the rest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 filtering: variance filtering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genes that barely vary across patients — they cannot help discriminate.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unsupervised (uses no labels) → low leakage risk; a safe first pass.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high variance ≠ biological relevance (a noisy probe can be high-variance).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to shrink 20,000 → a few thousand before more careful steps.</a:t>
            </a:r>
            <a:endParaRPr lang="en-US" sz="15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83680" y="228600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8229600" y="2468880"/>
            <a:ext cx="0" cy="3017520"/>
          </a:xfrm>
          <a:prstGeom prst="line">
            <a:avLst/>
          </a:prstGeom>
          <a:noFill/>
          <a:ln w="25400">
            <a:solidFill>
              <a:srgbClr val="A8403A"/>
            </a:solidFill>
            <a:prstDash val="dash"/>
          </a:ln>
        </p:spPr>
      </p:sp>
      <p:sp>
        <p:nvSpPr>
          <p:cNvPr id="10" name="Text 6"/>
          <p:cNvSpPr/>
          <p:nvPr/>
        </p:nvSpPr>
        <p:spPr>
          <a:xfrm>
            <a:off x="827532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6675120" y="51206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drop (low variance)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8595360" y="5120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→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 filtering: differential expression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genes whose expression differs between outcomes (recurrence vs not).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— directly targets discriminating genes — but supervised, so it uses the label.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Therefore a leakage hazard: on all data, it peeks at the outcome of test patients.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(Lecture 2, extended): DE filtering happens inside the split, never before.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766560" y="2286000"/>
            <a:ext cx="4572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249803" y="357305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" name="Shape 7"/>
          <p:cNvSpPr/>
          <p:nvPr/>
        </p:nvSpPr>
        <p:spPr>
          <a:xfrm>
            <a:off x="9071642" y="414257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" name="Shape 8"/>
          <p:cNvSpPr/>
          <p:nvPr/>
        </p:nvSpPr>
        <p:spPr>
          <a:xfrm>
            <a:off x="9855744" y="275956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" name="Shape 9"/>
          <p:cNvSpPr/>
          <p:nvPr/>
        </p:nvSpPr>
        <p:spPr>
          <a:xfrm>
            <a:off x="7225644" y="269078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3" name="Shape 10"/>
          <p:cNvSpPr/>
          <p:nvPr/>
        </p:nvSpPr>
        <p:spPr>
          <a:xfrm>
            <a:off x="9815330" y="380858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" name="Shape 11"/>
          <p:cNvSpPr/>
          <p:nvPr/>
        </p:nvSpPr>
        <p:spPr>
          <a:xfrm>
            <a:off x="9878758" y="311979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5" name="Shape 12"/>
          <p:cNvSpPr/>
          <p:nvPr/>
        </p:nvSpPr>
        <p:spPr>
          <a:xfrm>
            <a:off x="8101571" y="387285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6" name="Shape 13"/>
          <p:cNvSpPr/>
          <p:nvPr/>
        </p:nvSpPr>
        <p:spPr>
          <a:xfrm>
            <a:off x="8189902" y="355694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7" name="Shape 14"/>
          <p:cNvSpPr/>
          <p:nvPr/>
        </p:nvSpPr>
        <p:spPr>
          <a:xfrm>
            <a:off x="10736280" y="428504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8" name="Shape 15"/>
          <p:cNvSpPr/>
          <p:nvPr/>
        </p:nvSpPr>
        <p:spPr>
          <a:xfrm>
            <a:off x="9079113" y="263554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9" name="Shape 16"/>
          <p:cNvSpPr/>
          <p:nvPr/>
        </p:nvSpPr>
        <p:spPr>
          <a:xfrm>
            <a:off x="8822272" y="383965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1171" y="270768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1" name="Shape 18"/>
          <p:cNvSpPr/>
          <p:nvPr/>
        </p:nvSpPr>
        <p:spPr>
          <a:xfrm>
            <a:off x="8367459" y="417994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2" name="Shape 19"/>
          <p:cNvSpPr/>
          <p:nvPr/>
        </p:nvSpPr>
        <p:spPr>
          <a:xfrm>
            <a:off x="7806134" y="462119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3" name="Shape 20"/>
          <p:cNvSpPr/>
          <p:nvPr/>
        </p:nvSpPr>
        <p:spPr>
          <a:xfrm>
            <a:off x="8214904" y="247654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4" name="Shape 21"/>
          <p:cNvSpPr/>
          <p:nvPr/>
        </p:nvSpPr>
        <p:spPr>
          <a:xfrm>
            <a:off x="7328519" y="366713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5" name="Shape 22"/>
          <p:cNvSpPr/>
          <p:nvPr/>
        </p:nvSpPr>
        <p:spPr>
          <a:xfrm>
            <a:off x="8707252" y="39011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6" name="Shape 23"/>
          <p:cNvSpPr/>
          <p:nvPr/>
        </p:nvSpPr>
        <p:spPr>
          <a:xfrm>
            <a:off x="8573966" y="477812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7" name="Shape 24"/>
          <p:cNvSpPr/>
          <p:nvPr/>
        </p:nvSpPr>
        <p:spPr>
          <a:xfrm>
            <a:off x="8744165" y="437500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8" name="Shape 25"/>
          <p:cNvSpPr/>
          <p:nvPr/>
        </p:nvSpPr>
        <p:spPr>
          <a:xfrm>
            <a:off x="10994025" y="340975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29" name="Shape 26"/>
          <p:cNvSpPr/>
          <p:nvPr/>
        </p:nvSpPr>
        <p:spPr>
          <a:xfrm>
            <a:off x="8669348" y="347187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0" name="Shape 27"/>
          <p:cNvSpPr/>
          <p:nvPr/>
        </p:nvSpPr>
        <p:spPr>
          <a:xfrm>
            <a:off x="10248999" y="373625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1" name="Shape 28"/>
          <p:cNvSpPr/>
          <p:nvPr/>
        </p:nvSpPr>
        <p:spPr>
          <a:xfrm>
            <a:off x="10623052" y="260625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2" name="Shape 29"/>
          <p:cNvSpPr/>
          <p:nvPr/>
        </p:nvSpPr>
        <p:spPr>
          <a:xfrm>
            <a:off x="7441929" y="251433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3" name="Shape 30"/>
          <p:cNvSpPr/>
          <p:nvPr/>
        </p:nvSpPr>
        <p:spPr>
          <a:xfrm>
            <a:off x="10106464" y="38059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4" name="Shape 31"/>
          <p:cNvSpPr/>
          <p:nvPr/>
        </p:nvSpPr>
        <p:spPr>
          <a:xfrm>
            <a:off x="10373639" y="446045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5" name="Shape 32"/>
          <p:cNvSpPr/>
          <p:nvPr/>
        </p:nvSpPr>
        <p:spPr>
          <a:xfrm>
            <a:off x="7529135" y="372970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6" name="Shape 33"/>
          <p:cNvSpPr/>
          <p:nvPr/>
        </p:nvSpPr>
        <p:spPr>
          <a:xfrm>
            <a:off x="9974600" y="420061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7" name="Shape 34"/>
          <p:cNvSpPr/>
          <p:nvPr/>
        </p:nvSpPr>
        <p:spPr>
          <a:xfrm>
            <a:off x="8045458" y="407433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38" name="Shape 35"/>
          <p:cNvSpPr/>
          <p:nvPr/>
        </p:nvSpPr>
        <p:spPr>
          <a:xfrm>
            <a:off x="7481565" y="246923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9" name="Shape 36"/>
          <p:cNvSpPr/>
          <p:nvPr/>
        </p:nvSpPr>
        <p:spPr>
          <a:xfrm>
            <a:off x="7357880" y="378131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0" name="Shape 37"/>
          <p:cNvSpPr/>
          <p:nvPr/>
        </p:nvSpPr>
        <p:spPr>
          <a:xfrm>
            <a:off x="8145673" y="442012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1" name="Shape 38"/>
          <p:cNvSpPr/>
          <p:nvPr/>
        </p:nvSpPr>
        <p:spPr>
          <a:xfrm>
            <a:off x="8063139" y="324840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2" name="Shape 39"/>
          <p:cNvSpPr/>
          <p:nvPr/>
        </p:nvSpPr>
        <p:spPr>
          <a:xfrm>
            <a:off x="10136514" y="352109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3" name="Shape 40"/>
          <p:cNvSpPr/>
          <p:nvPr/>
        </p:nvSpPr>
        <p:spPr>
          <a:xfrm>
            <a:off x="10539775" y="2984401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4" name="Shape 41"/>
          <p:cNvSpPr/>
          <p:nvPr/>
        </p:nvSpPr>
        <p:spPr>
          <a:xfrm>
            <a:off x="9893432" y="493387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5" name="Shape 42"/>
          <p:cNvSpPr/>
          <p:nvPr/>
        </p:nvSpPr>
        <p:spPr>
          <a:xfrm>
            <a:off x="9863399" y="518259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6" name="Shape 43"/>
          <p:cNvSpPr/>
          <p:nvPr/>
        </p:nvSpPr>
        <p:spPr>
          <a:xfrm>
            <a:off x="6969078" y="46079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7" name="Shape 44"/>
          <p:cNvSpPr/>
          <p:nvPr/>
        </p:nvSpPr>
        <p:spPr>
          <a:xfrm>
            <a:off x="8591006" y="412640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8" name="Shape 45"/>
          <p:cNvSpPr/>
          <p:nvPr/>
        </p:nvSpPr>
        <p:spPr>
          <a:xfrm>
            <a:off x="7059760" y="339328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49" name="Shape 46"/>
          <p:cNvSpPr/>
          <p:nvPr/>
        </p:nvSpPr>
        <p:spPr>
          <a:xfrm>
            <a:off x="7365325" y="505228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0" name="Shape 47"/>
          <p:cNvSpPr/>
          <p:nvPr/>
        </p:nvSpPr>
        <p:spPr>
          <a:xfrm>
            <a:off x="8007296" y="36451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1" name="Shape 48"/>
          <p:cNvSpPr/>
          <p:nvPr/>
        </p:nvSpPr>
        <p:spPr>
          <a:xfrm>
            <a:off x="8955425" y="325178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2" name="Shape 49"/>
          <p:cNvSpPr/>
          <p:nvPr/>
        </p:nvSpPr>
        <p:spPr>
          <a:xfrm>
            <a:off x="8130789" y="423598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3" name="Shape 50"/>
          <p:cNvSpPr/>
          <p:nvPr/>
        </p:nvSpPr>
        <p:spPr>
          <a:xfrm>
            <a:off x="10503514" y="392204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4" name="Shape 51"/>
          <p:cNvSpPr/>
          <p:nvPr/>
        </p:nvSpPr>
        <p:spPr>
          <a:xfrm>
            <a:off x="8058023" y="375624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5" name="Shape 52"/>
          <p:cNvSpPr/>
          <p:nvPr/>
        </p:nvSpPr>
        <p:spPr>
          <a:xfrm>
            <a:off x="9082024" y="249254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6" name="Shape 53"/>
          <p:cNvSpPr/>
          <p:nvPr/>
        </p:nvSpPr>
        <p:spPr>
          <a:xfrm>
            <a:off x="7046913" y="285775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9801029" y="444583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58" name="Shape 55"/>
          <p:cNvSpPr/>
          <p:nvPr/>
        </p:nvSpPr>
        <p:spPr>
          <a:xfrm>
            <a:off x="7530401" y="249008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9" name="Shape 56"/>
          <p:cNvSpPr/>
          <p:nvPr/>
        </p:nvSpPr>
        <p:spPr>
          <a:xfrm>
            <a:off x="9435477" y="449392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0" name="Shape 57"/>
          <p:cNvSpPr/>
          <p:nvPr/>
        </p:nvSpPr>
        <p:spPr>
          <a:xfrm>
            <a:off x="10029988" y="466314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1" name="Shape 58"/>
          <p:cNvSpPr/>
          <p:nvPr/>
        </p:nvSpPr>
        <p:spPr>
          <a:xfrm>
            <a:off x="9142342" y="392595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2" name="Shape 59"/>
          <p:cNvSpPr/>
          <p:nvPr/>
        </p:nvSpPr>
        <p:spPr>
          <a:xfrm>
            <a:off x="10561721" y="469123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3" name="Shape 60"/>
          <p:cNvSpPr/>
          <p:nvPr/>
        </p:nvSpPr>
        <p:spPr>
          <a:xfrm>
            <a:off x="10396584" y="457850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4" name="Shape 61"/>
          <p:cNvSpPr/>
          <p:nvPr/>
        </p:nvSpPr>
        <p:spPr>
          <a:xfrm>
            <a:off x="8925501" y="421235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5" name="Shape 62"/>
          <p:cNvSpPr/>
          <p:nvPr/>
        </p:nvSpPr>
        <p:spPr>
          <a:xfrm>
            <a:off x="9163055" y="436605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6" name="Shape 63"/>
          <p:cNvSpPr/>
          <p:nvPr/>
        </p:nvSpPr>
        <p:spPr>
          <a:xfrm>
            <a:off x="10267786" y="253520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7" name="Shape 64"/>
          <p:cNvSpPr/>
          <p:nvPr/>
        </p:nvSpPr>
        <p:spPr>
          <a:xfrm>
            <a:off x="9465377" y="360696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8" name="Shape 65"/>
          <p:cNvSpPr/>
          <p:nvPr/>
        </p:nvSpPr>
        <p:spPr>
          <a:xfrm>
            <a:off x="9770591" y="509749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69" name="Shape 66"/>
          <p:cNvSpPr/>
          <p:nvPr/>
        </p:nvSpPr>
        <p:spPr>
          <a:xfrm>
            <a:off x="10556754" y="514415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0" name="Shape 67"/>
          <p:cNvSpPr/>
          <p:nvPr/>
        </p:nvSpPr>
        <p:spPr>
          <a:xfrm>
            <a:off x="8166126" y="473905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1" name="Shape 68"/>
          <p:cNvSpPr/>
          <p:nvPr/>
        </p:nvSpPr>
        <p:spPr>
          <a:xfrm>
            <a:off x="10134668" y="370782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2" name="Shape 69"/>
          <p:cNvSpPr/>
          <p:nvPr/>
        </p:nvSpPr>
        <p:spPr>
          <a:xfrm>
            <a:off x="9607130" y="287920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3" name="Shape 70"/>
          <p:cNvSpPr/>
          <p:nvPr/>
        </p:nvSpPr>
        <p:spPr>
          <a:xfrm>
            <a:off x="9240189" y="449615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4" name="Shape 71"/>
          <p:cNvSpPr/>
          <p:nvPr/>
        </p:nvSpPr>
        <p:spPr>
          <a:xfrm>
            <a:off x="10163340" y="391194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5" name="Shape 72"/>
          <p:cNvSpPr/>
          <p:nvPr/>
        </p:nvSpPr>
        <p:spPr>
          <a:xfrm>
            <a:off x="10714268" y="245245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6" name="Shape 73"/>
          <p:cNvSpPr/>
          <p:nvPr/>
        </p:nvSpPr>
        <p:spPr>
          <a:xfrm>
            <a:off x="11040076" y="394020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7" name="Shape 74"/>
          <p:cNvSpPr/>
          <p:nvPr/>
        </p:nvSpPr>
        <p:spPr>
          <a:xfrm>
            <a:off x="7704659" y="512963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8" name="Shape 75"/>
          <p:cNvSpPr/>
          <p:nvPr/>
        </p:nvSpPr>
        <p:spPr>
          <a:xfrm>
            <a:off x="10336076" y="357522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79" name="Shape 76"/>
          <p:cNvSpPr/>
          <p:nvPr/>
        </p:nvSpPr>
        <p:spPr>
          <a:xfrm>
            <a:off x="9065526" y="283895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0" name="Shape 77"/>
          <p:cNvSpPr/>
          <p:nvPr/>
        </p:nvSpPr>
        <p:spPr>
          <a:xfrm>
            <a:off x="10512776" y="368822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1" name="Shape 78"/>
          <p:cNvSpPr/>
          <p:nvPr/>
        </p:nvSpPr>
        <p:spPr>
          <a:xfrm>
            <a:off x="10872846" y="254770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82" name="Shape 79"/>
          <p:cNvSpPr/>
          <p:nvPr/>
        </p:nvSpPr>
        <p:spPr>
          <a:xfrm>
            <a:off x="6999784" y="514052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3" name="Shape 80"/>
          <p:cNvSpPr/>
          <p:nvPr/>
        </p:nvSpPr>
        <p:spPr>
          <a:xfrm>
            <a:off x="7544975" y="480099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4" name="Shape 81"/>
          <p:cNvSpPr/>
          <p:nvPr/>
        </p:nvSpPr>
        <p:spPr>
          <a:xfrm>
            <a:off x="10228965" y="409342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5" name="Shape 82"/>
          <p:cNvSpPr/>
          <p:nvPr/>
        </p:nvSpPr>
        <p:spPr>
          <a:xfrm>
            <a:off x="11070941" y="458905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6" name="Shape 83"/>
          <p:cNvSpPr/>
          <p:nvPr/>
        </p:nvSpPr>
        <p:spPr>
          <a:xfrm>
            <a:off x="7192175" y="331286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7" name="Shape 84"/>
          <p:cNvSpPr/>
          <p:nvPr/>
        </p:nvSpPr>
        <p:spPr>
          <a:xfrm>
            <a:off x="8041219" y="39796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8" name="Shape 85"/>
          <p:cNvSpPr/>
          <p:nvPr/>
        </p:nvSpPr>
        <p:spPr>
          <a:xfrm>
            <a:off x="11012474" y="40126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89" name="Shape 86"/>
          <p:cNvSpPr/>
          <p:nvPr/>
        </p:nvSpPr>
        <p:spPr>
          <a:xfrm>
            <a:off x="7776869" y="475318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0" name="Shape 87"/>
          <p:cNvSpPr/>
          <p:nvPr/>
        </p:nvSpPr>
        <p:spPr>
          <a:xfrm>
            <a:off x="7238723" y="299071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91" name="Shape 88"/>
          <p:cNvSpPr/>
          <p:nvPr/>
        </p:nvSpPr>
        <p:spPr>
          <a:xfrm>
            <a:off x="10283568" y="343355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2" name="Shape 89"/>
          <p:cNvSpPr/>
          <p:nvPr/>
        </p:nvSpPr>
        <p:spPr>
          <a:xfrm>
            <a:off x="7756753" y="475043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3" name="Shape 90"/>
          <p:cNvSpPr/>
          <p:nvPr/>
        </p:nvSpPr>
        <p:spPr>
          <a:xfrm>
            <a:off x="10946880" y="514924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4" name="Shape 91"/>
          <p:cNvSpPr/>
          <p:nvPr/>
        </p:nvSpPr>
        <p:spPr>
          <a:xfrm>
            <a:off x="7295525" y="389209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5" name="Shape 92"/>
          <p:cNvSpPr/>
          <p:nvPr/>
        </p:nvSpPr>
        <p:spPr>
          <a:xfrm>
            <a:off x="9020454" y="369176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6" name="Shape 93"/>
          <p:cNvSpPr/>
          <p:nvPr/>
        </p:nvSpPr>
        <p:spPr>
          <a:xfrm>
            <a:off x="8862873" y="312778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7" name="Shape 94"/>
          <p:cNvSpPr/>
          <p:nvPr/>
        </p:nvSpPr>
        <p:spPr>
          <a:xfrm>
            <a:off x="8783568" y="390847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8" name="Shape 95"/>
          <p:cNvSpPr/>
          <p:nvPr/>
        </p:nvSpPr>
        <p:spPr>
          <a:xfrm>
            <a:off x="10738002" y="377052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99" name="Shape 96"/>
          <p:cNvSpPr/>
          <p:nvPr/>
        </p:nvSpPr>
        <p:spPr>
          <a:xfrm>
            <a:off x="10500937" y="457875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020943" y="442718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1" name="Shape 98"/>
          <p:cNvSpPr/>
          <p:nvPr/>
        </p:nvSpPr>
        <p:spPr>
          <a:xfrm>
            <a:off x="7235847" y="402757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9065922" y="305290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688980" y="359525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064851" y="415669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0452013" y="365603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6" name="Shape 103"/>
          <p:cNvSpPr/>
          <p:nvPr/>
        </p:nvSpPr>
        <p:spPr>
          <a:xfrm>
            <a:off x="9712695" y="433621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643021" y="416570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8" name="Shape 105"/>
          <p:cNvSpPr/>
          <p:nvPr/>
        </p:nvSpPr>
        <p:spPr>
          <a:xfrm>
            <a:off x="10072267" y="285064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09" name="Shape 106"/>
          <p:cNvSpPr/>
          <p:nvPr/>
        </p:nvSpPr>
        <p:spPr>
          <a:xfrm>
            <a:off x="9242099" y="254170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0099504" y="488724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1" name="Shape 108"/>
          <p:cNvSpPr/>
          <p:nvPr/>
        </p:nvSpPr>
        <p:spPr>
          <a:xfrm>
            <a:off x="8055973" y="368078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2" name="Shape 109"/>
          <p:cNvSpPr/>
          <p:nvPr/>
        </p:nvSpPr>
        <p:spPr>
          <a:xfrm>
            <a:off x="7239829" y="474057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3" name="Shape 110"/>
          <p:cNvSpPr/>
          <p:nvPr/>
        </p:nvSpPr>
        <p:spPr>
          <a:xfrm>
            <a:off x="8005511" y="4729753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4" name="Shape 111"/>
          <p:cNvSpPr/>
          <p:nvPr/>
        </p:nvSpPr>
        <p:spPr>
          <a:xfrm>
            <a:off x="7270753" y="311856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5" name="Shape 112"/>
          <p:cNvSpPr/>
          <p:nvPr/>
        </p:nvSpPr>
        <p:spPr>
          <a:xfrm>
            <a:off x="7667728" y="3107571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6" name="Shape 113"/>
          <p:cNvSpPr/>
          <p:nvPr/>
        </p:nvSpPr>
        <p:spPr>
          <a:xfrm>
            <a:off x="9715404" y="516747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7" name="Shape 114"/>
          <p:cNvSpPr/>
          <p:nvPr/>
        </p:nvSpPr>
        <p:spPr>
          <a:xfrm>
            <a:off x="8095214" y="345568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8" name="Shape 115"/>
          <p:cNvSpPr/>
          <p:nvPr/>
        </p:nvSpPr>
        <p:spPr>
          <a:xfrm>
            <a:off x="9755185" y="30963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19" name="Shape 116"/>
          <p:cNvSpPr/>
          <p:nvPr/>
        </p:nvSpPr>
        <p:spPr>
          <a:xfrm>
            <a:off x="10088988" y="435346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0" name="Shape 117"/>
          <p:cNvSpPr/>
          <p:nvPr/>
        </p:nvSpPr>
        <p:spPr>
          <a:xfrm>
            <a:off x="8970414" y="399255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1" name="Shape 118"/>
          <p:cNvSpPr/>
          <p:nvPr/>
        </p:nvSpPr>
        <p:spPr>
          <a:xfrm>
            <a:off x="7795552" y="272520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2" name="Shape 119"/>
          <p:cNvSpPr/>
          <p:nvPr/>
        </p:nvSpPr>
        <p:spPr>
          <a:xfrm>
            <a:off x="10456356" y="430733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3" name="Shape 120"/>
          <p:cNvSpPr/>
          <p:nvPr/>
        </p:nvSpPr>
        <p:spPr>
          <a:xfrm>
            <a:off x="8286924" y="46988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046325" y="374079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5" name="Shape 122"/>
          <p:cNvSpPr/>
          <p:nvPr/>
        </p:nvSpPr>
        <p:spPr>
          <a:xfrm>
            <a:off x="7959667" y="426881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6" name="Shape 123"/>
          <p:cNvSpPr/>
          <p:nvPr/>
        </p:nvSpPr>
        <p:spPr>
          <a:xfrm>
            <a:off x="10226804" y="322849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752851" y="390552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8" name="Shape 125"/>
          <p:cNvSpPr/>
          <p:nvPr/>
        </p:nvSpPr>
        <p:spPr>
          <a:xfrm>
            <a:off x="9460405" y="359554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29" name="Shape 126"/>
          <p:cNvSpPr/>
          <p:nvPr/>
        </p:nvSpPr>
        <p:spPr>
          <a:xfrm>
            <a:off x="8115116" y="431979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0" name="Shape 127"/>
          <p:cNvSpPr/>
          <p:nvPr/>
        </p:nvSpPr>
        <p:spPr>
          <a:xfrm>
            <a:off x="9658279" y="502411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1" name="Shape 128"/>
          <p:cNvSpPr/>
          <p:nvPr/>
        </p:nvSpPr>
        <p:spPr>
          <a:xfrm>
            <a:off x="10456672" y="300251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32" name="Shape 129"/>
          <p:cNvSpPr/>
          <p:nvPr/>
        </p:nvSpPr>
        <p:spPr>
          <a:xfrm>
            <a:off x="8341839" y="2578938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3" name="Shape 130"/>
          <p:cNvSpPr/>
          <p:nvPr/>
        </p:nvSpPr>
        <p:spPr>
          <a:xfrm>
            <a:off x="7171842" y="3779886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4" name="Shape 131"/>
          <p:cNvSpPr/>
          <p:nvPr/>
        </p:nvSpPr>
        <p:spPr>
          <a:xfrm>
            <a:off x="7108777" y="413666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5" name="Shape 132"/>
          <p:cNvSpPr/>
          <p:nvPr/>
        </p:nvSpPr>
        <p:spPr>
          <a:xfrm>
            <a:off x="10794810" y="278460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36" name="Shape 133"/>
          <p:cNvSpPr/>
          <p:nvPr/>
        </p:nvSpPr>
        <p:spPr>
          <a:xfrm>
            <a:off x="9894371" y="4301902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7" name="Shape 134"/>
          <p:cNvSpPr/>
          <p:nvPr/>
        </p:nvSpPr>
        <p:spPr>
          <a:xfrm>
            <a:off x="10163234" y="5132371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404060" y="375748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39" name="Shape 136"/>
          <p:cNvSpPr/>
          <p:nvPr/>
        </p:nvSpPr>
        <p:spPr>
          <a:xfrm>
            <a:off x="10820824" y="266727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40" name="Shape 137"/>
          <p:cNvSpPr/>
          <p:nvPr/>
        </p:nvSpPr>
        <p:spPr>
          <a:xfrm>
            <a:off x="10294727" y="475926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1" name="Shape 138"/>
          <p:cNvSpPr/>
          <p:nvPr/>
        </p:nvSpPr>
        <p:spPr>
          <a:xfrm>
            <a:off x="10386736" y="3565409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2" name="Shape 139"/>
          <p:cNvSpPr/>
          <p:nvPr/>
        </p:nvSpPr>
        <p:spPr>
          <a:xfrm>
            <a:off x="7145927" y="333248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3" name="Shape 140"/>
          <p:cNvSpPr/>
          <p:nvPr/>
        </p:nvSpPr>
        <p:spPr>
          <a:xfrm>
            <a:off x="7787040" y="500341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4" name="Shape 141"/>
          <p:cNvSpPr/>
          <p:nvPr/>
        </p:nvSpPr>
        <p:spPr>
          <a:xfrm>
            <a:off x="10564130" y="4666195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5" name="Shape 142"/>
          <p:cNvSpPr/>
          <p:nvPr/>
        </p:nvSpPr>
        <p:spPr>
          <a:xfrm>
            <a:off x="9685291" y="4824764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6" name="Shape 143"/>
          <p:cNvSpPr/>
          <p:nvPr/>
        </p:nvSpPr>
        <p:spPr>
          <a:xfrm>
            <a:off x="10613140" y="424940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7" name="Shape 144"/>
          <p:cNvSpPr/>
          <p:nvPr/>
        </p:nvSpPr>
        <p:spPr>
          <a:xfrm>
            <a:off x="8004244" y="4114707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8" name="Shape 145"/>
          <p:cNvSpPr/>
          <p:nvPr/>
        </p:nvSpPr>
        <p:spPr>
          <a:xfrm>
            <a:off x="8207340" y="5051450"/>
            <a:ext cx="64008" cy="64008"/>
          </a:xfrm>
          <a:prstGeom prst="ellipse">
            <a:avLst/>
          </a:prstGeom>
          <a:solidFill>
            <a:srgbClr val="C9D7D9"/>
          </a:solidFill>
          <a:ln/>
        </p:spPr>
      </p:sp>
      <p:sp>
        <p:nvSpPr>
          <p:cNvPr id="149" name="Text 146"/>
          <p:cNvSpPr/>
          <p:nvPr/>
        </p:nvSpPr>
        <p:spPr>
          <a:xfrm>
            <a:off x="67665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fold-change →</a:t>
            </a:r>
            <a:endParaRPr lang="en-US" sz="900" dirty="0"/>
          </a:p>
        </p:txBody>
      </p:sp>
      <p:sp>
        <p:nvSpPr>
          <p:cNvPr id="150" name="Text 147"/>
          <p:cNvSpPr/>
          <p:nvPr/>
        </p:nvSpPr>
        <p:spPr>
          <a:xfrm>
            <a:off x="6858000" y="2377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−log10 p</a:t>
            </a:r>
            <a:endParaRPr lang="en-US" sz="900" dirty="0"/>
          </a:p>
        </p:txBody>
      </p:sp>
      <p:sp>
        <p:nvSpPr>
          <p:cNvPr id="151" name="Text 148"/>
          <p:cNvSpPr/>
          <p:nvPr/>
        </p:nvSpPr>
        <p:spPr>
          <a:xfrm>
            <a:off x="9144000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(uses the label!)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GENE FILTERING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Filtering: advantages and limitations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6060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features → faster models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overfitting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interpretation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5394960" cy="3108960"/>
          </a:xfrm>
          <a:prstGeom prst="roundRect">
            <a:avLst>
              <a:gd name="adj" fmla="val 2353"/>
            </a:avLst>
          </a:prstGeom>
          <a:solidFill>
            <a:srgbClr val="F6E9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26060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filtering can keep noise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filtering can leak and be unstable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genes individually — ignores coordinated programmes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that last limitation motivates the next idea: aggregate genes by biology.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feature engineering — the core idea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20,000 independent genes, summarise coordinated gene programmes into a few scores.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signature score aggregates many genes that move together biologically into one number.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less noise (averaging), built-in prior knowledge, interpretable, more stable.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domain biology becomes a modelling advantage, not just context.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315200" y="2468880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0" y="2468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MKI67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732520" y="2670048"/>
            <a:ext cx="1188720" cy="1078992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3035808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0" y="303580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AURKA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32520" y="3236976"/>
            <a:ext cx="1188720" cy="512064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0" y="3602736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0" y="36027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732520" y="3803904"/>
            <a:ext cx="1188720" cy="-54864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0" y="4169664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0" y="416966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732520" y="4370832"/>
            <a:ext cx="1188720" cy="-621792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0" y="4736592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47365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732520" y="4937760"/>
            <a:ext cx="1188720" cy="-1188720"/>
          </a:xfrm>
          <a:prstGeom prst="line">
            <a:avLst/>
          </a:prstGeom>
          <a:noFill/>
          <a:ln w="15240">
            <a:solidFill>
              <a:srgbClr val="0E7C8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058400" y="3429000"/>
            <a:ext cx="1554480" cy="822960"/>
          </a:xfrm>
          <a:prstGeom prst="roundRect">
            <a:avLst>
              <a:gd name="adj" fmla="val 8889"/>
            </a:avLst>
          </a:prstGeom>
          <a:solidFill>
            <a:srgbClr val="0E7C86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0058400" y="3429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Proliferation scores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(cell-cycle) genes are among the strongest prognostic signals in HR+/HER2− disease.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proliferation score (averaging MKI67, AURKA, CCNB1, …) summarises tumour aggressiveness.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echoed by Ki-67 and by commercial recurrence assays’ proliferation modules.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robust score can rival or beat hundreds of individual noisy genes.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228600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6949440" y="2286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MKI67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321040" y="228600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1" name="Text 8"/>
          <p:cNvSpPr/>
          <p:nvPr/>
        </p:nvSpPr>
        <p:spPr>
          <a:xfrm>
            <a:off x="8321040" y="2286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AURKA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49440" y="278892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6949440" y="2788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CCNB1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321040" y="278892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5" name="Text 12"/>
          <p:cNvSpPr/>
          <p:nvPr/>
        </p:nvSpPr>
        <p:spPr>
          <a:xfrm>
            <a:off x="8321040" y="27889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949440" y="329184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32918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TOP2A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321040" y="3291840"/>
            <a:ext cx="123444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9" name="Text 16"/>
          <p:cNvSpPr/>
          <p:nvPr/>
        </p:nvSpPr>
        <p:spPr>
          <a:xfrm>
            <a:off x="8321040" y="32918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CCNB2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503920" y="3931920"/>
            <a:ext cx="822960" cy="54864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132320" y="4663440"/>
            <a:ext cx="2743200" cy="7315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2" name="Text 19"/>
          <p:cNvSpPr/>
          <p:nvPr/>
        </p:nvSpPr>
        <p:spPr>
          <a:xfrm>
            <a:off x="694944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score = tumour aggressiveness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Estrogen / ER signalling scores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 disease is defined by estrogen-receptor signalling — a biologically central axis.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ER-signalling score (ESR1, FOXA1, GATA3, …) captures luminal differentiation.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protective: higher ER signalling tends to associate with lower recurrence risk.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example of a score encoding the disease’s defining biology in one feature.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132320" y="237744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0" y="23774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132320" y="288036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0" y="2880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FOXA1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132320" y="338328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132320" y="3383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GATA3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132320" y="3886200"/>
            <a:ext cx="1371600" cy="384048"/>
          </a:xfrm>
          <a:prstGeom prst="roundRect">
            <a:avLst>
              <a:gd name="adj" fmla="val 11905"/>
            </a:avLst>
          </a:prstGeom>
          <a:solidFill>
            <a:srgbClr val="DCEDEE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0" y="38862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XBP1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595360" y="3063240"/>
            <a:ext cx="731520" cy="0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418320" y="2697480"/>
            <a:ext cx="2011680" cy="731520"/>
          </a:xfrm>
          <a:prstGeom prst="rect">
            <a:avLst/>
          </a:prstGeom>
          <a:solidFill>
            <a:srgbClr val="2E7D57"/>
          </a:solidFill>
          <a:ln/>
        </p:spPr>
      </p:sp>
      <p:sp>
        <p:nvSpPr>
          <p:cNvPr id="18" name="Text 15"/>
          <p:cNvSpPr/>
          <p:nvPr/>
        </p:nvSpPr>
        <p:spPr>
          <a:xfrm>
            <a:off x="9418320" y="2697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132320" y="44805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higher score → lower recurrence risk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Immune and stromal signatures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signatures (T-cell / cytotoxic markers) capture anti-tumour immunity — often favourable.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Stromal signatures capture the microenvironment (fibroblasts, ECM) — can associate with progression.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tumour is an ecosystem; single genes miss it, programme-level scores capture it.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signatures are reused across cancer types — transferable biological features.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949440" y="2286000"/>
            <a:ext cx="914400" cy="822960"/>
          </a:xfrm>
          <a:prstGeom prst="ellipse">
            <a:avLst/>
          </a:prstGeom>
          <a:solidFill>
            <a:srgbClr val="0E7C86">
              <a:alpha val="70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0" y="22860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 cells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784080" y="2697480"/>
            <a:ext cx="640080" cy="0"/>
          </a:xfrm>
          <a:prstGeom prst="line">
            <a:avLst/>
          </a:prstGeom>
          <a:noFill/>
          <a:ln w="1905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10515600" y="2468880"/>
            <a:ext cx="100584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2" name="Text 9"/>
          <p:cNvSpPr/>
          <p:nvPr/>
        </p:nvSpPr>
        <p:spPr>
          <a:xfrm>
            <a:off x="10515600" y="24688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949440" y="3337560"/>
            <a:ext cx="914400" cy="822960"/>
          </a:xfrm>
          <a:prstGeom prst="ellipse">
            <a:avLst/>
          </a:prstGeom>
          <a:solidFill>
            <a:srgbClr val="2E7D57">
              <a:alpha val="70000"/>
            </a:srgbClr>
          </a:solidFill>
          <a:ln w="19050">
            <a:solidFill>
              <a:srgbClr val="2E7D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55280" y="33375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infiltrate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784080" y="3749040"/>
            <a:ext cx="64008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0515600" y="3520440"/>
            <a:ext cx="1005840" cy="457200"/>
          </a:xfrm>
          <a:prstGeom prst="rect">
            <a:avLst/>
          </a:prstGeom>
          <a:solidFill>
            <a:srgbClr val="2E7D57"/>
          </a:solidFill>
          <a:ln/>
        </p:spPr>
      </p:sp>
      <p:sp>
        <p:nvSpPr>
          <p:cNvPr id="17" name="Text 14"/>
          <p:cNvSpPr/>
          <p:nvPr/>
        </p:nvSpPr>
        <p:spPr>
          <a:xfrm>
            <a:off x="10515600" y="3520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949440" y="4389120"/>
            <a:ext cx="914400" cy="822960"/>
          </a:xfrm>
          <a:prstGeom prst="ellipse">
            <a:avLst/>
          </a:prstGeom>
          <a:solidFill>
            <a:srgbClr val="C2772B">
              <a:alpha val="70000"/>
            </a:srgbClr>
          </a:solidFill>
          <a:ln w="19050">
            <a:solidFill>
              <a:srgbClr val="C277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55280" y="438912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9784080" y="4800600"/>
            <a:ext cx="640080" cy="0"/>
          </a:xfrm>
          <a:prstGeom prst="line">
            <a:avLst/>
          </a:prstGeom>
          <a:noFill/>
          <a:ln w="19050">
            <a:solidFill>
              <a:srgbClr val="C2772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10515600" y="4572000"/>
            <a:ext cx="1005840" cy="45720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22" name="Text 19"/>
          <p:cNvSpPr/>
          <p:nvPr/>
        </p:nvSpPr>
        <p:spPr>
          <a:xfrm>
            <a:off x="10515600" y="45720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4944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tumour is an ecosystem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BIOLOGICAL FEATURE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biological features can outperform single genes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Averaging many co-regulated genes cancels random noise (signal adds, noise partially cancels).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is more stable under resampling than any single gene (answers Lecture 1’s non-uniqueness).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features → lower p → less overfitting → better generalisation.</a:t>
            </a:r>
            <a:endParaRPr lang="en-US" sz="15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carry meaning — a clinician can reason about “high proliferation”.</a:t>
            </a:r>
            <a:endParaRPr lang="en-US" sz="15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2926080"/>
          <a:ext cx="51206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Pathway-level features — gene sets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 set is a curated list of genes sharing a function or pathway (e.g. a hallmark).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Databases: MSigDB Hallmarks (~50 curated programmes), Reactome, GO, KEGG.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features turn 20,000 genes into ~50–100 interpretable pathway activities.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biological feature engineering done systematically, at genome scale.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949440" y="219456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86600" y="219456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229600" y="219456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E2F targets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949440" y="274320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86600" y="274320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229600" y="27432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G2M checkpoint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49440" y="329184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86600" y="32918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8229600" y="329184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response early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949440" y="384048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86600" y="38404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8229600" y="384048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response late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949440" y="438912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86600" y="438912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38912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Interferon-γ response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949440" y="4937760"/>
            <a:ext cx="4572000" cy="438912"/>
          </a:xfrm>
          <a:prstGeom prst="roundRect">
            <a:avLst>
              <a:gd name="adj" fmla="val 1041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86600" y="493776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HALLMARK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229600" y="493776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EMT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949440" y="5532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curated, non-redundant programmes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genes to pathway activities (GSVA / ssGSEA, conceptually)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methods score, per patient, how active each gene set is — a single number per pathway.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Conceptually: rank/aggregate the genes of a set within each sample to a pathway-activity score.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them as a tool; we do not derive them — the output is a patients × pathways matrix.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20,000 genes → ~50–100 pathway features, ready for the same Logistic Regression.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× 20,000 genes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" name="Shape 8"/>
          <p:cNvSpPr/>
          <p:nvPr/>
        </p:nvSpPr>
        <p:spPr>
          <a:xfrm>
            <a:off x="1097280" y="39776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2" name="Shape 9"/>
          <p:cNvSpPr/>
          <p:nvPr/>
        </p:nvSpPr>
        <p:spPr>
          <a:xfrm>
            <a:off x="12801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3" name="Shape 10"/>
          <p:cNvSpPr/>
          <p:nvPr/>
        </p:nvSpPr>
        <p:spPr>
          <a:xfrm>
            <a:off x="1463040" y="39776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4" name="Shape 11"/>
          <p:cNvSpPr/>
          <p:nvPr/>
        </p:nvSpPr>
        <p:spPr>
          <a:xfrm>
            <a:off x="164592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" name="Shape 12"/>
          <p:cNvSpPr/>
          <p:nvPr/>
        </p:nvSpPr>
        <p:spPr>
          <a:xfrm>
            <a:off x="18288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68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7" name="Shape 14"/>
          <p:cNvSpPr/>
          <p:nvPr/>
        </p:nvSpPr>
        <p:spPr>
          <a:xfrm>
            <a:off x="21945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8" name="Shape 15"/>
          <p:cNvSpPr/>
          <p:nvPr/>
        </p:nvSpPr>
        <p:spPr>
          <a:xfrm>
            <a:off x="237744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9" name="Shape 16"/>
          <p:cNvSpPr/>
          <p:nvPr/>
        </p:nvSpPr>
        <p:spPr>
          <a:xfrm>
            <a:off x="256032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0" name="Shape 17"/>
          <p:cNvSpPr/>
          <p:nvPr/>
        </p:nvSpPr>
        <p:spPr>
          <a:xfrm>
            <a:off x="274320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1" name="Shape 18"/>
          <p:cNvSpPr/>
          <p:nvPr/>
        </p:nvSpPr>
        <p:spPr>
          <a:xfrm>
            <a:off x="292608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2" name="Shape 19"/>
          <p:cNvSpPr/>
          <p:nvPr/>
        </p:nvSpPr>
        <p:spPr>
          <a:xfrm>
            <a:off x="310896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3" name="Shape 20"/>
          <p:cNvSpPr/>
          <p:nvPr/>
        </p:nvSpPr>
        <p:spPr>
          <a:xfrm>
            <a:off x="3291840" y="39776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4" name="Shape 21"/>
          <p:cNvSpPr/>
          <p:nvPr/>
        </p:nvSpPr>
        <p:spPr>
          <a:xfrm>
            <a:off x="347472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5" name="Shape 22"/>
          <p:cNvSpPr/>
          <p:nvPr/>
        </p:nvSpPr>
        <p:spPr>
          <a:xfrm>
            <a:off x="365760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6" name="Shape 23"/>
          <p:cNvSpPr/>
          <p:nvPr/>
        </p:nvSpPr>
        <p:spPr>
          <a:xfrm>
            <a:off x="384048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7" name="Shape 24"/>
          <p:cNvSpPr/>
          <p:nvPr/>
        </p:nvSpPr>
        <p:spPr>
          <a:xfrm>
            <a:off x="4023360" y="39776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28" name="Shape 25"/>
          <p:cNvSpPr/>
          <p:nvPr/>
        </p:nvSpPr>
        <p:spPr>
          <a:xfrm>
            <a:off x="4206240" y="39776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29" name="Shape 26"/>
          <p:cNvSpPr/>
          <p:nvPr/>
        </p:nvSpPr>
        <p:spPr>
          <a:xfrm>
            <a:off x="73152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0" name="Shape 27"/>
          <p:cNvSpPr/>
          <p:nvPr/>
        </p:nvSpPr>
        <p:spPr>
          <a:xfrm>
            <a:off x="91440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1" name="Shape 28"/>
          <p:cNvSpPr/>
          <p:nvPr/>
        </p:nvSpPr>
        <p:spPr>
          <a:xfrm>
            <a:off x="10972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2" name="Shape 29"/>
          <p:cNvSpPr/>
          <p:nvPr/>
        </p:nvSpPr>
        <p:spPr>
          <a:xfrm>
            <a:off x="12801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33" name="Shape 30"/>
          <p:cNvSpPr/>
          <p:nvPr/>
        </p:nvSpPr>
        <p:spPr>
          <a:xfrm>
            <a:off x="146304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4" name="Shape 31"/>
          <p:cNvSpPr/>
          <p:nvPr/>
        </p:nvSpPr>
        <p:spPr>
          <a:xfrm>
            <a:off x="164592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35" name="Shape 32"/>
          <p:cNvSpPr/>
          <p:nvPr/>
        </p:nvSpPr>
        <p:spPr>
          <a:xfrm>
            <a:off x="182880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6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37" name="Shape 34"/>
          <p:cNvSpPr/>
          <p:nvPr/>
        </p:nvSpPr>
        <p:spPr>
          <a:xfrm>
            <a:off x="21945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38" name="Shape 35"/>
          <p:cNvSpPr/>
          <p:nvPr/>
        </p:nvSpPr>
        <p:spPr>
          <a:xfrm>
            <a:off x="237744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39" name="Shape 36"/>
          <p:cNvSpPr/>
          <p:nvPr/>
        </p:nvSpPr>
        <p:spPr>
          <a:xfrm>
            <a:off x="256032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0" name="Shape 37"/>
          <p:cNvSpPr/>
          <p:nvPr/>
        </p:nvSpPr>
        <p:spPr>
          <a:xfrm>
            <a:off x="274320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1" name="Shape 38"/>
          <p:cNvSpPr/>
          <p:nvPr/>
        </p:nvSpPr>
        <p:spPr>
          <a:xfrm>
            <a:off x="292608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42" name="Shape 39"/>
          <p:cNvSpPr/>
          <p:nvPr/>
        </p:nvSpPr>
        <p:spPr>
          <a:xfrm>
            <a:off x="310896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43" name="Shape 40"/>
          <p:cNvSpPr/>
          <p:nvPr/>
        </p:nvSpPr>
        <p:spPr>
          <a:xfrm>
            <a:off x="329184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4" name="Shape 41"/>
          <p:cNvSpPr/>
          <p:nvPr/>
        </p:nvSpPr>
        <p:spPr>
          <a:xfrm>
            <a:off x="3474720" y="416052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45" name="Shape 42"/>
          <p:cNvSpPr/>
          <p:nvPr/>
        </p:nvSpPr>
        <p:spPr>
          <a:xfrm>
            <a:off x="365760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6" name="Shape 43"/>
          <p:cNvSpPr/>
          <p:nvPr/>
        </p:nvSpPr>
        <p:spPr>
          <a:xfrm>
            <a:off x="3840480" y="416052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47" name="Shape 44"/>
          <p:cNvSpPr/>
          <p:nvPr/>
        </p:nvSpPr>
        <p:spPr>
          <a:xfrm>
            <a:off x="4023360" y="416052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8" name="Shape 45"/>
          <p:cNvSpPr/>
          <p:nvPr/>
        </p:nvSpPr>
        <p:spPr>
          <a:xfrm>
            <a:off x="4206240" y="416052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49" name="Shape 46"/>
          <p:cNvSpPr/>
          <p:nvPr/>
        </p:nvSpPr>
        <p:spPr>
          <a:xfrm>
            <a:off x="7315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50" name="Shape 47"/>
          <p:cNvSpPr/>
          <p:nvPr/>
        </p:nvSpPr>
        <p:spPr>
          <a:xfrm>
            <a:off x="91440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51" name="Shape 48"/>
          <p:cNvSpPr/>
          <p:nvPr/>
        </p:nvSpPr>
        <p:spPr>
          <a:xfrm>
            <a:off x="109728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2" name="Shape 49"/>
          <p:cNvSpPr/>
          <p:nvPr/>
        </p:nvSpPr>
        <p:spPr>
          <a:xfrm>
            <a:off x="128016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53" name="Shape 50"/>
          <p:cNvSpPr/>
          <p:nvPr/>
        </p:nvSpPr>
        <p:spPr>
          <a:xfrm>
            <a:off x="146304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4" name="Shape 51"/>
          <p:cNvSpPr/>
          <p:nvPr/>
        </p:nvSpPr>
        <p:spPr>
          <a:xfrm>
            <a:off x="16459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55" name="Shape 52"/>
          <p:cNvSpPr/>
          <p:nvPr/>
        </p:nvSpPr>
        <p:spPr>
          <a:xfrm>
            <a:off x="182880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680" y="434340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7" name="Shape 54"/>
          <p:cNvSpPr/>
          <p:nvPr/>
        </p:nvSpPr>
        <p:spPr>
          <a:xfrm>
            <a:off x="2194560" y="434340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58" name="Shape 55"/>
          <p:cNvSpPr/>
          <p:nvPr/>
        </p:nvSpPr>
        <p:spPr>
          <a:xfrm>
            <a:off x="237744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59" name="Shape 56"/>
          <p:cNvSpPr/>
          <p:nvPr/>
        </p:nvSpPr>
        <p:spPr>
          <a:xfrm>
            <a:off x="256032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0" name="Shape 57"/>
          <p:cNvSpPr/>
          <p:nvPr/>
        </p:nvSpPr>
        <p:spPr>
          <a:xfrm>
            <a:off x="2743200" y="434340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61" name="Shape 58"/>
          <p:cNvSpPr/>
          <p:nvPr/>
        </p:nvSpPr>
        <p:spPr>
          <a:xfrm>
            <a:off x="292608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2" name="Shape 59"/>
          <p:cNvSpPr/>
          <p:nvPr/>
        </p:nvSpPr>
        <p:spPr>
          <a:xfrm>
            <a:off x="310896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3" name="Shape 60"/>
          <p:cNvSpPr/>
          <p:nvPr/>
        </p:nvSpPr>
        <p:spPr>
          <a:xfrm>
            <a:off x="329184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4" name="Shape 61"/>
          <p:cNvSpPr/>
          <p:nvPr/>
        </p:nvSpPr>
        <p:spPr>
          <a:xfrm>
            <a:off x="347472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5" name="Shape 62"/>
          <p:cNvSpPr/>
          <p:nvPr/>
        </p:nvSpPr>
        <p:spPr>
          <a:xfrm>
            <a:off x="365760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6" name="Shape 63"/>
          <p:cNvSpPr/>
          <p:nvPr/>
        </p:nvSpPr>
        <p:spPr>
          <a:xfrm>
            <a:off x="384048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7" name="Shape 64"/>
          <p:cNvSpPr/>
          <p:nvPr/>
        </p:nvSpPr>
        <p:spPr>
          <a:xfrm>
            <a:off x="4023360" y="434340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68" name="Shape 65"/>
          <p:cNvSpPr/>
          <p:nvPr/>
        </p:nvSpPr>
        <p:spPr>
          <a:xfrm>
            <a:off x="4206240" y="434340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69" name="Shape 66"/>
          <p:cNvSpPr/>
          <p:nvPr/>
        </p:nvSpPr>
        <p:spPr>
          <a:xfrm>
            <a:off x="73152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0" name="Shape 67"/>
          <p:cNvSpPr/>
          <p:nvPr/>
        </p:nvSpPr>
        <p:spPr>
          <a:xfrm>
            <a:off x="91440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1" name="Shape 68"/>
          <p:cNvSpPr/>
          <p:nvPr/>
        </p:nvSpPr>
        <p:spPr>
          <a:xfrm>
            <a:off x="109728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2" name="Shape 69"/>
          <p:cNvSpPr/>
          <p:nvPr/>
        </p:nvSpPr>
        <p:spPr>
          <a:xfrm>
            <a:off x="128016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3" name="Shape 70"/>
          <p:cNvSpPr/>
          <p:nvPr/>
        </p:nvSpPr>
        <p:spPr>
          <a:xfrm>
            <a:off x="146304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74" name="Shape 71"/>
          <p:cNvSpPr/>
          <p:nvPr/>
        </p:nvSpPr>
        <p:spPr>
          <a:xfrm>
            <a:off x="164592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5" name="Shape 72"/>
          <p:cNvSpPr/>
          <p:nvPr/>
        </p:nvSpPr>
        <p:spPr>
          <a:xfrm>
            <a:off x="182880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68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77" name="Shape 74"/>
          <p:cNvSpPr/>
          <p:nvPr/>
        </p:nvSpPr>
        <p:spPr>
          <a:xfrm>
            <a:off x="219456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78" name="Shape 75"/>
          <p:cNvSpPr/>
          <p:nvPr/>
        </p:nvSpPr>
        <p:spPr>
          <a:xfrm>
            <a:off x="237744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79" name="Shape 76"/>
          <p:cNvSpPr/>
          <p:nvPr/>
        </p:nvSpPr>
        <p:spPr>
          <a:xfrm>
            <a:off x="256032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0" name="Shape 77"/>
          <p:cNvSpPr/>
          <p:nvPr/>
        </p:nvSpPr>
        <p:spPr>
          <a:xfrm>
            <a:off x="274320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1" name="Shape 78"/>
          <p:cNvSpPr/>
          <p:nvPr/>
        </p:nvSpPr>
        <p:spPr>
          <a:xfrm>
            <a:off x="292608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2" name="Shape 79"/>
          <p:cNvSpPr/>
          <p:nvPr/>
        </p:nvSpPr>
        <p:spPr>
          <a:xfrm>
            <a:off x="310896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83" name="Shape 80"/>
          <p:cNvSpPr/>
          <p:nvPr/>
        </p:nvSpPr>
        <p:spPr>
          <a:xfrm>
            <a:off x="3291840" y="452628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84" name="Shape 81"/>
          <p:cNvSpPr/>
          <p:nvPr/>
        </p:nvSpPr>
        <p:spPr>
          <a:xfrm>
            <a:off x="3474720" y="452628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85" name="Shape 82"/>
          <p:cNvSpPr/>
          <p:nvPr/>
        </p:nvSpPr>
        <p:spPr>
          <a:xfrm>
            <a:off x="365760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6" name="Shape 83"/>
          <p:cNvSpPr/>
          <p:nvPr/>
        </p:nvSpPr>
        <p:spPr>
          <a:xfrm>
            <a:off x="3840480" y="452628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87" name="Shape 84"/>
          <p:cNvSpPr/>
          <p:nvPr/>
        </p:nvSpPr>
        <p:spPr>
          <a:xfrm>
            <a:off x="402336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8" name="Shape 85"/>
          <p:cNvSpPr/>
          <p:nvPr/>
        </p:nvSpPr>
        <p:spPr>
          <a:xfrm>
            <a:off x="4206240" y="452628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89" name="Shape 86"/>
          <p:cNvSpPr/>
          <p:nvPr/>
        </p:nvSpPr>
        <p:spPr>
          <a:xfrm>
            <a:off x="73152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0" name="Shape 87"/>
          <p:cNvSpPr/>
          <p:nvPr/>
        </p:nvSpPr>
        <p:spPr>
          <a:xfrm>
            <a:off x="91440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1" name="Shape 88"/>
          <p:cNvSpPr/>
          <p:nvPr/>
        </p:nvSpPr>
        <p:spPr>
          <a:xfrm>
            <a:off x="109728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92" name="Shape 89"/>
          <p:cNvSpPr/>
          <p:nvPr/>
        </p:nvSpPr>
        <p:spPr>
          <a:xfrm>
            <a:off x="1280160" y="470916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93" name="Shape 90"/>
          <p:cNvSpPr/>
          <p:nvPr/>
        </p:nvSpPr>
        <p:spPr>
          <a:xfrm>
            <a:off x="146304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4" name="Shape 91"/>
          <p:cNvSpPr/>
          <p:nvPr/>
        </p:nvSpPr>
        <p:spPr>
          <a:xfrm>
            <a:off x="164592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5" name="Shape 92"/>
          <p:cNvSpPr/>
          <p:nvPr/>
        </p:nvSpPr>
        <p:spPr>
          <a:xfrm>
            <a:off x="182880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68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7" name="Shape 94"/>
          <p:cNvSpPr/>
          <p:nvPr/>
        </p:nvSpPr>
        <p:spPr>
          <a:xfrm>
            <a:off x="219456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8" name="Shape 95"/>
          <p:cNvSpPr/>
          <p:nvPr/>
        </p:nvSpPr>
        <p:spPr>
          <a:xfrm>
            <a:off x="237744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99" name="Shape 96"/>
          <p:cNvSpPr/>
          <p:nvPr/>
        </p:nvSpPr>
        <p:spPr>
          <a:xfrm>
            <a:off x="256032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0" name="Shape 97"/>
          <p:cNvSpPr/>
          <p:nvPr/>
        </p:nvSpPr>
        <p:spPr>
          <a:xfrm>
            <a:off x="274320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1" name="Shape 98"/>
          <p:cNvSpPr/>
          <p:nvPr/>
        </p:nvSpPr>
        <p:spPr>
          <a:xfrm>
            <a:off x="292608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3108960" y="470916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3291840" y="470916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4" name="Shape 101"/>
          <p:cNvSpPr/>
          <p:nvPr/>
        </p:nvSpPr>
        <p:spPr>
          <a:xfrm>
            <a:off x="347472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5" name="Shape 102"/>
          <p:cNvSpPr/>
          <p:nvPr/>
        </p:nvSpPr>
        <p:spPr>
          <a:xfrm>
            <a:off x="365760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3840480" y="470916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02336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8" name="Shape 105"/>
          <p:cNvSpPr/>
          <p:nvPr/>
        </p:nvSpPr>
        <p:spPr>
          <a:xfrm>
            <a:off x="4206240" y="470916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09" name="Shape 106"/>
          <p:cNvSpPr/>
          <p:nvPr/>
        </p:nvSpPr>
        <p:spPr>
          <a:xfrm>
            <a:off x="7315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0" name="Shape 107"/>
          <p:cNvSpPr/>
          <p:nvPr/>
        </p:nvSpPr>
        <p:spPr>
          <a:xfrm>
            <a:off x="91440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1" name="Shape 108"/>
          <p:cNvSpPr/>
          <p:nvPr/>
        </p:nvSpPr>
        <p:spPr>
          <a:xfrm>
            <a:off x="10972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2" name="Shape 109"/>
          <p:cNvSpPr/>
          <p:nvPr/>
        </p:nvSpPr>
        <p:spPr>
          <a:xfrm>
            <a:off x="128016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3" name="Shape 110"/>
          <p:cNvSpPr/>
          <p:nvPr/>
        </p:nvSpPr>
        <p:spPr>
          <a:xfrm>
            <a:off x="146304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14" name="Shape 111"/>
          <p:cNvSpPr/>
          <p:nvPr/>
        </p:nvSpPr>
        <p:spPr>
          <a:xfrm>
            <a:off x="164592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5" name="Shape 112"/>
          <p:cNvSpPr/>
          <p:nvPr/>
        </p:nvSpPr>
        <p:spPr>
          <a:xfrm>
            <a:off x="182880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6" name="Shape 113"/>
          <p:cNvSpPr/>
          <p:nvPr/>
        </p:nvSpPr>
        <p:spPr>
          <a:xfrm>
            <a:off x="20116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7" name="Shape 114"/>
          <p:cNvSpPr/>
          <p:nvPr/>
        </p:nvSpPr>
        <p:spPr>
          <a:xfrm>
            <a:off x="2194560" y="4892040"/>
            <a:ext cx="173736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18" name="Shape 115"/>
          <p:cNvSpPr/>
          <p:nvPr/>
        </p:nvSpPr>
        <p:spPr>
          <a:xfrm>
            <a:off x="237744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19" name="Shape 116"/>
          <p:cNvSpPr/>
          <p:nvPr/>
        </p:nvSpPr>
        <p:spPr>
          <a:xfrm>
            <a:off x="25603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0" name="Shape 117"/>
          <p:cNvSpPr/>
          <p:nvPr/>
        </p:nvSpPr>
        <p:spPr>
          <a:xfrm>
            <a:off x="274320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1" name="Shape 118"/>
          <p:cNvSpPr/>
          <p:nvPr/>
        </p:nvSpPr>
        <p:spPr>
          <a:xfrm>
            <a:off x="2926080" y="4892040"/>
            <a:ext cx="173736" cy="173736"/>
          </a:xfrm>
          <a:prstGeom prst="rect">
            <a:avLst/>
          </a:prstGeom>
          <a:solidFill>
            <a:srgbClr val="5B6B70"/>
          </a:solidFill>
          <a:ln/>
        </p:spPr>
      </p:sp>
      <p:sp>
        <p:nvSpPr>
          <p:cNvPr id="122" name="Shape 119"/>
          <p:cNvSpPr/>
          <p:nvPr/>
        </p:nvSpPr>
        <p:spPr>
          <a:xfrm>
            <a:off x="310896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3" name="Shape 120"/>
          <p:cNvSpPr/>
          <p:nvPr/>
        </p:nvSpPr>
        <p:spPr>
          <a:xfrm>
            <a:off x="329184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4" name="Shape 121"/>
          <p:cNvSpPr/>
          <p:nvPr/>
        </p:nvSpPr>
        <p:spPr>
          <a:xfrm>
            <a:off x="347472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5" name="Shape 122"/>
          <p:cNvSpPr/>
          <p:nvPr/>
        </p:nvSpPr>
        <p:spPr>
          <a:xfrm>
            <a:off x="365760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6" name="Shape 123"/>
          <p:cNvSpPr/>
          <p:nvPr/>
        </p:nvSpPr>
        <p:spPr>
          <a:xfrm>
            <a:off x="384048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7" name="Shape 124"/>
          <p:cNvSpPr/>
          <p:nvPr/>
        </p:nvSpPr>
        <p:spPr>
          <a:xfrm>
            <a:off x="4023360" y="4892040"/>
            <a:ext cx="173736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8" name="Shape 125"/>
          <p:cNvSpPr/>
          <p:nvPr/>
        </p:nvSpPr>
        <p:spPr>
          <a:xfrm>
            <a:off x="4206240" y="4892040"/>
            <a:ext cx="173736" cy="1737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9" name="Shape 126"/>
          <p:cNvSpPr/>
          <p:nvPr/>
        </p:nvSpPr>
        <p:spPr>
          <a:xfrm>
            <a:off x="4572000" y="4526280"/>
            <a:ext cx="1554480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30" name="Text 127"/>
          <p:cNvSpPr/>
          <p:nvPr/>
        </p:nvSpPr>
        <p:spPr>
          <a:xfrm>
            <a:off x="4572000" y="39319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ssGSEA / GSVA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(used as a tool)</a:t>
            </a:r>
            <a:endParaRPr lang="en-US" sz="1000" dirty="0"/>
          </a:p>
        </p:txBody>
      </p:sp>
      <p:sp>
        <p:nvSpPr>
          <p:cNvPr id="131" name="Text 128"/>
          <p:cNvSpPr/>
          <p:nvPr/>
        </p:nvSpPr>
        <p:spPr>
          <a:xfrm>
            <a:off x="6583680" y="36576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× ~50 pathways</a:t>
            </a:r>
            <a:endParaRPr lang="en-US" sz="1100" dirty="0"/>
          </a:p>
        </p:txBody>
      </p:sp>
      <p:sp>
        <p:nvSpPr>
          <p:cNvPr id="132" name="Shape 129"/>
          <p:cNvSpPr/>
          <p:nvPr/>
        </p:nvSpPr>
        <p:spPr>
          <a:xfrm>
            <a:off x="6949440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3" name="Shape 130"/>
          <p:cNvSpPr/>
          <p:nvPr/>
        </p:nvSpPr>
        <p:spPr>
          <a:xfrm>
            <a:off x="7260336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4" name="Shape 131"/>
          <p:cNvSpPr/>
          <p:nvPr/>
        </p:nvSpPr>
        <p:spPr>
          <a:xfrm>
            <a:off x="7571232" y="39776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5" name="Shape 132"/>
          <p:cNvSpPr/>
          <p:nvPr/>
        </p:nvSpPr>
        <p:spPr>
          <a:xfrm>
            <a:off x="7882128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6" name="Shape 133"/>
          <p:cNvSpPr/>
          <p:nvPr/>
        </p:nvSpPr>
        <p:spPr>
          <a:xfrm>
            <a:off x="8193024" y="39776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7" name="Shape 134"/>
          <p:cNvSpPr/>
          <p:nvPr/>
        </p:nvSpPr>
        <p:spPr>
          <a:xfrm>
            <a:off x="8503920" y="39776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8" name="Shape 135"/>
          <p:cNvSpPr/>
          <p:nvPr/>
        </p:nvSpPr>
        <p:spPr>
          <a:xfrm>
            <a:off x="6949440" y="416052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39" name="Shape 136"/>
          <p:cNvSpPr/>
          <p:nvPr/>
        </p:nvSpPr>
        <p:spPr>
          <a:xfrm>
            <a:off x="7260336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0" name="Shape 137"/>
          <p:cNvSpPr/>
          <p:nvPr/>
        </p:nvSpPr>
        <p:spPr>
          <a:xfrm>
            <a:off x="7571232" y="416052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1" name="Shape 138"/>
          <p:cNvSpPr/>
          <p:nvPr/>
        </p:nvSpPr>
        <p:spPr>
          <a:xfrm>
            <a:off x="7882128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2" name="Shape 139"/>
          <p:cNvSpPr/>
          <p:nvPr/>
        </p:nvSpPr>
        <p:spPr>
          <a:xfrm>
            <a:off x="8193024" y="416052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3" name="Shape 140"/>
          <p:cNvSpPr/>
          <p:nvPr/>
        </p:nvSpPr>
        <p:spPr>
          <a:xfrm>
            <a:off x="8503920" y="416052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4" name="Shape 141"/>
          <p:cNvSpPr/>
          <p:nvPr/>
        </p:nvSpPr>
        <p:spPr>
          <a:xfrm>
            <a:off x="6949440" y="434340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5" name="Shape 142"/>
          <p:cNvSpPr/>
          <p:nvPr/>
        </p:nvSpPr>
        <p:spPr>
          <a:xfrm>
            <a:off x="7260336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6" name="Shape 143"/>
          <p:cNvSpPr/>
          <p:nvPr/>
        </p:nvSpPr>
        <p:spPr>
          <a:xfrm>
            <a:off x="7571232" y="434340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7" name="Shape 144"/>
          <p:cNvSpPr/>
          <p:nvPr/>
        </p:nvSpPr>
        <p:spPr>
          <a:xfrm>
            <a:off x="7882128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48" name="Shape 145"/>
          <p:cNvSpPr/>
          <p:nvPr/>
        </p:nvSpPr>
        <p:spPr>
          <a:xfrm>
            <a:off x="8193024" y="434340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9" name="Shape 146"/>
          <p:cNvSpPr/>
          <p:nvPr/>
        </p:nvSpPr>
        <p:spPr>
          <a:xfrm>
            <a:off x="8503920" y="434340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50" name="Shape 147"/>
          <p:cNvSpPr/>
          <p:nvPr/>
        </p:nvSpPr>
        <p:spPr>
          <a:xfrm>
            <a:off x="6949440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51" name="Shape 148"/>
          <p:cNvSpPr/>
          <p:nvPr/>
        </p:nvSpPr>
        <p:spPr>
          <a:xfrm>
            <a:off x="7260336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52" name="Shape 149"/>
          <p:cNvSpPr/>
          <p:nvPr/>
        </p:nvSpPr>
        <p:spPr>
          <a:xfrm>
            <a:off x="7571232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53" name="Shape 150"/>
          <p:cNvSpPr/>
          <p:nvPr/>
        </p:nvSpPr>
        <p:spPr>
          <a:xfrm>
            <a:off x="7882128" y="452628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4" name="Shape 151"/>
          <p:cNvSpPr/>
          <p:nvPr/>
        </p:nvSpPr>
        <p:spPr>
          <a:xfrm>
            <a:off x="8193024" y="452628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5" name="Shape 152"/>
          <p:cNvSpPr/>
          <p:nvPr/>
        </p:nvSpPr>
        <p:spPr>
          <a:xfrm>
            <a:off x="8503920" y="452628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56" name="Shape 153"/>
          <p:cNvSpPr/>
          <p:nvPr/>
        </p:nvSpPr>
        <p:spPr>
          <a:xfrm>
            <a:off x="6949440" y="470916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57" name="Shape 154"/>
          <p:cNvSpPr/>
          <p:nvPr/>
        </p:nvSpPr>
        <p:spPr>
          <a:xfrm>
            <a:off x="7260336" y="470916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8" name="Shape 155"/>
          <p:cNvSpPr/>
          <p:nvPr/>
        </p:nvSpPr>
        <p:spPr>
          <a:xfrm>
            <a:off x="7571232" y="470916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59" name="Shape 156"/>
          <p:cNvSpPr/>
          <p:nvPr/>
        </p:nvSpPr>
        <p:spPr>
          <a:xfrm>
            <a:off x="7882128" y="470916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0" name="Shape 157"/>
          <p:cNvSpPr/>
          <p:nvPr/>
        </p:nvSpPr>
        <p:spPr>
          <a:xfrm>
            <a:off x="8193024" y="470916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61" name="Shape 158"/>
          <p:cNvSpPr/>
          <p:nvPr/>
        </p:nvSpPr>
        <p:spPr>
          <a:xfrm>
            <a:off x="8503920" y="470916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2" name="Shape 159"/>
          <p:cNvSpPr/>
          <p:nvPr/>
        </p:nvSpPr>
        <p:spPr>
          <a:xfrm>
            <a:off x="6949440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63" name="Shape 160"/>
          <p:cNvSpPr/>
          <p:nvPr/>
        </p:nvSpPr>
        <p:spPr>
          <a:xfrm>
            <a:off x="7260336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64" name="Shape 161"/>
          <p:cNvSpPr/>
          <p:nvPr/>
        </p:nvSpPr>
        <p:spPr>
          <a:xfrm>
            <a:off x="7571232" y="4892040"/>
            <a:ext cx="301752" cy="173736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5" name="Shape 162"/>
          <p:cNvSpPr/>
          <p:nvPr/>
        </p:nvSpPr>
        <p:spPr>
          <a:xfrm>
            <a:off x="7882128" y="4892040"/>
            <a:ext cx="301752" cy="173736"/>
          </a:xfrm>
          <a:prstGeom prst="rect">
            <a:avLst/>
          </a:prstGeom>
          <a:solidFill>
            <a:srgbClr val="14A6B0"/>
          </a:solidFill>
          <a:ln/>
        </p:spPr>
      </p:sp>
      <p:sp>
        <p:nvSpPr>
          <p:cNvPr id="166" name="Shape 163"/>
          <p:cNvSpPr/>
          <p:nvPr/>
        </p:nvSpPr>
        <p:spPr>
          <a:xfrm>
            <a:off x="8193024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67" name="Shape 164"/>
          <p:cNvSpPr/>
          <p:nvPr/>
        </p:nvSpPr>
        <p:spPr>
          <a:xfrm>
            <a:off x="8503920" y="4892040"/>
            <a:ext cx="301752" cy="173736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68" name="Text 165"/>
          <p:cNvSpPr/>
          <p:nvPr/>
        </p:nvSpPr>
        <p:spPr>
          <a:xfrm>
            <a:off x="731520" y="54864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patients · friendlier shape · feeds the same model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PATHWAY-LEVEL 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pathway features produce more robust models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fewer features for the same patients → a much friendlier p:n ratio.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is an average over many genes → less noise, more stable across cohorts.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 activities are more comparable across platforms than raw probes (helps Lecture 1’s batch problem).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axes → models you can explain and defend.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468880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4983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genes: split by platform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48865" y="424774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" name="Shape 8"/>
          <p:cNvSpPr/>
          <p:nvPr/>
        </p:nvSpPr>
        <p:spPr>
          <a:xfrm>
            <a:off x="8590312" y="3537584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7632322" y="369183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3" name="Shape 10"/>
          <p:cNvSpPr/>
          <p:nvPr/>
        </p:nvSpPr>
        <p:spPr>
          <a:xfrm>
            <a:off x="8624386" y="442523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372060" y="394794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5" name="Shape 12"/>
          <p:cNvSpPr/>
          <p:nvPr/>
        </p:nvSpPr>
        <p:spPr>
          <a:xfrm>
            <a:off x="8641363" y="342834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7281183" y="459671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7" name="Shape 14"/>
          <p:cNvSpPr/>
          <p:nvPr/>
        </p:nvSpPr>
        <p:spPr>
          <a:xfrm>
            <a:off x="8532872" y="265829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7313649" y="267947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Shape 16"/>
          <p:cNvSpPr/>
          <p:nvPr/>
        </p:nvSpPr>
        <p:spPr>
          <a:xfrm>
            <a:off x="8845621" y="362019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7372276" y="2737585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1" name="Shape 18"/>
          <p:cNvSpPr/>
          <p:nvPr/>
        </p:nvSpPr>
        <p:spPr>
          <a:xfrm>
            <a:off x="8713340" y="297353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Shape 19"/>
          <p:cNvSpPr/>
          <p:nvPr/>
        </p:nvSpPr>
        <p:spPr>
          <a:xfrm>
            <a:off x="7608405" y="2671301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3" name="Shape 20"/>
          <p:cNvSpPr/>
          <p:nvPr/>
        </p:nvSpPr>
        <p:spPr>
          <a:xfrm>
            <a:off x="8770674" y="325456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4" name="Shape 21"/>
          <p:cNvSpPr/>
          <p:nvPr/>
        </p:nvSpPr>
        <p:spPr>
          <a:xfrm>
            <a:off x="7463328" y="278993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5" name="Shape 22"/>
          <p:cNvSpPr/>
          <p:nvPr/>
        </p:nvSpPr>
        <p:spPr>
          <a:xfrm>
            <a:off x="8708059" y="296142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Shape 23"/>
          <p:cNvSpPr/>
          <p:nvPr/>
        </p:nvSpPr>
        <p:spPr>
          <a:xfrm>
            <a:off x="7546074" y="271710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8843442" y="321437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8" name="Shape 25"/>
          <p:cNvSpPr/>
          <p:nvPr/>
        </p:nvSpPr>
        <p:spPr>
          <a:xfrm>
            <a:off x="7528271" y="392670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9" name="Shape 26"/>
          <p:cNvSpPr/>
          <p:nvPr/>
        </p:nvSpPr>
        <p:spPr>
          <a:xfrm>
            <a:off x="8804814" y="302406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0" name="Shape 27"/>
          <p:cNvSpPr/>
          <p:nvPr/>
        </p:nvSpPr>
        <p:spPr>
          <a:xfrm>
            <a:off x="7260308" y="310541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8655598" y="2768584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2" name="Shape 29"/>
          <p:cNvSpPr/>
          <p:nvPr/>
        </p:nvSpPr>
        <p:spPr>
          <a:xfrm>
            <a:off x="7307202" y="3801543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3" name="Shape 30"/>
          <p:cNvSpPr/>
          <p:nvPr/>
        </p:nvSpPr>
        <p:spPr>
          <a:xfrm>
            <a:off x="8673838" y="293005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4" name="Shape 31"/>
          <p:cNvSpPr/>
          <p:nvPr/>
        </p:nvSpPr>
        <p:spPr>
          <a:xfrm>
            <a:off x="7517223" y="462047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5" name="Shape 32"/>
          <p:cNvSpPr/>
          <p:nvPr/>
        </p:nvSpPr>
        <p:spPr>
          <a:xfrm>
            <a:off x="8888299" y="294045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6" name="Shape 33"/>
          <p:cNvSpPr/>
          <p:nvPr/>
        </p:nvSpPr>
        <p:spPr>
          <a:xfrm>
            <a:off x="7515085" y="420458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7" name="Shape 34"/>
          <p:cNvSpPr/>
          <p:nvPr/>
        </p:nvSpPr>
        <p:spPr>
          <a:xfrm>
            <a:off x="8849322" y="2677577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8" name="Shape 35"/>
          <p:cNvSpPr/>
          <p:nvPr/>
        </p:nvSpPr>
        <p:spPr>
          <a:xfrm>
            <a:off x="7445881" y="324548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9" name="Shape 36"/>
          <p:cNvSpPr/>
          <p:nvPr/>
        </p:nvSpPr>
        <p:spPr>
          <a:xfrm>
            <a:off x="8895679" y="3293770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0" name="Shape 37"/>
          <p:cNvSpPr/>
          <p:nvPr/>
        </p:nvSpPr>
        <p:spPr>
          <a:xfrm>
            <a:off x="9326880" y="2468880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26880" y="4983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pathways: aligned by biology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877957" y="448013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3" name="Shape 40"/>
          <p:cNvSpPr/>
          <p:nvPr/>
        </p:nvSpPr>
        <p:spPr>
          <a:xfrm>
            <a:off x="10055427" y="343128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4" name="Shape 41"/>
          <p:cNvSpPr/>
          <p:nvPr/>
        </p:nvSpPr>
        <p:spPr>
          <a:xfrm>
            <a:off x="10099009" y="413028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5" name="Shape 42"/>
          <p:cNvSpPr/>
          <p:nvPr/>
        </p:nvSpPr>
        <p:spPr>
          <a:xfrm>
            <a:off x="10665959" y="310179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6" name="Shape 43"/>
          <p:cNvSpPr/>
          <p:nvPr/>
        </p:nvSpPr>
        <p:spPr>
          <a:xfrm>
            <a:off x="10257645" y="424526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7" name="Shape 44"/>
          <p:cNvSpPr/>
          <p:nvPr/>
        </p:nvSpPr>
        <p:spPr>
          <a:xfrm>
            <a:off x="11024116" y="3419824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8" name="Shape 45"/>
          <p:cNvSpPr/>
          <p:nvPr/>
        </p:nvSpPr>
        <p:spPr>
          <a:xfrm>
            <a:off x="10198730" y="403829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9" name="Shape 46"/>
          <p:cNvSpPr/>
          <p:nvPr/>
        </p:nvSpPr>
        <p:spPr>
          <a:xfrm>
            <a:off x="11149543" y="3335942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849548" y="396117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3597" y="294097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2" name="Shape 49"/>
          <p:cNvSpPr/>
          <p:nvPr/>
        </p:nvSpPr>
        <p:spPr>
          <a:xfrm>
            <a:off x="10415510" y="436264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0337454" y="328660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4" name="Shape 51"/>
          <p:cNvSpPr/>
          <p:nvPr/>
        </p:nvSpPr>
        <p:spPr>
          <a:xfrm>
            <a:off x="10585734" y="442326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1055526" y="3227784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6" name="Shape 53"/>
          <p:cNvSpPr/>
          <p:nvPr/>
        </p:nvSpPr>
        <p:spPr>
          <a:xfrm>
            <a:off x="10009560" y="3965156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10731655" y="313323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8" name="Shape 55"/>
          <p:cNvSpPr/>
          <p:nvPr/>
        </p:nvSpPr>
        <p:spPr>
          <a:xfrm>
            <a:off x="11018503" y="4215552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9" name="Shape 56"/>
          <p:cNvSpPr/>
          <p:nvPr/>
        </p:nvSpPr>
        <p:spPr>
          <a:xfrm>
            <a:off x="10641894" y="2981418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0" name="Shape 57"/>
          <p:cNvSpPr/>
          <p:nvPr/>
        </p:nvSpPr>
        <p:spPr>
          <a:xfrm>
            <a:off x="10680160" y="413061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10668468" y="2948249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2" name="Shape 59"/>
          <p:cNvSpPr/>
          <p:nvPr/>
        </p:nvSpPr>
        <p:spPr>
          <a:xfrm>
            <a:off x="10814585" y="3991908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3" name="Shape 60"/>
          <p:cNvSpPr/>
          <p:nvPr/>
        </p:nvSpPr>
        <p:spPr>
          <a:xfrm>
            <a:off x="10248291" y="3319324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4" name="Shape 61"/>
          <p:cNvSpPr/>
          <p:nvPr/>
        </p:nvSpPr>
        <p:spPr>
          <a:xfrm>
            <a:off x="10882851" y="4072950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5" name="Shape 62"/>
          <p:cNvSpPr/>
          <p:nvPr/>
        </p:nvSpPr>
        <p:spPr>
          <a:xfrm>
            <a:off x="10336248" y="3420661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6" name="Shape 63"/>
          <p:cNvSpPr/>
          <p:nvPr/>
        </p:nvSpPr>
        <p:spPr>
          <a:xfrm>
            <a:off x="10316417" y="4063607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7" name="Shape 64"/>
          <p:cNvSpPr/>
          <p:nvPr/>
        </p:nvSpPr>
        <p:spPr>
          <a:xfrm>
            <a:off x="10781080" y="3108016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8" name="Shape 65"/>
          <p:cNvSpPr/>
          <p:nvPr/>
        </p:nvSpPr>
        <p:spPr>
          <a:xfrm>
            <a:off x="10410249" y="4165564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9" name="Shape 66"/>
          <p:cNvSpPr/>
          <p:nvPr/>
        </p:nvSpPr>
        <p:spPr>
          <a:xfrm>
            <a:off x="10360106" y="303463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0" name="Shape 67"/>
          <p:cNvSpPr/>
          <p:nvPr/>
        </p:nvSpPr>
        <p:spPr>
          <a:xfrm>
            <a:off x="10556025" y="4273419"/>
            <a:ext cx="91440" cy="9144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1" name="Shape 68"/>
          <p:cNvSpPr/>
          <p:nvPr/>
        </p:nvSpPr>
        <p:spPr>
          <a:xfrm>
            <a:off x="10528819" y="3320133"/>
            <a:ext cx="91440" cy="91440"/>
          </a:xfrm>
          <a:prstGeom prst="ellipse">
            <a:avLst/>
          </a:prstGeom>
          <a:solidFill>
            <a:srgbClr val="0E7C86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FEATURE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selection — the three families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3566160" cy="54864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features independently of the model.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variance · correlation · differential expression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8912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89120" y="2103120"/>
            <a:ext cx="3566160" cy="54864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14" name="Text 11"/>
          <p:cNvSpPr/>
          <p:nvPr/>
        </p:nvSpPr>
        <p:spPr>
          <a:xfrm>
            <a:off x="438912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Embedded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61772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happens during model fitting.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61772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LASSO · Elastic Net (Lecture 2)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229600" y="21031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29600" y="2103120"/>
            <a:ext cx="3566160" cy="548640"/>
          </a:xfrm>
          <a:prstGeom prst="rect">
            <a:avLst/>
          </a:prstGeom>
          <a:solidFill>
            <a:srgbClr val="2E7D57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0" y="2103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Tree-based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58200" y="2834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by usefulness for splitting.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458200" y="4114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random-forest / gradient-boosting importance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depends on goals: speed · sparsity · stability · interpretability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FEATURE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LASSO and Elastic Net as selectors (callback)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drives coefficients to zero → an automatic sparse panel (Lecture 2).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keeps correlated groups together → more stable signatures (Lecture 2).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pathway features, embedded selection yields a tiny, interpretable, stable model.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Synergy: good engineering (pathways) + honest selection (Elastic Net) = a defensible biomarker.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45720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66560" y="3840480"/>
            <a:ext cx="4572000" cy="0"/>
          </a:xfrm>
          <a:prstGeom prst="line">
            <a:avLst/>
          </a:prstGeom>
          <a:noFill/>
          <a:ln w="19050">
            <a:solidFill>
              <a:srgbClr val="C9D7D9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6766560" y="4992624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47560" y="4954219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528560" y="4915814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909560" y="4877410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90560" y="4839005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71560" y="4800600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052560" y="4762195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33560" y="4723790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814560" y="4685386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195560" y="4646981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576560" y="4608576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57560" y="4570171"/>
            <a:ext cx="381000" cy="-38405"/>
          </a:xfrm>
          <a:prstGeom prst="line">
            <a:avLst/>
          </a:prstGeom>
          <a:noFill/>
          <a:ln w="25400">
            <a:solidFill>
              <a:srgbClr val="0E7C8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784080" y="48280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766560" y="2944368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147560" y="2974238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28560" y="3004109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09560" y="3033979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290560" y="3063850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671560" y="3093720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052560" y="3123590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433560" y="3153461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814560" y="3183331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95560" y="3213202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576560" y="3243072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957560" y="3272942"/>
            <a:ext cx="381000" cy="29870"/>
          </a:xfrm>
          <a:prstGeom prst="line">
            <a:avLst/>
          </a:prstGeom>
          <a:noFill/>
          <a:ln w="25400">
            <a:solidFill>
              <a:srgbClr val="C2772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784080" y="27797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response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6766560" y="4544568"/>
            <a:ext cx="381000" cy="-10668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147560" y="4437888"/>
            <a:ext cx="381000" cy="-10668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528560" y="4331208"/>
            <a:ext cx="381000" cy="-10668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909560" y="4224528"/>
            <a:ext cx="381000" cy="-10668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290560" y="4117848"/>
            <a:ext cx="381000" cy="-10668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671560" y="4011168"/>
            <a:ext cx="381000" cy="-10668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9052560" y="3904488"/>
            <a:ext cx="381000" cy="-64008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433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814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0195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576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957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766560" y="3264408"/>
            <a:ext cx="381000" cy="120015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147560" y="3384423"/>
            <a:ext cx="381000" cy="120015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528560" y="3504438"/>
            <a:ext cx="381000" cy="120015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09560" y="3624453"/>
            <a:ext cx="381000" cy="120015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290560" y="3744468"/>
            <a:ext cx="381000" cy="96012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671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052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433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814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195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0576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0957560" y="3840480"/>
            <a:ext cx="381000" cy="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6766560" y="4224528"/>
            <a:ext cx="381000" cy="-64008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147560" y="4160520"/>
            <a:ext cx="381000" cy="-64008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7528560" y="4096512"/>
            <a:ext cx="381000" cy="-64008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909560" y="4032504"/>
            <a:ext cx="381000" cy="-64008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8290560" y="3968496"/>
            <a:ext cx="381000" cy="-64008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671560" y="3904488"/>
            <a:ext cx="381000" cy="-64008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52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433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814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0195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576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957560" y="3840480"/>
            <a:ext cx="381000" cy="0"/>
          </a:xfrm>
          <a:prstGeom prst="line">
            <a:avLst/>
          </a:prstGeom>
          <a:noFill/>
          <a:ln w="25400">
            <a:solidFill>
              <a:srgbClr val="5B6B7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766560" y="3520440"/>
            <a:ext cx="381000" cy="7620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147560" y="3596640"/>
            <a:ext cx="381000" cy="7620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528560" y="3672840"/>
            <a:ext cx="381000" cy="7620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7909560" y="3749040"/>
            <a:ext cx="381000" cy="7620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290560" y="3825240"/>
            <a:ext cx="381000" cy="1524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8671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9052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433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9814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10195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10576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10957560" y="3840480"/>
            <a:ext cx="381000" cy="0"/>
          </a:xfrm>
          <a:prstGeom prst="line">
            <a:avLst/>
          </a:prstGeom>
          <a:noFill/>
          <a:ln w="25400">
            <a:solidFill>
              <a:srgbClr val="14A6B0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6766560" y="5376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stronger penalty · most pathways → 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FEATURE-SELECTION LEAKAGE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Feature-selection leakage — the critical section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killer: select features using all the data, then cross-validate the reduced set.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selected features have already “seen” the test patients → optimistic, unreproducible scores.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silent error in omics ML — and it survives peer review constantly.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it makes you a better reader of the literature, not just a better builder.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377440"/>
            <a:ext cx="2103120" cy="731520"/>
          </a:xfrm>
          <a:prstGeom prst="roundRect">
            <a:avLst>
              <a:gd name="adj" fmla="val 10000"/>
            </a:avLst>
          </a:prstGeom>
          <a:solidFill>
            <a:srgbClr val="F6E9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0" y="23774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on ALL data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006840" y="2743200"/>
            <a:ext cx="64008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692640" y="237744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92640" y="23774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1567160" y="2743200"/>
            <a:ext cx="0" cy="0"/>
          </a:xfrm>
          <a:prstGeom prst="line">
            <a:avLst/>
          </a:prstGeom>
          <a:noFill/>
          <a:ln/>
        </p:spPr>
      </p:sp>
      <p:sp>
        <p:nvSpPr>
          <p:cNvPr id="14" name="Text 11"/>
          <p:cNvSpPr/>
          <p:nvPr/>
        </p:nvSpPr>
        <p:spPr>
          <a:xfrm>
            <a:off x="969264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“great” AUC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607040" y="3657600"/>
            <a:ext cx="0" cy="548640"/>
          </a:xfrm>
          <a:prstGeom prst="line">
            <a:avLst/>
          </a:prstGeom>
          <a:noFill/>
          <a:ln w="25400">
            <a:solidFill>
              <a:srgbClr val="A8403A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0607040" y="4206240"/>
            <a:ext cx="-2697480" cy="0"/>
          </a:xfrm>
          <a:prstGeom prst="line">
            <a:avLst/>
          </a:prstGeom>
          <a:noFill/>
          <a:ln w="25400">
            <a:solidFill>
              <a:srgbClr val="A8403A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7909560" y="4206240"/>
            <a:ext cx="0" cy="-1097280"/>
          </a:xfrm>
          <a:prstGeom prst="line">
            <a:avLst/>
          </a:prstGeom>
          <a:noFill/>
          <a:ln w="25400">
            <a:solidFill>
              <a:srgbClr val="A8403A"/>
            </a:solidFill>
            <a:prstDash val="dash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6858000" y="43434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pipe: the selected features already saw the test patients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FEATURE-SELECTION LEAKAGE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 vs right workflow, side by side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2DEDB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57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4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46888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46888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(once, on all data)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983480" y="2624328"/>
            <a:ext cx="457200" cy="0"/>
          </a:xfrm>
          <a:prstGeom prst="line">
            <a:avLst/>
          </a:prstGeom>
          <a:noFill/>
          <a:ln w="19050">
            <a:solidFill>
              <a:srgbClr val="A8403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48640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01000" y="2624328"/>
            <a:ext cx="457200" cy="0"/>
          </a:xfrm>
          <a:prstGeom prst="line">
            <a:avLst/>
          </a:prstGeom>
          <a:noFill/>
          <a:ln w="19050">
            <a:solidFill>
              <a:srgbClr val="A8403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8503920" y="2240280"/>
            <a:ext cx="2468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840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03920" y="2240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inflated AUC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5661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377440" y="3703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 →  inside each fold: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46888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6888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43400" y="4498848"/>
            <a:ext cx="27432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66344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6344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37960" y="4498848"/>
            <a:ext cx="274320" cy="0"/>
          </a:xfrm>
          <a:prstGeom prst="line">
            <a:avLst/>
          </a:prstGeom>
          <a:noFill/>
          <a:ln w="19050">
            <a:solidFill>
              <a:srgbClr val="2E7D5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858000" y="41605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E7D5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85800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filtering, DE selection, signature fitting — anything that uses the data.  Fixed, pre-published gene sets are largely exempt (no fitting on your labels).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FEATURE-SELECTION LEAKAGE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big is the leakage effect?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can inflate AUC by a large, study-changing margin — turning noise into a “great” biomarker.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inflated estimate is stable (CV around a leaky pipeline launders it) — so it looks trustworthy.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ask: was selection inside the cross-validation? Was there an external cohort?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0" y="228600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6400800" y="5577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= optimism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 · INTERPRETABILITY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Biological interpretability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Pathway-level models are usually far easier to interpret than gene-level models.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“Recurrence risk rises with proliferation and falls with ER signalling” — a sentence a clinician trusts.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 supports validation, mechanistic hypotheses, and clinical adoption.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pathway scores depend on the gene set chosen; curation introduces assumptions.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gene-level: hundreds of coefficients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583680" y="2909758"/>
            <a:ext cx="91440" cy="38208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0" name="Shape 7"/>
          <p:cNvSpPr/>
          <p:nvPr/>
        </p:nvSpPr>
        <p:spPr>
          <a:xfrm>
            <a:off x="6702552" y="3015171"/>
            <a:ext cx="91440" cy="276669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1" name="Shape 8"/>
          <p:cNvSpPr/>
          <p:nvPr/>
        </p:nvSpPr>
        <p:spPr>
          <a:xfrm>
            <a:off x="6821424" y="3145449"/>
            <a:ext cx="91440" cy="146391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2" name="Shape 9"/>
          <p:cNvSpPr/>
          <p:nvPr/>
        </p:nvSpPr>
        <p:spPr>
          <a:xfrm>
            <a:off x="6940296" y="3224377"/>
            <a:ext cx="91440" cy="67463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3" name="Shape 10"/>
          <p:cNvSpPr/>
          <p:nvPr/>
        </p:nvSpPr>
        <p:spPr>
          <a:xfrm>
            <a:off x="7059168" y="2849120"/>
            <a:ext cx="91440" cy="44272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4" name="Shape 11"/>
          <p:cNvSpPr/>
          <p:nvPr/>
        </p:nvSpPr>
        <p:spPr>
          <a:xfrm>
            <a:off x="7178040" y="3068932"/>
            <a:ext cx="91440" cy="222908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5" name="Shape 12"/>
          <p:cNvSpPr/>
          <p:nvPr/>
        </p:nvSpPr>
        <p:spPr>
          <a:xfrm>
            <a:off x="7296912" y="2948305"/>
            <a:ext cx="91440" cy="343535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6" name="Shape 13"/>
          <p:cNvSpPr/>
          <p:nvPr/>
        </p:nvSpPr>
        <p:spPr>
          <a:xfrm>
            <a:off x="7415784" y="2897971"/>
            <a:ext cx="91440" cy="393869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7" name="Shape 14"/>
          <p:cNvSpPr/>
          <p:nvPr/>
        </p:nvSpPr>
        <p:spPr>
          <a:xfrm>
            <a:off x="7534656" y="3208703"/>
            <a:ext cx="91440" cy="83137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8" name="Shape 15"/>
          <p:cNvSpPr/>
          <p:nvPr/>
        </p:nvSpPr>
        <p:spPr>
          <a:xfrm>
            <a:off x="7653528" y="2827803"/>
            <a:ext cx="91440" cy="464037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19" name="Shape 16"/>
          <p:cNvSpPr/>
          <p:nvPr/>
        </p:nvSpPr>
        <p:spPr>
          <a:xfrm>
            <a:off x="7772400" y="3134299"/>
            <a:ext cx="91440" cy="157541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0" name="Shape 17"/>
          <p:cNvSpPr/>
          <p:nvPr/>
        </p:nvSpPr>
        <p:spPr>
          <a:xfrm>
            <a:off x="7891272" y="2800121"/>
            <a:ext cx="91440" cy="491719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1" name="Shape 18"/>
          <p:cNvSpPr/>
          <p:nvPr/>
        </p:nvSpPr>
        <p:spPr>
          <a:xfrm>
            <a:off x="8010144" y="3059764"/>
            <a:ext cx="91440" cy="23207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2" name="Shape 19"/>
          <p:cNvSpPr/>
          <p:nvPr/>
        </p:nvSpPr>
        <p:spPr>
          <a:xfrm>
            <a:off x="8129016" y="3163098"/>
            <a:ext cx="91440" cy="12874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2913916"/>
            <a:ext cx="91440" cy="37792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4" name="Shape 21"/>
          <p:cNvSpPr/>
          <p:nvPr/>
        </p:nvSpPr>
        <p:spPr>
          <a:xfrm>
            <a:off x="8366760" y="3148556"/>
            <a:ext cx="91440" cy="14328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5" name="Shape 22"/>
          <p:cNvSpPr/>
          <p:nvPr/>
        </p:nvSpPr>
        <p:spPr>
          <a:xfrm>
            <a:off x="8485632" y="2986286"/>
            <a:ext cx="91440" cy="30555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6" name="Shape 23"/>
          <p:cNvSpPr/>
          <p:nvPr/>
        </p:nvSpPr>
        <p:spPr>
          <a:xfrm>
            <a:off x="8604504" y="3173668"/>
            <a:ext cx="91440" cy="11817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7" name="Shape 24"/>
          <p:cNvSpPr/>
          <p:nvPr/>
        </p:nvSpPr>
        <p:spPr>
          <a:xfrm>
            <a:off x="8723376" y="2917643"/>
            <a:ext cx="91440" cy="374197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8" name="Shape 25"/>
          <p:cNvSpPr/>
          <p:nvPr/>
        </p:nvSpPr>
        <p:spPr>
          <a:xfrm>
            <a:off x="8842248" y="2993360"/>
            <a:ext cx="91440" cy="29848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29" name="Shape 26"/>
          <p:cNvSpPr/>
          <p:nvPr/>
        </p:nvSpPr>
        <p:spPr>
          <a:xfrm>
            <a:off x="6583680" y="4012288"/>
            <a:ext cx="91440" cy="10251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0" name="Shape 27"/>
          <p:cNvSpPr/>
          <p:nvPr/>
        </p:nvSpPr>
        <p:spPr>
          <a:xfrm>
            <a:off x="6702552" y="3894164"/>
            <a:ext cx="91440" cy="22063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1" name="Shape 28"/>
          <p:cNvSpPr/>
          <p:nvPr/>
        </p:nvSpPr>
        <p:spPr>
          <a:xfrm>
            <a:off x="6821424" y="3615855"/>
            <a:ext cx="91440" cy="498945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2" name="Shape 29"/>
          <p:cNvSpPr/>
          <p:nvPr/>
        </p:nvSpPr>
        <p:spPr>
          <a:xfrm>
            <a:off x="6940296" y="3811885"/>
            <a:ext cx="91440" cy="302915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3" name="Shape 30"/>
          <p:cNvSpPr/>
          <p:nvPr/>
        </p:nvSpPr>
        <p:spPr>
          <a:xfrm>
            <a:off x="7059168" y="4046624"/>
            <a:ext cx="91440" cy="6817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4" name="Shape 31"/>
          <p:cNvSpPr/>
          <p:nvPr/>
        </p:nvSpPr>
        <p:spPr>
          <a:xfrm>
            <a:off x="7178040" y="3726734"/>
            <a:ext cx="91440" cy="38806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5" name="Shape 32"/>
          <p:cNvSpPr/>
          <p:nvPr/>
        </p:nvSpPr>
        <p:spPr>
          <a:xfrm>
            <a:off x="7296912" y="3759744"/>
            <a:ext cx="91440" cy="35505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6" name="Shape 33"/>
          <p:cNvSpPr/>
          <p:nvPr/>
        </p:nvSpPr>
        <p:spPr>
          <a:xfrm>
            <a:off x="7415784" y="3723318"/>
            <a:ext cx="91440" cy="39148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7" name="Shape 34"/>
          <p:cNvSpPr/>
          <p:nvPr/>
        </p:nvSpPr>
        <p:spPr>
          <a:xfrm>
            <a:off x="7534656" y="3714630"/>
            <a:ext cx="91440" cy="40017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8" name="Shape 35"/>
          <p:cNvSpPr/>
          <p:nvPr/>
        </p:nvSpPr>
        <p:spPr>
          <a:xfrm>
            <a:off x="7653528" y="3632200"/>
            <a:ext cx="91440" cy="48260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39" name="Shape 36"/>
          <p:cNvSpPr/>
          <p:nvPr/>
        </p:nvSpPr>
        <p:spPr>
          <a:xfrm>
            <a:off x="7772400" y="3782090"/>
            <a:ext cx="91440" cy="332710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0" name="Shape 37"/>
          <p:cNvSpPr/>
          <p:nvPr/>
        </p:nvSpPr>
        <p:spPr>
          <a:xfrm>
            <a:off x="7891272" y="3736856"/>
            <a:ext cx="91440" cy="37794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1" name="Shape 38"/>
          <p:cNvSpPr/>
          <p:nvPr/>
        </p:nvSpPr>
        <p:spPr>
          <a:xfrm>
            <a:off x="8010144" y="3834345"/>
            <a:ext cx="91440" cy="280455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2" name="Shape 39"/>
          <p:cNvSpPr/>
          <p:nvPr/>
        </p:nvSpPr>
        <p:spPr>
          <a:xfrm>
            <a:off x="8129016" y="3982618"/>
            <a:ext cx="91440" cy="13218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3" name="Shape 40"/>
          <p:cNvSpPr/>
          <p:nvPr/>
        </p:nvSpPr>
        <p:spPr>
          <a:xfrm>
            <a:off x="8247888" y="3613466"/>
            <a:ext cx="91440" cy="50133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4" name="Shape 41"/>
          <p:cNvSpPr/>
          <p:nvPr/>
        </p:nvSpPr>
        <p:spPr>
          <a:xfrm>
            <a:off x="8366760" y="3781668"/>
            <a:ext cx="91440" cy="33313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5" name="Shape 42"/>
          <p:cNvSpPr/>
          <p:nvPr/>
        </p:nvSpPr>
        <p:spPr>
          <a:xfrm>
            <a:off x="8485632" y="3743737"/>
            <a:ext cx="91440" cy="371063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6" name="Shape 43"/>
          <p:cNvSpPr/>
          <p:nvPr/>
        </p:nvSpPr>
        <p:spPr>
          <a:xfrm>
            <a:off x="8604504" y="3733246"/>
            <a:ext cx="91440" cy="381554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7" name="Shape 44"/>
          <p:cNvSpPr/>
          <p:nvPr/>
        </p:nvSpPr>
        <p:spPr>
          <a:xfrm>
            <a:off x="8723376" y="3930288"/>
            <a:ext cx="91440" cy="184512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8" name="Shape 45"/>
          <p:cNvSpPr/>
          <p:nvPr/>
        </p:nvSpPr>
        <p:spPr>
          <a:xfrm>
            <a:off x="8842248" y="3623244"/>
            <a:ext cx="91440" cy="491556"/>
          </a:xfrm>
          <a:prstGeom prst="rect">
            <a:avLst/>
          </a:prstGeom>
          <a:solidFill>
            <a:srgbClr val="C9D7D9"/>
          </a:solidFill>
          <a:ln/>
        </p:spPr>
      </p:sp>
      <p:sp>
        <p:nvSpPr>
          <p:cNvPr id="49" name="Text 46"/>
          <p:cNvSpPr/>
          <p:nvPr/>
        </p:nvSpPr>
        <p:spPr>
          <a:xfrm>
            <a:off x="9326880" y="21945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pathway-level: a few named axes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10058400" y="2743200"/>
            <a:ext cx="1316736" cy="365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1" name="Text 48"/>
          <p:cNvSpPr/>
          <p:nvPr/>
        </p:nvSpPr>
        <p:spPr>
          <a:xfrm>
            <a:off x="9144000" y="24505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10058400" y="3310128"/>
            <a:ext cx="877824" cy="365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53" name="Text 50"/>
          <p:cNvSpPr/>
          <p:nvPr/>
        </p:nvSpPr>
        <p:spPr>
          <a:xfrm>
            <a:off x="91440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E2F targets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9034272" y="3877056"/>
            <a:ext cx="1024128" cy="36576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55" name="Text 52"/>
          <p:cNvSpPr/>
          <p:nvPr/>
        </p:nvSpPr>
        <p:spPr>
          <a:xfrm>
            <a:off x="9144000" y="3584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signalling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473184" y="4443984"/>
            <a:ext cx="585216" cy="365760"/>
          </a:xfrm>
          <a:prstGeom prst="rect">
            <a:avLst/>
          </a:prstGeom>
          <a:solidFill>
            <a:srgbClr val="C2772B"/>
          </a:solidFill>
          <a:ln/>
        </p:spPr>
      </p:sp>
      <p:sp>
        <p:nvSpPr>
          <p:cNvPr id="57" name="Text 54"/>
          <p:cNvSpPr/>
          <p:nvPr/>
        </p:nvSpPr>
        <p:spPr>
          <a:xfrm>
            <a:off x="9144000" y="4151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10058400" y="2697480"/>
            <a:ext cx="0" cy="2286000"/>
          </a:xfrm>
          <a:prstGeom prst="line">
            <a:avLst/>
          </a:prstGeom>
          <a:noFill/>
          <a:ln w="9525">
            <a:solidFill>
              <a:srgbClr val="5B6B70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ACCOUNTING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 and limitations, honestly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DCEEE4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56032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overfitting; friendlier p:n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stability across resamples &amp; cohorts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robustness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Interpretability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prior biology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19202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9D8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92240" y="256032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wrong/biased gene set hides signal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 can blur a true single-gene effect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lags new biology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is a hypothesis — it can be wrong, and must be validated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“Better biological representation often improves predictive performance more than changing algorithms.”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44805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Biology matters, features matter, validation matters — before sophisticated models.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of leverage: representation and rigour first, algorithm last.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representation matters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Curse of dimensionality, revisited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vs selection; gene filtering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signatures &amp; pathway features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&amp; its three families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Feature-selection leakage &amp; the fix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representations of the SAME METABRIC data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genes · variance-filtered · DE genes · signatures · pathways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Logistic Regression on each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ROC-AUC, PR-AUC, #features, stability, interpretability</a:t>
            </a:r>
            <a:endParaRPr lang="en-US" sz="13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deliberately leaky workflow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440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now features are right, we return to improving &amp; validating models.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 — Feature Engineering and Biological Representation</dc:title>
  <dc:subject>PptxGenJS Presentation</dc:subject>
  <dc:creator>Practical ML for Transcriptomics in Cancer Research</dc:creator>
  <cp:lastModifiedBy>Practical ML for Transcriptomics in Cancer Research</cp:lastModifiedBy>
  <cp:revision>1</cp:revision>
  <dcterms:created xsi:type="dcterms:W3CDTF">2026-06-17T14:02:34Z</dcterms:created>
  <dcterms:modified xsi:type="dcterms:W3CDTF">2026-06-17T14:02:34Z</dcterms:modified>
</cp:coreProperties>
</file>