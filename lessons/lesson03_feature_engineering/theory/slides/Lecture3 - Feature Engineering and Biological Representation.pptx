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76" r:id="rId9"/>
    <p:sldId id="265" r:id="rId10"/>
    <p:sldId id="266" r:id="rId11"/>
    <p:sldId id="267" r:id="rId12"/>
    <p:sldId id="288" r:id="rId13"/>
    <p:sldId id="289" r:id="rId14"/>
    <p:sldId id="268" r:id="rId15"/>
    <p:sldId id="269" r:id="rId16"/>
    <p:sldId id="270" r:id="rId17"/>
    <p:sldId id="271" r:id="rId18"/>
    <p:sldId id="273" r:id="rId19"/>
    <p:sldId id="287" r:id="rId20"/>
    <p:sldId id="275" r:id="rId21"/>
    <p:sldId id="279" r:id="rId22"/>
    <p:sldId id="281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200" b="0" i="0" u="none" strike="noStrike" dirty="0">
                <a:solidFill>
                  <a:srgbClr val="12262B"/>
                </a:solidFill>
                <a:latin typeface="Arial"/>
              </a:rPr>
              <a:t>per-gene variance (unsupervised)</a:t>
            </a:r>
          </a:p>
        </c:rich>
      </c:tx>
      <c:layout>
        <c:manualLayout>
          <c:xMode val="edge"/>
          <c:yMode val="edge"/>
          <c:x val="0.26151615307345843"/>
          <c:y val="1.1904761904761904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spPr>
            <a:solidFill>
              <a:srgbClr val="DCEDEE"/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57</c:v>
                </c:pt>
                <c:pt idx="1">
                  <c:v>78</c:v>
                </c:pt>
                <c:pt idx="2">
                  <c:v>94</c:v>
                </c:pt>
                <c:pt idx="3">
                  <c:v>100</c:v>
                </c:pt>
                <c:pt idx="4">
                  <c:v>94</c:v>
                </c:pt>
                <c:pt idx="5">
                  <c:v>78</c:v>
                </c:pt>
                <c:pt idx="6">
                  <c:v>57</c:v>
                </c:pt>
                <c:pt idx="7">
                  <c:v>37</c:v>
                </c:pt>
                <c:pt idx="8">
                  <c:v>21</c:v>
                </c:pt>
                <c:pt idx="9">
                  <c:v>11</c:v>
                </c:pt>
                <c:pt idx="10">
                  <c:v>5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52-3C4A-A746-738D2BD874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2262B"/>
                </a:solidFill>
                <a:latin typeface="Arial"/>
              </a:rPr>
              <a:t>across patients (ordered by risk)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gene (jittery)</c:v>
                </c:pt>
              </c:strCache>
            </c:strRef>
          </c:tx>
          <c:spPr>
            <a:ln w="25400" cap="flat">
              <a:solidFill>
                <a:srgbClr val="C9D7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D7D9"/>
              </a:solidFill>
              <a:ln w="9525" cap="flat">
                <a:solidFill>
                  <a:srgbClr val="C9D7D9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0.3901210165303764</c:v>
                </c:pt>
                <c:pt idx="1">
                  <c:v>0.28639419088670715</c:v>
                </c:pt>
                <c:pt idx="2">
                  <c:v>0.33929631721195591</c:v>
                </c:pt>
                <c:pt idx="3">
                  <c:v>0.61778628849088513</c:v>
                </c:pt>
                <c:pt idx="4">
                  <c:v>0.2734372854807588</c:v>
                </c:pt>
                <c:pt idx="5">
                  <c:v>0.44100730431545865</c:v>
                </c:pt>
                <c:pt idx="6">
                  <c:v>0.656774115775141</c:v>
                </c:pt>
                <c:pt idx="7">
                  <c:v>0.26954600813078972</c:v>
                </c:pt>
                <c:pt idx="8">
                  <c:v>0.30333270135025153</c:v>
                </c:pt>
                <c:pt idx="9">
                  <c:v>0.74463176153117416</c:v>
                </c:pt>
                <c:pt idx="10">
                  <c:v>0.44453101164872344</c:v>
                </c:pt>
                <c:pt idx="11">
                  <c:v>0.48037238128267801</c:v>
                </c:pt>
                <c:pt idx="12">
                  <c:v>0.66755042090897931</c:v>
                </c:pt>
                <c:pt idx="13">
                  <c:v>0.74105048196672019</c:v>
                </c:pt>
                <c:pt idx="14">
                  <c:v>0.5017758846756889</c:v>
                </c:pt>
                <c:pt idx="15">
                  <c:v>0.68568855834225595</c:v>
                </c:pt>
                <c:pt idx="16">
                  <c:v>0.64379562148535419</c:v>
                </c:pt>
                <c:pt idx="17">
                  <c:v>0.59875611072581081</c:v>
                </c:pt>
                <c:pt idx="18">
                  <c:v>0.78424924625281678</c:v>
                </c:pt>
                <c:pt idx="19">
                  <c:v>0.99867972157601248</c:v>
                </c:pt>
                <c:pt idx="20">
                  <c:v>0.81308101427884827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9E3-E44E-8D3D-322DF00996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aggregated score (smooth)</c:v>
                </c:pt>
              </c:strCache>
            </c:strRef>
          </c:tx>
          <c:spPr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0.3</c:v>
                </c:pt>
                <c:pt idx="1">
                  <c:v>0.32500000000000001</c:v>
                </c:pt>
                <c:pt idx="2">
                  <c:v>0.35</c:v>
                </c:pt>
                <c:pt idx="3">
                  <c:v>0.375</c:v>
                </c:pt>
                <c:pt idx="4">
                  <c:v>0.4</c:v>
                </c:pt>
                <c:pt idx="5">
                  <c:v>0.42499999999999999</c:v>
                </c:pt>
                <c:pt idx="6">
                  <c:v>0.44999999999999996</c:v>
                </c:pt>
                <c:pt idx="7">
                  <c:v>0.47499999999999998</c:v>
                </c:pt>
                <c:pt idx="8">
                  <c:v>0.5</c:v>
                </c:pt>
                <c:pt idx="9">
                  <c:v>0.52500000000000002</c:v>
                </c:pt>
                <c:pt idx="10">
                  <c:v>0.55000000000000004</c:v>
                </c:pt>
                <c:pt idx="11">
                  <c:v>0.57499999999999996</c:v>
                </c:pt>
                <c:pt idx="12">
                  <c:v>0.6</c:v>
                </c:pt>
                <c:pt idx="13">
                  <c:v>0.625</c:v>
                </c:pt>
                <c:pt idx="14">
                  <c:v>0.64999999999999991</c:v>
                </c:pt>
                <c:pt idx="15">
                  <c:v>0.67500000000000004</c:v>
                </c:pt>
                <c:pt idx="16">
                  <c:v>0.7</c:v>
                </c:pt>
                <c:pt idx="17">
                  <c:v>0.72499999999999998</c:v>
                </c:pt>
                <c:pt idx="18">
                  <c:v>0.75</c:v>
                </c:pt>
                <c:pt idx="19">
                  <c:v>0.77499999999999991</c:v>
                </c:pt>
                <c:pt idx="20">
                  <c:v>0.8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9E3-E44E-8D3D-322DF00996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70"/>
              </a:solidFill>
            </a:defRPr>
          </a:pPr>
          <a:endParaRPr lang="en-IT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96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The turn the course has been building toward. The most important lecture: in transcriptomics, representation of the biology is usually a bigger lever than the algorithm — and it's where biology training becomes a modelling superpower.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L1 made problem &amp; data trustworthy; L2 gave a validated baseline by changing the MODEL. Today we freeze the model and change only the FEATURES — a controlled experiment. Representation is often the biggest lever on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Checklist ticked as we go. The two that matter most: why biological aggregation helps, and recognising feature-selection leakage (subtler here — it hides in 'innocent' steps like DE filtering).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Garbage-in: a perfect algorithm on a poor representation still fails. 20k noisy genes carry huge noise per unit signal; 50 pathway scores far less. Features inject prior biology so the model needn't rediscover it from scarce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Same METABRIC patients, same Logistic Regression, different representations. A controlled experiment — only the representation changes. Hypothesis: fewer, biologically-coherent features generalise as well or better. Tested in the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Each noisy feature is another chance to fit randomness. The model spreads finite attention across thousands of irrelevant genes. Aggregating to meaningful features concentrates signal and stabilises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Engineering CREATES new features (genes -&gt; score). Selection CHOOSES a subset (keep 100 genes). Complementary, not rivals. Both are data-dependent decisions -&gt; both respect the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Filter: rank independently of model (variance, correlation, DE). Embedded: selection during fitting (LASSO, Elastic Net). Tree-based: rank by usefulness for splitting. Choice depends on goal: speed, sparsity, stability, interpretability.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Drop genes that barely vary — they can't discriminate. Unsupervised (no labels) -&gt; low leakage risk, safe first pass. But high variance != biological relevance; a noisy probe can be high-variance.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Keep genes that differ between outcomes — powerful, but SUPERVISED (uses the label) -&gt; leakage hazard. If done on all data it peeks at test outcomes. Rule: DE filtering inside the split, never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Advantages: fewer features, faster, less overfitting, easier interpretation. Limitations: variance keeps noise; DE leaks &amp; is unstable. Filtering treats genes individually — ignores coordinated programmes. Motivates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Summarise coordinated gene programmes into a few scores. A signature score aggregates co-moving genes into one number. Benefits: less noise (averaging), prior knowledge, interpretable, stable. Biology becomes a modelling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Proliferation (cell-cycle) genes are among the strongest prognostic signals in HR+/HER2-. A proliferation score summarises aggressiveness — echoed by Ki-67 and commercial assays' proliferation modules. One robust score can beat hundreds of noisy 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HR+ disease is defined by ER signalling. An ER-signalling score (ESR1, FOXA1, GATA3) captures luminal differentiation. Often protective: higher ER signalling -&gt; lower recurrence risk. Encodes the disease's defining biology in one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Immune signatures capture anti-tumour immunity (often favourable); stromal capture the microenvironment (can mark progression). The tumour is an ecosystem; single genes miss it, programme scores capture it. Transferable across cancers.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 gene set is a curated list sharing a function. MSigDB Hallmarks (~50 non-redundant), Reactome, GO, KEGG. Turn 20,000 genes into ~50-100 interpretable pathway activities — systematic biological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These methods score, per patient, how active each gene set is. We use them as a TOOL, not derive them. Output: patients x pathways matrix. 20,000 genes -&gt; ~50-100 features, ready for the same Logistic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Far fewer features -&gt; friendlier p:n. Each feature averages many genes -&gt; less noise, cross-cohort stability. Pathway activities are more comparable across platforms than raw probes (helps L1 batch). Interpretable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Wrong: selection -&gt; CV (once, on everything). Right: CV -&gt; selection INSIDE each fold -&gt; train -&gt; evaluate. Applies to filtering, DE, signature fitting. Fixed published gene sets are largely exempt (no fitting on your labels).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Pathway models are far easier to interpret than gene-level. 'Risk rises with proliferation and falls with ER signalling' — a sentence a clinician trusts. Supports validation, hypotheses, adoption. Limit: depends on the gene set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Deliver the thesis. Reorder instincts: representation and rigour first, algorithm last. The through-line: trustworthy problem (L1), trustworthy model (L2), trustworthy features (L3).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Tick objectives. Practical: five representations of the SAME data — all genes, variance-filtered, DE, signatures, pathways — same model; compare ROC-AUC, PR-AUC, feature count, stability, interpretability; diagnose a leaky workflow. Next: improving &amp; validating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687568" y="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4" name="Shape 2"/>
          <p:cNvSpPr/>
          <p:nvPr/>
        </p:nvSpPr>
        <p:spPr>
          <a:xfrm>
            <a:off x="5888736" y="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6089904" y="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6" name="Shape 4"/>
          <p:cNvSpPr/>
          <p:nvPr/>
        </p:nvSpPr>
        <p:spPr>
          <a:xfrm>
            <a:off x="6291072" y="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9" name="Shape 7"/>
          <p:cNvSpPr/>
          <p:nvPr/>
        </p:nvSpPr>
        <p:spPr>
          <a:xfrm>
            <a:off x="6894576" y="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0" name="Shape 8"/>
          <p:cNvSpPr/>
          <p:nvPr/>
        </p:nvSpPr>
        <p:spPr>
          <a:xfrm>
            <a:off x="7095744" y="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1" name="Shape 9"/>
          <p:cNvSpPr/>
          <p:nvPr/>
        </p:nvSpPr>
        <p:spPr>
          <a:xfrm>
            <a:off x="7296912" y="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99248" y="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0416" y="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01584" y="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2743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Shape 15"/>
          <p:cNvSpPr/>
          <p:nvPr/>
        </p:nvSpPr>
        <p:spPr>
          <a:xfrm>
            <a:off x="5687568" y="2743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88736" y="2743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2743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2743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743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2" name="Shape 20"/>
          <p:cNvSpPr/>
          <p:nvPr/>
        </p:nvSpPr>
        <p:spPr>
          <a:xfrm>
            <a:off x="6693408" y="2743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94576" y="2743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24" name="Shape 22"/>
          <p:cNvSpPr/>
          <p:nvPr/>
        </p:nvSpPr>
        <p:spPr>
          <a:xfrm>
            <a:off x="7095744" y="2743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Shape 23"/>
          <p:cNvSpPr/>
          <p:nvPr/>
        </p:nvSpPr>
        <p:spPr>
          <a:xfrm>
            <a:off x="7296912" y="2743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0" y="2743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27" name="Shape 25"/>
          <p:cNvSpPr/>
          <p:nvPr/>
        </p:nvSpPr>
        <p:spPr>
          <a:xfrm>
            <a:off x="7699248" y="2743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7900416" y="2743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29" name="Shape 27"/>
          <p:cNvSpPr/>
          <p:nvPr/>
        </p:nvSpPr>
        <p:spPr>
          <a:xfrm>
            <a:off x="8101584" y="2743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0" y="5486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31" name="Shape 29"/>
          <p:cNvSpPr/>
          <p:nvPr/>
        </p:nvSpPr>
        <p:spPr>
          <a:xfrm>
            <a:off x="5687568" y="5486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32" name="Shape 30"/>
          <p:cNvSpPr/>
          <p:nvPr/>
        </p:nvSpPr>
        <p:spPr>
          <a:xfrm>
            <a:off x="5888736" y="5486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33" name="Shape 31"/>
          <p:cNvSpPr/>
          <p:nvPr/>
        </p:nvSpPr>
        <p:spPr>
          <a:xfrm>
            <a:off x="6089904" y="5486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91072" y="5486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5486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3408" y="5486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37" name="Shape 35"/>
          <p:cNvSpPr/>
          <p:nvPr/>
        </p:nvSpPr>
        <p:spPr>
          <a:xfrm>
            <a:off x="6894576" y="5486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38" name="Shape 36"/>
          <p:cNvSpPr/>
          <p:nvPr/>
        </p:nvSpPr>
        <p:spPr>
          <a:xfrm>
            <a:off x="7095744" y="5486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39" name="Shape 37"/>
          <p:cNvSpPr/>
          <p:nvPr/>
        </p:nvSpPr>
        <p:spPr>
          <a:xfrm>
            <a:off x="7296912" y="5486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0" name="Shape 38"/>
          <p:cNvSpPr/>
          <p:nvPr/>
        </p:nvSpPr>
        <p:spPr>
          <a:xfrm>
            <a:off x="7498080" y="5486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41" name="Shape 39"/>
          <p:cNvSpPr/>
          <p:nvPr/>
        </p:nvSpPr>
        <p:spPr>
          <a:xfrm>
            <a:off x="7699248" y="5486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2" name="Shape 40"/>
          <p:cNvSpPr/>
          <p:nvPr/>
        </p:nvSpPr>
        <p:spPr>
          <a:xfrm>
            <a:off x="7900416" y="5486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3" name="Shape 41"/>
          <p:cNvSpPr/>
          <p:nvPr/>
        </p:nvSpPr>
        <p:spPr>
          <a:xfrm>
            <a:off x="8101584" y="5486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0" y="8229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45" name="Shape 43"/>
          <p:cNvSpPr/>
          <p:nvPr/>
        </p:nvSpPr>
        <p:spPr>
          <a:xfrm>
            <a:off x="5687568" y="82296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46" name="Shape 44"/>
          <p:cNvSpPr/>
          <p:nvPr/>
        </p:nvSpPr>
        <p:spPr>
          <a:xfrm>
            <a:off x="5888736" y="8229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47" name="Shape 45"/>
          <p:cNvSpPr/>
          <p:nvPr/>
        </p:nvSpPr>
        <p:spPr>
          <a:xfrm>
            <a:off x="6089904" y="8229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8" name="Shape 46"/>
          <p:cNvSpPr/>
          <p:nvPr/>
        </p:nvSpPr>
        <p:spPr>
          <a:xfrm>
            <a:off x="6291072" y="82296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49" name="Shape 47"/>
          <p:cNvSpPr/>
          <p:nvPr/>
        </p:nvSpPr>
        <p:spPr>
          <a:xfrm>
            <a:off x="6492240" y="8229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0" name="Shape 48"/>
          <p:cNvSpPr/>
          <p:nvPr/>
        </p:nvSpPr>
        <p:spPr>
          <a:xfrm>
            <a:off x="6693408" y="8229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1" name="Shape 49"/>
          <p:cNvSpPr/>
          <p:nvPr/>
        </p:nvSpPr>
        <p:spPr>
          <a:xfrm>
            <a:off x="6894576" y="8229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2" name="Shape 50"/>
          <p:cNvSpPr/>
          <p:nvPr/>
        </p:nvSpPr>
        <p:spPr>
          <a:xfrm>
            <a:off x="7095744" y="82296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53" name="Shape 51"/>
          <p:cNvSpPr/>
          <p:nvPr/>
        </p:nvSpPr>
        <p:spPr>
          <a:xfrm>
            <a:off x="7296912" y="8229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54" name="Shape 52"/>
          <p:cNvSpPr/>
          <p:nvPr/>
        </p:nvSpPr>
        <p:spPr>
          <a:xfrm>
            <a:off x="7498080" y="8229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5" name="Shape 53"/>
          <p:cNvSpPr/>
          <p:nvPr/>
        </p:nvSpPr>
        <p:spPr>
          <a:xfrm>
            <a:off x="7699248" y="8229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6" name="Shape 54"/>
          <p:cNvSpPr/>
          <p:nvPr/>
        </p:nvSpPr>
        <p:spPr>
          <a:xfrm>
            <a:off x="7900416" y="8229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57" name="Shape 55"/>
          <p:cNvSpPr/>
          <p:nvPr/>
        </p:nvSpPr>
        <p:spPr>
          <a:xfrm>
            <a:off x="8101584" y="8229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8" name="Shape 56"/>
          <p:cNvSpPr/>
          <p:nvPr/>
        </p:nvSpPr>
        <p:spPr>
          <a:xfrm>
            <a:off x="5486400" y="109728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9" name="Shape 57"/>
          <p:cNvSpPr/>
          <p:nvPr/>
        </p:nvSpPr>
        <p:spPr>
          <a:xfrm>
            <a:off x="5687568" y="109728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0" name="Shape 58"/>
          <p:cNvSpPr/>
          <p:nvPr/>
        </p:nvSpPr>
        <p:spPr>
          <a:xfrm>
            <a:off x="5888736" y="109728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61" name="Shape 59"/>
          <p:cNvSpPr/>
          <p:nvPr/>
        </p:nvSpPr>
        <p:spPr>
          <a:xfrm>
            <a:off x="6089904" y="109728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62" name="Shape 60"/>
          <p:cNvSpPr/>
          <p:nvPr/>
        </p:nvSpPr>
        <p:spPr>
          <a:xfrm>
            <a:off x="6291072" y="109728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3" name="Shape 61"/>
          <p:cNvSpPr/>
          <p:nvPr/>
        </p:nvSpPr>
        <p:spPr>
          <a:xfrm>
            <a:off x="6492240" y="109728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4" name="Shape 62"/>
          <p:cNvSpPr/>
          <p:nvPr/>
        </p:nvSpPr>
        <p:spPr>
          <a:xfrm>
            <a:off x="6693408" y="109728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5" name="Shape 63"/>
          <p:cNvSpPr/>
          <p:nvPr/>
        </p:nvSpPr>
        <p:spPr>
          <a:xfrm>
            <a:off x="6894576" y="109728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66" name="Shape 64"/>
          <p:cNvSpPr/>
          <p:nvPr/>
        </p:nvSpPr>
        <p:spPr>
          <a:xfrm>
            <a:off x="7095744" y="109728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7" name="Shape 65"/>
          <p:cNvSpPr/>
          <p:nvPr/>
        </p:nvSpPr>
        <p:spPr>
          <a:xfrm>
            <a:off x="7296912" y="109728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68" name="Shape 66"/>
          <p:cNvSpPr/>
          <p:nvPr/>
        </p:nvSpPr>
        <p:spPr>
          <a:xfrm>
            <a:off x="7498080" y="109728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69" name="Shape 67"/>
          <p:cNvSpPr/>
          <p:nvPr/>
        </p:nvSpPr>
        <p:spPr>
          <a:xfrm>
            <a:off x="7699248" y="109728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70" name="Shape 68"/>
          <p:cNvSpPr/>
          <p:nvPr/>
        </p:nvSpPr>
        <p:spPr>
          <a:xfrm>
            <a:off x="7900416" y="109728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71" name="Shape 69"/>
          <p:cNvSpPr/>
          <p:nvPr/>
        </p:nvSpPr>
        <p:spPr>
          <a:xfrm>
            <a:off x="8101584" y="109728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72" name="Shape 70"/>
          <p:cNvSpPr/>
          <p:nvPr/>
        </p:nvSpPr>
        <p:spPr>
          <a:xfrm>
            <a:off x="5486400" y="137160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3" name="Shape 71"/>
          <p:cNvSpPr/>
          <p:nvPr/>
        </p:nvSpPr>
        <p:spPr>
          <a:xfrm>
            <a:off x="5687568" y="137160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4" name="Shape 72"/>
          <p:cNvSpPr/>
          <p:nvPr/>
        </p:nvSpPr>
        <p:spPr>
          <a:xfrm>
            <a:off x="5888736" y="137160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75" name="Shape 73"/>
          <p:cNvSpPr/>
          <p:nvPr/>
        </p:nvSpPr>
        <p:spPr>
          <a:xfrm>
            <a:off x="6089904" y="137160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76" name="Shape 74"/>
          <p:cNvSpPr/>
          <p:nvPr/>
        </p:nvSpPr>
        <p:spPr>
          <a:xfrm>
            <a:off x="6291072" y="137160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7" name="Shape 75"/>
          <p:cNvSpPr/>
          <p:nvPr/>
        </p:nvSpPr>
        <p:spPr>
          <a:xfrm>
            <a:off x="6492240" y="137160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8" name="Shape 76"/>
          <p:cNvSpPr/>
          <p:nvPr/>
        </p:nvSpPr>
        <p:spPr>
          <a:xfrm>
            <a:off x="6693408" y="137160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9" name="Shape 77"/>
          <p:cNvSpPr/>
          <p:nvPr/>
        </p:nvSpPr>
        <p:spPr>
          <a:xfrm>
            <a:off x="6894576" y="137160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80" name="Shape 78"/>
          <p:cNvSpPr/>
          <p:nvPr/>
        </p:nvSpPr>
        <p:spPr>
          <a:xfrm>
            <a:off x="7095744" y="137160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81" name="Shape 79"/>
          <p:cNvSpPr/>
          <p:nvPr/>
        </p:nvSpPr>
        <p:spPr>
          <a:xfrm>
            <a:off x="7296912" y="137160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82" name="Shape 80"/>
          <p:cNvSpPr/>
          <p:nvPr/>
        </p:nvSpPr>
        <p:spPr>
          <a:xfrm>
            <a:off x="7498080" y="137160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3" name="Shape 81"/>
          <p:cNvSpPr/>
          <p:nvPr/>
        </p:nvSpPr>
        <p:spPr>
          <a:xfrm>
            <a:off x="7699248" y="137160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84" name="Shape 82"/>
          <p:cNvSpPr/>
          <p:nvPr/>
        </p:nvSpPr>
        <p:spPr>
          <a:xfrm>
            <a:off x="7900416" y="137160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85" name="Shape 83"/>
          <p:cNvSpPr/>
          <p:nvPr/>
        </p:nvSpPr>
        <p:spPr>
          <a:xfrm>
            <a:off x="8101584" y="137160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86" name="Shape 84"/>
          <p:cNvSpPr/>
          <p:nvPr/>
        </p:nvSpPr>
        <p:spPr>
          <a:xfrm>
            <a:off x="5486400" y="16459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87" name="Shape 85"/>
          <p:cNvSpPr/>
          <p:nvPr/>
        </p:nvSpPr>
        <p:spPr>
          <a:xfrm>
            <a:off x="5687568" y="16459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8" name="Shape 86"/>
          <p:cNvSpPr/>
          <p:nvPr/>
        </p:nvSpPr>
        <p:spPr>
          <a:xfrm>
            <a:off x="5888736" y="16459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9" name="Shape 87"/>
          <p:cNvSpPr/>
          <p:nvPr/>
        </p:nvSpPr>
        <p:spPr>
          <a:xfrm>
            <a:off x="6089904" y="16459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0" name="Shape 88"/>
          <p:cNvSpPr/>
          <p:nvPr/>
        </p:nvSpPr>
        <p:spPr>
          <a:xfrm>
            <a:off x="6291072" y="16459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91" name="Shape 89"/>
          <p:cNvSpPr/>
          <p:nvPr/>
        </p:nvSpPr>
        <p:spPr>
          <a:xfrm>
            <a:off x="6492240" y="16459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92" name="Shape 90"/>
          <p:cNvSpPr/>
          <p:nvPr/>
        </p:nvSpPr>
        <p:spPr>
          <a:xfrm>
            <a:off x="6693408" y="16459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93" name="Shape 91"/>
          <p:cNvSpPr/>
          <p:nvPr/>
        </p:nvSpPr>
        <p:spPr>
          <a:xfrm>
            <a:off x="6894576" y="16459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94" name="Shape 92"/>
          <p:cNvSpPr/>
          <p:nvPr/>
        </p:nvSpPr>
        <p:spPr>
          <a:xfrm>
            <a:off x="7095744" y="16459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5" name="Shape 93"/>
          <p:cNvSpPr/>
          <p:nvPr/>
        </p:nvSpPr>
        <p:spPr>
          <a:xfrm>
            <a:off x="7296912" y="16459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96" name="Shape 94"/>
          <p:cNvSpPr/>
          <p:nvPr/>
        </p:nvSpPr>
        <p:spPr>
          <a:xfrm>
            <a:off x="7498080" y="16459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97" name="Shape 95"/>
          <p:cNvSpPr/>
          <p:nvPr/>
        </p:nvSpPr>
        <p:spPr>
          <a:xfrm>
            <a:off x="7699248" y="164592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98" name="Shape 96"/>
          <p:cNvSpPr/>
          <p:nvPr/>
        </p:nvSpPr>
        <p:spPr>
          <a:xfrm>
            <a:off x="7900416" y="164592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9" name="Shape 97"/>
          <p:cNvSpPr/>
          <p:nvPr/>
        </p:nvSpPr>
        <p:spPr>
          <a:xfrm>
            <a:off x="8101584" y="164592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00" name="Shape 98"/>
          <p:cNvSpPr/>
          <p:nvPr/>
        </p:nvSpPr>
        <p:spPr>
          <a:xfrm>
            <a:off x="5486400" y="19202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01" name="Shape 99"/>
          <p:cNvSpPr/>
          <p:nvPr/>
        </p:nvSpPr>
        <p:spPr>
          <a:xfrm>
            <a:off x="5687568" y="19202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888736" y="19202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089904" y="19202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291072" y="19202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92240" y="19202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693408" y="19202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894576" y="19202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095744" y="19202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296912" y="19202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498080" y="192024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699248" y="19202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900416" y="192024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101584" y="192024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486400" y="21945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687568" y="21945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88736" y="219456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089904" y="2194560"/>
            <a:ext cx="192024" cy="265176"/>
          </a:xfrm>
          <a:prstGeom prst="rect">
            <a:avLst/>
          </a:prstGeom>
          <a:solidFill>
            <a:srgbClr val="0B3B4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291072" y="21945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492240" y="21945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693408" y="21945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894576" y="21945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095744" y="21945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7296912" y="21945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498080" y="21945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699248" y="2194560"/>
            <a:ext cx="192024" cy="26517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7900416" y="21945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8101584" y="2194560"/>
            <a:ext cx="192024" cy="2651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412480" y="1234440"/>
            <a:ext cx="822960" cy="0"/>
          </a:xfrm>
          <a:prstGeom prst="line">
            <a:avLst/>
          </a:prstGeom>
          <a:noFill/>
          <a:ln w="31750">
            <a:solidFill>
              <a:srgbClr val="14A6B0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9418320" y="788801"/>
            <a:ext cx="310896" cy="1463040"/>
          </a:xfrm>
          <a:prstGeom prst="rect">
            <a:avLst/>
          </a:prstGeom>
          <a:solidFill>
            <a:srgbClr val="14A6B0">
              <a:alpha val="85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9838944" y="57281"/>
            <a:ext cx="310896" cy="2194560"/>
          </a:xfrm>
          <a:prstGeom prst="rect">
            <a:avLst/>
          </a:prstGeom>
          <a:solidFill>
            <a:srgbClr val="14A6B0">
              <a:alpha val="85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0259568" y="1337441"/>
            <a:ext cx="310896" cy="914400"/>
          </a:xfrm>
          <a:prstGeom prst="rect">
            <a:avLst/>
          </a:prstGeom>
          <a:solidFill>
            <a:srgbClr val="14A6B0">
              <a:alpha val="8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0680192" y="423041"/>
            <a:ext cx="310896" cy="1828800"/>
          </a:xfrm>
          <a:prstGeom prst="rect">
            <a:avLst/>
          </a:prstGeom>
          <a:solidFill>
            <a:srgbClr val="14A6B0">
              <a:alpha val="85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1100816" y="1063121"/>
            <a:ext cx="310896" cy="1188720"/>
          </a:xfrm>
          <a:prstGeom prst="rect">
            <a:avLst/>
          </a:prstGeom>
          <a:solidFill>
            <a:srgbClr val="14A6B0">
              <a:alpha val="85000"/>
            </a:srgbClr>
          </a:solidFill>
          <a:ln/>
        </p:spPr>
      </p:sp>
      <p:sp>
        <p:nvSpPr>
          <p:cNvPr id="134" name="Text 132"/>
          <p:cNvSpPr/>
          <p:nvPr/>
        </p:nvSpPr>
        <p:spPr>
          <a:xfrm>
            <a:off x="9767894" y="233450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pathways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500" dirty="0"/>
          </a:p>
        </p:txBody>
      </p:sp>
      <p:sp>
        <p:nvSpPr>
          <p:cNvPr id="136" name="Text 134"/>
          <p:cNvSpPr/>
          <p:nvPr/>
        </p:nvSpPr>
        <p:spPr>
          <a:xfrm>
            <a:off x="64008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and</a:t>
            </a:r>
            <a:endParaRPr lang="en-US" sz="3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Representation</a:t>
            </a:r>
            <a:endParaRPr lang="en-US" sz="3600" dirty="0"/>
          </a:p>
        </p:txBody>
      </p:sp>
      <p:sp>
        <p:nvSpPr>
          <p:cNvPr id="137" name="Text 135"/>
          <p:cNvSpPr/>
          <p:nvPr/>
        </p:nvSpPr>
        <p:spPr>
          <a:xfrm>
            <a:off x="64008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Machine Learning for Transcriptomics in Cancer Research</a:t>
            </a:r>
            <a:endParaRPr lang="en-US" sz="1700" dirty="0"/>
          </a:p>
        </p:txBody>
      </p:sp>
      <p:sp>
        <p:nvSpPr>
          <p:cNvPr id="138" name="Text 136"/>
          <p:cNvSpPr/>
          <p:nvPr/>
        </p:nvSpPr>
        <p:spPr>
          <a:xfrm>
            <a:off x="6400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A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same model — change what the model sees.</a:t>
            </a:r>
            <a:endParaRPr lang="en-US" sz="1800" dirty="0"/>
          </a:p>
        </p:txBody>
      </p:sp>
      <p:sp>
        <p:nvSpPr>
          <p:cNvPr id="139" name="Text 137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Yinxiu</a:t>
            </a:r>
            <a:r>
              <a:rPr lang="en-US" sz="12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Zhan · UNIMI/IEO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Recap, and the turn we take today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1: framed the problem, the data, leakage, batch, validation.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2: a trustworthy baseline: Logistic Regression with regularization and honest evaluation.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hold the algorithm fixed and change the features, namely the representation of the biology.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we defend: representation is often the biggest lever on performance.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10528" y="1984248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</p:sp>
      <p:sp>
        <p:nvSpPr>
          <p:cNvPr id="10" name="Text 7"/>
          <p:cNvSpPr/>
          <p:nvPr/>
        </p:nvSpPr>
        <p:spPr>
          <a:xfrm>
            <a:off x="651052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1783080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question → ML problem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715768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0528" y="2916936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5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40880" y="2715768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first model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09360" y="3648456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10528" y="384962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40880" y="3648456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representation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09360" y="4581144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10528" y="4782312"/>
            <a:ext cx="365760" cy="365760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2" name="Text 19"/>
          <p:cNvSpPr/>
          <p:nvPr/>
        </p:nvSpPr>
        <p:spPr>
          <a:xfrm>
            <a:off x="6510528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40880" y="4581144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&amp; validating models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5513832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10528" y="5715000"/>
            <a:ext cx="365760" cy="365760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6" name="Text 23"/>
          <p:cNvSpPr/>
          <p:nvPr/>
        </p:nvSpPr>
        <p:spPr>
          <a:xfrm>
            <a:off x="6510528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040880" y="5513832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ML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75104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feature representation matters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feature engineering from selection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gene-filtering strategies (variance, DE)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09360" y="182880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1975104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49440" y="1828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biological signatures &amp; pathway features</a:t>
            </a:r>
            <a:endParaRPr lang="en-US" sz="1300" b="1" dirty="0"/>
          </a:p>
        </p:txBody>
      </p:sp>
      <p:sp>
        <p:nvSpPr>
          <p:cNvPr id="27" name="Shape 24"/>
          <p:cNvSpPr/>
          <p:nvPr/>
        </p:nvSpPr>
        <p:spPr>
          <a:xfrm>
            <a:off x="630936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9224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4944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LASSO-based selection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30936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9224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944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feature-selection leakage</a:t>
            </a:r>
            <a:endParaRPr lang="en-US" sz="1300" b="1" dirty="0"/>
          </a:p>
        </p:txBody>
      </p:sp>
      <p:sp>
        <p:nvSpPr>
          <p:cNvPr id="35" name="Shape 32"/>
          <p:cNvSpPr/>
          <p:nvPr/>
        </p:nvSpPr>
        <p:spPr>
          <a:xfrm>
            <a:off x="630936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9224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</p:sp>
      <p:sp>
        <p:nvSpPr>
          <p:cNvPr id="37" name="Text 34"/>
          <p:cNvSpPr/>
          <p:nvPr/>
        </p:nvSpPr>
        <p:spPr>
          <a:xfrm>
            <a:off x="649224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94944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evaluate feature strategies in biomarker studies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FEATURES MATTER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features matter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 not see “biology”: they see the numbers we choose to feed them.</a:t>
            </a:r>
            <a:endParaRPr lang="en-US" sz="1550" dirty="0">
              <a:solidFill>
                <a:srgbClr val="1226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algorithm on a poor representation still fails.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noisy genes vs 50 meaningful pathway scores: the latter carries far less noise per feature.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biomarker studies the winning move is frequently a better feature, not a fancier classifier.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encode prior biology the model would otherwise have to rediscover from scarce data.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0" y="210312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Shape 6"/>
          <p:cNvSpPr/>
          <p:nvPr/>
        </p:nvSpPr>
        <p:spPr>
          <a:xfrm>
            <a:off x="6976872" y="210312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0" name="Shape 7"/>
          <p:cNvSpPr/>
          <p:nvPr/>
        </p:nvSpPr>
        <p:spPr>
          <a:xfrm>
            <a:off x="7095744" y="210312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1" name="Shape 8"/>
          <p:cNvSpPr/>
          <p:nvPr/>
        </p:nvSpPr>
        <p:spPr>
          <a:xfrm>
            <a:off x="7214616" y="210312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2" name="Shape 9"/>
          <p:cNvSpPr/>
          <p:nvPr/>
        </p:nvSpPr>
        <p:spPr>
          <a:xfrm>
            <a:off x="7333488" y="210312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3" name="Shape 10"/>
          <p:cNvSpPr/>
          <p:nvPr/>
        </p:nvSpPr>
        <p:spPr>
          <a:xfrm>
            <a:off x="7452360" y="210312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Shape 11"/>
          <p:cNvSpPr/>
          <p:nvPr/>
        </p:nvSpPr>
        <p:spPr>
          <a:xfrm>
            <a:off x="7571232" y="210312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5" name="Shape 12"/>
          <p:cNvSpPr/>
          <p:nvPr/>
        </p:nvSpPr>
        <p:spPr>
          <a:xfrm>
            <a:off x="7690104" y="210312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Shape 13"/>
          <p:cNvSpPr/>
          <p:nvPr/>
        </p:nvSpPr>
        <p:spPr>
          <a:xfrm>
            <a:off x="7808976" y="2103120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7" name="Shape 14"/>
          <p:cNvSpPr/>
          <p:nvPr/>
        </p:nvSpPr>
        <p:spPr>
          <a:xfrm>
            <a:off x="7927848" y="210312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Shape 15"/>
          <p:cNvSpPr/>
          <p:nvPr/>
        </p:nvSpPr>
        <p:spPr>
          <a:xfrm>
            <a:off x="8046720" y="210312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65592" y="210312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0" name="Shape 17"/>
          <p:cNvSpPr/>
          <p:nvPr/>
        </p:nvSpPr>
        <p:spPr>
          <a:xfrm>
            <a:off x="8284464" y="210312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21" name="Shape 18"/>
          <p:cNvSpPr/>
          <p:nvPr/>
        </p:nvSpPr>
        <p:spPr>
          <a:xfrm>
            <a:off x="8403336" y="2103120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22" name="Shape 19"/>
          <p:cNvSpPr/>
          <p:nvPr/>
        </p:nvSpPr>
        <p:spPr>
          <a:xfrm>
            <a:off x="8522208" y="210312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Shape 20"/>
          <p:cNvSpPr/>
          <p:nvPr/>
        </p:nvSpPr>
        <p:spPr>
          <a:xfrm>
            <a:off x="8641080" y="210312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Shape 21"/>
          <p:cNvSpPr/>
          <p:nvPr/>
        </p:nvSpPr>
        <p:spPr>
          <a:xfrm>
            <a:off x="8759952" y="2103120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25" name="Shape 22"/>
          <p:cNvSpPr/>
          <p:nvPr/>
        </p:nvSpPr>
        <p:spPr>
          <a:xfrm>
            <a:off x="8878824" y="210312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26" name="Shape 23"/>
          <p:cNvSpPr/>
          <p:nvPr/>
        </p:nvSpPr>
        <p:spPr>
          <a:xfrm>
            <a:off x="6858000" y="2249424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7" name="Shape 24"/>
          <p:cNvSpPr/>
          <p:nvPr/>
        </p:nvSpPr>
        <p:spPr>
          <a:xfrm>
            <a:off x="6976872" y="2249424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28" name="Shape 25"/>
          <p:cNvSpPr/>
          <p:nvPr/>
        </p:nvSpPr>
        <p:spPr>
          <a:xfrm>
            <a:off x="7095744" y="2249424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29" name="Shape 26"/>
          <p:cNvSpPr/>
          <p:nvPr/>
        </p:nvSpPr>
        <p:spPr>
          <a:xfrm>
            <a:off x="7214616" y="2249424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0" name="Shape 27"/>
          <p:cNvSpPr/>
          <p:nvPr/>
        </p:nvSpPr>
        <p:spPr>
          <a:xfrm>
            <a:off x="7333488" y="2249424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1" name="Shape 28"/>
          <p:cNvSpPr/>
          <p:nvPr/>
        </p:nvSpPr>
        <p:spPr>
          <a:xfrm>
            <a:off x="7452360" y="2249424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2" name="Shape 29"/>
          <p:cNvSpPr/>
          <p:nvPr/>
        </p:nvSpPr>
        <p:spPr>
          <a:xfrm>
            <a:off x="7571232" y="2249424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3" name="Shape 30"/>
          <p:cNvSpPr/>
          <p:nvPr/>
        </p:nvSpPr>
        <p:spPr>
          <a:xfrm>
            <a:off x="7690104" y="2249424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4" name="Shape 31"/>
          <p:cNvSpPr/>
          <p:nvPr/>
        </p:nvSpPr>
        <p:spPr>
          <a:xfrm>
            <a:off x="7808976" y="2249424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Shape 32"/>
          <p:cNvSpPr/>
          <p:nvPr/>
        </p:nvSpPr>
        <p:spPr>
          <a:xfrm>
            <a:off x="7927848" y="2249424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6" name="Shape 33"/>
          <p:cNvSpPr/>
          <p:nvPr/>
        </p:nvSpPr>
        <p:spPr>
          <a:xfrm>
            <a:off x="8046720" y="2249424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37" name="Shape 34"/>
          <p:cNvSpPr/>
          <p:nvPr/>
        </p:nvSpPr>
        <p:spPr>
          <a:xfrm>
            <a:off x="8165592" y="2249424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38" name="Shape 35"/>
          <p:cNvSpPr/>
          <p:nvPr/>
        </p:nvSpPr>
        <p:spPr>
          <a:xfrm>
            <a:off x="8284464" y="2249424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9" name="Shape 36"/>
          <p:cNvSpPr/>
          <p:nvPr/>
        </p:nvSpPr>
        <p:spPr>
          <a:xfrm>
            <a:off x="8403336" y="2249424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40" name="Shape 37"/>
          <p:cNvSpPr/>
          <p:nvPr/>
        </p:nvSpPr>
        <p:spPr>
          <a:xfrm>
            <a:off x="8522208" y="2249424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41" name="Shape 38"/>
          <p:cNvSpPr/>
          <p:nvPr/>
        </p:nvSpPr>
        <p:spPr>
          <a:xfrm>
            <a:off x="8641080" y="2249424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42" name="Shape 39"/>
          <p:cNvSpPr/>
          <p:nvPr/>
        </p:nvSpPr>
        <p:spPr>
          <a:xfrm>
            <a:off x="8759952" y="2249424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43" name="Shape 40"/>
          <p:cNvSpPr/>
          <p:nvPr/>
        </p:nvSpPr>
        <p:spPr>
          <a:xfrm>
            <a:off x="8878824" y="2249424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44" name="Shape 41"/>
          <p:cNvSpPr/>
          <p:nvPr/>
        </p:nvSpPr>
        <p:spPr>
          <a:xfrm>
            <a:off x="6858000" y="2395728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5" name="Shape 42"/>
          <p:cNvSpPr/>
          <p:nvPr/>
        </p:nvSpPr>
        <p:spPr>
          <a:xfrm>
            <a:off x="6976872" y="2395728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46" name="Shape 43"/>
          <p:cNvSpPr/>
          <p:nvPr/>
        </p:nvSpPr>
        <p:spPr>
          <a:xfrm>
            <a:off x="7095744" y="2395728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47" name="Shape 44"/>
          <p:cNvSpPr/>
          <p:nvPr/>
        </p:nvSpPr>
        <p:spPr>
          <a:xfrm>
            <a:off x="7214616" y="2395728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8" name="Shape 45"/>
          <p:cNvSpPr/>
          <p:nvPr/>
        </p:nvSpPr>
        <p:spPr>
          <a:xfrm>
            <a:off x="7333488" y="2395728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9" name="Shape 46"/>
          <p:cNvSpPr/>
          <p:nvPr/>
        </p:nvSpPr>
        <p:spPr>
          <a:xfrm>
            <a:off x="7452360" y="2395728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50" name="Shape 47"/>
          <p:cNvSpPr/>
          <p:nvPr/>
        </p:nvSpPr>
        <p:spPr>
          <a:xfrm>
            <a:off x="7571232" y="2395728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51" name="Shape 48"/>
          <p:cNvSpPr/>
          <p:nvPr/>
        </p:nvSpPr>
        <p:spPr>
          <a:xfrm>
            <a:off x="7690104" y="2395728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52" name="Shape 49"/>
          <p:cNvSpPr/>
          <p:nvPr/>
        </p:nvSpPr>
        <p:spPr>
          <a:xfrm>
            <a:off x="7808976" y="2395728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53" name="Shape 50"/>
          <p:cNvSpPr/>
          <p:nvPr/>
        </p:nvSpPr>
        <p:spPr>
          <a:xfrm>
            <a:off x="7927848" y="2395728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54" name="Shape 51"/>
          <p:cNvSpPr/>
          <p:nvPr/>
        </p:nvSpPr>
        <p:spPr>
          <a:xfrm>
            <a:off x="8046720" y="2395728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55" name="Shape 52"/>
          <p:cNvSpPr/>
          <p:nvPr/>
        </p:nvSpPr>
        <p:spPr>
          <a:xfrm>
            <a:off x="8165592" y="2395728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56" name="Shape 53"/>
          <p:cNvSpPr/>
          <p:nvPr/>
        </p:nvSpPr>
        <p:spPr>
          <a:xfrm>
            <a:off x="8284464" y="2395728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7" name="Shape 54"/>
          <p:cNvSpPr/>
          <p:nvPr/>
        </p:nvSpPr>
        <p:spPr>
          <a:xfrm>
            <a:off x="8403336" y="2395728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58" name="Shape 55"/>
          <p:cNvSpPr/>
          <p:nvPr/>
        </p:nvSpPr>
        <p:spPr>
          <a:xfrm>
            <a:off x="8522208" y="2395728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59" name="Shape 56"/>
          <p:cNvSpPr/>
          <p:nvPr/>
        </p:nvSpPr>
        <p:spPr>
          <a:xfrm>
            <a:off x="8641080" y="2395728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0" name="Shape 57"/>
          <p:cNvSpPr/>
          <p:nvPr/>
        </p:nvSpPr>
        <p:spPr>
          <a:xfrm>
            <a:off x="8759952" y="2395728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61" name="Shape 58"/>
          <p:cNvSpPr/>
          <p:nvPr/>
        </p:nvSpPr>
        <p:spPr>
          <a:xfrm>
            <a:off x="8878824" y="2395728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62" name="Shape 59"/>
          <p:cNvSpPr/>
          <p:nvPr/>
        </p:nvSpPr>
        <p:spPr>
          <a:xfrm>
            <a:off x="6858000" y="2542032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3" name="Shape 60"/>
          <p:cNvSpPr/>
          <p:nvPr/>
        </p:nvSpPr>
        <p:spPr>
          <a:xfrm>
            <a:off x="6976872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64" name="Shape 61"/>
          <p:cNvSpPr/>
          <p:nvPr/>
        </p:nvSpPr>
        <p:spPr>
          <a:xfrm>
            <a:off x="7095744" y="2542032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65" name="Shape 62"/>
          <p:cNvSpPr/>
          <p:nvPr/>
        </p:nvSpPr>
        <p:spPr>
          <a:xfrm>
            <a:off x="7214616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66" name="Shape 63"/>
          <p:cNvSpPr/>
          <p:nvPr/>
        </p:nvSpPr>
        <p:spPr>
          <a:xfrm>
            <a:off x="7333488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67" name="Shape 64"/>
          <p:cNvSpPr/>
          <p:nvPr/>
        </p:nvSpPr>
        <p:spPr>
          <a:xfrm>
            <a:off x="7452360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68" name="Shape 65"/>
          <p:cNvSpPr/>
          <p:nvPr/>
        </p:nvSpPr>
        <p:spPr>
          <a:xfrm>
            <a:off x="7571232" y="2542032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69" name="Shape 66"/>
          <p:cNvSpPr/>
          <p:nvPr/>
        </p:nvSpPr>
        <p:spPr>
          <a:xfrm>
            <a:off x="7690104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70" name="Shape 67"/>
          <p:cNvSpPr/>
          <p:nvPr/>
        </p:nvSpPr>
        <p:spPr>
          <a:xfrm>
            <a:off x="7808976" y="2542032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71" name="Shape 68"/>
          <p:cNvSpPr/>
          <p:nvPr/>
        </p:nvSpPr>
        <p:spPr>
          <a:xfrm>
            <a:off x="7927848" y="2542032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72" name="Shape 69"/>
          <p:cNvSpPr/>
          <p:nvPr/>
        </p:nvSpPr>
        <p:spPr>
          <a:xfrm>
            <a:off x="8046720" y="2542032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3" name="Shape 70"/>
          <p:cNvSpPr/>
          <p:nvPr/>
        </p:nvSpPr>
        <p:spPr>
          <a:xfrm>
            <a:off x="8165592" y="2542032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4" name="Shape 71"/>
          <p:cNvSpPr/>
          <p:nvPr/>
        </p:nvSpPr>
        <p:spPr>
          <a:xfrm>
            <a:off x="8284464" y="2542032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75" name="Shape 72"/>
          <p:cNvSpPr/>
          <p:nvPr/>
        </p:nvSpPr>
        <p:spPr>
          <a:xfrm>
            <a:off x="8403336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76" name="Shape 73"/>
          <p:cNvSpPr/>
          <p:nvPr/>
        </p:nvSpPr>
        <p:spPr>
          <a:xfrm>
            <a:off x="8522208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77" name="Shape 74"/>
          <p:cNvSpPr/>
          <p:nvPr/>
        </p:nvSpPr>
        <p:spPr>
          <a:xfrm>
            <a:off x="8641080" y="2542032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8" name="Shape 75"/>
          <p:cNvSpPr/>
          <p:nvPr/>
        </p:nvSpPr>
        <p:spPr>
          <a:xfrm>
            <a:off x="8759952" y="2542032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79" name="Shape 76"/>
          <p:cNvSpPr/>
          <p:nvPr/>
        </p:nvSpPr>
        <p:spPr>
          <a:xfrm>
            <a:off x="8878824" y="2542032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0" name="Shape 77"/>
          <p:cNvSpPr/>
          <p:nvPr/>
        </p:nvSpPr>
        <p:spPr>
          <a:xfrm>
            <a:off x="6858000" y="2688336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81" name="Shape 78"/>
          <p:cNvSpPr/>
          <p:nvPr/>
        </p:nvSpPr>
        <p:spPr>
          <a:xfrm>
            <a:off x="6976872" y="2688336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82" name="Shape 79"/>
          <p:cNvSpPr/>
          <p:nvPr/>
        </p:nvSpPr>
        <p:spPr>
          <a:xfrm>
            <a:off x="7095744" y="2688336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83" name="Shape 80"/>
          <p:cNvSpPr/>
          <p:nvPr/>
        </p:nvSpPr>
        <p:spPr>
          <a:xfrm>
            <a:off x="7214616" y="2688336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84" name="Shape 81"/>
          <p:cNvSpPr/>
          <p:nvPr/>
        </p:nvSpPr>
        <p:spPr>
          <a:xfrm>
            <a:off x="7333488" y="2688336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5" name="Shape 82"/>
          <p:cNvSpPr/>
          <p:nvPr/>
        </p:nvSpPr>
        <p:spPr>
          <a:xfrm>
            <a:off x="7452360" y="2688336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86" name="Shape 83"/>
          <p:cNvSpPr/>
          <p:nvPr/>
        </p:nvSpPr>
        <p:spPr>
          <a:xfrm>
            <a:off x="7571232" y="2688336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87" name="Shape 84"/>
          <p:cNvSpPr/>
          <p:nvPr/>
        </p:nvSpPr>
        <p:spPr>
          <a:xfrm>
            <a:off x="7690104" y="2688336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88" name="Shape 85"/>
          <p:cNvSpPr/>
          <p:nvPr/>
        </p:nvSpPr>
        <p:spPr>
          <a:xfrm>
            <a:off x="7808976" y="2688336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89" name="Shape 86"/>
          <p:cNvSpPr/>
          <p:nvPr/>
        </p:nvSpPr>
        <p:spPr>
          <a:xfrm>
            <a:off x="7927848" y="2688336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0" name="Shape 87"/>
          <p:cNvSpPr/>
          <p:nvPr/>
        </p:nvSpPr>
        <p:spPr>
          <a:xfrm>
            <a:off x="8046720" y="2688336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91" name="Shape 88"/>
          <p:cNvSpPr/>
          <p:nvPr/>
        </p:nvSpPr>
        <p:spPr>
          <a:xfrm>
            <a:off x="8165592" y="2688336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92" name="Shape 89"/>
          <p:cNvSpPr/>
          <p:nvPr/>
        </p:nvSpPr>
        <p:spPr>
          <a:xfrm>
            <a:off x="8284464" y="2688336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3" name="Shape 90"/>
          <p:cNvSpPr/>
          <p:nvPr/>
        </p:nvSpPr>
        <p:spPr>
          <a:xfrm>
            <a:off x="8403336" y="2688336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94" name="Shape 91"/>
          <p:cNvSpPr/>
          <p:nvPr/>
        </p:nvSpPr>
        <p:spPr>
          <a:xfrm>
            <a:off x="8522208" y="2688336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95" name="Shape 92"/>
          <p:cNvSpPr/>
          <p:nvPr/>
        </p:nvSpPr>
        <p:spPr>
          <a:xfrm>
            <a:off x="8641080" y="2688336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6" name="Shape 93"/>
          <p:cNvSpPr/>
          <p:nvPr/>
        </p:nvSpPr>
        <p:spPr>
          <a:xfrm>
            <a:off x="8759952" y="2688336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7" name="Shape 94"/>
          <p:cNvSpPr/>
          <p:nvPr/>
        </p:nvSpPr>
        <p:spPr>
          <a:xfrm>
            <a:off x="8878824" y="2688336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98" name="Shape 95"/>
          <p:cNvSpPr/>
          <p:nvPr/>
        </p:nvSpPr>
        <p:spPr>
          <a:xfrm>
            <a:off x="6858000" y="283464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9" name="Shape 96"/>
          <p:cNvSpPr/>
          <p:nvPr/>
        </p:nvSpPr>
        <p:spPr>
          <a:xfrm>
            <a:off x="6976872" y="283464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0" name="Shape 97"/>
          <p:cNvSpPr/>
          <p:nvPr/>
        </p:nvSpPr>
        <p:spPr>
          <a:xfrm>
            <a:off x="7095744" y="283464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01" name="Shape 98"/>
          <p:cNvSpPr/>
          <p:nvPr/>
        </p:nvSpPr>
        <p:spPr>
          <a:xfrm>
            <a:off x="7214616" y="283464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2" name="Shape 99"/>
          <p:cNvSpPr/>
          <p:nvPr/>
        </p:nvSpPr>
        <p:spPr>
          <a:xfrm>
            <a:off x="7333488" y="283464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7452360" y="2834640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04" name="Shape 101"/>
          <p:cNvSpPr/>
          <p:nvPr/>
        </p:nvSpPr>
        <p:spPr>
          <a:xfrm>
            <a:off x="7571232" y="283464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5" name="Shape 102"/>
          <p:cNvSpPr/>
          <p:nvPr/>
        </p:nvSpPr>
        <p:spPr>
          <a:xfrm>
            <a:off x="7690104" y="283464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6" name="Shape 103"/>
          <p:cNvSpPr/>
          <p:nvPr/>
        </p:nvSpPr>
        <p:spPr>
          <a:xfrm>
            <a:off x="7808976" y="283464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7" name="Shape 104"/>
          <p:cNvSpPr/>
          <p:nvPr/>
        </p:nvSpPr>
        <p:spPr>
          <a:xfrm>
            <a:off x="7927848" y="2834640"/>
            <a:ext cx="109728" cy="137160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08" name="Shape 105"/>
          <p:cNvSpPr/>
          <p:nvPr/>
        </p:nvSpPr>
        <p:spPr>
          <a:xfrm>
            <a:off x="8046720" y="283464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165592" y="283464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10" name="Shape 107"/>
          <p:cNvSpPr/>
          <p:nvPr/>
        </p:nvSpPr>
        <p:spPr>
          <a:xfrm>
            <a:off x="8284464" y="2834640"/>
            <a:ext cx="109728" cy="13716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11" name="Shape 108"/>
          <p:cNvSpPr/>
          <p:nvPr/>
        </p:nvSpPr>
        <p:spPr>
          <a:xfrm>
            <a:off x="8403336" y="283464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12" name="Shape 109"/>
          <p:cNvSpPr/>
          <p:nvPr/>
        </p:nvSpPr>
        <p:spPr>
          <a:xfrm>
            <a:off x="8522208" y="283464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13" name="Shape 110"/>
          <p:cNvSpPr/>
          <p:nvPr/>
        </p:nvSpPr>
        <p:spPr>
          <a:xfrm>
            <a:off x="8641080" y="2834640"/>
            <a:ext cx="109728" cy="137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4" name="Shape 111"/>
          <p:cNvSpPr/>
          <p:nvPr/>
        </p:nvSpPr>
        <p:spPr>
          <a:xfrm>
            <a:off x="8759952" y="283464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15" name="Shape 112"/>
          <p:cNvSpPr/>
          <p:nvPr/>
        </p:nvSpPr>
        <p:spPr>
          <a:xfrm>
            <a:off x="8878824" y="2834640"/>
            <a:ext cx="109728" cy="13716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16" name="Text 113"/>
          <p:cNvSpPr/>
          <p:nvPr/>
        </p:nvSpPr>
        <p:spPr>
          <a:xfrm>
            <a:off x="6858000" y="30358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genes (mostly noise)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10058400" y="2103120"/>
            <a:ext cx="201168" cy="9144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8" name="Shape 115"/>
          <p:cNvSpPr/>
          <p:nvPr/>
        </p:nvSpPr>
        <p:spPr>
          <a:xfrm>
            <a:off x="10332720" y="2514600"/>
            <a:ext cx="201168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9" name="Shape 116"/>
          <p:cNvSpPr/>
          <p:nvPr/>
        </p:nvSpPr>
        <p:spPr>
          <a:xfrm>
            <a:off x="10607040" y="2286000"/>
            <a:ext cx="201168" cy="7315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0" name="Shape 117"/>
          <p:cNvSpPr/>
          <p:nvPr/>
        </p:nvSpPr>
        <p:spPr>
          <a:xfrm>
            <a:off x="10881360" y="2651760"/>
            <a:ext cx="201168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1" name="Shape 118"/>
          <p:cNvSpPr/>
          <p:nvPr/>
        </p:nvSpPr>
        <p:spPr>
          <a:xfrm>
            <a:off x="11155680" y="2377440"/>
            <a:ext cx="201168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2" name="Text 119"/>
          <p:cNvSpPr/>
          <p:nvPr/>
        </p:nvSpPr>
        <p:spPr>
          <a:xfrm>
            <a:off x="1005840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pathway scores</a:t>
            </a:r>
            <a:endParaRPr lang="en-US" sz="900" dirty="0"/>
          </a:p>
        </p:txBody>
      </p:sp>
      <p:sp>
        <p:nvSpPr>
          <p:cNvPr id="123" name="Shape 120"/>
          <p:cNvSpPr/>
          <p:nvPr/>
        </p:nvSpPr>
        <p:spPr>
          <a:xfrm>
            <a:off x="8229600" y="42062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12262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4" name="Text 121"/>
          <p:cNvSpPr/>
          <p:nvPr/>
        </p:nvSpPr>
        <p:spPr>
          <a:xfrm>
            <a:off x="8229600" y="4206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Logistic Regression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7680960" y="3383280"/>
            <a:ext cx="1097280" cy="777240"/>
          </a:xfrm>
          <a:prstGeom prst="line">
            <a:avLst/>
          </a:prstGeom>
          <a:noFill/>
          <a:ln w="1524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26" name="Shape 123"/>
          <p:cNvSpPr/>
          <p:nvPr/>
        </p:nvSpPr>
        <p:spPr>
          <a:xfrm flipH="1">
            <a:off x="9546336" y="3310128"/>
            <a:ext cx="877824" cy="850392"/>
          </a:xfrm>
          <a:prstGeom prst="line">
            <a:avLst/>
          </a:prstGeom>
          <a:noFill/>
          <a:ln w="15240">
            <a:solidFill>
              <a:srgbClr val="5B6B7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FEATURES MATTER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 comparison (our case study, practical session)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METABRIC patients, same Logistic Regression, different representations: all genes / filtered genes / pathway scores.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we test in the practical: fewer, biologically-coherent features generalise as well or better.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changing the model, only what it is allowed to see.</a:t>
            </a:r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00B0F0"/>
                </a:solidFill>
                <a:latin typeface="Calibri" pitchFamily="34" charset="0"/>
                <a:cs typeface="Calibri" pitchFamily="34" charset="-120"/>
              </a:rPr>
              <a:t>QUESTIONS: if few feature performs as well, do I keep it? In which case all genes might be better?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1097280" y="37490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3749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V="1">
            <a:off x="3200400" y="4160520"/>
            <a:ext cx="1463040" cy="137160"/>
          </a:xfrm>
          <a:prstGeom prst="line">
            <a:avLst/>
          </a:prstGeom>
          <a:noFill/>
          <a:ln w="1778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75488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flipV="1">
            <a:off x="3200400" y="3749040"/>
            <a:ext cx="1463040" cy="548640"/>
          </a:xfrm>
          <a:prstGeom prst="line">
            <a:avLst/>
          </a:prstGeom>
          <a:noFill/>
          <a:ln w="1778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75488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genes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0" y="4297680"/>
            <a:ext cx="1463040" cy="274320"/>
          </a:xfrm>
          <a:prstGeom prst="line">
            <a:avLst/>
          </a:prstGeom>
          <a:noFill/>
          <a:ln w="1778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75488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scores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66560" y="4297680"/>
            <a:ext cx="1097280" cy="0"/>
          </a:xfrm>
          <a:prstGeom prst="line">
            <a:avLst/>
          </a:prstGeom>
          <a:noFill/>
          <a:ln w="1778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955280" y="3840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2262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955280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012680" y="4297680"/>
            <a:ext cx="640080" cy="0"/>
          </a:xfrm>
          <a:prstGeom prst="line">
            <a:avLst/>
          </a:prstGeom>
          <a:noFill/>
          <a:ln w="1778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10698480" y="3931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2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CURSE OF DIMENSIONALITY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dimensionality hurts, intuitively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fraction of all features are informative.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added noisy feature is another chance to fit randomness.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spreads its limited attention across thousands of mostly-irrelevant genes.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to meaningful features concentrates signal and stabilises what the model learns.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675120" y="2194560"/>
            <a:ext cx="2926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52274" y="292071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" name="Shape 7"/>
          <p:cNvSpPr/>
          <p:nvPr/>
        </p:nvSpPr>
        <p:spPr>
          <a:xfrm>
            <a:off x="8963022" y="466322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" name="Shape 8"/>
          <p:cNvSpPr/>
          <p:nvPr/>
        </p:nvSpPr>
        <p:spPr>
          <a:xfrm>
            <a:off x="7776920" y="303887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" name="Shape 9"/>
          <p:cNvSpPr/>
          <p:nvPr/>
        </p:nvSpPr>
        <p:spPr>
          <a:xfrm>
            <a:off x="7911443" y="429338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3" name="Shape 10"/>
          <p:cNvSpPr/>
          <p:nvPr/>
        </p:nvSpPr>
        <p:spPr>
          <a:xfrm>
            <a:off x="8139582" y="307055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4" name="Shape 11"/>
          <p:cNvSpPr/>
          <p:nvPr/>
        </p:nvSpPr>
        <p:spPr>
          <a:xfrm>
            <a:off x="8306797" y="508556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5" name="Shape 12"/>
          <p:cNvSpPr/>
          <p:nvPr/>
        </p:nvSpPr>
        <p:spPr>
          <a:xfrm>
            <a:off x="8731375" y="299624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" name="Shape 13"/>
          <p:cNvSpPr/>
          <p:nvPr/>
        </p:nvSpPr>
        <p:spPr>
          <a:xfrm>
            <a:off x="7943433" y="287670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2158" y="430578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" name="Shape 15"/>
          <p:cNvSpPr/>
          <p:nvPr/>
        </p:nvSpPr>
        <p:spPr>
          <a:xfrm>
            <a:off x="8403548" y="402333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" name="Shape 16"/>
          <p:cNvSpPr/>
          <p:nvPr/>
        </p:nvSpPr>
        <p:spPr>
          <a:xfrm>
            <a:off x="7392059" y="465999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20732" y="493569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" name="Shape 18"/>
          <p:cNvSpPr/>
          <p:nvPr/>
        </p:nvSpPr>
        <p:spPr>
          <a:xfrm>
            <a:off x="9239050" y="232803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" name="Shape 19"/>
          <p:cNvSpPr/>
          <p:nvPr/>
        </p:nvSpPr>
        <p:spPr>
          <a:xfrm>
            <a:off x="9490828" y="487388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" name="Shape 20"/>
          <p:cNvSpPr/>
          <p:nvPr/>
        </p:nvSpPr>
        <p:spPr>
          <a:xfrm>
            <a:off x="7725293" y="407887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" name="Shape 21"/>
          <p:cNvSpPr/>
          <p:nvPr/>
        </p:nvSpPr>
        <p:spPr>
          <a:xfrm>
            <a:off x="8052538" y="422470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" name="Shape 22"/>
          <p:cNvSpPr/>
          <p:nvPr/>
        </p:nvSpPr>
        <p:spPr>
          <a:xfrm>
            <a:off x="6794541" y="403690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" name="Shape 23"/>
          <p:cNvSpPr/>
          <p:nvPr/>
        </p:nvSpPr>
        <p:spPr>
          <a:xfrm>
            <a:off x="7522379" y="344246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" name="Shape 24"/>
          <p:cNvSpPr/>
          <p:nvPr/>
        </p:nvSpPr>
        <p:spPr>
          <a:xfrm>
            <a:off x="7150451" y="321067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" name="Shape 25"/>
          <p:cNvSpPr/>
          <p:nvPr/>
        </p:nvSpPr>
        <p:spPr>
          <a:xfrm>
            <a:off x="8433216" y="350581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9" name="Shape 26"/>
          <p:cNvSpPr/>
          <p:nvPr/>
        </p:nvSpPr>
        <p:spPr>
          <a:xfrm>
            <a:off x="7595909" y="502581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0" name="Shape 27"/>
          <p:cNvSpPr/>
          <p:nvPr/>
        </p:nvSpPr>
        <p:spPr>
          <a:xfrm>
            <a:off x="8783080" y="304964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1" name="Shape 28"/>
          <p:cNvSpPr/>
          <p:nvPr/>
        </p:nvSpPr>
        <p:spPr>
          <a:xfrm>
            <a:off x="8217305" y="251272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2" name="Shape 29"/>
          <p:cNvSpPr/>
          <p:nvPr/>
        </p:nvSpPr>
        <p:spPr>
          <a:xfrm>
            <a:off x="8661708" y="256726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3" name="Shape 30"/>
          <p:cNvSpPr/>
          <p:nvPr/>
        </p:nvSpPr>
        <p:spPr>
          <a:xfrm>
            <a:off x="8845231" y="330248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4" name="Shape 31"/>
          <p:cNvSpPr/>
          <p:nvPr/>
        </p:nvSpPr>
        <p:spPr>
          <a:xfrm>
            <a:off x="9236063" y="256589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5" name="Shape 32"/>
          <p:cNvSpPr/>
          <p:nvPr/>
        </p:nvSpPr>
        <p:spPr>
          <a:xfrm>
            <a:off x="7517014" y="356317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6" name="Shape 33"/>
          <p:cNvSpPr/>
          <p:nvPr/>
        </p:nvSpPr>
        <p:spPr>
          <a:xfrm>
            <a:off x="7170841" y="315533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7" name="Shape 34"/>
          <p:cNvSpPr/>
          <p:nvPr/>
        </p:nvSpPr>
        <p:spPr>
          <a:xfrm>
            <a:off x="8615889" y="263614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8" name="Shape 35"/>
          <p:cNvSpPr/>
          <p:nvPr/>
        </p:nvSpPr>
        <p:spPr>
          <a:xfrm>
            <a:off x="9066341" y="347391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39" name="Shape 36"/>
          <p:cNvSpPr/>
          <p:nvPr/>
        </p:nvSpPr>
        <p:spPr>
          <a:xfrm>
            <a:off x="6938156" y="458647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0" name="Shape 37"/>
          <p:cNvSpPr/>
          <p:nvPr/>
        </p:nvSpPr>
        <p:spPr>
          <a:xfrm>
            <a:off x="7822983" y="286880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1" name="Shape 38"/>
          <p:cNvSpPr/>
          <p:nvPr/>
        </p:nvSpPr>
        <p:spPr>
          <a:xfrm>
            <a:off x="7092252" y="3348625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2" name="Shape 39"/>
          <p:cNvSpPr/>
          <p:nvPr/>
        </p:nvSpPr>
        <p:spPr>
          <a:xfrm>
            <a:off x="8793921" y="471808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3" name="Shape 40"/>
          <p:cNvSpPr/>
          <p:nvPr/>
        </p:nvSpPr>
        <p:spPr>
          <a:xfrm>
            <a:off x="7695679" y="483051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4" name="Shape 41"/>
          <p:cNvSpPr/>
          <p:nvPr/>
        </p:nvSpPr>
        <p:spPr>
          <a:xfrm>
            <a:off x="8768497" y="415355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5" name="Shape 42"/>
          <p:cNvSpPr/>
          <p:nvPr/>
        </p:nvSpPr>
        <p:spPr>
          <a:xfrm>
            <a:off x="9071799" y="361875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6" name="Shape 43"/>
          <p:cNvSpPr/>
          <p:nvPr/>
        </p:nvSpPr>
        <p:spPr>
          <a:xfrm>
            <a:off x="7785841" y="447770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7" name="Shape 44"/>
          <p:cNvSpPr/>
          <p:nvPr/>
        </p:nvSpPr>
        <p:spPr>
          <a:xfrm>
            <a:off x="9362963" y="354713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8" name="Shape 45"/>
          <p:cNvSpPr/>
          <p:nvPr/>
        </p:nvSpPr>
        <p:spPr>
          <a:xfrm>
            <a:off x="9468696" y="308449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49" name="Shape 46"/>
          <p:cNvSpPr/>
          <p:nvPr/>
        </p:nvSpPr>
        <p:spPr>
          <a:xfrm>
            <a:off x="8354857" y="3106905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0" name="Shape 47"/>
          <p:cNvSpPr/>
          <p:nvPr/>
        </p:nvSpPr>
        <p:spPr>
          <a:xfrm>
            <a:off x="7773451" y="248852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1" name="Shape 48"/>
          <p:cNvSpPr/>
          <p:nvPr/>
        </p:nvSpPr>
        <p:spPr>
          <a:xfrm>
            <a:off x="7890569" y="265413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2" name="Shape 49"/>
          <p:cNvSpPr/>
          <p:nvPr/>
        </p:nvSpPr>
        <p:spPr>
          <a:xfrm>
            <a:off x="8123801" y="393247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3" name="Shape 50"/>
          <p:cNvSpPr/>
          <p:nvPr/>
        </p:nvSpPr>
        <p:spPr>
          <a:xfrm>
            <a:off x="6925626" y="234313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4" name="Shape 51"/>
          <p:cNvSpPr/>
          <p:nvPr/>
        </p:nvSpPr>
        <p:spPr>
          <a:xfrm>
            <a:off x="7161666" y="2979015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5" name="Shape 52"/>
          <p:cNvSpPr/>
          <p:nvPr/>
        </p:nvSpPr>
        <p:spPr>
          <a:xfrm>
            <a:off x="8141061" y="472724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6" name="Shape 53"/>
          <p:cNvSpPr/>
          <p:nvPr/>
        </p:nvSpPr>
        <p:spPr>
          <a:xfrm>
            <a:off x="7963155" y="269676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7" name="Shape 54"/>
          <p:cNvSpPr/>
          <p:nvPr/>
        </p:nvSpPr>
        <p:spPr>
          <a:xfrm>
            <a:off x="8787646" y="399036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8" name="Shape 55"/>
          <p:cNvSpPr/>
          <p:nvPr/>
        </p:nvSpPr>
        <p:spPr>
          <a:xfrm>
            <a:off x="8625839" y="275104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59" name="Shape 56"/>
          <p:cNvSpPr/>
          <p:nvPr/>
        </p:nvSpPr>
        <p:spPr>
          <a:xfrm>
            <a:off x="7092273" y="379682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0" name="Shape 57"/>
          <p:cNvSpPr/>
          <p:nvPr/>
        </p:nvSpPr>
        <p:spPr>
          <a:xfrm>
            <a:off x="6878022" y="499294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1" name="Shape 58"/>
          <p:cNvSpPr/>
          <p:nvPr/>
        </p:nvSpPr>
        <p:spPr>
          <a:xfrm>
            <a:off x="8449947" y="253461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2" name="Shape 59"/>
          <p:cNvSpPr/>
          <p:nvPr/>
        </p:nvSpPr>
        <p:spPr>
          <a:xfrm>
            <a:off x="7576856" y="331066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3" name="Shape 60"/>
          <p:cNvSpPr/>
          <p:nvPr/>
        </p:nvSpPr>
        <p:spPr>
          <a:xfrm>
            <a:off x="8900824" y="281456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4" name="Shape 61"/>
          <p:cNvSpPr/>
          <p:nvPr/>
        </p:nvSpPr>
        <p:spPr>
          <a:xfrm>
            <a:off x="7695725" y="420107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5" name="Shape 62"/>
          <p:cNvSpPr/>
          <p:nvPr/>
        </p:nvSpPr>
        <p:spPr>
          <a:xfrm>
            <a:off x="6786476" y="255295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6" name="Shape 63"/>
          <p:cNvSpPr/>
          <p:nvPr/>
        </p:nvSpPr>
        <p:spPr>
          <a:xfrm>
            <a:off x="8108653" y="465991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7" name="Shape 64"/>
          <p:cNvSpPr/>
          <p:nvPr/>
        </p:nvSpPr>
        <p:spPr>
          <a:xfrm>
            <a:off x="8181835" y="268107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8" name="Shape 65"/>
          <p:cNvSpPr/>
          <p:nvPr/>
        </p:nvSpPr>
        <p:spPr>
          <a:xfrm>
            <a:off x="7571727" y="411523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69" name="Shape 66"/>
          <p:cNvSpPr/>
          <p:nvPr/>
        </p:nvSpPr>
        <p:spPr>
          <a:xfrm>
            <a:off x="8985805" y="360885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0" name="Shape 67"/>
          <p:cNvSpPr/>
          <p:nvPr/>
        </p:nvSpPr>
        <p:spPr>
          <a:xfrm>
            <a:off x="7678520" y="421708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1" name="Shape 68"/>
          <p:cNvSpPr/>
          <p:nvPr/>
        </p:nvSpPr>
        <p:spPr>
          <a:xfrm>
            <a:off x="8398664" y="307812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2" name="Shape 69"/>
          <p:cNvSpPr/>
          <p:nvPr/>
        </p:nvSpPr>
        <p:spPr>
          <a:xfrm>
            <a:off x="8800856" y="474826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3" name="Shape 70"/>
          <p:cNvSpPr/>
          <p:nvPr/>
        </p:nvSpPr>
        <p:spPr>
          <a:xfrm>
            <a:off x="7450540" y="263953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4" name="Shape 71"/>
          <p:cNvSpPr/>
          <p:nvPr/>
        </p:nvSpPr>
        <p:spPr>
          <a:xfrm>
            <a:off x="8024517" y="4750415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5" name="Shape 72"/>
          <p:cNvSpPr/>
          <p:nvPr/>
        </p:nvSpPr>
        <p:spPr>
          <a:xfrm>
            <a:off x="8918371" y="337401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6" name="Shape 73"/>
          <p:cNvSpPr/>
          <p:nvPr/>
        </p:nvSpPr>
        <p:spPr>
          <a:xfrm>
            <a:off x="7764587" y="272544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7" name="Shape 74"/>
          <p:cNvSpPr/>
          <p:nvPr/>
        </p:nvSpPr>
        <p:spPr>
          <a:xfrm>
            <a:off x="9288348" y="317776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8" name="Shape 75"/>
          <p:cNvSpPr/>
          <p:nvPr/>
        </p:nvSpPr>
        <p:spPr>
          <a:xfrm>
            <a:off x="9074232" y="495918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79" name="Shape 76"/>
          <p:cNvSpPr/>
          <p:nvPr/>
        </p:nvSpPr>
        <p:spPr>
          <a:xfrm>
            <a:off x="7150165" y="303349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0" name="Shape 77"/>
          <p:cNvSpPr/>
          <p:nvPr/>
        </p:nvSpPr>
        <p:spPr>
          <a:xfrm>
            <a:off x="7679566" y="482581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1" name="Shape 78"/>
          <p:cNvSpPr/>
          <p:nvPr/>
        </p:nvSpPr>
        <p:spPr>
          <a:xfrm>
            <a:off x="9357286" y="427998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2" name="Shape 79"/>
          <p:cNvSpPr/>
          <p:nvPr/>
        </p:nvSpPr>
        <p:spPr>
          <a:xfrm>
            <a:off x="7318380" y="274254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3" name="Shape 80"/>
          <p:cNvSpPr/>
          <p:nvPr/>
        </p:nvSpPr>
        <p:spPr>
          <a:xfrm>
            <a:off x="7998718" y="477228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4" name="Shape 81"/>
          <p:cNvSpPr/>
          <p:nvPr/>
        </p:nvSpPr>
        <p:spPr>
          <a:xfrm>
            <a:off x="8261718" y="480807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5" name="Shape 82"/>
          <p:cNvSpPr/>
          <p:nvPr/>
        </p:nvSpPr>
        <p:spPr>
          <a:xfrm>
            <a:off x="6767265" y="293734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6" name="Shape 83"/>
          <p:cNvSpPr/>
          <p:nvPr/>
        </p:nvSpPr>
        <p:spPr>
          <a:xfrm>
            <a:off x="8144220" y="292225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7" name="Shape 84"/>
          <p:cNvSpPr/>
          <p:nvPr/>
        </p:nvSpPr>
        <p:spPr>
          <a:xfrm>
            <a:off x="6970058" y="521086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8" name="Shape 85"/>
          <p:cNvSpPr/>
          <p:nvPr/>
        </p:nvSpPr>
        <p:spPr>
          <a:xfrm>
            <a:off x="7260998" y="371031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89" name="Shape 86"/>
          <p:cNvSpPr/>
          <p:nvPr/>
        </p:nvSpPr>
        <p:spPr>
          <a:xfrm>
            <a:off x="7057708" y="275393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0" name="Shape 87"/>
          <p:cNvSpPr/>
          <p:nvPr/>
        </p:nvSpPr>
        <p:spPr>
          <a:xfrm>
            <a:off x="7204976" y="492162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1" name="Shape 88"/>
          <p:cNvSpPr/>
          <p:nvPr/>
        </p:nvSpPr>
        <p:spPr>
          <a:xfrm>
            <a:off x="7288069" y="234613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2" name="Shape 89"/>
          <p:cNvSpPr/>
          <p:nvPr/>
        </p:nvSpPr>
        <p:spPr>
          <a:xfrm>
            <a:off x="7211541" y="331670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3" name="Shape 90"/>
          <p:cNvSpPr/>
          <p:nvPr/>
        </p:nvSpPr>
        <p:spPr>
          <a:xfrm>
            <a:off x="8720924" y="469375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4" name="Shape 91"/>
          <p:cNvSpPr/>
          <p:nvPr/>
        </p:nvSpPr>
        <p:spPr>
          <a:xfrm>
            <a:off x="8227820" y="302480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5" name="Shape 92"/>
          <p:cNvSpPr/>
          <p:nvPr/>
        </p:nvSpPr>
        <p:spPr>
          <a:xfrm>
            <a:off x="7079158" y="454056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6" name="Shape 93"/>
          <p:cNvSpPr/>
          <p:nvPr/>
        </p:nvSpPr>
        <p:spPr>
          <a:xfrm>
            <a:off x="7093045" y="3895815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7" name="Shape 94"/>
          <p:cNvSpPr/>
          <p:nvPr/>
        </p:nvSpPr>
        <p:spPr>
          <a:xfrm>
            <a:off x="8220204" y="460425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8" name="Shape 95"/>
          <p:cNvSpPr/>
          <p:nvPr/>
        </p:nvSpPr>
        <p:spPr>
          <a:xfrm>
            <a:off x="9400050" y="376522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99" name="Shape 96"/>
          <p:cNvSpPr/>
          <p:nvPr/>
        </p:nvSpPr>
        <p:spPr>
          <a:xfrm>
            <a:off x="7315042" y="323139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0" name="Shape 97"/>
          <p:cNvSpPr/>
          <p:nvPr/>
        </p:nvSpPr>
        <p:spPr>
          <a:xfrm>
            <a:off x="7829440" y="375794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1" name="Shape 98"/>
          <p:cNvSpPr/>
          <p:nvPr/>
        </p:nvSpPr>
        <p:spPr>
          <a:xfrm>
            <a:off x="9310096" y="349013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2" name="Shape 99"/>
          <p:cNvSpPr/>
          <p:nvPr/>
        </p:nvSpPr>
        <p:spPr>
          <a:xfrm>
            <a:off x="8542437" y="317674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3" name="Shape 100"/>
          <p:cNvSpPr/>
          <p:nvPr/>
        </p:nvSpPr>
        <p:spPr>
          <a:xfrm>
            <a:off x="8367110" y="3357474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4" name="Shape 101"/>
          <p:cNvSpPr/>
          <p:nvPr/>
        </p:nvSpPr>
        <p:spPr>
          <a:xfrm>
            <a:off x="9243212" y="419199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5" name="Shape 102"/>
          <p:cNvSpPr/>
          <p:nvPr/>
        </p:nvSpPr>
        <p:spPr>
          <a:xfrm>
            <a:off x="7083736" y="251097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6" name="Shape 103"/>
          <p:cNvSpPr/>
          <p:nvPr/>
        </p:nvSpPr>
        <p:spPr>
          <a:xfrm>
            <a:off x="7069655" y="464576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7" name="Shape 104"/>
          <p:cNvSpPr/>
          <p:nvPr/>
        </p:nvSpPr>
        <p:spPr>
          <a:xfrm>
            <a:off x="8836182" y="391467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8" name="Shape 105"/>
          <p:cNvSpPr/>
          <p:nvPr/>
        </p:nvSpPr>
        <p:spPr>
          <a:xfrm>
            <a:off x="7940540" y="342151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09" name="Shape 106"/>
          <p:cNvSpPr/>
          <p:nvPr/>
        </p:nvSpPr>
        <p:spPr>
          <a:xfrm>
            <a:off x="6836132" y="315028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0" name="Shape 107"/>
          <p:cNvSpPr/>
          <p:nvPr/>
        </p:nvSpPr>
        <p:spPr>
          <a:xfrm>
            <a:off x="7083015" y="503692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1" name="Shape 108"/>
          <p:cNvSpPr/>
          <p:nvPr/>
        </p:nvSpPr>
        <p:spPr>
          <a:xfrm>
            <a:off x="6812949" y="232456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2" name="Shape 109"/>
          <p:cNvSpPr/>
          <p:nvPr/>
        </p:nvSpPr>
        <p:spPr>
          <a:xfrm>
            <a:off x="7036871" y="360936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3" name="Shape 110"/>
          <p:cNvSpPr/>
          <p:nvPr/>
        </p:nvSpPr>
        <p:spPr>
          <a:xfrm>
            <a:off x="7065939" y="3001901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4" name="Shape 111"/>
          <p:cNvSpPr/>
          <p:nvPr/>
        </p:nvSpPr>
        <p:spPr>
          <a:xfrm>
            <a:off x="8269141" y="274034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5" name="Shape 112"/>
          <p:cNvSpPr/>
          <p:nvPr/>
        </p:nvSpPr>
        <p:spPr>
          <a:xfrm>
            <a:off x="7080842" y="4745769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6" name="Shape 113"/>
          <p:cNvSpPr/>
          <p:nvPr/>
        </p:nvSpPr>
        <p:spPr>
          <a:xfrm>
            <a:off x="7871979" y="354563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7" name="Shape 114"/>
          <p:cNvSpPr/>
          <p:nvPr/>
        </p:nvSpPr>
        <p:spPr>
          <a:xfrm>
            <a:off x="9328676" y="445561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8" name="Shape 115"/>
          <p:cNvSpPr/>
          <p:nvPr/>
        </p:nvSpPr>
        <p:spPr>
          <a:xfrm>
            <a:off x="8598381" y="474587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19" name="Shape 116"/>
          <p:cNvSpPr/>
          <p:nvPr/>
        </p:nvSpPr>
        <p:spPr>
          <a:xfrm>
            <a:off x="7462567" y="232758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0" name="Shape 117"/>
          <p:cNvSpPr/>
          <p:nvPr/>
        </p:nvSpPr>
        <p:spPr>
          <a:xfrm>
            <a:off x="7809862" y="399026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1" name="Shape 118"/>
          <p:cNvSpPr/>
          <p:nvPr/>
        </p:nvSpPr>
        <p:spPr>
          <a:xfrm>
            <a:off x="8261804" y="4828110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2" name="Shape 119"/>
          <p:cNvSpPr/>
          <p:nvPr/>
        </p:nvSpPr>
        <p:spPr>
          <a:xfrm>
            <a:off x="7779580" y="3911277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3" name="Shape 120"/>
          <p:cNvSpPr/>
          <p:nvPr/>
        </p:nvSpPr>
        <p:spPr>
          <a:xfrm>
            <a:off x="8441751" y="4833066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4" name="Shape 121"/>
          <p:cNvSpPr/>
          <p:nvPr/>
        </p:nvSpPr>
        <p:spPr>
          <a:xfrm>
            <a:off x="7793100" y="3768715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5" name="Shape 122"/>
          <p:cNvSpPr/>
          <p:nvPr/>
        </p:nvSpPr>
        <p:spPr>
          <a:xfrm>
            <a:off x="7953981" y="5111628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6" name="Shape 123"/>
          <p:cNvSpPr/>
          <p:nvPr/>
        </p:nvSpPr>
        <p:spPr>
          <a:xfrm>
            <a:off x="8676595" y="4191223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7" name="Shape 124"/>
          <p:cNvSpPr/>
          <p:nvPr/>
        </p:nvSpPr>
        <p:spPr>
          <a:xfrm>
            <a:off x="7945066" y="4372205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8" name="Shape 125"/>
          <p:cNvSpPr/>
          <p:nvPr/>
        </p:nvSpPr>
        <p:spPr>
          <a:xfrm>
            <a:off x="7376112" y="4161532"/>
            <a:ext cx="54864" cy="54864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29" name="Shape 126"/>
          <p:cNvSpPr/>
          <p:nvPr/>
        </p:nvSpPr>
        <p:spPr>
          <a:xfrm>
            <a:off x="7552944" y="3438144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0" name="Shape 127"/>
          <p:cNvSpPr/>
          <p:nvPr/>
        </p:nvSpPr>
        <p:spPr>
          <a:xfrm>
            <a:off x="8430768" y="4370832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1" name="Shape 128"/>
          <p:cNvSpPr/>
          <p:nvPr/>
        </p:nvSpPr>
        <p:spPr>
          <a:xfrm>
            <a:off x="8138160" y="297180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2" name="Shape 129"/>
          <p:cNvSpPr/>
          <p:nvPr/>
        </p:nvSpPr>
        <p:spPr>
          <a:xfrm>
            <a:off x="8869680" y="3904488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3" name="Shape 130"/>
          <p:cNvSpPr/>
          <p:nvPr/>
        </p:nvSpPr>
        <p:spPr>
          <a:xfrm>
            <a:off x="7845552" y="4059936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4" name="Text 131"/>
          <p:cNvSpPr/>
          <p:nvPr/>
        </p:nvSpPr>
        <p:spPr>
          <a:xfrm>
            <a:off x="667512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genes lost in noise</a:t>
            </a:r>
            <a:endParaRPr lang="en-US" sz="1000" dirty="0"/>
          </a:p>
        </p:txBody>
      </p:sp>
      <p:sp>
        <p:nvSpPr>
          <p:cNvPr id="135" name="Shape 132"/>
          <p:cNvSpPr/>
          <p:nvPr/>
        </p:nvSpPr>
        <p:spPr>
          <a:xfrm>
            <a:off x="9692640" y="3749040"/>
            <a:ext cx="640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6" name="Shape 133"/>
          <p:cNvSpPr/>
          <p:nvPr/>
        </p:nvSpPr>
        <p:spPr>
          <a:xfrm>
            <a:off x="10515600" y="2743200"/>
            <a:ext cx="640080" cy="2011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7" name="Text 134"/>
          <p:cNvSpPr/>
          <p:nvPr/>
        </p:nvSpPr>
        <p:spPr>
          <a:xfrm>
            <a:off x="11247120" y="3108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bright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FEATURE ENGINEERING VS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jobs: feature engineering vs feature selection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create new, more informative features (e.g. a proliferation score from many genes).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choose a subset of existing features (e.g. keep 100 genes, drop the rest).</a:t>
            </a:r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LASSO is selection,  cell cycle signature is engineering.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Complementary: engineer good features, then select among them.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respect the split: decisions made on data are data-dependent (Lecture 2).</a:t>
            </a:r>
          </a:p>
          <a:p>
            <a:pPr marL="203200" indent="-203200">
              <a:spcAft>
                <a:spcPts val="1200"/>
              </a:spcAft>
              <a:buSzPct val="100000"/>
              <a:buFontTx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QUESTION: Is building a proliferation score from a fixed, published gene list "using the data"? Does it risk leakage?</a:t>
            </a:r>
          </a:p>
          <a:p>
            <a:pPr marL="203200" indent="-203200">
              <a:spcAft>
                <a:spcPts val="1200"/>
              </a:spcAft>
              <a:buSzPct val="100000"/>
              <a:buFontTx/>
              <a:buChar char="•"/>
            </a:pPr>
            <a:endParaRPr lang="en-US" sz="1550" b="1" dirty="0">
              <a:solidFill>
                <a:srgbClr val="0E7C86"/>
              </a:solidFill>
              <a:latin typeface="Calibri" pitchFamily="34" charset="0"/>
              <a:cs typeface="Calibri" pitchFamily="34" charset="-120"/>
            </a:endParaRPr>
          </a:p>
          <a:p>
            <a:pPr marL="203200" indent="-203200">
              <a:spcAft>
                <a:spcPts val="1200"/>
              </a:spcAft>
              <a:buSzPct val="100000"/>
              <a:buFontTx/>
              <a:buChar char="•"/>
            </a:pP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0" y="228600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= build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32320" y="310896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0" y="3364992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0" y="362102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Shape 10"/>
          <p:cNvSpPr/>
          <p:nvPr/>
        </p:nvSpPr>
        <p:spPr>
          <a:xfrm>
            <a:off x="7132320" y="3877056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0" y="4133088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Shape 12"/>
          <p:cNvSpPr/>
          <p:nvPr/>
        </p:nvSpPr>
        <p:spPr>
          <a:xfrm>
            <a:off x="7406640" y="3749040"/>
            <a:ext cx="640080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183880" y="3611880"/>
            <a:ext cx="457200" cy="457200"/>
          </a:xfrm>
          <a:prstGeom prst="ellipse">
            <a:avLst/>
          </a:prstGeom>
          <a:solidFill>
            <a:srgbClr val="2E7D57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score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326880" y="228600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F6E9D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32688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= pick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784080" y="3200400"/>
            <a:ext cx="201168" cy="20116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1" name="Shape 18"/>
          <p:cNvSpPr/>
          <p:nvPr/>
        </p:nvSpPr>
        <p:spPr>
          <a:xfrm>
            <a:off x="10168128" y="3200400"/>
            <a:ext cx="201168" cy="20116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" name="Shape 19"/>
          <p:cNvSpPr/>
          <p:nvPr/>
        </p:nvSpPr>
        <p:spPr>
          <a:xfrm>
            <a:off x="10552176" y="3200400"/>
            <a:ext cx="201168" cy="20116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" name="Shape 20"/>
          <p:cNvSpPr/>
          <p:nvPr/>
        </p:nvSpPr>
        <p:spPr>
          <a:xfrm>
            <a:off x="10936224" y="3200400"/>
            <a:ext cx="201168" cy="20116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4" name="Shape 21"/>
          <p:cNvSpPr/>
          <p:nvPr/>
        </p:nvSpPr>
        <p:spPr>
          <a:xfrm>
            <a:off x="9784080" y="3657600"/>
            <a:ext cx="201168" cy="20116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" name="Shape 22"/>
          <p:cNvSpPr/>
          <p:nvPr/>
        </p:nvSpPr>
        <p:spPr>
          <a:xfrm>
            <a:off x="10168128" y="3657600"/>
            <a:ext cx="201168" cy="20116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" name="Shape 23"/>
          <p:cNvSpPr/>
          <p:nvPr/>
        </p:nvSpPr>
        <p:spPr>
          <a:xfrm>
            <a:off x="10552176" y="3657600"/>
            <a:ext cx="201168" cy="20116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7" name="Shape 24"/>
          <p:cNvSpPr/>
          <p:nvPr/>
        </p:nvSpPr>
        <p:spPr>
          <a:xfrm>
            <a:off x="10936224" y="3657600"/>
            <a:ext cx="201168" cy="20116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" name="Text 25"/>
          <p:cNvSpPr/>
          <p:nvPr/>
        </p:nvSpPr>
        <p:spPr>
          <a:xfrm>
            <a:off x="932688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few, drop the rest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FEATURE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— the three families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103120"/>
            <a:ext cx="356616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features independently of the model.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variance · correlation · differential expression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2103120"/>
            <a:ext cx="3566160" cy="548640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14" name="Text 11"/>
          <p:cNvSpPr/>
          <p:nvPr/>
        </p:nvSpPr>
        <p:spPr>
          <a:xfrm>
            <a:off x="438912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happens during model fitting.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772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LASSO · Elastic Net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0" y="2103120"/>
            <a:ext cx="3566160" cy="548640"/>
          </a:xfrm>
          <a:prstGeom prst="rect">
            <a:avLst/>
          </a:prstGeom>
          <a:solidFill>
            <a:srgbClr val="2E7D57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Tree-based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5820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usefulness for splitting.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5820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random-forest / gradient-boosting importance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goals: speed · sparsity · stability · interpretability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GENE FILTERING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filtering: variance filtering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genes that barely vary across patients — they cannot help discriminate.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unsupervised (uses no labels) → low leakage risk; a safe first pass.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high variance ≠ biological relevance (a noisy probe can be high-variance).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to shrink 20,000 → a few thousand before more careful steps.</a:t>
            </a:r>
            <a:endParaRPr lang="en-US" sz="15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694775184"/>
              </p:ext>
            </p:extLst>
          </p:nvPr>
        </p:nvGraphicFramePr>
        <p:xfrm>
          <a:off x="6583680" y="2286000"/>
          <a:ext cx="4937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8229600" y="2468880"/>
            <a:ext cx="0" cy="3017520"/>
          </a:xfrm>
          <a:prstGeom prst="line">
            <a:avLst/>
          </a:prstGeom>
          <a:noFill/>
          <a:ln w="25400">
            <a:solidFill>
              <a:srgbClr val="A8403A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8321040" y="27203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67512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drop (low variance)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595360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→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GENE FILTERING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filtering: differential expression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genes whose expression differs between outcomes (recurrence vs not).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looking for discriminating genes, but supervised, so it uses the label.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a leakage hazard: on all data, it peeks at the outcome of test patients.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filtering happens inside the split, never before.</a:t>
            </a:r>
          </a:p>
          <a:p>
            <a:pPr marL="203200" indent="-203200">
              <a:spcAft>
                <a:spcPts val="1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QUESTION: how to choose the parameters to define DEGs?</a:t>
            </a:r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912D4F5-0153-DD60-D5EB-A8A35CD97327}"/>
              </a:ext>
            </a:extLst>
          </p:cNvPr>
          <p:cNvSpPr/>
          <p:nvPr/>
        </p:nvSpPr>
        <p:spPr>
          <a:xfrm>
            <a:off x="6766560" y="2286000"/>
            <a:ext cx="4572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cxnSp>
        <p:nvCxnSpPr>
          <p:cNvPr id="152" name="sig-threshold">
            <a:extLst>
              <a:ext uri="{FF2B5EF4-FFF2-40B4-BE49-F238E27FC236}">
                <a16:creationId xmlns:a16="http://schemas.microsoft.com/office/drawing/2014/main" id="{0E569DA3-E2F1-2D26-C95A-BA6D3D9A2F7E}"/>
              </a:ext>
            </a:extLst>
          </p:cNvPr>
          <p:cNvCxnSpPr/>
          <p:nvPr/>
        </p:nvCxnSpPr>
        <p:spPr>
          <a:xfrm>
            <a:off x="6975590" y="3257252"/>
            <a:ext cx="4172000" cy="0"/>
          </a:xfrm>
          <a:prstGeom prst="line">
            <a:avLst/>
          </a:prstGeom>
          <a:ln w="12700">
            <a:solidFill>
              <a:srgbClr val="C9D7D9"/>
            </a:solidFill>
            <a:prstDash val="dash"/>
          </a:ln>
        </p:spPr>
      </p:cxnSp>
      <p:sp>
        <p:nvSpPr>
          <p:cNvPr id="153" name="Shape 6">
            <a:extLst>
              <a:ext uri="{FF2B5EF4-FFF2-40B4-BE49-F238E27FC236}">
                <a16:creationId xmlns:a16="http://schemas.microsoft.com/office/drawing/2014/main" id="{395FC568-F897-1E94-5832-5C3DCADAD863}"/>
              </a:ext>
            </a:extLst>
          </p:cNvPr>
          <p:cNvSpPr/>
          <p:nvPr/>
        </p:nvSpPr>
        <p:spPr>
          <a:xfrm>
            <a:off x="7637301" y="371979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54318DA5-FE7A-99CB-5D92-8242856B2710}"/>
              </a:ext>
            </a:extLst>
          </p:cNvPr>
          <p:cNvSpPr/>
          <p:nvPr/>
        </p:nvSpPr>
        <p:spPr>
          <a:xfrm>
            <a:off x="10260185" y="328670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55" name="Shape 8">
            <a:extLst>
              <a:ext uri="{FF2B5EF4-FFF2-40B4-BE49-F238E27FC236}">
                <a16:creationId xmlns:a16="http://schemas.microsoft.com/office/drawing/2014/main" id="{7A473AC6-CEDB-A933-7405-7B068BC760C5}"/>
              </a:ext>
            </a:extLst>
          </p:cNvPr>
          <p:cNvSpPr/>
          <p:nvPr/>
        </p:nvSpPr>
        <p:spPr>
          <a:xfrm>
            <a:off x="7467903" y="371946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56" name="Shape 9">
            <a:extLst>
              <a:ext uri="{FF2B5EF4-FFF2-40B4-BE49-F238E27FC236}">
                <a16:creationId xmlns:a16="http://schemas.microsoft.com/office/drawing/2014/main" id="{5074194D-47F0-3639-ED3C-105B8DEBD915}"/>
              </a:ext>
            </a:extLst>
          </p:cNvPr>
          <p:cNvSpPr/>
          <p:nvPr/>
        </p:nvSpPr>
        <p:spPr>
          <a:xfrm>
            <a:off x="7620187" y="2846268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57" name="Shape 10">
            <a:extLst>
              <a:ext uri="{FF2B5EF4-FFF2-40B4-BE49-F238E27FC236}">
                <a16:creationId xmlns:a16="http://schemas.microsoft.com/office/drawing/2014/main" id="{C5A92374-7EC1-A639-A946-76B62556056C}"/>
              </a:ext>
            </a:extLst>
          </p:cNvPr>
          <p:cNvSpPr/>
          <p:nvPr/>
        </p:nvSpPr>
        <p:spPr>
          <a:xfrm>
            <a:off x="10090163" y="362968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58" name="Shape 11">
            <a:extLst>
              <a:ext uri="{FF2B5EF4-FFF2-40B4-BE49-F238E27FC236}">
                <a16:creationId xmlns:a16="http://schemas.microsoft.com/office/drawing/2014/main" id="{4EC92FE0-8DFC-8F26-E02A-FA53EC67EA59}"/>
              </a:ext>
            </a:extLst>
          </p:cNvPr>
          <p:cNvSpPr/>
          <p:nvPr/>
        </p:nvSpPr>
        <p:spPr>
          <a:xfrm>
            <a:off x="7511486" y="334170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59" name="Shape 12">
            <a:extLst>
              <a:ext uri="{FF2B5EF4-FFF2-40B4-BE49-F238E27FC236}">
                <a16:creationId xmlns:a16="http://schemas.microsoft.com/office/drawing/2014/main" id="{0138207C-A961-C35F-E2BE-8D98F7A61E19}"/>
              </a:ext>
            </a:extLst>
          </p:cNvPr>
          <p:cNvSpPr/>
          <p:nvPr/>
        </p:nvSpPr>
        <p:spPr>
          <a:xfrm>
            <a:off x="10552178" y="358088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0" name="Shape 13">
            <a:extLst>
              <a:ext uri="{FF2B5EF4-FFF2-40B4-BE49-F238E27FC236}">
                <a16:creationId xmlns:a16="http://schemas.microsoft.com/office/drawing/2014/main" id="{09E6FD23-A190-4E00-8BB1-EEB527E028EA}"/>
              </a:ext>
            </a:extLst>
          </p:cNvPr>
          <p:cNvSpPr/>
          <p:nvPr/>
        </p:nvSpPr>
        <p:spPr>
          <a:xfrm>
            <a:off x="8049378" y="336374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1" name="Shape 14">
            <a:extLst>
              <a:ext uri="{FF2B5EF4-FFF2-40B4-BE49-F238E27FC236}">
                <a16:creationId xmlns:a16="http://schemas.microsoft.com/office/drawing/2014/main" id="{47BB3DC6-E0A8-A082-7642-58F48E0AD19E}"/>
              </a:ext>
            </a:extLst>
          </p:cNvPr>
          <p:cNvSpPr/>
          <p:nvPr/>
        </p:nvSpPr>
        <p:spPr>
          <a:xfrm>
            <a:off x="10430292" y="346762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2" name="Shape 15">
            <a:extLst>
              <a:ext uri="{FF2B5EF4-FFF2-40B4-BE49-F238E27FC236}">
                <a16:creationId xmlns:a16="http://schemas.microsoft.com/office/drawing/2014/main" id="{F0757077-445B-BDD6-E35E-8B6E58A6A448}"/>
              </a:ext>
            </a:extLst>
          </p:cNvPr>
          <p:cNvSpPr/>
          <p:nvPr/>
        </p:nvSpPr>
        <p:spPr>
          <a:xfrm>
            <a:off x="7474051" y="344783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3" name="Shape 16">
            <a:extLst>
              <a:ext uri="{FF2B5EF4-FFF2-40B4-BE49-F238E27FC236}">
                <a16:creationId xmlns:a16="http://schemas.microsoft.com/office/drawing/2014/main" id="{94F9D51C-AFE6-7FA4-DDB7-7D60289A4ABD}"/>
              </a:ext>
            </a:extLst>
          </p:cNvPr>
          <p:cNvSpPr/>
          <p:nvPr/>
        </p:nvSpPr>
        <p:spPr>
          <a:xfrm>
            <a:off x="9947747" y="337153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F238402F-6964-B5CD-3512-40F6A1952753}"/>
              </a:ext>
            </a:extLst>
          </p:cNvPr>
          <p:cNvSpPr/>
          <p:nvPr/>
        </p:nvSpPr>
        <p:spPr>
          <a:xfrm>
            <a:off x="8722629" y="392241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5" name="Shape 18">
            <a:extLst>
              <a:ext uri="{FF2B5EF4-FFF2-40B4-BE49-F238E27FC236}">
                <a16:creationId xmlns:a16="http://schemas.microsoft.com/office/drawing/2014/main" id="{FF0E5D70-21B9-252C-FC60-0A6DE9BE3D1D}"/>
              </a:ext>
            </a:extLst>
          </p:cNvPr>
          <p:cNvSpPr/>
          <p:nvPr/>
        </p:nvSpPr>
        <p:spPr>
          <a:xfrm>
            <a:off x="8524641" y="514918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6" name="Shape 19">
            <a:extLst>
              <a:ext uri="{FF2B5EF4-FFF2-40B4-BE49-F238E27FC236}">
                <a16:creationId xmlns:a16="http://schemas.microsoft.com/office/drawing/2014/main" id="{C5EB6ECA-E8F7-7B69-6E15-BA25E199998D}"/>
              </a:ext>
            </a:extLst>
          </p:cNvPr>
          <p:cNvSpPr/>
          <p:nvPr/>
        </p:nvSpPr>
        <p:spPr>
          <a:xfrm>
            <a:off x="8738423" y="407836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7" name="Shape 20">
            <a:extLst>
              <a:ext uri="{FF2B5EF4-FFF2-40B4-BE49-F238E27FC236}">
                <a16:creationId xmlns:a16="http://schemas.microsoft.com/office/drawing/2014/main" id="{70B2B497-0418-49B3-3288-C86EBB92AF8E}"/>
              </a:ext>
            </a:extLst>
          </p:cNvPr>
          <p:cNvSpPr/>
          <p:nvPr/>
        </p:nvSpPr>
        <p:spPr>
          <a:xfrm>
            <a:off x="9276863" y="517107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8" name="Shape 21">
            <a:extLst>
              <a:ext uri="{FF2B5EF4-FFF2-40B4-BE49-F238E27FC236}">
                <a16:creationId xmlns:a16="http://schemas.microsoft.com/office/drawing/2014/main" id="{A6C612B4-A5E2-8ED6-332D-8752371A867A}"/>
              </a:ext>
            </a:extLst>
          </p:cNvPr>
          <p:cNvSpPr/>
          <p:nvPr/>
        </p:nvSpPr>
        <p:spPr>
          <a:xfrm>
            <a:off x="7340970" y="377453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69" name="Shape 22">
            <a:extLst>
              <a:ext uri="{FF2B5EF4-FFF2-40B4-BE49-F238E27FC236}">
                <a16:creationId xmlns:a16="http://schemas.microsoft.com/office/drawing/2014/main" id="{94D88BD9-D4C8-ED34-3601-73F67A616C43}"/>
              </a:ext>
            </a:extLst>
          </p:cNvPr>
          <p:cNvSpPr/>
          <p:nvPr/>
        </p:nvSpPr>
        <p:spPr>
          <a:xfrm>
            <a:off x="7928566" y="416953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0" name="Shape 23">
            <a:extLst>
              <a:ext uri="{FF2B5EF4-FFF2-40B4-BE49-F238E27FC236}">
                <a16:creationId xmlns:a16="http://schemas.microsoft.com/office/drawing/2014/main" id="{71462B0C-BF37-EA18-1F69-6AD5E0F5CFA4}"/>
              </a:ext>
            </a:extLst>
          </p:cNvPr>
          <p:cNvSpPr/>
          <p:nvPr/>
        </p:nvSpPr>
        <p:spPr>
          <a:xfrm>
            <a:off x="9829666" y="466843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1" name="Shape 24">
            <a:extLst>
              <a:ext uri="{FF2B5EF4-FFF2-40B4-BE49-F238E27FC236}">
                <a16:creationId xmlns:a16="http://schemas.microsoft.com/office/drawing/2014/main" id="{9BE5E6E3-A8CC-C391-86CE-C8FAFE171CBC}"/>
              </a:ext>
            </a:extLst>
          </p:cNvPr>
          <p:cNvSpPr/>
          <p:nvPr/>
        </p:nvSpPr>
        <p:spPr>
          <a:xfrm>
            <a:off x="8915347" y="463446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2" name="Shape 25">
            <a:extLst>
              <a:ext uri="{FF2B5EF4-FFF2-40B4-BE49-F238E27FC236}">
                <a16:creationId xmlns:a16="http://schemas.microsoft.com/office/drawing/2014/main" id="{D807A39B-A99C-0DAB-59B8-B74553C81973}"/>
              </a:ext>
            </a:extLst>
          </p:cNvPr>
          <p:cNvSpPr/>
          <p:nvPr/>
        </p:nvSpPr>
        <p:spPr>
          <a:xfrm>
            <a:off x="7357020" y="383982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3" name="Shape 26">
            <a:extLst>
              <a:ext uri="{FF2B5EF4-FFF2-40B4-BE49-F238E27FC236}">
                <a16:creationId xmlns:a16="http://schemas.microsoft.com/office/drawing/2014/main" id="{FBC8AF16-58E5-023C-AD56-B0002D8BB60F}"/>
              </a:ext>
            </a:extLst>
          </p:cNvPr>
          <p:cNvSpPr/>
          <p:nvPr/>
        </p:nvSpPr>
        <p:spPr>
          <a:xfrm>
            <a:off x="7906788" y="457761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4" name="Shape 27">
            <a:extLst>
              <a:ext uri="{FF2B5EF4-FFF2-40B4-BE49-F238E27FC236}">
                <a16:creationId xmlns:a16="http://schemas.microsoft.com/office/drawing/2014/main" id="{4D7E9446-294E-F0EE-EBB1-2F8DCB616F3E}"/>
              </a:ext>
            </a:extLst>
          </p:cNvPr>
          <p:cNvSpPr/>
          <p:nvPr/>
        </p:nvSpPr>
        <p:spPr>
          <a:xfrm>
            <a:off x="9731892" y="424481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5" name="Shape 28">
            <a:extLst>
              <a:ext uri="{FF2B5EF4-FFF2-40B4-BE49-F238E27FC236}">
                <a16:creationId xmlns:a16="http://schemas.microsoft.com/office/drawing/2014/main" id="{0DC8A7C8-920B-79F5-FEF1-B91B6AE85B35}"/>
              </a:ext>
            </a:extLst>
          </p:cNvPr>
          <p:cNvSpPr/>
          <p:nvPr/>
        </p:nvSpPr>
        <p:spPr>
          <a:xfrm>
            <a:off x="7189271" y="3176246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76" name="Shape 29">
            <a:extLst>
              <a:ext uri="{FF2B5EF4-FFF2-40B4-BE49-F238E27FC236}">
                <a16:creationId xmlns:a16="http://schemas.microsoft.com/office/drawing/2014/main" id="{5BC48514-5C6D-326E-4290-3C3735E5FCA8}"/>
              </a:ext>
            </a:extLst>
          </p:cNvPr>
          <p:cNvSpPr/>
          <p:nvPr/>
        </p:nvSpPr>
        <p:spPr>
          <a:xfrm>
            <a:off x="7744128" y="3193244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77" name="Shape 30">
            <a:extLst>
              <a:ext uri="{FF2B5EF4-FFF2-40B4-BE49-F238E27FC236}">
                <a16:creationId xmlns:a16="http://schemas.microsoft.com/office/drawing/2014/main" id="{83EBB152-A7D4-F304-2B94-50C154ADEA49}"/>
              </a:ext>
            </a:extLst>
          </p:cNvPr>
          <p:cNvSpPr/>
          <p:nvPr/>
        </p:nvSpPr>
        <p:spPr>
          <a:xfrm>
            <a:off x="9183320" y="505049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8" name="Shape 31">
            <a:extLst>
              <a:ext uri="{FF2B5EF4-FFF2-40B4-BE49-F238E27FC236}">
                <a16:creationId xmlns:a16="http://schemas.microsoft.com/office/drawing/2014/main" id="{A059EFD3-C5E2-C007-6171-823B9591362A}"/>
              </a:ext>
            </a:extLst>
          </p:cNvPr>
          <p:cNvSpPr/>
          <p:nvPr/>
        </p:nvSpPr>
        <p:spPr>
          <a:xfrm>
            <a:off x="9080325" y="517517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79" name="Shape 32">
            <a:extLst>
              <a:ext uri="{FF2B5EF4-FFF2-40B4-BE49-F238E27FC236}">
                <a16:creationId xmlns:a16="http://schemas.microsoft.com/office/drawing/2014/main" id="{7106EFAC-EFC6-5FC3-B9D4-6D6DC5E741C8}"/>
              </a:ext>
            </a:extLst>
          </p:cNvPr>
          <p:cNvSpPr/>
          <p:nvPr/>
        </p:nvSpPr>
        <p:spPr>
          <a:xfrm>
            <a:off x="9346626" y="506171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0" name="Shape 33">
            <a:extLst>
              <a:ext uri="{FF2B5EF4-FFF2-40B4-BE49-F238E27FC236}">
                <a16:creationId xmlns:a16="http://schemas.microsoft.com/office/drawing/2014/main" id="{43596C76-0126-4B4D-D330-FF45BB492BD0}"/>
              </a:ext>
            </a:extLst>
          </p:cNvPr>
          <p:cNvSpPr/>
          <p:nvPr/>
        </p:nvSpPr>
        <p:spPr>
          <a:xfrm>
            <a:off x="8473658" y="443484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1" name="Shape 34">
            <a:extLst>
              <a:ext uri="{FF2B5EF4-FFF2-40B4-BE49-F238E27FC236}">
                <a16:creationId xmlns:a16="http://schemas.microsoft.com/office/drawing/2014/main" id="{911918FF-7C1F-F83D-5244-8E080A3FC216}"/>
              </a:ext>
            </a:extLst>
          </p:cNvPr>
          <p:cNvSpPr/>
          <p:nvPr/>
        </p:nvSpPr>
        <p:spPr>
          <a:xfrm>
            <a:off x="9499480" y="511787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2" name="Shape 35">
            <a:extLst>
              <a:ext uri="{FF2B5EF4-FFF2-40B4-BE49-F238E27FC236}">
                <a16:creationId xmlns:a16="http://schemas.microsoft.com/office/drawing/2014/main" id="{56B4E8A9-748A-9D1C-7053-50EE5113BB52}"/>
              </a:ext>
            </a:extLst>
          </p:cNvPr>
          <p:cNvSpPr/>
          <p:nvPr/>
        </p:nvSpPr>
        <p:spPr>
          <a:xfrm>
            <a:off x="7449152" y="3090145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83" name="Shape 36">
            <a:extLst>
              <a:ext uri="{FF2B5EF4-FFF2-40B4-BE49-F238E27FC236}">
                <a16:creationId xmlns:a16="http://schemas.microsoft.com/office/drawing/2014/main" id="{B2FD292A-B18B-BFC5-7641-8AB69D139BC9}"/>
              </a:ext>
            </a:extLst>
          </p:cNvPr>
          <p:cNvSpPr/>
          <p:nvPr/>
        </p:nvSpPr>
        <p:spPr>
          <a:xfrm>
            <a:off x="9904541" y="507201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4" name="Shape 37">
            <a:extLst>
              <a:ext uri="{FF2B5EF4-FFF2-40B4-BE49-F238E27FC236}">
                <a16:creationId xmlns:a16="http://schemas.microsoft.com/office/drawing/2014/main" id="{4E46229D-2B87-05C6-B398-7870BC188962}"/>
              </a:ext>
            </a:extLst>
          </p:cNvPr>
          <p:cNvSpPr/>
          <p:nvPr/>
        </p:nvSpPr>
        <p:spPr>
          <a:xfrm>
            <a:off x="8557553" y="450187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5" name="Shape 38">
            <a:extLst>
              <a:ext uri="{FF2B5EF4-FFF2-40B4-BE49-F238E27FC236}">
                <a16:creationId xmlns:a16="http://schemas.microsoft.com/office/drawing/2014/main" id="{CB2FE770-32C5-1268-F4EA-0BAE707FD9DE}"/>
              </a:ext>
            </a:extLst>
          </p:cNvPr>
          <p:cNvSpPr/>
          <p:nvPr/>
        </p:nvSpPr>
        <p:spPr>
          <a:xfrm>
            <a:off x="9002747" y="514125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6" name="Shape 39">
            <a:extLst>
              <a:ext uri="{FF2B5EF4-FFF2-40B4-BE49-F238E27FC236}">
                <a16:creationId xmlns:a16="http://schemas.microsoft.com/office/drawing/2014/main" id="{5083514B-E9F7-AF96-0639-EC9AC39126F5}"/>
              </a:ext>
            </a:extLst>
          </p:cNvPr>
          <p:cNvSpPr/>
          <p:nvPr/>
        </p:nvSpPr>
        <p:spPr>
          <a:xfrm>
            <a:off x="8638755" y="494252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87" name="Shape 40">
            <a:extLst>
              <a:ext uri="{FF2B5EF4-FFF2-40B4-BE49-F238E27FC236}">
                <a16:creationId xmlns:a16="http://schemas.microsoft.com/office/drawing/2014/main" id="{528997D7-022C-A647-CA75-2D76A509D576}"/>
              </a:ext>
            </a:extLst>
          </p:cNvPr>
          <p:cNvSpPr/>
          <p:nvPr/>
        </p:nvSpPr>
        <p:spPr>
          <a:xfrm>
            <a:off x="7414380" y="2812451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89" name="Shape 42">
            <a:extLst>
              <a:ext uri="{FF2B5EF4-FFF2-40B4-BE49-F238E27FC236}">
                <a16:creationId xmlns:a16="http://schemas.microsoft.com/office/drawing/2014/main" id="{C9023C49-BA09-70DE-0924-B736B190C327}"/>
              </a:ext>
            </a:extLst>
          </p:cNvPr>
          <p:cNvSpPr/>
          <p:nvPr/>
        </p:nvSpPr>
        <p:spPr>
          <a:xfrm>
            <a:off x="8102891" y="430228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0" name="Shape 43">
            <a:extLst>
              <a:ext uri="{FF2B5EF4-FFF2-40B4-BE49-F238E27FC236}">
                <a16:creationId xmlns:a16="http://schemas.microsoft.com/office/drawing/2014/main" id="{6031C2DB-A3F3-C77F-4701-FA33425908EC}"/>
              </a:ext>
            </a:extLst>
          </p:cNvPr>
          <p:cNvSpPr/>
          <p:nvPr/>
        </p:nvSpPr>
        <p:spPr>
          <a:xfrm>
            <a:off x="9188762" y="434805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1" name="Shape 44">
            <a:extLst>
              <a:ext uri="{FF2B5EF4-FFF2-40B4-BE49-F238E27FC236}">
                <a16:creationId xmlns:a16="http://schemas.microsoft.com/office/drawing/2014/main" id="{95315DAB-17E7-0CFC-55E7-239BF3132A1D}"/>
              </a:ext>
            </a:extLst>
          </p:cNvPr>
          <p:cNvSpPr/>
          <p:nvPr/>
        </p:nvSpPr>
        <p:spPr>
          <a:xfrm>
            <a:off x="8627138" y="518190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2" name="Shape 45">
            <a:extLst>
              <a:ext uri="{FF2B5EF4-FFF2-40B4-BE49-F238E27FC236}">
                <a16:creationId xmlns:a16="http://schemas.microsoft.com/office/drawing/2014/main" id="{A5D7DAA7-D871-9AA1-30BC-673CC83262A9}"/>
              </a:ext>
            </a:extLst>
          </p:cNvPr>
          <p:cNvSpPr/>
          <p:nvPr/>
        </p:nvSpPr>
        <p:spPr>
          <a:xfrm>
            <a:off x="8999884" y="502282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3" name="Shape 46">
            <a:extLst>
              <a:ext uri="{FF2B5EF4-FFF2-40B4-BE49-F238E27FC236}">
                <a16:creationId xmlns:a16="http://schemas.microsoft.com/office/drawing/2014/main" id="{9E56FE80-EC20-2AE6-9D35-F7215247CBB3}"/>
              </a:ext>
            </a:extLst>
          </p:cNvPr>
          <p:cNvSpPr/>
          <p:nvPr/>
        </p:nvSpPr>
        <p:spPr>
          <a:xfrm>
            <a:off x="9968369" y="340194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4" name="Shape 47">
            <a:extLst>
              <a:ext uri="{FF2B5EF4-FFF2-40B4-BE49-F238E27FC236}">
                <a16:creationId xmlns:a16="http://schemas.microsoft.com/office/drawing/2014/main" id="{1FAFC754-BB63-75AD-BE59-EC9D19AEEFEA}"/>
              </a:ext>
            </a:extLst>
          </p:cNvPr>
          <p:cNvSpPr/>
          <p:nvPr/>
        </p:nvSpPr>
        <p:spPr>
          <a:xfrm>
            <a:off x="8340550" y="366680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5" name="Shape 48">
            <a:extLst>
              <a:ext uri="{FF2B5EF4-FFF2-40B4-BE49-F238E27FC236}">
                <a16:creationId xmlns:a16="http://schemas.microsoft.com/office/drawing/2014/main" id="{93CD8016-6C84-7CE4-2454-69B361166FD8}"/>
              </a:ext>
            </a:extLst>
          </p:cNvPr>
          <p:cNvSpPr/>
          <p:nvPr/>
        </p:nvSpPr>
        <p:spPr>
          <a:xfrm>
            <a:off x="9995958" y="491939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6" name="Shape 49">
            <a:extLst>
              <a:ext uri="{FF2B5EF4-FFF2-40B4-BE49-F238E27FC236}">
                <a16:creationId xmlns:a16="http://schemas.microsoft.com/office/drawing/2014/main" id="{722BE01B-E777-86E8-6E14-50CE7A8FFC55}"/>
              </a:ext>
            </a:extLst>
          </p:cNvPr>
          <p:cNvSpPr/>
          <p:nvPr/>
        </p:nvSpPr>
        <p:spPr>
          <a:xfrm>
            <a:off x="8069921" y="351767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7" name="Shape 50">
            <a:extLst>
              <a:ext uri="{FF2B5EF4-FFF2-40B4-BE49-F238E27FC236}">
                <a16:creationId xmlns:a16="http://schemas.microsoft.com/office/drawing/2014/main" id="{2540BE82-11D6-0DB0-56F9-24E686753919}"/>
              </a:ext>
            </a:extLst>
          </p:cNvPr>
          <p:cNvSpPr/>
          <p:nvPr/>
        </p:nvSpPr>
        <p:spPr>
          <a:xfrm>
            <a:off x="9177638" y="508977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8" name="Shape 51">
            <a:extLst>
              <a:ext uri="{FF2B5EF4-FFF2-40B4-BE49-F238E27FC236}">
                <a16:creationId xmlns:a16="http://schemas.microsoft.com/office/drawing/2014/main" id="{42A15AB5-9F2E-D3F0-87E9-BA16D3659D62}"/>
              </a:ext>
            </a:extLst>
          </p:cNvPr>
          <p:cNvSpPr/>
          <p:nvPr/>
        </p:nvSpPr>
        <p:spPr>
          <a:xfrm>
            <a:off x="8962233" y="461387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199" name="Shape 52">
            <a:extLst>
              <a:ext uri="{FF2B5EF4-FFF2-40B4-BE49-F238E27FC236}">
                <a16:creationId xmlns:a16="http://schemas.microsoft.com/office/drawing/2014/main" id="{D813FD1C-22A4-6CE0-B4D2-77B25CC4AF9D}"/>
              </a:ext>
            </a:extLst>
          </p:cNvPr>
          <p:cNvSpPr/>
          <p:nvPr/>
        </p:nvSpPr>
        <p:spPr>
          <a:xfrm>
            <a:off x="10722196" y="358394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0" name="Shape 53">
            <a:extLst>
              <a:ext uri="{FF2B5EF4-FFF2-40B4-BE49-F238E27FC236}">
                <a16:creationId xmlns:a16="http://schemas.microsoft.com/office/drawing/2014/main" id="{7FB8E2BB-AB4F-BC4D-D9AD-E345AA686650}"/>
              </a:ext>
            </a:extLst>
          </p:cNvPr>
          <p:cNvSpPr/>
          <p:nvPr/>
        </p:nvSpPr>
        <p:spPr>
          <a:xfrm>
            <a:off x="7684722" y="2864448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01" name="Shape 54">
            <a:extLst>
              <a:ext uri="{FF2B5EF4-FFF2-40B4-BE49-F238E27FC236}">
                <a16:creationId xmlns:a16="http://schemas.microsoft.com/office/drawing/2014/main" id="{12A6E791-9EE2-3EE5-EF57-0C738A87C101}"/>
              </a:ext>
            </a:extLst>
          </p:cNvPr>
          <p:cNvSpPr/>
          <p:nvPr/>
        </p:nvSpPr>
        <p:spPr>
          <a:xfrm>
            <a:off x="9520252" y="491384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2" name="Shape 55">
            <a:extLst>
              <a:ext uri="{FF2B5EF4-FFF2-40B4-BE49-F238E27FC236}">
                <a16:creationId xmlns:a16="http://schemas.microsoft.com/office/drawing/2014/main" id="{F5D17C12-5BA2-2BBB-EF0A-5D7A96F57D5B}"/>
              </a:ext>
            </a:extLst>
          </p:cNvPr>
          <p:cNvSpPr/>
          <p:nvPr/>
        </p:nvSpPr>
        <p:spPr>
          <a:xfrm>
            <a:off x="7644035" y="2955319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03" name="Shape 56">
            <a:extLst>
              <a:ext uri="{FF2B5EF4-FFF2-40B4-BE49-F238E27FC236}">
                <a16:creationId xmlns:a16="http://schemas.microsoft.com/office/drawing/2014/main" id="{76C0D6DD-B131-B02F-16B5-658C4AB8A688}"/>
              </a:ext>
            </a:extLst>
          </p:cNvPr>
          <p:cNvSpPr/>
          <p:nvPr/>
        </p:nvSpPr>
        <p:spPr>
          <a:xfrm>
            <a:off x="11032256" y="472312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4" name="Shape 57">
            <a:extLst>
              <a:ext uri="{FF2B5EF4-FFF2-40B4-BE49-F238E27FC236}">
                <a16:creationId xmlns:a16="http://schemas.microsoft.com/office/drawing/2014/main" id="{4D26A712-B20F-CA66-6423-25034E1B59D5}"/>
              </a:ext>
            </a:extLst>
          </p:cNvPr>
          <p:cNvSpPr/>
          <p:nvPr/>
        </p:nvSpPr>
        <p:spPr>
          <a:xfrm>
            <a:off x="9326623" y="517258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5" name="Shape 58">
            <a:extLst>
              <a:ext uri="{FF2B5EF4-FFF2-40B4-BE49-F238E27FC236}">
                <a16:creationId xmlns:a16="http://schemas.microsoft.com/office/drawing/2014/main" id="{A4BB2064-BA1E-FDE5-9306-20D51BD11CFB}"/>
              </a:ext>
            </a:extLst>
          </p:cNvPr>
          <p:cNvSpPr/>
          <p:nvPr/>
        </p:nvSpPr>
        <p:spPr>
          <a:xfrm>
            <a:off x="9177016" y="445601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6" name="Shape 59">
            <a:extLst>
              <a:ext uri="{FF2B5EF4-FFF2-40B4-BE49-F238E27FC236}">
                <a16:creationId xmlns:a16="http://schemas.microsoft.com/office/drawing/2014/main" id="{AE2A76BF-34C1-E096-FAE2-796FB97345B6}"/>
              </a:ext>
            </a:extLst>
          </p:cNvPr>
          <p:cNvSpPr/>
          <p:nvPr/>
        </p:nvSpPr>
        <p:spPr>
          <a:xfrm>
            <a:off x="8697587" y="396922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7" name="Shape 60">
            <a:extLst>
              <a:ext uri="{FF2B5EF4-FFF2-40B4-BE49-F238E27FC236}">
                <a16:creationId xmlns:a16="http://schemas.microsoft.com/office/drawing/2014/main" id="{D5BD0BCE-2352-53D7-D53F-C1101CBE3EBA}"/>
              </a:ext>
            </a:extLst>
          </p:cNvPr>
          <p:cNvSpPr/>
          <p:nvPr/>
        </p:nvSpPr>
        <p:spPr>
          <a:xfrm>
            <a:off x="9169135" y="493950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8" name="Shape 61">
            <a:extLst>
              <a:ext uri="{FF2B5EF4-FFF2-40B4-BE49-F238E27FC236}">
                <a16:creationId xmlns:a16="http://schemas.microsoft.com/office/drawing/2014/main" id="{6DC667E3-5DE1-4808-9B9B-ECE2E7BE0F28}"/>
              </a:ext>
            </a:extLst>
          </p:cNvPr>
          <p:cNvSpPr/>
          <p:nvPr/>
        </p:nvSpPr>
        <p:spPr>
          <a:xfrm>
            <a:off x="7068856" y="317331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09" name="Shape 62">
            <a:extLst>
              <a:ext uri="{FF2B5EF4-FFF2-40B4-BE49-F238E27FC236}">
                <a16:creationId xmlns:a16="http://schemas.microsoft.com/office/drawing/2014/main" id="{6EAAF3B6-D11D-9A7F-C834-7027FBF7F5DC}"/>
              </a:ext>
            </a:extLst>
          </p:cNvPr>
          <p:cNvSpPr/>
          <p:nvPr/>
        </p:nvSpPr>
        <p:spPr>
          <a:xfrm>
            <a:off x="8466636" y="372550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0" name="Shape 63">
            <a:extLst>
              <a:ext uri="{FF2B5EF4-FFF2-40B4-BE49-F238E27FC236}">
                <a16:creationId xmlns:a16="http://schemas.microsoft.com/office/drawing/2014/main" id="{380D2E69-0405-6B52-BC8C-8ACA5FFA5EEB}"/>
              </a:ext>
            </a:extLst>
          </p:cNvPr>
          <p:cNvSpPr/>
          <p:nvPr/>
        </p:nvSpPr>
        <p:spPr>
          <a:xfrm>
            <a:off x="8885988" y="518284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1" name="Shape 64">
            <a:extLst>
              <a:ext uri="{FF2B5EF4-FFF2-40B4-BE49-F238E27FC236}">
                <a16:creationId xmlns:a16="http://schemas.microsoft.com/office/drawing/2014/main" id="{A4E83686-A73D-9E2B-1C0C-A41B946F6640}"/>
              </a:ext>
            </a:extLst>
          </p:cNvPr>
          <p:cNvSpPr/>
          <p:nvPr/>
        </p:nvSpPr>
        <p:spPr>
          <a:xfrm>
            <a:off x="7844145" y="466686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2" name="Shape 65">
            <a:extLst>
              <a:ext uri="{FF2B5EF4-FFF2-40B4-BE49-F238E27FC236}">
                <a16:creationId xmlns:a16="http://schemas.microsoft.com/office/drawing/2014/main" id="{590DB8B9-F8EE-B9EF-4171-9F6D2229B3B2}"/>
              </a:ext>
            </a:extLst>
          </p:cNvPr>
          <p:cNvSpPr/>
          <p:nvPr/>
        </p:nvSpPr>
        <p:spPr>
          <a:xfrm>
            <a:off x="8853290" y="507215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3" name="Shape 66">
            <a:extLst>
              <a:ext uri="{FF2B5EF4-FFF2-40B4-BE49-F238E27FC236}">
                <a16:creationId xmlns:a16="http://schemas.microsoft.com/office/drawing/2014/main" id="{26EEF3D7-AEF1-80A5-79EA-E9813D485977}"/>
              </a:ext>
            </a:extLst>
          </p:cNvPr>
          <p:cNvSpPr/>
          <p:nvPr/>
        </p:nvSpPr>
        <p:spPr>
          <a:xfrm>
            <a:off x="8775414" y="485862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4" name="Shape 67">
            <a:extLst>
              <a:ext uri="{FF2B5EF4-FFF2-40B4-BE49-F238E27FC236}">
                <a16:creationId xmlns:a16="http://schemas.microsoft.com/office/drawing/2014/main" id="{E6619FF1-AEF2-B9EE-00D1-BBC4684B2245}"/>
              </a:ext>
            </a:extLst>
          </p:cNvPr>
          <p:cNvSpPr/>
          <p:nvPr/>
        </p:nvSpPr>
        <p:spPr>
          <a:xfrm>
            <a:off x="10506659" y="482669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5" name="Shape 68">
            <a:extLst>
              <a:ext uri="{FF2B5EF4-FFF2-40B4-BE49-F238E27FC236}">
                <a16:creationId xmlns:a16="http://schemas.microsoft.com/office/drawing/2014/main" id="{39BDD6B0-A950-F044-A923-D8EE3E34F0C3}"/>
              </a:ext>
            </a:extLst>
          </p:cNvPr>
          <p:cNvSpPr/>
          <p:nvPr/>
        </p:nvSpPr>
        <p:spPr>
          <a:xfrm>
            <a:off x="8676684" y="507527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6" name="Shape 69">
            <a:extLst>
              <a:ext uri="{FF2B5EF4-FFF2-40B4-BE49-F238E27FC236}">
                <a16:creationId xmlns:a16="http://schemas.microsoft.com/office/drawing/2014/main" id="{D984FF46-7484-910D-8A64-A046DC4EBF44}"/>
              </a:ext>
            </a:extLst>
          </p:cNvPr>
          <p:cNvSpPr/>
          <p:nvPr/>
        </p:nvSpPr>
        <p:spPr>
          <a:xfrm>
            <a:off x="9797026" y="474068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7" name="Shape 70">
            <a:extLst>
              <a:ext uri="{FF2B5EF4-FFF2-40B4-BE49-F238E27FC236}">
                <a16:creationId xmlns:a16="http://schemas.microsoft.com/office/drawing/2014/main" id="{7B4E667F-E6C8-5358-2E16-1C99C5C49714}"/>
              </a:ext>
            </a:extLst>
          </p:cNvPr>
          <p:cNvSpPr/>
          <p:nvPr/>
        </p:nvSpPr>
        <p:spPr>
          <a:xfrm>
            <a:off x="11032256" y="368897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8" name="Shape 71">
            <a:extLst>
              <a:ext uri="{FF2B5EF4-FFF2-40B4-BE49-F238E27FC236}">
                <a16:creationId xmlns:a16="http://schemas.microsoft.com/office/drawing/2014/main" id="{E0EA23C1-177B-3E3B-1A12-45D34920800A}"/>
              </a:ext>
            </a:extLst>
          </p:cNvPr>
          <p:cNvSpPr/>
          <p:nvPr/>
        </p:nvSpPr>
        <p:spPr>
          <a:xfrm>
            <a:off x="8474762" y="504120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19" name="Shape 72">
            <a:extLst>
              <a:ext uri="{FF2B5EF4-FFF2-40B4-BE49-F238E27FC236}">
                <a16:creationId xmlns:a16="http://schemas.microsoft.com/office/drawing/2014/main" id="{5D808BC4-9721-2637-672A-1EC2807AF62B}"/>
              </a:ext>
            </a:extLst>
          </p:cNvPr>
          <p:cNvSpPr/>
          <p:nvPr/>
        </p:nvSpPr>
        <p:spPr>
          <a:xfrm>
            <a:off x="10889205" y="2732315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20" name="Shape 73">
            <a:extLst>
              <a:ext uri="{FF2B5EF4-FFF2-40B4-BE49-F238E27FC236}">
                <a16:creationId xmlns:a16="http://schemas.microsoft.com/office/drawing/2014/main" id="{893354A8-E05F-1836-980D-CC2E71A2EDA8}"/>
              </a:ext>
            </a:extLst>
          </p:cNvPr>
          <p:cNvSpPr/>
          <p:nvPr/>
        </p:nvSpPr>
        <p:spPr>
          <a:xfrm>
            <a:off x="8411933" y="515043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1" name="Shape 74">
            <a:extLst>
              <a:ext uri="{FF2B5EF4-FFF2-40B4-BE49-F238E27FC236}">
                <a16:creationId xmlns:a16="http://schemas.microsoft.com/office/drawing/2014/main" id="{67FC394E-6783-F006-B568-EA72775E9716}"/>
              </a:ext>
            </a:extLst>
          </p:cNvPr>
          <p:cNvSpPr/>
          <p:nvPr/>
        </p:nvSpPr>
        <p:spPr>
          <a:xfrm>
            <a:off x="7261239" y="406667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2" name="Shape 75">
            <a:extLst>
              <a:ext uri="{FF2B5EF4-FFF2-40B4-BE49-F238E27FC236}">
                <a16:creationId xmlns:a16="http://schemas.microsoft.com/office/drawing/2014/main" id="{E2D30B8F-4B74-105E-DAA4-6E88CB55BD91}"/>
              </a:ext>
            </a:extLst>
          </p:cNvPr>
          <p:cNvSpPr/>
          <p:nvPr/>
        </p:nvSpPr>
        <p:spPr>
          <a:xfrm>
            <a:off x="8708117" y="468075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3" name="Shape 76">
            <a:extLst>
              <a:ext uri="{FF2B5EF4-FFF2-40B4-BE49-F238E27FC236}">
                <a16:creationId xmlns:a16="http://schemas.microsoft.com/office/drawing/2014/main" id="{495DFD06-9C26-11DD-4446-9E2D9F90BFD5}"/>
              </a:ext>
            </a:extLst>
          </p:cNvPr>
          <p:cNvSpPr/>
          <p:nvPr/>
        </p:nvSpPr>
        <p:spPr>
          <a:xfrm>
            <a:off x="8997582" y="518295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4" name="Shape 77">
            <a:extLst>
              <a:ext uri="{FF2B5EF4-FFF2-40B4-BE49-F238E27FC236}">
                <a16:creationId xmlns:a16="http://schemas.microsoft.com/office/drawing/2014/main" id="{69EFE290-4C0A-0C83-EA9C-5F80BA023CFE}"/>
              </a:ext>
            </a:extLst>
          </p:cNvPr>
          <p:cNvSpPr/>
          <p:nvPr/>
        </p:nvSpPr>
        <p:spPr>
          <a:xfrm>
            <a:off x="9284039" y="414848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5" name="Shape 78">
            <a:extLst>
              <a:ext uri="{FF2B5EF4-FFF2-40B4-BE49-F238E27FC236}">
                <a16:creationId xmlns:a16="http://schemas.microsoft.com/office/drawing/2014/main" id="{C4FA0BBE-03CB-E637-DBBA-2837EB3C6082}"/>
              </a:ext>
            </a:extLst>
          </p:cNvPr>
          <p:cNvSpPr/>
          <p:nvPr/>
        </p:nvSpPr>
        <p:spPr>
          <a:xfrm>
            <a:off x="10341398" y="2995830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26" name="Shape 79">
            <a:extLst>
              <a:ext uri="{FF2B5EF4-FFF2-40B4-BE49-F238E27FC236}">
                <a16:creationId xmlns:a16="http://schemas.microsoft.com/office/drawing/2014/main" id="{16F181FF-6565-D75A-D603-6273FE7C4E02}"/>
              </a:ext>
            </a:extLst>
          </p:cNvPr>
          <p:cNvSpPr/>
          <p:nvPr/>
        </p:nvSpPr>
        <p:spPr>
          <a:xfrm>
            <a:off x="9569953" y="365782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7" name="Shape 80">
            <a:extLst>
              <a:ext uri="{FF2B5EF4-FFF2-40B4-BE49-F238E27FC236}">
                <a16:creationId xmlns:a16="http://schemas.microsoft.com/office/drawing/2014/main" id="{D8CDD623-90A8-B66F-E222-670F88EEA3D3}"/>
              </a:ext>
            </a:extLst>
          </p:cNvPr>
          <p:cNvSpPr/>
          <p:nvPr/>
        </p:nvSpPr>
        <p:spPr>
          <a:xfrm>
            <a:off x="8605323" y="517910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8" name="Shape 81">
            <a:extLst>
              <a:ext uri="{FF2B5EF4-FFF2-40B4-BE49-F238E27FC236}">
                <a16:creationId xmlns:a16="http://schemas.microsoft.com/office/drawing/2014/main" id="{7989A01B-0D47-10F2-47F9-CEAD152DC54D}"/>
              </a:ext>
            </a:extLst>
          </p:cNvPr>
          <p:cNvSpPr/>
          <p:nvPr/>
        </p:nvSpPr>
        <p:spPr>
          <a:xfrm>
            <a:off x="9543654" y="426951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29" name="Shape 82">
            <a:extLst>
              <a:ext uri="{FF2B5EF4-FFF2-40B4-BE49-F238E27FC236}">
                <a16:creationId xmlns:a16="http://schemas.microsoft.com/office/drawing/2014/main" id="{B148CA9E-16A5-0672-CEF8-09357F8180A4}"/>
              </a:ext>
            </a:extLst>
          </p:cNvPr>
          <p:cNvSpPr/>
          <p:nvPr/>
        </p:nvSpPr>
        <p:spPr>
          <a:xfrm>
            <a:off x="8944171" y="476856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0" name="Shape 83">
            <a:extLst>
              <a:ext uri="{FF2B5EF4-FFF2-40B4-BE49-F238E27FC236}">
                <a16:creationId xmlns:a16="http://schemas.microsoft.com/office/drawing/2014/main" id="{FDAD8E75-CD73-63CE-8B60-48E876BE9258}"/>
              </a:ext>
            </a:extLst>
          </p:cNvPr>
          <p:cNvSpPr/>
          <p:nvPr/>
        </p:nvSpPr>
        <p:spPr>
          <a:xfrm>
            <a:off x="9118259" y="517726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1" name="Shape 84">
            <a:extLst>
              <a:ext uri="{FF2B5EF4-FFF2-40B4-BE49-F238E27FC236}">
                <a16:creationId xmlns:a16="http://schemas.microsoft.com/office/drawing/2014/main" id="{75E09FF5-E642-A4E2-D201-3B892C6C28BA}"/>
              </a:ext>
            </a:extLst>
          </p:cNvPr>
          <p:cNvSpPr/>
          <p:nvPr/>
        </p:nvSpPr>
        <p:spPr>
          <a:xfrm>
            <a:off x="8023982" y="516079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2" name="Shape 85">
            <a:extLst>
              <a:ext uri="{FF2B5EF4-FFF2-40B4-BE49-F238E27FC236}">
                <a16:creationId xmlns:a16="http://schemas.microsoft.com/office/drawing/2014/main" id="{982178ED-5201-DA26-C1AD-5F1DA6569DD7}"/>
              </a:ext>
            </a:extLst>
          </p:cNvPr>
          <p:cNvSpPr/>
          <p:nvPr/>
        </p:nvSpPr>
        <p:spPr>
          <a:xfrm>
            <a:off x="8483062" y="478838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3" name="Shape 86">
            <a:extLst>
              <a:ext uri="{FF2B5EF4-FFF2-40B4-BE49-F238E27FC236}">
                <a16:creationId xmlns:a16="http://schemas.microsoft.com/office/drawing/2014/main" id="{735978E9-AB01-DEDD-8D41-068DB74271A9}"/>
              </a:ext>
            </a:extLst>
          </p:cNvPr>
          <p:cNvSpPr/>
          <p:nvPr/>
        </p:nvSpPr>
        <p:spPr>
          <a:xfrm>
            <a:off x="8754799" y="428222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5" name="Shape 88">
            <a:extLst>
              <a:ext uri="{FF2B5EF4-FFF2-40B4-BE49-F238E27FC236}">
                <a16:creationId xmlns:a16="http://schemas.microsoft.com/office/drawing/2014/main" id="{50C1940F-E48E-B1D1-7C6C-7FB9DD5D1B6B}"/>
              </a:ext>
            </a:extLst>
          </p:cNvPr>
          <p:cNvSpPr/>
          <p:nvPr/>
        </p:nvSpPr>
        <p:spPr>
          <a:xfrm>
            <a:off x="9264446" y="487739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6" name="Shape 89">
            <a:extLst>
              <a:ext uri="{FF2B5EF4-FFF2-40B4-BE49-F238E27FC236}">
                <a16:creationId xmlns:a16="http://schemas.microsoft.com/office/drawing/2014/main" id="{1AA164D1-ECB5-867B-15E8-C55E2A729FB5}"/>
              </a:ext>
            </a:extLst>
          </p:cNvPr>
          <p:cNvSpPr/>
          <p:nvPr/>
        </p:nvSpPr>
        <p:spPr>
          <a:xfrm>
            <a:off x="10283832" y="416892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7" name="Shape 90">
            <a:extLst>
              <a:ext uri="{FF2B5EF4-FFF2-40B4-BE49-F238E27FC236}">
                <a16:creationId xmlns:a16="http://schemas.microsoft.com/office/drawing/2014/main" id="{344367D9-BC56-A7C1-5A04-4582C9FB3650}"/>
              </a:ext>
            </a:extLst>
          </p:cNvPr>
          <p:cNvSpPr/>
          <p:nvPr/>
        </p:nvSpPr>
        <p:spPr>
          <a:xfrm>
            <a:off x="8285868" y="512344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8" name="Shape 91">
            <a:extLst>
              <a:ext uri="{FF2B5EF4-FFF2-40B4-BE49-F238E27FC236}">
                <a16:creationId xmlns:a16="http://schemas.microsoft.com/office/drawing/2014/main" id="{DC93D718-683E-6211-7F2A-BD3FA0CAD499}"/>
              </a:ext>
            </a:extLst>
          </p:cNvPr>
          <p:cNvSpPr/>
          <p:nvPr/>
        </p:nvSpPr>
        <p:spPr>
          <a:xfrm>
            <a:off x="11032256" y="439760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39" name="Shape 92">
            <a:extLst>
              <a:ext uri="{FF2B5EF4-FFF2-40B4-BE49-F238E27FC236}">
                <a16:creationId xmlns:a16="http://schemas.microsoft.com/office/drawing/2014/main" id="{0911DAFE-1AB0-AF1F-461D-FB9B5B536972}"/>
              </a:ext>
            </a:extLst>
          </p:cNvPr>
          <p:cNvSpPr/>
          <p:nvPr/>
        </p:nvSpPr>
        <p:spPr>
          <a:xfrm>
            <a:off x="8680616" y="485312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0" name="Shape 93">
            <a:extLst>
              <a:ext uri="{FF2B5EF4-FFF2-40B4-BE49-F238E27FC236}">
                <a16:creationId xmlns:a16="http://schemas.microsoft.com/office/drawing/2014/main" id="{013B7882-76C8-9CFD-B766-455ECA48FD24}"/>
              </a:ext>
            </a:extLst>
          </p:cNvPr>
          <p:cNvSpPr/>
          <p:nvPr/>
        </p:nvSpPr>
        <p:spPr>
          <a:xfrm>
            <a:off x="9015496" y="510703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1" name="Shape 94">
            <a:extLst>
              <a:ext uri="{FF2B5EF4-FFF2-40B4-BE49-F238E27FC236}">
                <a16:creationId xmlns:a16="http://schemas.microsoft.com/office/drawing/2014/main" id="{F540A105-C8A0-153B-7634-7FB84B1D53DB}"/>
              </a:ext>
            </a:extLst>
          </p:cNvPr>
          <p:cNvSpPr/>
          <p:nvPr/>
        </p:nvSpPr>
        <p:spPr>
          <a:xfrm>
            <a:off x="8637020" y="499645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2" name="Shape 95">
            <a:extLst>
              <a:ext uri="{FF2B5EF4-FFF2-40B4-BE49-F238E27FC236}">
                <a16:creationId xmlns:a16="http://schemas.microsoft.com/office/drawing/2014/main" id="{F8CB95E1-A367-8C8F-9E36-C50626D2B966}"/>
              </a:ext>
            </a:extLst>
          </p:cNvPr>
          <p:cNvSpPr/>
          <p:nvPr/>
        </p:nvSpPr>
        <p:spPr>
          <a:xfrm>
            <a:off x="8812439" y="511032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3" name="Shape 96">
            <a:extLst>
              <a:ext uri="{FF2B5EF4-FFF2-40B4-BE49-F238E27FC236}">
                <a16:creationId xmlns:a16="http://schemas.microsoft.com/office/drawing/2014/main" id="{62C42618-9CA7-640F-E9AE-85C95A108BF9}"/>
              </a:ext>
            </a:extLst>
          </p:cNvPr>
          <p:cNvSpPr/>
          <p:nvPr/>
        </p:nvSpPr>
        <p:spPr>
          <a:xfrm>
            <a:off x="8758026" y="517693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4" name="Shape 97">
            <a:extLst>
              <a:ext uri="{FF2B5EF4-FFF2-40B4-BE49-F238E27FC236}">
                <a16:creationId xmlns:a16="http://schemas.microsoft.com/office/drawing/2014/main" id="{604A4338-4F4F-E8CD-7044-CBF84C7007FA}"/>
              </a:ext>
            </a:extLst>
          </p:cNvPr>
          <p:cNvSpPr/>
          <p:nvPr/>
        </p:nvSpPr>
        <p:spPr>
          <a:xfrm>
            <a:off x="8374548" y="355402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5" name="Shape 98">
            <a:extLst>
              <a:ext uri="{FF2B5EF4-FFF2-40B4-BE49-F238E27FC236}">
                <a16:creationId xmlns:a16="http://schemas.microsoft.com/office/drawing/2014/main" id="{58FDA487-DB28-3472-7C00-7899F4B30BCF}"/>
              </a:ext>
            </a:extLst>
          </p:cNvPr>
          <p:cNvSpPr/>
          <p:nvPr/>
        </p:nvSpPr>
        <p:spPr>
          <a:xfrm>
            <a:off x="9851763" y="372976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6" name="Shape 99">
            <a:extLst>
              <a:ext uri="{FF2B5EF4-FFF2-40B4-BE49-F238E27FC236}">
                <a16:creationId xmlns:a16="http://schemas.microsoft.com/office/drawing/2014/main" id="{D178656A-FFBB-0468-8563-8D9C75D4F485}"/>
              </a:ext>
            </a:extLst>
          </p:cNvPr>
          <p:cNvSpPr/>
          <p:nvPr/>
        </p:nvSpPr>
        <p:spPr>
          <a:xfrm>
            <a:off x="9350799" y="434593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7" name="Shape 100">
            <a:extLst>
              <a:ext uri="{FF2B5EF4-FFF2-40B4-BE49-F238E27FC236}">
                <a16:creationId xmlns:a16="http://schemas.microsoft.com/office/drawing/2014/main" id="{3EBFF20C-213C-1712-60D2-121DBACACEC4}"/>
              </a:ext>
            </a:extLst>
          </p:cNvPr>
          <p:cNvSpPr/>
          <p:nvPr/>
        </p:nvSpPr>
        <p:spPr>
          <a:xfrm>
            <a:off x="10033878" y="511459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8" name="Shape 101">
            <a:extLst>
              <a:ext uri="{FF2B5EF4-FFF2-40B4-BE49-F238E27FC236}">
                <a16:creationId xmlns:a16="http://schemas.microsoft.com/office/drawing/2014/main" id="{88C257E2-D7C2-68F5-5EDC-BA6E49D48D0E}"/>
              </a:ext>
            </a:extLst>
          </p:cNvPr>
          <p:cNvSpPr/>
          <p:nvPr/>
        </p:nvSpPr>
        <p:spPr>
          <a:xfrm>
            <a:off x="10507801" y="459206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49" name="Shape 102">
            <a:extLst>
              <a:ext uri="{FF2B5EF4-FFF2-40B4-BE49-F238E27FC236}">
                <a16:creationId xmlns:a16="http://schemas.microsoft.com/office/drawing/2014/main" id="{F2AFF9F0-69B5-074B-F4D4-25BAE47EF00C}"/>
              </a:ext>
            </a:extLst>
          </p:cNvPr>
          <p:cNvSpPr/>
          <p:nvPr/>
        </p:nvSpPr>
        <p:spPr>
          <a:xfrm>
            <a:off x="9347512" y="479313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0" name="Shape 103">
            <a:extLst>
              <a:ext uri="{FF2B5EF4-FFF2-40B4-BE49-F238E27FC236}">
                <a16:creationId xmlns:a16="http://schemas.microsoft.com/office/drawing/2014/main" id="{3AD2D385-59AC-5155-D179-9F4037CA8E32}"/>
              </a:ext>
            </a:extLst>
          </p:cNvPr>
          <p:cNvSpPr/>
          <p:nvPr/>
        </p:nvSpPr>
        <p:spPr>
          <a:xfrm>
            <a:off x="7957566" y="513021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1" name="Shape 104">
            <a:extLst>
              <a:ext uri="{FF2B5EF4-FFF2-40B4-BE49-F238E27FC236}">
                <a16:creationId xmlns:a16="http://schemas.microsoft.com/office/drawing/2014/main" id="{F7BA8E06-0328-012B-EDAA-C5A196CC4599}"/>
              </a:ext>
            </a:extLst>
          </p:cNvPr>
          <p:cNvSpPr/>
          <p:nvPr/>
        </p:nvSpPr>
        <p:spPr>
          <a:xfrm>
            <a:off x="8479387" y="517101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2" name="Shape 105">
            <a:extLst>
              <a:ext uri="{FF2B5EF4-FFF2-40B4-BE49-F238E27FC236}">
                <a16:creationId xmlns:a16="http://schemas.microsoft.com/office/drawing/2014/main" id="{55F54A53-5960-E051-58D8-48E6800828FC}"/>
              </a:ext>
            </a:extLst>
          </p:cNvPr>
          <p:cNvSpPr/>
          <p:nvPr/>
        </p:nvSpPr>
        <p:spPr>
          <a:xfrm>
            <a:off x="9382694" y="480330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3" name="Shape 106">
            <a:extLst>
              <a:ext uri="{FF2B5EF4-FFF2-40B4-BE49-F238E27FC236}">
                <a16:creationId xmlns:a16="http://schemas.microsoft.com/office/drawing/2014/main" id="{20F61BFE-2D28-1F34-EE4E-2231CF707D78}"/>
              </a:ext>
            </a:extLst>
          </p:cNvPr>
          <p:cNvSpPr/>
          <p:nvPr/>
        </p:nvSpPr>
        <p:spPr>
          <a:xfrm>
            <a:off x="7692047" y="417153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4" name="Shape 107">
            <a:extLst>
              <a:ext uri="{FF2B5EF4-FFF2-40B4-BE49-F238E27FC236}">
                <a16:creationId xmlns:a16="http://schemas.microsoft.com/office/drawing/2014/main" id="{20D58D0A-45C2-CC92-F1AA-F953D2A5C96F}"/>
              </a:ext>
            </a:extLst>
          </p:cNvPr>
          <p:cNvSpPr/>
          <p:nvPr/>
        </p:nvSpPr>
        <p:spPr>
          <a:xfrm>
            <a:off x="7520137" y="517060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5" name="Shape 108">
            <a:extLst>
              <a:ext uri="{FF2B5EF4-FFF2-40B4-BE49-F238E27FC236}">
                <a16:creationId xmlns:a16="http://schemas.microsoft.com/office/drawing/2014/main" id="{2583340E-29D8-690F-2EA6-57800C858C8C}"/>
              </a:ext>
            </a:extLst>
          </p:cNvPr>
          <p:cNvSpPr/>
          <p:nvPr/>
        </p:nvSpPr>
        <p:spPr>
          <a:xfrm>
            <a:off x="8299724" y="490904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6" name="Shape 109">
            <a:extLst>
              <a:ext uri="{FF2B5EF4-FFF2-40B4-BE49-F238E27FC236}">
                <a16:creationId xmlns:a16="http://schemas.microsoft.com/office/drawing/2014/main" id="{DC6E979E-A316-0CB6-56FA-8A5C253B3C7B}"/>
              </a:ext>
            </a:extLst>
          </p:cNvPr>
          <p:cNvSpPr/>
          <p:nvPr/>
        </p:nvSpPr>
        <p:spPr>
          <a:xfrm>
            <a:off x="10118756" y="508808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7" name="Shape 110">
            <a:extLst>
              <a:ext uri="{FF2B5EF4-FFF2-40B4-BE49-F238E27FC236}">
                <a16:creationId xmlns:a16="http://schemas.microsoft.com/office/drawing/2014/main" id="{32618724-65B7-F22E-8A42-763217967EF0}"/>
              </a:ext>
            </a:extLst>
          </p:cNvPr>
          <p:cNvSpPr/>
          <p:nvPr/>
        </p:nvSpPr>
        <p:spPr>
          <a:xfrm>
            <a:off x="8438425" y="513033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58" name="Shape 111">
            <a:extLst>
              <a:ext uri="{FF2B5EF4-FFF2-40B4-BE49-F238E27FC236}">
                <a16:creationId xmlns:a16="http://schemas.microsoft.com/office/drawing/2014/main" id="{171870F5-651B-AE3B-B28F-F782E7FFEF85}"/>
              </a:ext>
            </a:extLst>
          </p:cNvPr>
          <p:cNvSpPr/>
          <p:nvPr/>
        </p:nvSpPr>
        <p:spPr>
          <a:xfrm>
            <a:off x="10798773" y="2862655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59" name="Shape 112">
            <a:extLst>
              <a:ext uri="{FF2B5EF4-FFF2-40B4-BE49-F238E27FC236}">
                <a16:creationId xmlns:a16="http://schemas.microsoft.com/office/drawing/2014/main" id="{74AC8100-CBF6-2ED0-63D0-6B804984F2CC}"/>
              </a:ext>
            </a:extLst>
          </p:cNvPr>
          <p:cNvSpPr/>
          <p:nvPr/>
        </p:nvSpPr>
        <p:spPr>
          <a:xfrm>
            <a:off x="10455709" y="2797721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60" name="Shape 113">
            <a:extLst>
              <a:ext uri="{FF2B5EF4-FFF2-40B4-BE49-F238E27FC236}">
                <a16:creationId xmlns:a16="http://schemas.microsoft.com/office/drawing/2014/main" id="{67D8B485-C704-170D-E5C0-68A881D3AB9E}"/>
              </a:ext>
            </a:extLst>
          </p:cNvPr>
          <p:cNvSpPr/>
          <p:nvPr/>
        </p:nvSpPr>
        <p:spPr>
          <a:xfrm>
            <a:off x="9264998" y="506116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1" name="Shape 114">
            <a:extLst>
              <a:ext uri="{FF2B5EF4-FFF2-40B4-BE49-F238E27FC236}">
                <a16:creationId xmlns:a16="http://schemas.microsoft.com/office/drawing/2014/main" id="{DB38ACDE-4F0C-3DD3-7818-9BA786DE7ADE}"/>
              </a:ext>
            </a:extLst>
          </p:cNvPr>
          <p:cNvSpPr/>
          <p:nvPr/>
        </p:nvSpPr>
        <p:spPr>
          <a:xfrm>
            <a:off x="9659058" y="508711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2" name="Shape 115">
            <a:extLst>
              <a:ext uri="{FF2B5EF4-FFF2-40B4-BE49-F238E27FC236}">
                <a16:creationId xmlns:a16="http://schemas.microsoft.com/office/drawing/2014/main" id="{FB54EB62-B573-C805-4FC8-803C5DE1C8CB}"/>
              </a:ext>
            </a:extLst>
          </p:cNvPr>
          <p:cNvSpPr/>
          <p:nvPr/>
        </p:nvSpPr>
        <p:spPr>
          <a:xfrm>
            <a:off x="8445126" y="372337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3" name="Shape 116">
            <a:extLst>
              <a:ext uri="{FF2B5EF4-FFF2-40B4-BE49-F238E27FC236}">
                <a16:creationId xmlns:a16="http://schemas.microsoft.com/office/drawing/2014/main" id="{B67785EA-905D-E1BC-83ED-4C39F7F32218}"/>
              </a:ext>
            </a:extLst>
          </p:cNvPr>
          <p:cNvSpPr/>
          <p:nvPr/>
        </p:nvSpPr>
        <p:spPr>
          <a:xfrm>
            <a:off x="11032256" y="463820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4" name="Shape 117">
            <a:extLst>
              <a:ext uri="{FF2B5EF4-FFF2-40B4-BE49-F238E27FC236}">
                <a16:creationId xmlns:a16="http://schemas.microsoft.com/office/drawing/2014/main" id="{C0BA521B-D2D2-4EBB-B02B-CEA13040CD72}"/>
              </a:ext>
            </a:extLst>
          </p:cNvPr>
          <p:cNvSpPr/>
          <p:nvPr/>
        </p:nvSpPr>
        <p:spPr>
          <a:xfrm>
            <a:off x="10439353" y="381611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5" name="Shape 118">
            <a:extLst>
              <a:ext uri="{FF2B5EF4-FFF2-40B4-BE49-F238E27FC236}">
                <a16:creationId xmlns:a16="http://schemas.microsoft.com/office/drawing/2014/main" id="{80104430-D932-BD38-563B-ABEF9FDB2B1E}"/>
              </a:ext>
            </a:extLst>
          </p:cNvPr>
          <p:cNvSpPr/>
          <p:nvPr/>
        </p:nvSpPr>
        <p:spPr>
          <a:xfrm>
            <a:off x="11032256" y="329173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6" name="Shape 119">
            <a:extLst>
              <a:ext uri="{FF2B5EF4-FFF2-40B4-BE49-F238E27FC236}">
                <a16:creationId xmlns:a16="http://schemas.microsoft.com/office/drawing/2014/main" id="{6B11B8C2-1266-6037-D4EF-594901C29DB7}"/>
              </a:ext>
            </a:extLst>
          </p:cNvPr>
          <p:cNvSpPr/>
          <p:nvPr/>
        </p:nvSpPr>
        <p:spPr>
          <a:xfrm>
            <a:off x="8520634" y="514379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7" name="Shape 120">
            <a:extLst>
              <a:ext uri="{FF2B5EF4-FFF2-40B4-BE49-F238E27FC236}">
                <a16:creationId xmlns:a16="http://schemas.microsoft.com/office/drawing/2014/main" id="{1C112BC4-659C-8661-6C78-25BA6C591A9A}"/>
              </a:ext>
            </a:extLst>
          </p:cNvPr>
          <p:cNvSpPr/>
          <p:nvPr/>
        </p:nvSpPr>
        <p:spPr>
          <a:xfrm>
            <a:off x="9226159" y="476921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8" name="Shape 121">
            <a:extLst>
              <a:ext uri="{FF2B5EF4-FFF2-40B4-BE49-F238E27FC236}">
                <a16:creationId xmlns:a16="http://schemas.microsoft.com/office/drawing/2014/main" id="{B8CCE49A-2ADC-8DCB-2682-864C4D02EE86}"/>
              </a:ext>
            </a:extLst>
          </p:cNvPr>
          <p:cNvSpPr/>
          <p:nvPr/>
        </p:nvSpPr>
        <p:spPr>
          <a:xfrm>
            <a:off x="9638573" y="517900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69" name="Shape 122">
            <a:extLst>
              <a:ext uri="{FF2B5EF4-FFF2-40B4-BE49-F238E27FC236}">
                <a16:creationId xmlns:a16="http://schemas.microsoft.com/office/drawing/2014/main" id="{ECD84451-E11D-E77E-3D7A-86FDA9E9B470}"/>
              </a:ext>
            </a:extLst>
          </p:cNvPr>
          <p:cNvSpPr/>
          <p:nvPr/>
        </p:nvSpPr>
        <p:spPr>
          <a:xfrm>
            <a:off x="9593907" y="494319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0" name="Shape 123">
            <a:extLst>
              <a:ext uri="{FF2B5EF4-FFF2-40B4-BE49-F238E27FC236}">
                <a16:creationId xmlns:a16="http://schemas.microsoft.com/office/drawing/2014/main" id="{ED76BC2A-1DA7-9B4F-36DF-AFC9F8B98E72}"/>
              </a:ext>
            </a:extLst>
          </p:cNvPr>
          <p:cNvSpPr/>
          <p:nvPr/>
        </p:nvSpPr>
        <p:spPr>
          <a:xfrm>
            <a:off x="8971510" y="399605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1" name="Shape 124">
            <a:extLst>
              <a:ext uri="{FF2B5EF4-FFF2-40B4-BE49-F238E27FC236}">
                <a16:creationId xmlns:a16="http://schemas.microsoft.com/office/drawing/2014/main" id="{F3D3778C-BA77-DAC7-1641-C1C69B4674B1}"/>
              </a:ext>
            </a:extLst>
          </p:cNvPr>
          <p:cNvSpPr/>
          <p:nvPr/>
        </p:nvSpPr>
        <p:spPr>
          <a:xfrm>
            <a:off x="7394432" y="482446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3" name="Shape 126">
            <a:extLst>
              <a:ext uri="{FF2B5EF4-FFF2-40B4-BE49-F238E27FC236}">
                <a16:creationId xmlns:a16="http://schemas.microsoft.com/office/drawing/2014/main" id="{D9258396-F98D-4E03-4EEF-19A0641994FA}"/>
              </a:ext>
            </a:extLst>
          </p:cNvPr>
          <p:cNvSpPr/>
          <p:nvPr/>
        </p:nvSpPr>
        <p:spPr>
          <a:xfrm>
            <a:off x="8955861" y="462628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4" name="Shape 127">
            <a:extLst>
              <a:ext uri="{FF2B5EF4-FFF2-40B4-BE49-F238E27FC236}">
                <a16:creationId xmlns:a16="http://schemas.microsoft.com/office/drawing/2014/main" id="{85B1A76C-2B33-BCF7-BBF0-EFBD37F92679}"/>
              </a:ext>
            </a:extLst>
          </p:cNvPr>
          <p:cNvSpPr/>
          <p:nvPr/>
        </p:nvSpPr>
        <p:spPr>
          <a:xfrm>
            <a:off x="8679158" y="504301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5" name="Shape 128">
            <a:extLst>
              <a:ext uri="{FF2B5EF4-FFF2-40B4-BE49-F238E27FC236}">
                <a16:creationId xmlns:a16="http://schemas.microsoft.com/office/drawing/2014/main" id="{D32ED229-EB2F-E800-624D-6B054D36ED9D}"/>
              </a:ext>
            </a:extLst>
          </p:cNvPr>
          <p:cNvSpPr/>
          <p:nvPr/>
        </p:nvSpPr>
        <p:spPr>
          <a:xfrm>
            <a:off x="10650920" y="2993266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76" name="Shape 129">
            <a:extLst>
              <a:ext uri="{FF2B5EF4-FFF2-40B4-BE49-F238E27FC236}">
                <a16:creationId xmlns:a16="http://schemas.microsoft.com/office/drawing/2014/main" id="{EF6F5596-6632-598D-8289-E4C8550CE5B9}"/>
              </a:ext>
            </a:extLst>
          </p:cNvPr>
          <p:cNvSpPr/>
          <p:nvPr/>
        </p:nvSpPr>
        <p:spPr>
          <a:xfrm>
            <a:off x="7526661" y="3292971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7" name="Shape 130">
            <a:extLst>
              <a:ext uri="{FF2B5EF4-FFF2-40B4-BE49-F238E27FC236}">
                <a16:creationId xmlns:a16="http://schemas.microsoft.com/office/drawing/2014/main" id="{89705364-B66B-DC87-C160-761EB94725AD}"/>
              </a:ext>
            </a:extLst>
          </p:cNvPr>
          <p:cNvSpPr/>
          <p:nvPr/>
        </p:nvSpPr>
        <p:spPr>
          <a:xfrm>
            <a:off x="8428155" y="4112953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8" name="Shape 131">
            <a:extLst>
              <a:ext uri="{FF2B5EF4-FFF2-40B4-BE49-F238E27FC236}">
                <a16:creationId xmlns:a16="http://schemas.microsoft.com/office/drawing/2014/main" id="{BBF73A47-051F-C557-9EE8-B3B01F390404}"/>
              </a:ext>
            </a:extLst>
          </p:cNvPr>
          <p:cNvSpPr/>
          <p:nvPr/>
        </p:nvSpPr>
        <p:spPr>
          <a:xfrm>
            <a:off x="8442131" y="517921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79" name="Shape 132">
            <a:extLst>
              <a:ext uri="{FF2B5EF4-FFF2-40B4-BE49-F238E27FC236}">
                <a16:creationId xmlns:a16="http://schemas.microsoft.com/office/drawing/2014/main" id="{A8EFAC76-9AFF-B576-36E8-AF46A6E75A9D}"/>
              </a:ext>
            </a:extLst>
          </p:cNvPr>
          <p:cNvSpPr/>
          <p:nvPr/>
        </p:nvSpPr>
        <p:spPr>
          <a:xfrm>
            <a:off x="10285725" y="3213071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80" name="Shape 133">
            <a:extLst>
              <a:ext uri="{FF2B5EF4-FFF2-40B4-BE49-F238E27FC236}">
                <a16:creationId xmlns:a16="http://schemas.microsoft.com/office/drawing/2014/main" id="{AE9A1AA4-84CD-EE17-7EDC-D0B215D988DD}"/>
              </a:ext>
            </a:extLst>
          </p:cNvPr>
          <p:cNvSpPr/>
          <p:nvPr/>
        </p:nvSpPr>
        <p:spPr>
          <a:xfrm>
            <a:off x="8338696" y="375535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1" name="Shape 134">
            <a:extLst>
              <a:ext uri="{FF2B5EF4-FFF2-40B4-BE49-F238E27FC236}">
                <a16:creationId xmlns:a16="http://schemas.microsoft.com/office/drawing/2014/main" id="{C1F14FC2-6216-F345-D335-250AFC9BE076}"/>
              </a:ext>
            </a:extLst>
          </p:cNvPr>
          <p:cNvSpPr/>
          <p:nvPr/>
        </p:nvSpPr>
        <p:spPr>
          <a:xfrm>
            <a:off x="9291939" y="5148247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2" name="Shape 135">
            <a:extLst>
              <a:ext uri="{FF2B5EF4-FFF2-40B4-BE49-F238E27FC236}">
                <a16:creationId xmlns:a16="http://schemas.microsoft.com/office/drawing/2014/main" id="{CDBD2899-E1A7-71C9-49FF-EB6C2175AC97}"/>
              </a:ext>
            </a:extLst>
          </p:cNvPr>
          <p:cNvSpPr/>
          <p:nvPr/>
        </p:nvSpPr>
        <p:spPr>
          <a:xfrm>
            <a:off x="8989197" y="5132968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3" name="Shape 136">
            <a:extLst>
              <a:ext uri="{FF2B5EF4-FFF2-40B4-BE49-F238E27FC236}">
                <a16:creationId xmlns:a16="http://schemas.microsoft.com/office/drawing/2014/main" id="{BC805477-D530-49E5-A770-141FEA02300E}"/>
              </a:ext>
            </a:extLst>
          </p:cNvPr>
          <p:cNvSpPr/>
          <p:nvPr/>
        </p:nvSpPr>
        <p:spPr>
          <a:xfrm>
            <a:off x="10874227" y="2696252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284" name="Shape 137">
            <a:extLst>
              <a:ext uri="{FF2B5EF4-FFF2-40B4-BE49-F238E27FC236}">
                <a16:creationId xmlns:a16="http://schemas.microsoft.com/office/drawing/2014/main" id="{B2D32863-4B28-2240-9F49-4A6A9EF89422}"/>
              </a:ext>
            </a:extLst>
          </p:cNvPr>
          <p:cNvSpPr/>
          <p:nvPr/>
        </p:nvSpPr>
        <p:spPr>
          <a:xfrm>
            <a:off x="8763450" y="4536072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5" name="Shape 138">
            <a:extLst>
              <a:ext uri="{FF2B5EF4-FFF2-40B4-BE49-F238E27FC236}">
                <a16:creationId xmlns:a16="http://schemas.microsoft.com/office/drawing/2014/main" id="{AACA65CB-2266-7FC6-B274-0B7EEFD9C705}"/>
              </a:ext>
            </a:extLst>
          </p:cNvPr>
          <p:cNvSpPr/>
          <p:nvPr/>
        </p:nvSpPr>
        <p:spPr>
          <a:xfrm>
            <a:off x="8657153" y="516389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6" name="Shape 139">
            <a:extLst>
              <a:ext uri="{FF2B5EF4-FFF2-40B4-BE49-F238E27FC236}">
                <a16:creationId xmlns:a16="http://schemas.microsoft.com/office/drawing/2014/main" id="{35AACAB9-2C13-ABC3-E931-87DDDA6B73B9}"/>
              </a:ext>
            </a:extLst>
          </p:cNvPr>
          <p:cNvSpPr/>
          <p:nvPr/>
        </p:nvSpPr>
        <p:spPr>
          <a:xfrm>
            <a:off x="9090582" y="424117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7" name="Shape 140">
            <a:extLst>
              <a:ext uri="{FF2B5EF4-FFF2-40B4-BE49-F238E27FC236}">
                <a16:creationId xmlns:a16="http://schemas.microsoft.com/office/drawing/2014/main" id="{30D4A1E1-56ED-9CEA-DD45-A1E725E609B7}"/>
              </a:ext>
            </a:extLst>
          </p:cNvPr>
          <p:cNvSpPr/>
          <p:nvPr/>
        </p:nvSpPr>
        <p:spPr>
          <a:xfrm>
            <a:off x="10247209" y="4476409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8" name="Shape 141">
            <a:extLst>
              <a:ext uri="{FF2B5EF4-FFF2-40B4-BE49-F238E27FC236}">
                <a16:creationId xmlns:a16="http://schemas.microsoft.com/office/drawing/2014/main" id="{9FCAB36D-C9CC-AAC6-42F3-4FCBDE0ADD59}"/>
              </a:ext>
            </a:extLst>
          </p:cNvPr>
          <p:cNvSpPr/>
          <p:nvPr/>
        </p:nvSpPr>
        <p:spPr>
          <a:xfrm>
            <a:off x="8292952" y="4883580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89" name="Shape 142">
            <a:extLst>
              <a:ext uri="{FF2B5EF4-FFF2-40B4-BE49-F238E27FC236}">
                <a16:creationId xmlns:a16="http://schemas.microsoft.com/office/drawing/2014/main" id="{9D1608C6-7827-3738-DBD6-6A6578CEB0B2}"/>
              </a:ext>
            </a:extLst>
          </p:cNvPr>
          <p:cNvSpPr/>
          <p:nvPr/>
        </p:nvSpPr>
        <p:spPr>
          <a:xfrm>
            <a:off x="8240332" y="343585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90" name="Shape 143">
            <a:extLst>
              <a:ext uri="{FF2B5EF4-FFF2-40B4-BE49-F238E27FC236}">
                <a16:creationId xmlns:a16="http://schemas.microsoft.com/office/drawing/2014/main" id="{BAD7D3E9-7985-C7CD-6B8A-39E8FABB1A74}"/>
              </a:ext>
            </a:extLst>
          </p:cNvPr>
          <p:cNvSpPr/>
          <p:nvPr/>
        </p:nvSpPr>
        <p:spPr>
          <a:xfrm>
            <a:off x="8953969" y="5121405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91" name="Shape 144">
            <a:extLst>
              <a:ext uri="{FF2B5EF4-FFF2-40B4-BE49-F238E27FC236}">
                <a16:creationId xmlns:a16="http://schemas.microsoft.com/office/drawing/2014/main" id="{5746F7F6-F3C8-6EEE-D3CD-10D02C1369B6}"/>
              </a:ext>
            </a:extLst>
          </p:cNvPr>
          <p:cNvSpPr/>
          <p:nvPr/>
        </p:nvSpPr>
        <p:spPr>
          <a:xfrm>
            <a:off x="8541491" y="4919174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92" name="Shape 145">
            <a:extLst>
              <a:ext uri="{FF2B5EF4-FFF2-40B4-BE49-F238E27FC236}">
                <a16:creationId xmlns:a16="http://schemas.microsoft.com/office/drawing/2014/main" id="{AC649B1F-101B-D8E2-B2DE-EDE6895F3326}"/>
              </a:ext>
            </a:extLst>
          </p:cNvPr>
          <p:cNvSpPr/>
          <p:nvPr/>
        </p:nvSpPr>
        <p:spPr>
          <a:xfrm>
            <a:off x="8794969" y="4338446"/>
            <a:ext cx="64008" cy="64008"/>
          </a:xfrm>
          <a:prstGeom prst="ellipse">
            <a:avLst/>
          </a:prstGeom>
          <a:solidFill>
            <a:srgbClr val="C9D7D9"/>
          </a:solidFill>
          <a:ln/>
        </p:spPr>
      </p:sp>
      <p:sp>
        <p:nvSpPr>
          <p:cNvPr id="293" name="Text 146">
            <a:extLst>
              <a:ext uri="{FF2B5EF4-FFF2-40B4-BE49-F238E27FC236}">
                <a16:creationId xmlns:a16="http://schemas.microsoft.com/office/drawing/2014/main" id="{179D3FA3-5314-9BF1-1A22-69A5D8EB0C78}"/>
              </a:ext>
            </a:extLst>
          </p:cNvPr>
          <p:cNvSpPr/>
          <p:nvPr/>
        </p:nvSpPr>
        <p:spPr>
          <a:xfrm>
            <a:off x="676656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fold-change →</a:t>
            </a:r>
            <a:endParaRPr lang="en-US" sz="900" dirty="0"/>
          </a:p>
        </p:txBody>
      </p:sp>
      <p:sp>
        <p:nvSpPr>
          <p:cNvPr id="294" name="Text 147">
            <a:extLst>
              <a:ext uri="{FF2B5EF4-FFF2-40B4-BE49-F238E27FC236}">
                <a16:creationId xmlns:a16="http://schemas.microsoft.com/office/drawing/2014/main" id="{FD1DDF04-4B42-825F-7541-C065D0B83752}"/>
              </a:ext>
            </a:extLst>
          </p:cNvPr>
          <p:cNvSpPr/>
          <p:nvPr/>
        </p:nvSpPr>
        <p:spPr>
          <a:xfrm>
            <a:off x="68580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−log10 p</a:t>
            </a:r>
            <a:endParaRPr lang="en-US" sz="900" dirty="0"/>
          </a:p>
        </p:txBody>
      </p:sp>
      <p:sp>
        <p:nvSpPr>
          <p:cNvPr id="295" name="thr-label">
            <a:extLst>
              <a:ext uri="{FF2B5EF4-FFF2-40B4-BE49-F238E27FC236}">
                <a16:creationId xmlns:a16="http://schemas.microsoft.com/office/drawing/2014/main" id="{D10B96D8-193A-DDC6-C413-2212E499283D}"/>
              </a:ext>
            </a:extLst>
          </p:cNvPr>
          <p:cNvSpPr/>
          <p:nvPr/>
        </p:nvSpPr>
        <p:spPr>
          <a:xfrm>
            <a:off x="7016560" y="3025946"/>
            <a:ext cx="2000000" cy="2600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buNone/>
            </a:pPr>
            <a:r>
              <a:rPr lang="en-US" sz="900" i="1" dirty="0">
                <a:solidFill>
                  <a:srgbClr val="8A969B"/>
                </a:solidFill>
                <a:latin typeface="Calibri" pitchFamily="34" charset="0"/>
              </a:rPr>
              <a:t>significance threshold</a:t>
            </a:r>
          </a:p>
        </p:txBody>
      </p:sp>
      <p:sp>
        <p:nvSpPr>
          <p:cNvPr id="296" name="Text 148">
            <a:extLst>
              <a:ext uri="{FF2B5EF4-FFF2-40B4-BE49-F238E27FC236}">
                <a16:creationId xmlns:a16="http://schemas.microsoft.com/office/drawing/2014/main" id="{6C84FD69-D9F4-BACC-A0DD-AFF8804107CA}"/>
              </a:ext>
            </a:extLst>
          </p:cNvPr>
          <p:cNvSpPr/>
          <p:nvPr/>
        </p:nvSpPr>
        <p:spPr>
          <a:xfrm>
            <a:off x="914400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(uses the label!)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GENE FILTERING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Filtering: advantages and limitations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→ faster models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overfitting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interpretation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6E9D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2606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filtering can keep noise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filtering can leak and be unstable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genes individually: ignores coordinated programmes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that last limitation motivates the next idea: aggregate genes by biology.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ee importance and SH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FEATURE SELECTION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Tree-based importance and SHAP</a:t>
            </a:r>
            <a:endParaRPr lang="en-US" sz="2900" dirty="0"/>
          </a:p>
        </p:txBody>
      </p:sp>
      <p:sp>
        <p:nvSpPr>
          <p:cNvPr id="4" name="Intro line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rank the genes for us. Fit a random forest or gradient boosting, then read off how useful each gene was.</a:t>
            </a:r>
            <a:endParaRPr lang="en-US" sz="1400" dirty="0"/>
          </a:p>
        </p:txBody>
      </p:sp>
      <p:sp>
        <p:nvSpPr>
          <p:cNvPr id="5" name="Card L"/>
          <p:cNvSpPr/>
          <p:nvPr/>
        </p:nvSpPr>
        <p:spPr>
          <a:xfrm>
            <a:off x="548640" y="2103120"/>
            <a:ext cx="5395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Card L header"/>
          <p:cNvSpPr/>
          <p:nvPr/>
        </p:nvSpPr>
        <p:spPr>
          <a:xfrm>
            <a:off x="548640" y="2103120"/>
            <a:ext cx="5395120" cy="54864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Impurity / Gini importance</a:t>
            </a:r>
            <a:endParaRPr lang="en-US" sz="1600" dirty="0"/>
          </a:p>
        </p:txBody>
      </p:sp>
      <p:sp>
        <p:nvSpPr>
          <p:cNvPr id="7" name="Card L body"/>
          <p:cNvSpPr/>
          <p:nvPr/>
        </p:nvSpPr>
        <p:spPr>
          <a:xfrm>
            <a:off x="777240" y="2834640"/>
            <a:ext cx="4937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gene reduces impurity across all the splits it appears in.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the model, fast, captures non-linear and interaction effects.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when genes are correlated.</a:t>
            </a:r>
          </a:p>
        </p:txBody>
      </p:sp>
      <p:sp>
        <p:nvSpPr>
          <p:cNvPr id="8" name="Card R"/>
          <p:cNvSpPr/>
          <p:nvPr/>
        </p:nvSpPr>
        <p:spPr>
          <a:xfrm>
            <a:off x="6217920" y="2103120"/>
            <a:ext cx="5395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ard R header"/>
          <p:cNvSpPr/>
          <p:nvPr/>
        </p:nvSpPr>
        <p:spPr>
          <a:xfrm>
            <a:off x="6217920" y="2103120"/>
            <a:ext cx="5395120" cy="548640"/>
          </a:xfrm>
          <a:prstGeom prst="rect">
            <a:avLst/>
          </a:prstGeom>
          <a:solidFill>
            <a:srgbClr val="C2772B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values</a:t>
            </a:r>
            <a:endParaRPr lang="en-US" sz="1600" dirty="0"/>
          </a:p>
        </p:txBody>
      </p:sp>
      <p:sp>
        <p:nvSpPr>
          <p:cNvPr id="10" name="Card R body"/>
          <p:cNvSpPr/>
          <p:nvPr/>
        </p:nvSpPr>
        <p:spPr>
          <a:xfrm>
            <a:off x="6446520" y="2834640"/>
            <a:ext cx="4937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game-theory share: each gene’s fair contribution to every individual prediction.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signed: shows direction, not just magnitude; rank by mean |SHAP|.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 to compute, but far more trustworthy for explaining a model (independent).</a:t>
            </a:r>
          </a:p>
        </p:txBody>
      </p:sp>
      <p:sp>
        <p:nvSpPr>
          <p:cNvPr id="12" name="Footer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rut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FEATURE SELECTION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Boruta — keep every relevant gene</a:t>
            </a:r>
            <a:endParaRPr lang="en-US" sz="2900" dirty="0"/>
          </a:p>
        </p:txBody>
      </p:sp>
      <p:sp>
        <p:nvSpPr>
          <p:cNvPr id="4" name="Intro line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wrapper around random-forest importance that asks a sharper question: is this gene more useful than pure noise?</a:t>
            </a:r>
            <a:endParaRPr lang="en-US" sz="1400" dirty="0"/>
          </a:p>
        </p:txBody>
      </p:sp>
      <p:sp>
        <p:nvSpPr>
          <p:cNvPr id="5" name="Card L"/>
          <p:cNvSpPr/>
          <p:nvPr/>
        </p:nvSpPr>
        <p:spPr>
          <a:xfrm>
            <a:off x="548640" y="2103120"/>
            <a:ext cx="5395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Card L header"/>
          <p:cNvSpPr/>
          <p:nvPr/>
        </p:nvSpPr>
        <p:spPr>
          <a:xfrm>
            <a:off x="548640" y="2103120"/>
            <a:ext cx="5395120" cy="54864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Card L body"/>
          <p:cNvSpPr/>
          <p:nvPr/>
        </p:nvSpPr>
        <p:spPr>
          <a:xfrm>
            <a:off x="777240" y="2834640"/>
            <a:ext cx="4937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7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every gene and shuffle each copy — these “shadow” genes carry only noise.</a:t>
            </a:r>
          </a:p>
          <a:p>
            <a:pPr marL="285750" indent="-285750">
              <a:spcAft>
                <a:spcPts val="7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random forest on the doubled set and record importances.</a:t>
            </a:r>
          </a:p>
          <a:p>
            <a:pPr marL="285750" indent="-285750">
              <a:spcAft>
                <a:spcPts val="7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gene is kept only if it beats the best shadow, repeatedly across iterations.</a:t>
            </a:r>
          </a:p>
        </p:txBody>
      </p:sp>
      <p:sp>
        <p:nvSpPr>
          <p:cNvPr id="8" name="Card R"/>
          <p:cNvSpPr/>
          <p:nvPr/>
        </p:nvSpPr>
        <p:spPr>
          <a:xfrm>
            <a:off x="6217920" y="2103120"/>
            <a:ext cx="5395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ard R header"/>
          <p:cNvSpPr/>
          <p:nvPr/>
        </p:nvSpPr>
        <p:spPr>
          <a:xfrm>
            <a:off x="6217920" y="2103120"/>
            <a:ext cx="5395120" cy="548640"/>
          </a:xfrm>
          <a:prstGeom prst="rect">
            <a:avLst/>
          </a:prstGeom>
          <a:solidFill>
            <a:srgbClr val="2E7D57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it’s different</a:t>
            </a:r>
            <a:endParaRPr lang="en-US" sz="1600" dirty="0"/>
          </a:p>
        </p:txBody>
      </p:sp>
      <p:sp>
        <p:nvSpPr>
          <p:cNvPr id="10" name="Card R body"/>
          <p:cNvSpPr/>
          <p:nvPr/>
        </p:nvSpPr>
        <p:spPr>
          <a:xfrm>
            <a:off x="6446520" y="2834640"/>
            <a:ext cx="4937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All-relevant, not minimal: keeps every gene carrying signal, not just a smallest sufficient set.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baseline is built from the data itself, so the bar adapts to each dataset.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any supervised selection, it must run inside the cross-validation fold.</a:t>
            </a:r>
          </a:p>
        </p:txBody>
      </p:sp>
      <p:sp>
        <p:nvSpPr>
          <p:cNvPr id="12" name="Footer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BIOLOGICAL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feature engineering — the core idea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20,000 independent genes, summarise coordinated gene programmes into a few scores.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 score aggregates many genes that move together biologically into one number.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less noise (averaging), built-in prior knowledge, interpretable, more stable, less overfitting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domain biology becomes a modelling advantage, not just context.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Biological feature vs data-driven feature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315200" y="1289304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DCEDE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12893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MKI67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32520" y="1490472"/>
            <a:ext cx="1188720" cy="1078992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1856232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DCEDEE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18562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AURKA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32520" y="2057400"/>
            <a:ext cx="1188720" cy="512064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0" y="242316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DCEDE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CCNB1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32520" y="2624328"/>
            <a:ext cx="1188720" cy="0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0" y="2990088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DCEDEE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29900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 flipV="1">
            <a:off x="8732520" y="2679193"/>
            <a:ext cx="1188720" cy="512063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0" y="3557016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DCEDEE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0" y="35570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CCNB2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V="1">
            <a:off x="8732520" y="2679193"/>
            <a:ext cx="1188720" cy="1078991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058400" y="2249424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058400" y="224942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4DA57266-B641-C894-C8CF-DA1594E0BA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6892530"/>
              </p:ext>
            </p:extLst>
          </p:nvPr>
        </p:nvGraphicFramePr>
        <p:xfrm>
          <a:off x="6217920" y="4123944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BIOLOGICAL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Proliferation scores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(cell-cycle) genes are among the strongest prognostic signals in HR+/HER2− disease.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proliferation score (averaging MKI67, AURKA, CCNB1, …) summarises tumour aggressiveness.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echoed by Ki-67 and by commercial recurrence assays’ proliferation modules.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robust score can rival or beat hundreds of individual noisy genes.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49440" y="228600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0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MKI67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321040" y="228600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1" name="Text 8"/>
          <p:cNvSpPr/>
          <p:nvPr/>
        </p:nvSpPr>
        <p:spPr>
          <a:xfrm>
            <a:off x="8321040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AURKA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49440" y="278892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0" y="2788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CCNB1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321040" y="278892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5" name="Text 12"/>
          <p:cNvSpPr/>
          <p:nvPr/>
        </p:nvSpPr>
        <p:spPr>
          <a:xfrm>
            <a:off x="8321040" y="2788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329184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3291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TOP2A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329184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3291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CCNB2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 flipH="1">
            <a:off x="8331314" y="3803904"/>
            <a:ext cx="7192" cy="7315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966906" y="4677516"/>
            <a:ext cx="2743200" cy="7315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19"/>
          <p:cNvSpPr/>
          <p:nvPr/>
        </p:nvSpPr>
        <p:spPr>
          <a:xfrm>
            <a:off x="6784026" y="467751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score = tumour aggressiveness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BIOLOGICAL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Estrogen / ER signalling scores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 disease is defined by estrogen-receptor signaling, a biologically central axis.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ER-signalling score (ESR1, FOXA1, GATA3, …) captures luminal differentiation.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protective: higher ER signalling tends to associate with lower recurrence risk (sanity check!)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example of a score encoding the disease’s defining biology in one feature.</a:t>
            </a:r>
          </a:p>
          <a:p>
            <a:pPr marL="203200" indent="-203200">
              <a:spcAft>
                <a:spcPts val="1300"/>
              </a:spcAft>
              <a:buSzPct val="100000"/>
              <a:buFontTx/>
              <a:buChar char="•"/>
            </a:pPr>
            <a:r>
              <a:rPr lang="en-US" sz="1550" dirty="0">
                <a:solidFill>
                  <a:srgbClr val="00B0F0"/>
                </a:solidFill>
                <a:latin typeface="Calibri" pitchFamily="34" charset="0"/>
                <a:cs typeface="Calibri" pitchFamily="34" charset="-120"/>
              </a:rPr>
              <a:t>QUESTION: We selected HR-positive patients precisely because they're ER-positive. So why is there still useful variation in an ER-</a:t>
            </a:r>
            <a:r>
              <a:rPr lang="en-US" sz="1550" dirty="0" err="1">
                <a:solidFill>
                  <a:srgbClr val="00B0F0"/>
                </a:solidFill>
                <a:latin typeface="Calibri" pitchFamily="34" charset="0"/>
                <a:cs typeface="Calibri" pitchFamily="34" charset="-120"/>
              </a:rPr>
              <a:t>signalling</a:t>
            </a:r>
            <a:r>
              <a:rPr lang="en-US" sz="1550" dirty="0">
                <a:solidFill>
                  <a:srgbClr val="00B0F0"/>
                </a:solidFill>
                <a:latin typeface="Calibri" pitchFamily="34" charset="0"/>
                <a:cs typeface="Calibri" pitchFamily="34" charset="-120"/>
              </a:rPr>
              <a:t> score within this group?</a:t>
            </a:r>
          </a:p>
          <a:p>
            <a:pPr marL="203200" indent="-203200">
              <a:spcAft>
                <a:spcPts val="1300"/>
              </a:spcAft>
              <a:buSzPct val="100000"/>
              <a:buFontTx/>
              <a:buChar char="•"/>
            </a:pP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132320" y="237744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2377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0" y="288036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FOXA1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32320" y="33832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GATA3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388620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DCEDEE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XBP1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595360" y="3063240"/>
            <a:ext cx="7315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418320" y="2697480"/>
            <a:ext cx="2011680" cy="731520"/>
          </a:xfrm>
          <a:prstGeom prst="rect">
            <a:avLst/>
          </a:prstGeom>
          <a:solidFill>
            <a:srgbClr val="2E7D57"/>
          </a:solidFill>
          <a:ln/>
        </p:spPr>
      </p:sp>
      <p:sp>
        <p:nvSpPr>
          <p:cNvPr id="18" name="Text 15"/>
          <p:cNvSpPr/>
          <p:nvPr/>
        </p:nvSpPr>
        <p:spPr>
          <a:xfrm>
            <a:off x="941832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signalling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4480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→ lower recurrence risk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BIOLOGICAL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Immune and stromal signatures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signatures (T-cell / cytotoxic markers) capture anti-</a:t>
            </a:r>
            <a:r>
              <a:rPr lang="en-US" sz="150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</a:t>
            </a: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immunity, often favourable.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Stromal signatures capture the microenvironment (fibroblasts, EMT): can associate with progression.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tumour is an ecosystem; single genes miss it, programme-level scores capture it.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signatures are reused across cancer types, transferable biological features.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2286000"/>
            <a:ext cx="914400" cy="822960"/>
          </a:xfrm>
          <a:prstGeom prst="ellipse">
            <a:avLst/>
          </a:prstGeom>
          <a:solidFill>
            <a:srgbClr val="0E7C86">
              <a:alpha val="70000"/>
            </a:srgbClr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cells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784080" y="2697480"/>
            <a:ext cx="64008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0515600" y="2468880"/>
            <a:ext cx="100584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3337560"/>
            <a:ext cx="914400" cy="822960"/>
          </a:xfrm>
          <a:prstGeom prst="ellipse">
            <a:avLst/>
          </a:prstGeom>
          <a:solidFill>
            <a:srgbClr val="2E7D57">
              <a:alpha val="70000"/>
            </a:srgbClr>
          </a:solidFill>
          <a:ln w="19050">
            <a:solidFill>
              <a:srgbClr val="2E7D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3337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infiltrate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784080" y="3749040"/>
            <a:ext cx="640080" cy="0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0515600" y="3520440"/>
            <a:ext cx="1005840" cy="457200"/>
          </a:xfrm>
          <a:prstGeom prst="rect">
            <a:avLst/>
          </a:prstGeom>
          <a:solidFill>
            <a:srgbClr val="2E7D57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0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49440" y="4389120"/>
            <a:ext cx="914400" cy="822960"/>
          </a:xfrm>
          <a:prstGeom prst="ellipse">
            <a:avLst/>
          </a:prstGeom>
          <a:solidFill>
            <a:srgbClr val="C2772B">
              <a:alpha val="70000"/>
            </a:srgbClr>
          </a:solidFill>
          <a:ln w="19050">
            <a:solidFill>
              <a:srgbClr val="C277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784080" y="4800600"/>
            <a:ext cx="640080" cy="0"/>
          </a:xfrm>
          <a:prstGeom prst="line">
            <a:avLst/>
          </a:prstGeom>
          <a:noFill/>
          <a:ln w="19050">
            <a:solidFill>
              <a:srgbClr val="C2772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0515600" y="4572000"/>
            <a:ext cx="1005840" cy="457200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0" y="4572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4944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tumour is an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PATHWAY-LEVEL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Pathway-level features — gene sets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 set is a curated list of genes sharing a function or pathway (e.g. a hallmark).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Databases: MSigDB Hallmarks (~50 curated programmes), Reactome, GO, KEGG.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features turn 20,000 genes into ~50-100 interpretable pathway activities.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biological feature engineering done systematically, at genome scale.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0" y="1527048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9" name="Text 6"/>
          <p:cNvSpPr/>
          <p:nvPr/>
        </p:nvSpPr>
        <p:spPr>
          <a:xfrm>
            <a:off x="6995160" y="15270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138160" y="15270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E2F targets (proliferation)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2075688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138160" y="20756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G2M checkpoint (proliferation)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2624328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2624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138160" y="26243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response early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0" y="3172968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95160" y="31729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38160" y="31729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response late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0" y="3721608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3721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138160" y="37216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Interferon-</a:t>
            </a:r>
            <a:r>
              <a:rPr lang="en-US" sz="120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response (immune)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58000" y="4270248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95160" y="4270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138160" y="42702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58000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curated, non-redundant programmes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PATHWAY-LEVEL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genes to pathway activities (GSVA / ssGSEA, conceptually)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patient, rank all genes by expression; ask where a gene set’s members fall.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near the top → pathway is active; scattered → not. That enrichment becomes one score.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is per-sample: each score stands alone, independent of the rest of the cohort.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20,000 genes → ~50–100 pathway features, ready for the same Logistic Regression.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× 20,000 genes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9776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397764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2" name="Shape 9"/>
          <p:cNvSpPr/>
          <p:nvPr/>
        </p:nvSpPr>
        <p:spPr>
          <a:xfrm>
            <a:off x="128016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3" name="Shape 10"/>
          <p:cNvSpPr/>
          <p:nvPr/>
        </p:nvSpPr>
        <p:spPr>
          <a:xfrm>
            <a:off x="1463040" y="397764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4" name="Shape 11"/>
          <p:cNvSpPr/>
          <p:nvPr/>
        </p:nvSpPr>
        <p:spPr>
          <a:xfrm>
            <a:off x="1645920" y="39776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5" name="Shape 12"/>
          <p:cNvSpPr/>
          <p:nvPr/>
        </p:nvSpPr>
        <p:spPr>
          <a:xfrm>
            <a:off x="182880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6" name="Shape 13"/>
          <p:cNvSpPr/>
          <p:nvPr/>
        </p:nvSpPr>
        <p:spPr>
          <a:xfrm>
            <a:off x="201168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7" name="Shape 14"/>
          <p:cNvSpPr/>
          <p:nvPr/>
        </p:nvSpPr>
        <p:spPr>
          <a:xfrm>
            <a:off x="219456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8" name="Shape 15"/>
          <p:cNvSpPr/>
          <p:nvPr/>
        </p:nvSpPr>
        <p:spPr>
          <a:xfrm>
            <a:off x="2377440" y="39776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9" name="Shape 16"/>
          <p:cNvSpPr/>
          <p:nvPr/>
        </p:nvSpPr>
        <p:spPr>
          <a:xfrm>
            <a:off x="2560320" y="39776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20" name="Shape 17"/>
          <p:cNvSpPr/>
          <p:nvPr/>
        </p:nvSpPr>
        <p:spPr>
          <a:xfrm>
            <a:off x="274320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1" name="Shape 18"/>
          <p:cNvSpPr/>
          <p:nvPr/>
        </p:nvSpPr>
        <p:spPr>
          <a:xfrm>
            <a:off x="2926080" y="39776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2" name="Shape 19"/>
          <p:cNvSpPr/>
          <p:nvPr/>
        </p:nvSpPr>
        <p:spPr>
          <a:xfrm>
            <a:off x="310896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3" name="Shape 20"/>
          <p:cNvSpPr/>
          <p:nvPr/>
        </p:nvSpPr>
        <p:spPr>
          <a:xfrm>
            <a:off x="3291840" y="39776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4" name="Shape 21"/>
          <p:cNvSpPr/>
          <p:nvPr/>
        </p:nvSpPr>
        <p:spPr>
          <a:xfrm>
            <a:off x="3474720" y="39776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5" name="Shape 22"/>
          <p:cNvSpPr/>
          <p:nvPr/>
        </p:nvSpPr>
        <p:spPr>
          <a:xfrm>
            <a:off x="3657600" y="39776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26" name="Shape 23"/>
          <p:cNvSpPr/>
          <p:nvPr/>
        </p:nvSpPr>
        <p:spPr>
          <a:xfrm>
            <a:off x="3840480" y="39776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27" name="Shape 24"/>
          <p:cNvSpPr/>
          <p:nvPr/>
        </p:nvSpPr>
        <p:spPr>
          <a:xfrm>
            <a:off x="4023360" y="39776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28" name="Shape 25"/>
          <p:cNvSpPr/>
          <p:nvPr/>
        </p:nvSpPr>
        <p:spPr>
          <a:xfrm>
            <a:off x="4206240" y="39776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29" name="Shape 26"/>
          <p:cNvSpPr/>
          <p:nvPr/>
        </p:nvSpPr>
        <p:spPr>
          <a:xfrm>
            <a:off x="731520" y="416052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0" name="Shape 27"/>
          <p:cNvSpPr/>
          <p:nvPr/>
        </p:nvSpPr>
        <p:spPr>
          <a:xfrm>
            <a:off x="914400" y="416052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31" name="Shape 28"/>
          <p:cNvSpPr/>
          <p:nvPr/>
        </p:nvSpPr>
        <p:spPr>
          <a:xfrm>
            <a:off x="1097280" y="416052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32" name="Shape 29"/>
          <p:cNvSpPr/>
          <p:nvPr/>
        </p:nvSpPr>
        <p:spPr>
          <a:xfrm>
            <a:off x="1280160" y="416052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33" name="Shape 30"/>
          <p:cNvSpPr/>
          <p:nvPr/>
        </p:nvSpPr>
        <p:spPr>
          <a:xfrm>
            <a:off x="1463040" y="416052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4" name="Shape 31"/>
          <p:cNvSpPr/>
          <p:nvPr/>
        </p:nvSpPr>
        <p:spPr>
          <a:xfrm>
            <a:off x="1645920" y="416052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35" name="Shape 32"/>
          <p:cNvSpPr/>
          <p:nvPr/>
        </p:nvSpPr>
        <p:spPr>
          <a:xfrm>
            <a:off x="1828800" y="416052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36" name="Shape 33"/>
          <p:cNvSpPr/>
          <p:nvPr/>
        </p:nvSpPr>
        <p:spPr>
          <a:xfrm>
            <a:off x="2011680" y="416052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37" name="Shape 34"/>
          <p:cNvSpPr/>
          <p:nvPr/>
        </p:nvSpPr>
        <p:spPr>
          <a:xfrm>
            <a:off x="2194560" y="416052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38" name="Shape 35"/>
          <p:cNvSpPr/>
          <p:nvPr/>
        </p:nvSpPr>
        <p:spPr>
          <a:xfrm>
            <a:off x="2377440" y="416052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39" name="Shape 36"/>
          <p:cNvSpPr/>
          <p:nvPr/>
        </p:nvSpPr>
        <p:spPr>
          <a:xfrm>
            <a:off x="2560320" y="416052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40" name="Shape 37"/>
          <p:cNvSpPr/>
          <p:nvPr/>
        </p:nvSpPr>
        <p:spPr>
          <a:xfrm>
            <a:off x="2743200" y="416052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41" name="Shape 38"/>
          <p:cNvSpPr/>
          <p:nvPr/>
        </p:nvSpPr>
        <p:spPr>
          <a:xfrm>
            <a:off x="2926080" y="416052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42" name="Shape 39"/>
          <p:cNvSpPr/>
          <p:nvPr/>
        </p:nvSpPr>
        <p:spPr>
          <a:xfrm>
            <a:off x="3108960" y="416052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43" name="Shape 40"/>
          <p:cNvSpPr/>
          <p:nvPr/>
        </p:nvSpPr>
        <p:spPr>
          <a:xfrm>
            <a:off x="3291840" y="416052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44" name="Shape 41"/>
          <p:cNvSpPr/>
          <p:nvPr/>
        </p:nvSpPr>
        <p:spPr>
          <a:xfrm>
            <a:off x="3474720" y="416052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45" name="Shape 42"/>
          <p:cNvSpPr/>
          <p:nvPr/>
        </p:nvSpPr>
        <p:spPr>
          <a:xfrm>
            <a:off x="3657600" y="416052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46" name="Shape 43"/>
          <p:cNvSpPr/>
          <p:nvPr/>
        </p:nvSpPr>
        <p:spPr>
          <a:xfrm>
            <a:off x="3840480" y="416052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47" name="Shape 44"/>
          <p:cNvSpPr/>
          <p:nvPr/>
        </p:nvSpPr>
        <p:spPr>
          <a:xfrm>
            <a:off x="4023360" y="416052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8" name="Shape 45"/>
          <p:cNvSpPr/>
          <p:nvPr/>
        </p:nvSpPr>
        <p:spPr>
          <a:xfrm>
            <a:off x="4206240" y="416052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49" name="Shape 46"/>
          <p:cNvSpPr/>
          <p:nvPr/>
        </p:nvSpPr>
        <p:spPr>
          <a:xfrm>
            <a:off x="731520" y="434340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50" name="Shape 47"/>
          <p:cNvSpPr/>
          <p:nvPr/>
        </p:nvSpPr>
        <p:spPr>
          <a:xfrm>
            <a:off x="914400" y="434340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51" name="Shape 48"/>
          <p:cNvSpPr/>
          <p:nvPr/>
        </p:nvSpPr>
        <p:spPr>
          <a:xfrm>
            <a:off x="1097280" y="434340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52" name="Shape 49"/>
          <p:cNvSpPr/>
          <p:nvPr/>
        </p:nvSpPr>
        <p:spPr>
          <a:xfrm>
            <a:off x="1280160" y="434340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53" name="Shape 50"/>
          <p:cNvSpPr/>
          <p:nvPr/>
        </p:nvSpPr>
        <p:spPr>
          <a:xfrm>
            <a:off x="1463040" y="434340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54" name="Shape 51"/>
          <p:cNvSpPr/>
          <p:nvPr/>
        </p:nvSpPr>
        <p:spPr>
          <a:xfrm>
            <a:off x="1645920" y="434340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55" name="Shape 52"/>
          <p:cNvSpPr/>
          <p:nvPr/>
        </p:nvSpPr>
        <p:spPr>
          <a:xfrm>
            <a:off x="1828800" y="434340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56" name="Shape 53"/>
          <p:cNvSpPr/>
          <p:nvPr/>
        </p:nvSpPr>
        <p:spPr>
          <a:xfrm>
            <a:off x="2011680" y="434340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57" name="Shape 54"/>
          <p:cNvSpPr/>
          <p:nvPr/>
        </p:nvSpPr>
        <p:spPr>
          <a:xfrm>
            <a:off x="2194560" y="434340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58" name="Shape 55"/>
          <p:cNvSpPr/>
          <p:nvPr/>
        </p:nvSpPr>
        <p:spPr>
          <a:xfrm>
            <a:off x="2377440" y="434340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59" name="Shape 56"/>
          <p:cNvSpPr/>
          <p:nvPr/>
        </p:nvSpPr>
        <p:spPr>
          <a:xfrm>
            <a:off x="2560320" y="434340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60" name="Shape 57"/>
          <p:cNvSpPr/>
          <p:nvPr/>
        </p:nvSpPr>
        <p:spPr>
          <a:xfrm>
            <a:off x="2743200" y="434340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61" name="Shape 58"/>
          <p:cNvSpPr/>
          <p:nvPr/>
        </p:nvSpPr>
        <p:spPr>
          <a:xfrm>
            <a:off x="2926080" y="434340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62" name="Shape 59"/>
          <p:cNvSpPr/>
          <p:nvPr/>
        </p:nvSpPr>
        <p:spPr>
          <a:xfrm>
            <a:off x="3108960" y="434340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63" name="Shape 60"/>
          <p:cNvSpPr/>
          <p:nvPr/>
        </p:nvSpPr>
        <p:spPr>
          <a:xfrm>
            <a:off x="3291840" y="434340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64" name="Shape 61"/>
          <p:cNvSpPr/>
          <p:nvPr/>
        </p:nvSpPr>
        <p:spPr>
          <a:xfrm>
            <a:off x="3474720" y="434340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34340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66" name="Shape 63"/>
          <p:cNvSpPr/>
          <p:nvPr/>
        </p:nvSpPr>
        <p:spPr>
          <a:xfrm>
            <a:off x="3840480" y="434340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67" name="Shape 64"/>
          <p:cNvSpPr/>
          <p:nvPr/>
        </p:nvSpPr>
        <p:spPr>
          <a:xfrm>
            <a:off x="4023360" y="434340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68" name="Shape 65"/>
          <p:cNvSpPr/>
          <p:nvPr/>
        </p:nvSpPr>
        <p:spPr>
          <a:xfrm>
            <a:off x="4206240" y="434340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69" name="Shape 66"/>
          <p:cNvSpPr/>
          <p:nvPr/>
        </p:nvSpPr>
        <p:spPr>
          <a:xfrm>
            <a:off x="731520" y="452628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70" name="Shape 67"/>
          <p:cNvSpPr/>
          <p:nvPr/>
        </p:nvSpPr>
        <p:spPr>
          <a:xfrm>
            <a:off x="914400" y="452628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71" name="Shape 68"/>
          <p:cNvSpPr/>
          <p:nvPr/>
        </p:nvSpPr>
        <p:spPr>
          <a:xfrm>
            <a:off x="1097280" y="452628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72" name="Shape 69"/>
          <p:cNvSpPr/>
          <p:nvPr/>
        </p:nvSpPr>
        <p:spPr>
          <a:xfrm>
            <a:off x="1280160" y="452628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73" name="Shape 70"/>
          <p:cNvSpPr/>
          <p:nvPr/>
        </p:nvSpPr>
        <p:spPr>
          <a:xfrm>
            <a:off x="1463040" y="452628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74" name="Shape 71"/>
          <p:cNvSpPr/>
          <p:nvPr/>
        </p:nvSpPr>
        <p:spPr>
          <a:xfrm>
            <a:off x="1645920" y="452628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75" name="Shape 72"/>
          <p:cNvSpPr/>
          <p:nvPr/>
        </p:nvSpPr>
        <p:spPr>
          <a:xfrm>
            <a:off x="1828800" y="452628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76" name="Shape 73"/>
          <p:cNvSpPr/>
          <p:nvPr/>
        </p:nvSpPr>
        <p:spPr>
          <a:xfrm>
            <a:off x="2011680" y="452628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77" name="Shape 74"/>
          <p:cNvSpPr/>
          <p:nvPr/>
        </p:nvSpPr>
        <p:spPr>
          <a:xfrm>
            <a:off x="2194560" y="452628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78" name="Shape 75"/>
          <p:cNvSpPr/>
          <p:nvPr/>
        </p:nvSpPr>
        <p:spPr>
          <a:xfrm>
            <a:off x="2377440" y="452628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79" name="Shape 76"/>
          <p:cNvSpPr/>
          <p:nvPr/>
        </p:nvSpPr>
        <p:spPr>
          <a:xfrm>
            <a:off x="2560320" y="452628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80" name="Shape 77"/>
          <p:cNvSpPr/>
          <p:nvPr/>
        </p:nvSpPr>
        <p:spPr>
          <a:xfrm>
            <a:off x="2743200" y="452628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81" name="Shape 78"/>
          <p:cNvSpPr/>
          <p:nvPr/>
        </p:nvSpPr>
        <p:spPr>
          <a:xfrm>
            <a:off x="2926080" y="452628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82" name="Shape 79"/>
          <p:cNvSpPr/>
          <p:nvPr/>
        </p:nvSpPr>
        <p:spPr>
          <a:xfrm>
            <a:off x="3108960" y="452628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83" name="Shape 80"/>
          <p:cNvSpPr/>
          <p:nvPr/>
        </p:nvSpPr>
        <p:spPr>
          <a:xfrm>
            <a:off x="3291840" y="452628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84" name="Shape 81"/>
          <p:cNvSpPr/>
          <p:nvPr/>
        </p:nvSpPr>
        <p:spPr>
          <a:xfrm>
            <a:off x="3474720" y="452628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85" name="Shape 82"/>
          <p:cNvSpPr/>
          <p:nvPr/>
        </p:nvSpPr>
        <p:spPr>
          <a:xfrm>
            <a:off x="3657600" y="452628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86" name="Shape 83"/>
          <p:cNvSpPr/>
          <p:nvPr/>
        </p:nvSpPr>
        <p:spPr>
          <a:xfrm>
            <a:off x="3840480" y="452628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87" name="Shape 84"/>
          <p:cNvSpPr/>
          <p:nvPr/>
        </p:nvSpPr>
        <p:spPr>
          <a:xfrm>
            <a:off x="4023360" y="452628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88" name="Shape 85"/>
          <p:cNvSpPr/>
          <p:nvPr/>
        </p:nvSpPr>
        <p:spPr>
          <a:xfrm>
            <a:off x="4206240" y="452628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89" name="Shape 86"/>
          <p:cNvSpPr/>
          <p:nvPr/>
        </p:nvSpPr>
        <p:spPr>
          <a:xfrm>
            <a:off x="73152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90" name="Shape 87"/>
          <p:cNvSpPr/>
          <p:nvPr/>
        </p:nvSpPr>
        <p:spPr>
          <a:xfrm>
            <a:off x="914400" y="470916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91" name="Shape 88"/>
          <p:cNvSpPr/>
          <p:nvPr/>
        </p:nvSpPr>
        <p:spPr>
          <a:xfrm>
            <a:off x="1097280" y="470916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92" name="Shape 89"/>
          <p:cNvSpPr/>
          <p:nvPr/>
        </p:nvSpPr>
        <p:spPr>
          <a:xfrm>
            <a:off x="1280160" y="470916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93" name="Shape 90"/>
          <p:cNvSpPr/>
          <p:nvPr/>
        </p:nvSpPr>
        <p:spPr>
          <a:xfrm>
            <a:off x="1463040" y="470916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94" name="Shape 91"/>
          <p:cNvSpPr/>
          <p:nvPr/>
        </p:nvSpPr>
        <p:spPr>
          <a:xfrm>
            <a:off x="164592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95" name="Shape 92"/>
          <p:cNvSpPr/>
          <p:nvPr/>
        </p:nvSpPr>
        <p:spPr>
          <a:xfrm>
            <a:off x="1828800" y="470916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96" name="Shape 93"/>
          <p:cNvSpPr/>
          <p:nvPr/>
        </p:nvSpPr>
        <p:spPr>
          <a:xfrm>
            <a:off x="201168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97" name="Shape 94"/>
          <p:cNvSpPr/>
          <p:nvPr/>
        </p:nvSpPr>
        <p:spPr>
          <a:xfrm>
            <a:off x="219456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98" name="Shape 95"/>
          <p:cNvSpPr/>
          <p:nvPr/>
        </p:nvSpPr>
        <p:spPr>
          <a:xfrm>
            <a:off x="237744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99" name="Shape 96"/>
          <p:cNvSpPr/>
          <p:nvPr/>
        </p:nvSpPr>
        <p:spPr>
          <a:xfrm>
            <a:off x="2560320" y="470916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00" name="Shape 97"/>
          <p:cNvSpPr/>
          <p:nvPr/>
        </p:nvSpPr>
        <p:spPr>
          <a:xfrm>
            <a:off x="274320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1" name="Shape 98"/>
          <p:cNvSpPr/>
          <p:nvPr/>
        </p:nvSpPr>
        <p:spPr>
          <a:xfrm>
            <a:off x="2926080" y="470916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02" name="Shape 99"/>
          <p:cNvSpPr/>
          <p:nvPr/>
        </p:nvSpPr>
        <p:spPr>
          <a:xfrm>
            <a:off x="3108960" y="470916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03" name="Shape 100"/>
          <p:cNvSpPr/>
          <p:nvPr/>
        </p:nvSpPr>
        <p:spPr>
          <a:xfrm>
            <a:off x="3291840" y="470916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04" name="Shape 101"/>
          <p:cNvSpPr/>
          <p:nvPr/>
        </p:nvSpPr>
        <p:spPr>
          <a:xfrm>
            <a:off x="3474720" y="470916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05" name="Shape 102"/>
          <p:cNvSpPr/>
          <p:nvPr/>
        </p:nvSpPr>
        <p:spPr>
          <a:xfrm>
            <a:off x="365760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6" name="Shape 103"/>
          <p:cNvSpPr/>
          <p:nvPr/>
        </p:nvSpPr>
        <p:spPr>
          <a:xfrm>
            <a:off x="3840480" y="470916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07" name="Shape 104"/>
          <p:cNvSpPr/>
          <p:nvPr/>
        </p:nvSpPr>
        <p:spPr>
          <a:xfrm>
            <a:off x="402336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8" name="Shape 105"/>
          <p:cNvSpPr/>
          <p:nvPr/>
        </p:nvSpPr>
        <p:spPr>
          <a:xfrm>
            <a:off x="4206240" y="470916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09" name="Shape 106"/>
          <p:cNvSpPr/>
          <p:nvPr/>
        </p:nvSpPr>
        <p:spPr>
          <a:xfrm>
            <a:off x="73152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10" name="Shape 107"/>
          <p:cNvSpPr/>
          <p:nvPr/>
        </p:nvSpPr>
        <p:spPr>
          <a:xfrm>
            <a:off x="91440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11" name="Shape 108"/>
          <p:cNvSpPr/>
          <p:nvPr/>
        </p:nvSpPr>
        <p:spPr>
          <a:xfrm>
            <a:off x="109728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12" name="Shape 109"/>
          <p:cNvSpPr/>
          <p:nvPr/>
        </p:nvSpPr>
        <p:spPr>
          <a:xfrm>
            <a:off x="1280160" y="48920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3" name="Shape 110"/>
          <p:cNvSpPr/>
          <p:nvPr/>
        </p:nvSpPr>
        <p:spPr>
          <a:xfrm>
            <a:off x="1463040" y="489204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14" name="Shape 111"/>
          <p:cNvSpPr/>
          <p:nvPr/>
        </p:nvSpPr>
        <p:spPr>
          <a:xfrm>
            <a:off x="1645920" y="48920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5" name="Shape 112"/>
          <p:cNvSpPr/>
          <p:nvPr/>
        </p:nvSpPr>
        <p:spPr>
          <a:xfrm>
            <a:off x="1828800" y="48920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6" name="Shape 113"/>
          <p:cNvSpPr/>
          <p:nvPr/>
        </p:nvSpPr>
        <p:spPr>
          <a:xfrm>
            <a:off x="201168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17" name="Shape 114"/>
          <p:cNvSpPr/>
          <p:nvPr/>
        </p:nvSpPr>
        <p:spPr>
          <a:xfrm>
            <a:off x="2194560" y="4892040"/>
            <a:ext cx="173736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18" name="Shape 115"/>
          <p:cNvSpPr/>
          <p:nvPr/>
        </p:nvSpPr>
        <p:spPr>
          <a:xfrm>
            <a:off x="2377440" y="489204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19" name="Shape 116"/>
          <p:cNvSpPr/>
          <p:nvPr/>
        </p:nvSpPr>
        <p:spPr>
          <a:xfrm>
            <a:off x="256032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20" name="Shape 117"/>
          <p:cNvSpPr/>
          <p:nvPr/>
        </p:nvSpPr>
        <p:spPr>
          <a:xfrm>
            <a:off x="2743200" y="48920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21" name="Shape 118"/>
          <p:cNvSpPr/>
          <p:nvPr/>
        </p:nvSpPr>
        <p:spPr>
          <a:xfrm>
            <a:off x="2926080" y="4892040"/>
            <a:ext cx="173736" cy="173736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122" name="Shape 119"/>
          <p:cNvSpPr/>
          <p:nvPr/>
        </p:nvSpPr>
        <p:spPr>
          <a:xfrm>
            <a:off x="3108960" y="48920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23" name="Shape 120"/>
          <p:cNvSpPr/>
          <p:nvPr/>
        </p:nvSpPr>
        <p:spPr>
          <a:xfrm>
            <a:off x="3291840" y="48920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24" name="Shape 121"/>
          <p:cNvSpPr/>
          <p:nvPr/>
        </p:nvSpPr>
        <p:spPr>
          <a:xfrm>
            <a:off x="347472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25" name="Shape 122"/>
          <p:cNvSpPr/>
          <p:nvPr/>
        </p:nvSpPr>
        <p:spPr>
          <a:xfrm>
            <a:off x="365760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26" name="Shape 123"/>
          <p:cNvSpPr/>
          <p:nvPr/>
        </p:nvSpPr>
        <p:spPr>
          <a:xfrm>
            <a:off x="384048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27" name="Shape 124"/>
          <p:cNvSpPr/>
          <p:nvPr/>
        </p:nvSpPr>
        <p:spPr>
          <a:xfrm>
            <a:off x="4023360" y="4892040"/>
            <a:ext cx="173736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28" name="Shape 125"/>
          <p:cNvSpPr/>
          <p:nvPr/>
        </p:nvSpPr>
        <p:spPr>
          <a:xfrm>
            <a:off x="4206240" y="4892040"/>
            <a:ext cx="173736" cy="1737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29" name="Shape 126"/>
          <p:cNvSpPr/>
          <p:nvPr/>
        </p:nvSpPr>
        <p:spPr>
          <a:xfrm>
            <a:off x="4572000" y="4526280"/>
            <a:ext cx="155448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0" name="Text 127"/>
          <p:cNvSpPr/>
          <p:nvPr/>
        </p:nvSpPr>
        <p:spPr>
          <a:xfrm>
            <a:off x="4572000" y="3931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ssGSEA / GSVA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(used as a tool)</a:t>
            </a:r>
            <a:endParaRPr lang="en-US" sz="1000" dirty="0"/>
          </a:p>
        </p:txBody>
      </p:sp>
      <p:sp>
        <p:nvSpPr>
          <p:cNvPr id="131" name="Text 128"/>
          <p:cNvSpPr/>
          <p:nvPr/>
        </p:nvSpPr>
        <p:spPr>
          <a:xfrm>
            <a:off x="658368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× ~50 pathways</a:t>
            </a:r>
            <a:endParaRPr lang="en-US" sz="1100" dirty="0"/>
          </a:p>
        </p:txBody>
      </p:sp>
      <p:sp>
        <p:nvSpPr>
          <p:cNvPr id="132" name="Shape 129"/>
          <p:cNvSpPr/>
          <p:nvPr/>
        </p:nvSpPr>
        <p:spPr>
          <a:xfrm>
            <a:off x="6949440" y="397764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3" name="Shape 130"/>
          <p:cNvSpPr/>
          <p:nvPr/>
        </p:nvSpPr>
        <p:spPr>
          <a:xfrm>
            <a:off x="7260336" y="397764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4" name="Shape 131"/>
          <p:cNvSpPr/>
          <p:nvPr/>
        </p:nvSpPr>
        <p:spPr>
          <a:xfrm>
            <a:off x="7571232" y="397764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35" name="Shape 132"/>
          <p:cNvSpPr/>
          <p:nvPr/>
        </p:nvSpPr>
        <p:spPr>
          <a:xfrm>
            <a:off x="7882128" y="397764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6" name="Shape 133"/>
          <p:cNvSpPr/>
          <p:nvPr/>
        </p:nvSpPr>
        <p:spPr>
          <a:xfrm>
            <a:off x="8193024" y="397764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7" name="Shape 134"/>
          <p:cNvSpPr/>
          <p:nvPr/>
        </p:nvSpPr>
        <p:spPr>
          <a:xfrm>
            <a:off x="8503920" y="397764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38" name="Shape 135"/>
          <p:cNvSpPr/>
          <p:nvPr/>
        </p:nvSpPr>
        <p:spPr>
          <a:xfrm>
            <a:off x="6949440" y="416052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9" name="Shape 136"/>
          <p:cNvSpPr/>
          <p:nvPr/>
        </p:nvSpPr>
        <p:spPr>
          <a:xfrm>
            <a:off x="7260336" y="416052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40" name="Shape 137"/>
          <p:cNvSpPr/>
          <p:nvPr/>
        </p:nvSpPr>
        <p:spPr>
          <a:xfrm>
            <a:off x="7571232" y="416052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41" name="Shape 138"/>
          <p:cNvSpPr/>
          <p:nvPr/>
        </p:nvSpPr>
        <p:spPr>
          <a:xfrm>
            <a:off x="7882128" y="416052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42" name="Shape 139"/>
          <p:cNvSpPr/>
          <p:nvPr/>
        </p:nvSpPr>
        <p:spPr>
          <a:xfrm>
            <a:off x="8193024" y="416052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43" name="Shape 140"/>
          <p:cNvSpPr/>
          <p:nvPr/>
        </p:nvSpPr>
        <p:spPr>
          <a:xfrm>
            <a:off x="8503920" y="416052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44" name="Shape 141"/>
          <p:cNvSpPr/>
          <p:nvPr/>
        </p:nvSpPr>
        <p:spPr>
          <a:xfrm>
            <a:off x="6949440" y="434340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45" name="Shape 142"/>
          <p:cNvSpPr/>
          <p:nvPr/>
        </p:nvSpPr>
        <p:spPr>
          <a:xfrm>
            <a:off x="7260336" y="434340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46" name="Shape 143"/>
          <p:cNvSpPr/>
          <p:nvPr/>
        </p:nvSpPr>
        <p:spPr>
          <a:xfrm>
            <a:off x="7571232" y="434340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47" name="Shape 144"/>
          <p:cNvSpPr/>
          <p:nvPr/>
        </p:nvSpPr>
        <p:spPr>
          <a:xfrm>
            <a:off x="7882128" y="434340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48" name="Shape 145"/>
          <p:cNvSpPr/>
          <p:nvPr/>
        </p:nvSpPr>
        <p:spPr>
          <a:xfrm>
            <a:off x="8193024" y="434340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9" name="Shape 146"/>
          <p:cNvSpPr/>
          <p:nvPr/>
        </p:nvSpPr>
        <p:spPr>
          <a:xfrm>
            <a:off x="8503920" y="434340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50" name="Shape 147"/>
          <p:cNvSpPr/>
          <p:nvPr/>
        </p:nvSpPr>
        <p:spPr>
          <a:xfrm>
            <a:off x="6949440" y="452628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1" name="Shape 148"/>
          <p:cNvSpPr/>
          <p:nvPr/>
        </p:nvSpPr>
        <p:spPr>
          <a:xfrm>
            <a:off x="7260336" y="452628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2" name="Shape 149"/>
          <p:cNvSpPr/>
          <p:nvPr/>
        </p:nvSpPr>
        <p:spPr>
          <a:xfrm>
            <a:off x="7571232" y="452628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3" name="Shape 150"/>
          <p:cNvSpPr/>
          <p:nvPr/>
        </p:nvSpPr>
        <p:spPr>
          <a:xfrm>
            <a:off x="7882128" y="452628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54" name="Shape 151"/>
          <p:cNvSpPr/>
          <p:nvPr/>
        </p:nvSpPr>
        <p:spPr>
          <a:xfrm>
            <a:off x="8193024" y="452628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55" name="Shape 152"/>
          <p:cNvSpPr/>
          <p:nvPr/>
        </p:nvSpPr>
        <p:spPr>
          <a:xfrm>
            <a:off x="8503920" y="452628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6" name="Shape 153"/>
          <p:cNvSpPr/>
          <p:nvPr/>
        </p:nvSpPr>
        <p:spPr>
          <a:xfrm>
            <a:off x="6949440" y="470916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57" name="Shape 154"/>
          <p:cNvSpPr/>
          <p:nvPr/>
        </p:nvSpPr>
        <p:spPr>
          <a:xfrm>
            <a:off x="7260336" y="470916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58" name="Shape 155"/>
          <p:cNvSpPr/>
          <p:nvPr/>
        </p:nvSpPr>
        <p:spPr>
          <a:xfrm>
            <a:off x="7571232" y="470916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59" name="Shape 156"/>
          <p:cNvSpPr/>
          <p:nvPr/>
        </p:nvSpPr>
        <p:spPr>
          <a:xfrm>
            <a:off x="7882128" y="470916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0" name="Shape 157"/>
          <p:cNvSpPr/>
          <p:nvPr/>
        </p:nvSpPr>
        <p:spPr>
          <a:xfrm>
            <a:off x="8193024" y="470916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61" name="Shape 158"/>
          <p:cNvSpPr/>
          <p:nvPr/>
        </p:nvSpPr>
        <p:spPr>
          <a:xfrm>
            <a:off x="8503920" y="470916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2" name="Shape 159"/>
          <p:cNvSpPr/>
          <p:nvPr/>
        </p:nvSpPr>
        <p:spPr>
          <a:xfrm>
            <a:off x="6949440" y="489204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63" name="Shape 160"/>
          <p:cNvSpPr/>
          <p:nvPr/>
        </p:nvSpPr>
        <p:spPr>
          <a:xfrm>
            <a:off x="7260336" y="489204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64" name="Shape 161"/>
          <p:cNvSpPr/>
          <p:nvPr/>
        </p:nvSpPr>
        <p:spPr>
          <a:xfrm>
            <a:off x="7571232" y="4892040"/>
            <a:ext cx="301752" cy="1737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5" name="Shape 162"/>
          <p:cNvSpPr/>
          <p:nvPr/>
        </p:nvSpPr>
        <p:spPr>
          <a:xfrm>
            <a:off x="7882128" y="4892040"/>
            <a:ext cx="301752" cy="173736"/>
          </a:xfrm>
          <a:prstGeom prst="rect">
            <a:avLst/>
          </a:prstGeom>
          <a:solidFill>
            <a:srgbClr val="14A6B0"/>
          </a:solidFill>
          <a:ln/>
        </p:spPr>
      </p:sp>
      <p:sp>
        <p:nvSpPr>
          <p:cNvPr id="166" name="Shape 163"/>
          <p:cNvSpPr/>
          <p:nvPr/>
        </p:nvSpPr>
        <p:spPr>
          <a:xfrm>
            <a:off x="8193024" y="489204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67" name="Shape 164"/>
          <p:cNvSpPr/>
          <p:nvPr/>
        </p:nvSpPr>
        <p:spPr>
          <a:xfrm>
            <a:off x="8503920" y="4892040"/>
            <a:ext cx="301752" cy="173736"/>
          </a:xfrm>
          <a:prstGeom prst="rect">
            <a:avLst/>
          </a:prstGeom>
          <a:solidFill>
            <a:srgbClr val="DCEDEE"/>
          </a:solidFill>
          <a:ln/>
        </p:spPr>
      </p:sp>
      <p:sp>
        <p:nvSpPr>
          <p:cNvPr id="168" name="Text 165"/>
          <p:cNvSpPr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patients · friendlier shape · feeds the same model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PATHWAY-LEVEL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pathway features produce more robust models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features for the same patients → a much friendlier p : n ratio.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an average over many genes → less noise, more stable across cohorts.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activities are more comparable across platforms than raw probes (helps Lecture 1’s batch problem).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axes → models you can explain and defend.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FEATURE-SELECTION LEAKAGE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vs right workflow, side by side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DED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468880" y="22402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A840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0" y="2240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(once, on all data)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83480" y="2624328"/>
            <a:ext cx="457200" cy="0"/>
          </a:xfrm>
          <a:prstGeom prst="line">
            <a:avLst/>
          </a:prstGeom>
          <a:noFill/>
          <a:ln w="19050">
            <a:solidFill>
              <a:srgbClr val="A8403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486400" y="22402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A840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240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01000" y="2624328"/>
            <a:ext cx="457200" cy="0"/>
          </a:xfrm>
          <a:prstGeom prst="line">
            <a:avLst/>
          </a:prstGeom>
          <a:noFill/>
          <a:ln w="19050">
            <a:solidFill>
              <a:srgbClr val="A8403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503920" y="22402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A840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0" y="2240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AUC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5661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37744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 →  inside each fold: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468880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6888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43400" y="4498848"/>
            <a:ext cx="274320" cy="0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663440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37960" y="4498848"/>
            <a:ext cx="274320" cy="0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858000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filtering, DE selection, signature fitting — anything that uses the data.  Fixed, pre-published gene sets are largely exempt (no fitting on your labels).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· 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interpretability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Pathway-level models are usually far easier to interpret than gene-level models.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“Recurrence risk rises with proliferation and falls with ER </a:t>
            </a:r>
            <a:r>
              <a:rPr lang="en-US" sz="1500" b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</a:t>
            </a: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”: a sentence a clinician trusts.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supports validation, mechanistic hypotheses, and clinical adoption.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pathway scores depend on the gene set chosen; curation introduces assumptions.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gene-level: hundreds of coefficients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909758"/>
            <a:ext cx="91440" cy="38208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0" name="Shape 7"/>
          <p:cNvSpPr/>
          <p:nvPr/>
        </p:nvSpPr>
        <p:spPr>
          <a:xfrm>
            <a:off x="6702552" y="3015171"/>
            <a:ext cx="91440" cy="276669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1" name="Shape 8"/>
          <p:cNvSpPr/>
          <p:nvPr/>
        </p:nvSpPr>
        <p:spPr>
          <a:xfrm>
            <a:off x="6821424" y="3145449"/>
            <a:ext cx="91440" cy="146391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2" name="Shape 9"/>
          <p:cNvSpPr/>
          <p:nvPr/>
        </p:nvSpPr>
        <p:spPr>
          <a:xfrm>
            <a:off x="6940296" y="3224377"/>
            <a:ext cx="91440" cy="67463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3" name="Shape 10"/>
          <p:cNvSpPr/>
          <p:nvPr/>
        </p:nvSpPr>
        <p:spPr>
          <a:xfrm>
            <a:off x="7059168" y="2849120"/>
            <a:ext cx="91440" cy="44272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4" name="Shape 11"/>
          <p:cNvSpPr/>
          <p:nvPr/>
        </p:nvSpPr>
        <p:spPr>
          <a:xfrm>
            <a:off x="7178040" y="3068932"/>
            <a:ext cx="91440" cy="222908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5" name="Shape 12"/>
          <p:cNvSpPr/>
          <p:nvPr/>
        </p:nvSpPr>
        <p:spPr>
          <a:xfrm>
            <a:off x="7296912" y="2948305"/>
            <a:ext cx="91440" cy="343535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6" name="Shape 13"/>
          <p:cNvSpPr/>
          <p:nvPr/>
        </p:nvSpPr>
        <p:spPr>
          <a:xfrm>
            <a:off x="7415784" y="2897971"/>
            <a:ext cx="91440" cy="393869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7" name="Shape 14"/>
          <p:cNvSpPr/>
          <p:nvPr/>
        </p:nvSpPr>
        <p:spPr>
          <a:xfrm>
            <a:off x="7534656" y="3208703"/>
            <a:ext cx="91440" cy="83137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8" name="Shape 15"/>
          <p:cNvSpPr/>
          <p:nvPr/>
        </p:nvSpPr>
        <p:spPr>
          <a:xfrm>
            <a:off x="7653528" y="2827803"/>
            <a:ext cx="91440" cy="464037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0" y="3134299"/>
            <a:ext cx="91440" cy="157541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0" name="Shape 17"/>
          <p:cNvSpPr/>
          <p:nvPr/>
        </p:nvSpPr>
        <p:spPr>
          <a:xfrm>
            <a:off x="7891272" y="2800121"/>
            <a:ext cx="91440" cy="491719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1" name="Shape 18"/>
          <p:cNvSpPr/>
          <p:nvPr/>
        </p:nvSpPr>
        <p:spPr>
          <a:xfrm>
            <a:off x="8010144" y="3059764"/>
            <a:ext cx="91440" cy="23207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2" name="Shape 19"/>
          <p:cNvSpPr/>
          <p:nvPr/>
        </p:nvSpPr>
        <p:spPr>
          <a:xfrm>
            <a:off x="8129016" y="3163098"/>
            <a:ext cx="91440" cy="12874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3" name="Shape 20"/>
          <p:cNvSpPr/>
          <p:nvPr/>
        </p:nvSpPr>
        <p:spPr>
          <a:xfrm>
            <a:off x="8247888" y="2913916"/>
            <a:ext cx="91440" cy="377924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4" name="Shape 21"/>
          <p:cNvSpPr/>
          <p:nvPr/>
        </p:nvSpPr>
        <p:spPr>
          <a:xfrm>
            <a:off x="8366760" y="3148556"/>
            <a:ext cx="91440" cy="143284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5" name="Shape 22"/>
          <p:cNvSpPr/>
          <p:nvPr/>
        </p:nvSpPr>
        <p:spPr>
          <a:xfrm>
            <a:off x="8485632" y="2986286"/>
            <a:ext cx="91440" cy="305554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6" name="Shape 23"/>
          <p:cNvSpPr/>
          <p:nvPr/>
        </p:nvSpPr>
        <p:spPr>
          <a:xfrm>
            <a:off x="8604504" y="3173668"/>
            <a:ext cx="91440" cy="11817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7" name="Shape 24"/>
          <p:cNvSpPr/>
          <p:nvPr/>
        </p:nvSpPr>
        <p:spPr>
          <a:xfrm>
            <a:off x="8723376" y="2917643"/>
            <a:ext cx="91440" cy="374197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8" name="Shape 25"/>
          <p:cNvSpPr/>
          <p:nvPr/>
        </p:nvSpPr>
        <p:spPr>
          <a:xfrm>
            <a:off x="8842248" y="2993360"/>
            <a:ext cx="91440" cy="29848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29" name="Shape 26"/>
          <p:cNvSpPr/>
          <p:nvPr/>
        </p:nvSpPr>
        <p:spPr>
          <a:xfrm>
            <a:off x="6583680" y="4012288"/>
            <a:ext cx="91440" cy="10251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0" name="Shape 27"/>
          <p:cNvSpPr/>
          <p:nvPr/>
        </p:nvSpPr>
        <p:spPr>
          <a:xfrm>
            <a:off x="6702552" y="3894164"/>
            <a:ext cx="91440" cy="22063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1" name="Shape 28"/>
          <p:cNvSpPr/>
          <p:nvPr/>
        </p:nvSpPr>
        <p:spPr>
          <a:xfrm>
            <a:off x="6821424" y="3615855"/>
            <a:ext cx="91440" cy="498945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2" name="Shape 29"/>
          <p:cNvSpPr/>
          <p:nvPr/>
        </p:nvSpPr>
        <p:spPr>
          <a:xfrm>
            <a:off x="6940296" y="3811885"/>
            <a:ext cx="91440" cy="302915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3" name="Shape 30"/>
          <p:cNvSpPr/>
          <p:nvPr/>
        </p:nvSpPr>
        <p:spPr>
          <a:xfrm>
            <a:off x="7059168" y="4046624"/>
            <a:ext cx="91440" cy="6817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4" name="Shape 31"/>
          <p:cNvSpPr/>
          <p:nvPr/>
        </p:nvSpPr>
        <p:spPr>
          <a:xfrm>
            <a:off x="7178040" y="3726734"/>
            <a:ext cx="91440" cy="38806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5" name="Shape 32"/>
          <p:cNvSpPr/>
          <p:nvPr/>
        </p:nvSpPr>
        <p:spPr>
          <a:xfrm>
            <a:off x="7296912" y="3759744"/>
            <a:ext cx="91440" cy="35505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6" name="Shape 33"/>
          <p:cNvSpPr/>
          <p:nvPr/>
        </p:nvSpPr>
        <p:spPr>
          <a:xfrm>
            <a:off x="7415784" y="3723318"/>
            <a:ext cx="91440" cy="39148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7" name="Shape 34"/>
          <p:cNvSpPr/>
          <p:nvPr/>
        </p:nvSpPr>
        <p:spPr>
          <a:xfrm>
            <a:off x="7534656" y="3714630"/>
            <a:ext cx="91440" cy="40017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8" name="Shape 35"/>
          <p:cNvSpPr/>
          <p:nvPr/>
        </p:nvSpPr>
        <p:spPr>
          <a:xfrm>
            <a:off x="7653528" y="3632200"/>
            <a:ext cx="91440" cy="48260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39" name="Shape 36"/>
          <p:cNvSpPr/>
          <p:nvPr/>
        </p:nvSpPr>
        <p:spPr>
          <a:xfrm>
            <a:off x="7772400" y="3782090"/>
            <a:ext cx="91440" cy="332710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0" name="Shape 37"/>
          <p:cNvSpPr/>
          <p:nvPr/>
        </p:nvSpPr>
        <p:spPr>
          <a:xfrm>
            <a:off x="7891272" y="3736856"/>
            <a:ext cx="91440" cy="377944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1" name="Shape 38"/>
          <p:cNvSpPr/>
          <p:nvPr/>
        </p:nvSpPr>
        <p:spPr>
          <a:xfrm>
            <a:off x="8010144" y="3834345"/>
            <a:ext cx="91440" cy="280455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2" name="Shape 39"/>
          <p:cNvSpPr/>
          <p:nvPr/>
        </p:nvSpPr>
        <p:spPr>
          <a:xfrm>
            <a:off x="8129016" y="3982618"/>
            <a:ext cx="91440" cy="13218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3" name="Shape 40"/>
          <p:cNvSpPr/>
          <p:nvPr/>
        </p:nvSpPr>
        <p:spPr>
          <a:xfrm>
            <a:off x="8247888" y="3613466"/>
            <a:ext cx="91440" cy="501334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4" name="Shape 41"/>
          <p:cNvSpPr/>
          <p:nvPr/>
        </p:nvSpPr>
        <p:spPr>
          <a:xfrm>
            <a:off x="8366760" y="3781668"/>
            <a:ext cx="91440" cy="33313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5" name="Shape 42"/>
          <p:cNvSpPr/>
          <p:nvPr/>
        </p:nvSpPr>
        <p:spPr>
          <a:xfrm>
            <a:off x="8485632" y="3743737"/>
            <a:ext cx="91440" cy="371063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6" name="Shape 43"/>
          <p:cNvSpPr/>
          <p:nvPr/>
        </p:nvSpPr>
        <p:spPr>
          <a:xfrm>
            <a:off x="8604504" y="3733246"/>
            <a:ext cx="91440" cy="381554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7" name="Shape 44"/>
          <p:cNvSpPr/>
          <p:nvPr/>
        </p:nvSpPr>
        <p:spPr>
          <a:xfrm>
            <a:off x="8723376" y="3930288"/>
            <a:ext cx="91440" cy="184512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8" name="Shape 45"/>
          <p:cNvSpPr/>
          <p:nvPr/>
        </p:nvSpPr>
        <p:spPr>
          <a:xfrm>
            <a:off x="8842248" y="3623244"/>
            <a:ext cx="91440" cy="491556"/>
          </a:xfrm>
          <a:prstGeom prst="rect">
            <a:avLst/>
          </a:prstGeom>
          <a:solidFill>
            <a:srgbClr val="C9D7D9"/>
          </a:solidFill>
          <a:ln/>
        </p:spPr>
      </p:sp>
      <p:sp>
        <p:nvSpPr>
          <p:cNvPr id="49" name="Text 46"/>
          <p:cNvSpPr/>
          <p:nvPr/>
        </p:nvSpPr>
        <p:spPr>
          <a:xfrm>
            <a:off x="93268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pathway-level: a few named axes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10058400" y="2743200"/>
            <a:ext cx="1316736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1" name="Text 48"/>
          <p:cNvSpPr/>
          <p:nvPr/>
        </p:nvSpPr>
        <p:spPr>
          <a:xfrm>
            <a:off x="914400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10058400" y="3310128"/>
            <a:ext cx="877824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3" name="Text 50"/>
          <p:cNvSpPr/>
          <p:nvPr/>
        </p:nvSpPr>
        <p:spPr>
          <a:xfrm>
            <a:off x="91440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E2F targets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034272" y="3877056"/>
            <a:ext cx="1024128" cy="365760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55" name="Text 52"/>
          <p:cNvSpPr/>
          <p:nvPr/>
        </p:nvSpPr>
        <p:spPr>
          <a:xfrm>
            <a:off x="91440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signalling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9473184" y="4443984"/>
            <a:ext cx="585216" cy="365760"/>
          </a:xfrm>
          <a:prstGeom prst="rect">
            <a:avLst/>
          </a:prstGeom>
          <a:solidFill>
            <a:srgbClr val="C2772B"/>
          </a:solidFill>
          <a:ln/>
        </p:spPr>
      </p:sp>
      <p:sp>
        <p:nvSpPr>
          <p:cNvPr id="57" name="Text 54"/>
          <p:cNvSpPr/>
          <p:nvPr/>
        </p:nvSpPr>
        <p:spPr>
          <a:xfrm>
            <a:off x="9144000" y="4151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10058400" y="2697480"/>
            <a:ext cx="0" cy="2286000"/>
          </a:xfrm>
          <a:prstGeom prst="line">
            <a:avLst/>
          </a:prstGeom>
          <a:noFill/>
          <a:ln w="9525">
            <a:solidFill>
              <a:srgbClr val="5B6B70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MESSAGE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“Better biological representation often improves predictive performance more than changing algorithms.”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matters, features matter, validation matters — before sophisticated models.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leverage: representation and rigour first, algorithm last.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bridge to the practical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ticked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representation matters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vs selection; gene filtering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signatures &amp; pathway features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its three families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Feature-selection leakage &amp; the fix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196480"/>
          </a:xfrm>
          <a:prstGeom prst="roundRect">
            <a:avLst>
              <a:gd name="adj" fmla="val 186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practical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representations of the SAME METABRIC data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genes · variance-filtered · DE genes · signatures · pathways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Logistic Regression on each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ROC-AUC, PR-AUC, #features, stability, interpretability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deliberately leaky workflow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now features are right, we return to improving &amp; validating models.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3229</Words>
  <Application>Microsoft Macintosh PowerPoint</Application>
  <PresentationFormat>Widescreen</PresentationFormat>
  <Paragraphs>375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 — Feature Engineering and Biological Representation</dc:title>
  <dc:subject>PptxGenJS Presentation</dc:subject>
  <dc:creator>Practical ML for Transcriptomics in Cancer Research</dc:creator>
  <cp:lastModifiedBy>Zhan Yinxiu</cp:lastModifiedBy>
  <cp:revision>58</cp:revision>
  <dcterms:created xsi:type="dcterms:W3CDTF">2026-06-17T14:02:34Z</dcterms:created>
  <dcterms:modified xsi:type="dcterms:W3CDTF">2026-06-28T14:03:45Z</dcterms:modified>
</cp:coreProperties>
</file>