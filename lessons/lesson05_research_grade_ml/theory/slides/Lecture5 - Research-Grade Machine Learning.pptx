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26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internal</c:v>
                  </c:pt>
                  <c:pt idx="1">
                    <c:v>external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1226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The shift in perspective: for four lectures you were the builder; today you become the judge. The skill that separates a publishable biomarker from the thousands that fail is demonstrating trust, not a cleverer algorithm.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Trustworthy problem (L1), model (L2), features (L3), improvement &amp; honest validation (L4). You can build and evaluate a model. The hardest thing left: judging whether it is trustworthy and publication-ready. Today: everything that can go wrong, and how to catch it. You move to the reviewer's chair.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Flag the lecture-defining ones: external validation &amp; generalization, exploratory vs confirmatory, and significance vs clinical utility. The deliverable: by the end you can sit in the reviewer's chair.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Provocative open: thousands of signatures published, a tiny fraction used clinically. Why? Usually not bad biology -- the EVIDENCE was never trustworthy. The failures are predictable, and almost all happen AFTER model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Each is a callback and a forward-link. None is about a bad algorithm -- they are evidence failures. Overfitting (L2), small cohorts/pn (L1), dataset bias/batch (L4), no external validation (today), publication bias (the field, not the paper).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Re-anchor the ladder: split -&gt; CV -&gt; nested CV. Each answers 'how well does this pipeline do on data LIKE THIS?' Done right it controls overfitting and tuning optimism. But every rung stays inside the original cohort.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Validate on a DIFFERENT cohort -- hospital, study, population, platform. Closest thing to truth before a trial; tests generalization, not memorization. METABRIC (Illumina) -&gt; GSE6532 (Affymetrix). A model that holds across cohorts has earned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It exposes what internal hides: batch, cohort quirks, leakage that survived CV. Performance almost always drops -- report how much. 'Validated' should mean externally validated. Beware re-tuning until a signature 'passes' -- that's a second training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Models assume the deployment world looks like the training world -- often it doesn't. Distribution shift: the data distribution changes between development and deployment. Sources: population, treatment, platform, lab. The external drop isn't bad luck -- it's a real change in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Covariate: feature distributions differ (new platform, younger cohort). Label: outcome frequency differs (screening cohort, fewer recurrences). Concept: the feature-&gt;outcome relationship itself changes (new standard of care) -- can invalidate the biomarker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All course long we simplified time-to-event recurrence into a binary label -- a deliberate teaching choice. Real outcomes are time-to-event with censoring. Survival models (Cox, conceptually) use the time axis. The validation discipline still applies; the outcome is just richer and more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Computational: can someone rerun your analysis and get your numbers? Scientific (replication): can someone reproduce your finding in new data? Different bars -- passing the first does not guarantee the second. Most published work falls short of even the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Seeds; encapsulated pipelines (refit inside CV); version &amp; environment capture; documentation; open science (code, data where possible, model/spec). Callback (L4): reproducibility is self-defense -- it catches your own leakage before a reviewer.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biomarker can be highly significant and clinically useless. Significance: 'an association exists.' Utility: 'does it change a decision and help a patient?' A tiny HR with a vanishing p-value (large n) may move no decision. Ask: actionability, effect size, added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Actionability (changes management). Incremental value (beats grade/stage/nodal/Ki-67). Net benefit at a usable threshold. A biomarker that doesn't beat tumour grade and isn't actionable won't -- and shouldn't -- be adopted.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Exploratory: generate hypotheses, screen many options -- optimistic by nature. Confirmatory: pre-specify model &amp; endpoint, test ONCE on untouched data. Most published biomarker ML is exploratory dressed as confirmatory -- the core sin. Fix: pre-registration / locked plan + a test set touched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Reviewers aren't hunting for brilliance -- they check whether the CLAIM is supported by the EVIDENCE. Most rejections are a short list of recurring, avoidable problems. The same list is your pre-submission self-review.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Each is an EVIDENCE failure, not an algorithm failure -- the course thesis again. Criticism -&gt; why it matters -&gt; how to avoid.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Run this on any transcriptomic ML paper. Task &amp; n? Validation appropriate (external?)? Leakage avoided (order of operations)? Reproducible (code/data/seeds)? Conclusions justified? Full version is the reviewer checklist handout.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Brief, non-technical. Deep learning (powerful with big data; in pn shares/amplifies pitfalls). Foundation models (validation rules unchanged). Multi-omics integration. Spatial omics. Precision oncology. Banner: the validation rules don't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New methods raise the performance ceiling; they don't lower the evidence bar. Bigger models in small cohorts can fail HARDER and more confidently. Everything transfers: honest validation, leakage discipline, reproducibility, clinical utility. Skepticism is the durable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Question -&gt; Data -&gt; Baseline -&gt; Features -&gt; Model selection -&gt; Validation -&gt; Interpretation -&gt; Publication. Each stage had a lecture and a failure mode. Trustworthiness is built in at every stage, not bolted on. This pipeline IS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 with full weight. Corollaries: failures occur after development; validation &gt; optimization; reproducibility is essential; skepticism is healthy. The empowering close: you can now build, evaluate, AND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Tick objectives. Capstone: receive a FLAWED biomarker analysis, diagnose its flaws (leakage, no external validation, bad preprocessing, overfitting, unsupported interpretation), build a corrected workflow, compare honestly, and WRITE A REVIEWER REPORT with a publish/revise/reject recommendation. You leave able to build, evaluate, review, and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Close the course. Name the through-line; leave the durable charge. The judgment built here outlasts any algorithm. Thank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005840"/>
            <a:ext cx="338328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909560" y="10058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published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8671560" y="1719072"/>
            <a:ext cx="259080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6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305800" y="1719072"/>
            <a:ext cx="332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externally validated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067800" y="2432304"/>
            <a:ext cx="179832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44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702040" y="2432304"/>
            <a:ext cx="252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reproducible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9464040" y="3145536"/>
            <a:ext cx="1005840" cy="566928"/>
          </a:xfrm>
          <a:prstGeom prst="roundRect">
            <a:avLst>
              <a:gd name="adj" fmla="val 6452"/>
            </a:avLst>
          </a:prstGeom>
          <a:solidFill>
            <a:srgbClr val="14A6B0">
              <a:alpha val="2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098280" y="314553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adopted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5  ·  CAPSTONE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169164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Research-Grade</a:t>
            </a:r>
            <a:endParaRPr lang="en-US" sz="3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37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Reproducibility, and Biomarker Development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0690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the model was the easy part. Earning trust is the science.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in Cancer Research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name · Affiliation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we've been, and what's left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problem &amp; data → L2 baseline &amp; validation → L3 features → L4 improvement &amp; honest validation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 and evaluate a predictive model.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left — the hardest — is judging whether a model is trustworthy and publication-ready.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everything that can go wrong in a biomarker study, and how to catch it.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improvement &amp; validation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 (capstone)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09360" y="64922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here → the reviewer's chair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evaluate — and review — a biomarker study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external validation &amp; generalization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cohort / dataset shift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computational &amp; scientific reproducibility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exploratory from confirmatory analysis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statistical significance from clinical utility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limits of transcriptomic biomarkers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publication-quality ML workflow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MOST BIOMARKERS FAIL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Thousands published, very few used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transcriptomic biomarkers published; very few used clinically.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provocative question: why?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usually because the biology was wrong — because the evidence was never trustworthy.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failures are predictable, and almost all happen after model development.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1783080"/>
            <a:ext cx="3657600" cy="749808"/>
          </a:xfrm>
          <a:prstGeom prst="roundRect">
            <a:avLst>
              <a:gd name="adj" fmla="val 6098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17830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published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45680" y="2642616"/>
            <a:ext cx="2865120" cy="749808"/>
          </a:xfrm>
          <a:prstGeom prst="roundRect">
            <a:avLst>
              <a:gd name="adj" fmla="val 6098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45680" y="2642616"/>
            <a:ext cx="286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externally validated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741920" y="3502152"/>
            <a:ext cx="2072640" cy="749808"/>
          </a:xfrm>
          <a:prstGeom prst="roundRect">
            <a:avLst>
              <a:gd name="adj" fmla="val 6098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41920" y="3502152"/>
            <a:ext cx="207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reproducible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138160" y="4361688"/>
            <a:ext cx="1280160" cy="749808"/>
          </a:xfrm>
          <a:prstGeom prst="roundRect">
            <a:avLst>
              <a:gd name="adj" fmla="val 6098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138160" y="436168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adopted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MOST BIOMARKERS FAIL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recurring causes of failure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Shape 6"/>
          <p:cNvSpPr/>
          <p:nvPr/>
        </p:nvSpPr>
        <p:spPr>
          <a:xfrm>
            <a:off x="135331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0" name="Text 7"/>
          <p:cNvSpPr/>
          <p:nvPr/>
        </p:nvSpPr>
        <p:spPr>
          <a:xfrm>
            <a:off x="135331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008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5836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that lived in one dataset's noise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78892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78892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359359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359359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288036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cohorts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289864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estimates, fragile signatures (p ≫ n)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88036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02920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583387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4" name="Text 21"/>
          <p:cNvSpPr/>
          <p:nvPr/>
        </p:nvSpPr>
        <p:spPr>
          <a:xfrm>
            <a:off x="583387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12064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bias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513892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/ site / platform mistaken for biology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12064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6948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269480" y="2194560"/>
            <a:ext cx="2121408" cy="109728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30" name="Shape 27"/>
          <p:cNvSpPr/>
          <p:nvPr/>
        </p:nvSpPr>
        <p:spPr>
          <a:xfrm>
            <a:off x="807415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1" name="Text 28"/>
          <p:cNvSpPr/>
          <p:nvPr/>
        </p:nvSpPr>
        <p:spPr>
          <a:xfrm>
            <a:off x="807415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736092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external validation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37920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tested where it matters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36092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509760" y="2194560"/>
            <a:ext cx="2121408" cy="27432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509760" y="2194560"/>
            <a:ext cx="2121408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7" name="Shape 34"/>
          <p:cNvSpPr/>
          <p:nvPr/>
        </p:nvSpPr>
        <p:spPr>
          <a:xfrm>
            <a:off x="10314432" y="2514600"/>
            <a:ext cx="512064" cy="512064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8" name="Text 35"/>
          <p:cNvSpPr/>
          <p:nvPr/>
        </p:nvSpPr>
        <p:spPr>
          <a:xfrm>
            <a:off x="1031443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39" name="Text 36"/>
          <p:cNvSpPr/>
          <p:nvPr/>
        </p:nvSpPr>
        <p:spPr>
          <a:xfrm>
            <a:off x="9601200" y="3154680"/>
            <a:ext cx="1938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 bias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9619488" y="3749040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lucky, optimistic results get published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601200" y="457200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is a bad algorithm — they are evidence failures.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validation (review)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→ cross-validation → nested cross-validation (Lectures 2 &amp; 4).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rung answers: “how well does this pipeline do on data like this?”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right, internal validation controls overfitting and tuning optimism.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shares one fatal limit: it never leaves the original cohort.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103120"/>
            <a:ext cx="4206240" cy="3200400"/>
          </a:xfrm>
          <a:prstGeom prst="roundRect">
            <a:avLst>
              <a:gd name="adj" fmla="val 1714"/>
            </a:avLst>
          </a:prstGeom>
          <a:solidFill>
            <a:srgbClr val="DCEDEE">
              <a:alpha val="60000"/>
            </a:srgbClr>
          </a:solidFill>
          <a:ln w="19050">
            <a:solidFill>
              <a:srgbClr val="C9D7D9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949440" y="4937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cohort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98080" y="2514600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4980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split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3227832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14A6B0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98080" y="32278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498080" y="3941064"/>
            <a:ext cx="3108960" cy="548640"/>
          </a:xfrm>
          <a:prstGeom prst="roundRect">
            <a:avLst>
              <a:gd name="adj" fmla="val 8333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498080" y="39410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CV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4944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within this data; silent about other data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validation: the true test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a different cohort: different hospital, study, population, platform.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thing to truth before a prospective trial — it tests generalization, not memorization.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example: train on METABRIC (Illumina), test on GSE6532 (Affymetrix) — a real cross-platform test.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holds across cohorts has earned a claim; one that only holds internally has not.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3774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(METABRIC)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823960" y="2926080"/>
            <a:ext cx="64008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509760" y="237744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09760" y="23774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(GSE6532)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132320" y="3749040"/>
          <a:ext cx="40233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/>
          <p:nvPr/>
        </p:nvSpPr>
        <p:spPr>
          <a:xfrm>
            <a:off x="7132320" y="5532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drops — the question is how much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INTERNAL VS EXTERNAL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external validation is so demanding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everything internal validation hides: batch effects, cohort quirks, leakage that survived CV.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almost always drops — the question is how much, and whether it's still useful.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“Validated” should mean externally validated; a held-out split of the same data is not external.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Beware: re-tuning a signature until it “passes” one external cohort just makes it a second training set.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4688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2DED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internal-only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49440" y="29260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held-out split of the SAME cohort — not a test of generalization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23360"/>
            <a:ext cx="4572000" cy="1463040"/>
          </a:xfrm>
          <a:prstGeom prst="roundRect">
            <a:avLst>
              <a:gd name="adj" fmla="val 5000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949440" y="4114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true external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49440" y="44348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cohort (different study / platform), used once — the real generalization test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models fail when transported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assume the world they're applied to looks like the world they trained on — often it doesn't.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shift: the data distribution changes between development and deployment.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different patient populations, treatment protocols, sequencing platforms, laboratories.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external performance drops — not bad luck, but a real change in the data.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4663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4599783"/>
            <a:ext cx="146957" cy="-11394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96397" y="4485840"/>
            <a:ext cx="146957" cy="-1546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43354" y="4331224"/>
            <a:ext cx="146957" cy="-19654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90311" y="4134678"/>
            <a:ext cx="146957" cy="-232929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37269" y="3901749"/>
            <a:ext cx="146957" cy="-25543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84226" y="3646314"/>
            <a:ext cx="146957" cy="-255978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31183" y="3390336"/>
            <a:ext cx="146957" cy="-22900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78140" y="3161337"/>
            <a:ext cx="146957" cy="-17357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25097" y="2987763"/>
            <a:ext cx="146957" cy="-9451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2054" y="2893252"/>
            <a:ext cx="146957" cy="-190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19011" y="2891350"/>
            <a:ext cx="146957" cy="9098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65969" y="2982336"/>
            <a:ext cx="146957" cy="17081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12926" y="3153149"/>
            <a:ext cx="146957" cy="22731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859883" y="3380465"/>
            <a:ext cx="146957" cy="255451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006840" y="3635916"/>
            <a:ext cx="146957" cy="255926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53797" y="3891842"/>
            <a:ext cx="146957" cy="23415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300754" y="4125995"/>
            <a:ext cx="146957" cy="19816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447711" y="4324155"/>
            <a:ext cx="146957" cy="156307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594669" y="4480462"/>
            <a:ext cx="146957" cy="11548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1626" y="4595945"/>
            <a:ext cx="146957" cy="8018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88583" y="4676129"/>
            <a:ext cx="146957" cy="52447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035540" y="4728576"/>
            <a:ext cx="146957" cy="32374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182497" y="4760950"/>
            <a:ext cx="146957" cy="1888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329454" y="4779833"/>
            <a:ext cx="146957" cy="10419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476411" y="4790252"/>
            <a:ext cx="146957" cy="544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623369" y="4795694"/>
            <a:ext cx="146957" cy="269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770326" y="4798387"/>
            <a:ext cx="146957" cy="1263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917283" y="4799650"/>
            <a:ext cx="146957" cy="56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525512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949440" y="4800212"/>
            <a:ext cx="146957" cy="-562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096397" y="4799650"/>
            <a:ext cx="146957" cy="-126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243354" y="4798387"/>
            <a:ext cx="146957" cy="-269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390311" y="4795694"/>
            <a:ext cx="146957" cy="-5442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37269" y="4790252"/>
            <a:ext cx="146957" cy="-10419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4226" y="4779833"/>
            <a:ext cx="146957" cy="-1888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831183" y="4760950"/>
            <a:ext cx="146957" cy="-32374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78140" y="4728576"/>
            <a:ext cx="146957" cy="-52447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125097" y="4676129"/>
            <a:ext cx="146957" cy="-80184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272054" y="4595945"/>
            <a:ext cx="146957" cy="-11548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419011" y="4480462"/>
            <a:ext cx="146957" cy="-156307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565969" y="4324155"/>
            <a:ext cx="146957" cy="-19816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712926" y="4125995"/>
            <a:ext cx="146957" cy="-23415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859883" y="3891842"/>
            <a:ext cx="146957" cy="-25592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006840" y="3635916"/>
            <a:ext cx="146957" cy="-255451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153797" y="3380465"/>
            <a:ext cx="146957" cy="-22731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300754" y="3153149"/>
            <a:ext cx="146957" cy="-17081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447711" y="2982336"/>
            <a:ext cx="146957" cy="-9098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594669" y="2891350"/>
            <a:ext cx="146957" cy="1902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741626" y="2893252"/>
            <a:ext cx="146957" cy="94512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888583" y="2987763"/>
            <a:ext cx="146957" cy="17357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0035540" y="3161337"/>
            <a:ext cx="146957" cy="22900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182497" y="3390336"/>
            <a:ext cx="146957" cy="255978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329454" y="3646314"/>
            <a:ext cx="146957" cy="255435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476411" y="3901749"/>
            <a:ext cx="146957" cy="232929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23369" y="4134678"/>
            <a:ext cx="146957" cy="19654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770326" y="4331224"/>
            <a:ext cx="146957" cy="154616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917283" y="4485840"/>
            <a:ext cx="146957" cy="113943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8842248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6675120" y="51663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assumes these match — often they don't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flavours of shift (with oncology examples)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011680"/>
            <a:ext cx="3529584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Covariate shift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distributions differ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14400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77240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platform's intensities; a younger cohort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61104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61104" y="2011680"/>
            <a:ext cx="3529584" cy="457200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6" name="Text 13"/>
          <p:cNvSpPr/>
          <p:nvPr/>
        </p:nvSpPr>
        <p:spPr>
          <a:xfrm>
            <a:off x="4261104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shift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443984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frequency differs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626864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43984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489704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cohort with far fewer recurrences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973568" y="2011680"/>
            <a:ext cx="3529584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973568" y="2011680"/>
            <a:ext cx="3529584" cy="45720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23" name="Text 20"/>
          <p:cNvSpPr/>
          <p:nvPr/>
        </p:nvSpPr>
        <p:spPr>
          <a:xfrm>
            <a:off x="7973568" y="20116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 shift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156448" y="265176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→ outcome relationship changes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339328" y="3520440"/>
            <a:ext cx="279806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156448" y="36118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 example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02168" y="3931920"/>
            <a:ext cx="3072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standard-of-care therapy alters who recurs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shift can invalidate the biomarker entirely — what it learned is no longer true.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COHORT AND DATASET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back the time: from binary label to survival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course long we simplified time-to-event recurrence into a binary label — a deliberate teaching choice.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outcomes are time-to-event: when does recurrence happen, and who is still at risk / censored?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models (Cox, conceptually) use the time axis and handle censoring — the research-grade framing.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validation discipline still applies; the outcome is just richer and more honest.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949440" y="2377440"/>
            <a:ext cx="43891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0" y="20848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recurrence-free over time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560320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02880" y="2560320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02880" y="2626157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73440" y="2626157"/>
            <a:ext cx="0" cy="87782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73440" y="2713939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0" y="2713939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0" y="2779776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814560" y="2779776"/>
            <a:ext cx="0" cy="65837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14560" y="2845613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485120" y="2845613"/>
            <a:ext cx="0" cy="43891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485120" y="2889504"/>
            <a:ext cx="670560" cy="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155680" y="2889504"/>
            <a:ext cx="0" cy="43891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32320" y="2560320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02880" y="2560320"/>
            <a:ext cx="0" cy="219456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802880" y="2779776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473440" y="2779776"/>
            <a:ext cx="0" cy="263347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473440" y="3043123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144000" y="3043123"/>
            <a:ext cx="0" cy="263347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0" y="3306470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14560" y="3306470"/>
            <a:ext cx="0" cy="241402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814560" y="3547872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485120" y="3547872"/>
            <a:ext cx="0" cy="175565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85120" y="3723437"/>
            <a:ext cx="67056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1155680" y="3723437"/>
            <a:ext cx="0" cy="153619"/>
          </a:xfrm>
          <a:prstGeom prst="line">
            <a:avLst/>
          </a:prstGeom>
          <a:noFill/>
          <a:ln w="25400">
            <a:solidFill>
              <a:srgbClr val="A8403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540496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546336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351008" y="2697480"/>
            <a:ext cx="0" cy="128016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144000" y="2514600"/>
            <a:ext cx="0" cy="2377440"/>
          </a:xfrm>
          <a:prstGeom prst="line">
            <a:avLst/>
          </a:prstGeom>
          <a:noFill/>
          <a:ln w="15240">
            <a:solidFill>
              <a:srgbClr val="5B6B70"/>
            </a:solidFill>
            <a:prstDash val="dash"/>
          </a:ln>
        </p:spPr>
      </p:sp>
      <p:sp>
        <p:nvSpPr>
          <p:cNvPr id="38" name="Text 35"/>
          <p:cNvSpPr/>
          <p:nvPr/>
        </p:nvSpPr>
        <p:spPr>
          <a:xfrm>
            <a:off x="8503920" y="48006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cutoff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10149840" y="2834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0149840" y="4206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132320" y="24871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│ = censored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949440" y="5166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binary label was a scaffold; survival is the honest outcome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— two kinds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reproducibility: can someone rerun your analysis and get your numbers?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reproducibility (replication): can someone reproduce your finding in new data?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different bars — passing the first does not guarantee the second.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Biomarker research needs both; most published work falls short of even the first.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675120" y="246888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the code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3566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+ data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same numbers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246888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235440" y="2651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the finding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23544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/ replication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235440" y="3566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data + new team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same conclusion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675120" y="4937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pass the left and still fail the right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work reproducible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seeds; encapsulated pipelines (everything data-dependent refits inside CV); version &amp; environment capture.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and organised notebooks: every figure and number regenerable from a known state.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science: share code, data (where possible), and the trained model / specification.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 (L4): reproducibility is self-defense — it catches your own leakage before a reviewer does.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07208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044952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044952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pipeline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74920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12664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312664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342632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580376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580376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capture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610344" y="4453128"/>
            <a:ext cx="23774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848088" y="40233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2E7D57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848088" y="40233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release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77240" y="5074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regenerable from a known state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significance ≠ clinical utility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biomarker can be highly statistically significant and still clinically useless.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says “an association exists”; utility asks “does it change a decision and help a patient?”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hazard ratio with a vanishing p-value (large n) may move no treatment decision at all.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questions: actionability, effect size, added value over what clinicians already have.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766560" y="2468880"/>
            <a:ext cx="2194560" cy="2468880"/>
          </a:xfrm>
          <a:prstGeom prst="roundRect">
            <a:avLst>
              <a:gd name="adj" fmla="val 3333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66560" y="2606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766560" y="3291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&lt; 0.0001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766560" y="3794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≈ 1.05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6656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 n)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235440" y="2468880"/>
            <a:ext cx="2377440" cy="2468880"/>
          </a:xfrm>
          <a:prstGeom prst="roundRect">
            <a:avLst>
              <a:gd name="adj" fmla="val 3077"/>
            </a:avLst>
          </a:prstGeom>
          <a:solidFill>
            <a:srgbClr val="F2DED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235440" y="26060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0" y="4206240"/>
            <a:ext cx="1645920" cy="109728"/>
          </a:xfrm>
          <a:prstGeom prst="rect">
            <a:avLst/>
          </a:prstGeom>
          <a:solidFill>
            <a:srgbClr val="A8403A"/>
          </a:solidFill>
          <a:ln/>
        </p:spPr>
      </p:sp>
      <p:sp>
        <p:nvSpPr>
          <p:cNvPr id="16" name="Text 13"/>
          <p:cNvSpPr/>
          <p:nvPr/>
        </p:nvSpPr>
        <p:spPr>
          <a:xfrm>
            <a:off x="923544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235440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no treatment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766560" y="5074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is not useful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clinical utility actually requires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Actionability: the result changes management (escalate, de-escalate, monitor).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value: beats cheap clinical variables already in use (grade, stage, nodal, Ki-67).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benefit at a usable threshold: helps more patients than it harms across a real decision point.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biomarker that doesn't beat tumour grade — and isn't actionable — won't be adopted.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15200" y="4343400"/>
            <a:ext cx="3291840" cy="640080"/>
          </a:xfrm>
          <a:prstGeom prst="roundRect">
            <a:avLst>
              <a:gd name="adj" fmla="val 7143"/>
            </a:avLst>
          </a:prstGeom>
          <a:solidFill>
            <a:srgbClr val="F6E9D8"/>
          </a:solidFill>
          <a:ln w="19050">
            <a:solidFill>
              <a:srgbClr val="C277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(grade, stage, Ki-67)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5200" y="3474720"/>
            <a:ext cx="3291840" cy="640080"/>
          </a:xfrm>
          <a:prstGeom prst="roundRect">
            <a:avLst>
              <a:gd name="adj" fmla="val 7143"/>
            </a:avLst>
          </a:prstGeom>
          <a:solidFill>
            <a:srgbClr val="DCEEE4"/>
          </a:solidFill>
          <a:ln w="19050">
            <a:solidFill>
              <a:srgbClr val="2E7D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0" y="3474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the biomarker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(must clear this)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961120" y="5120640"/>
            <a:ext cx="0" cy="-16459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7315200" y="5212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value over existing tools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INTERPRETABILITY &amp; CLINICAL UTILITY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vs confirmatory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Exploratory: generate hypotheses, screen many options — flexible, but optimistic by nature.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Confirmatory: pre-specify the model and endpoint, then test once on untouched data.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published biomarker ML is exploratory dressed as confirmatory — the core sin.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pre-registration / a locked analysis plan, and a test set touched exactly once.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76656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2743200"/>
            <a:ext cx="274320" cy="2743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01752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7086600" y="3017520"/>
            <a:ext cx="10058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365760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7086600" y="3017520"/>
            <a:ext cx="-539496" cy="64008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86600" y="301752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7086600" y="3017520"/>
            <a:ext cx="10058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86600" y="365760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086600" y="3017520"/>
            <a:ext cx="100584" cy="64008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86600" y="301752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7086600" y="3017520"/>
            <a:ext cx="100584" cy="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26680" y="3657600"/>
            <a:ext cx="201168" cy="201168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7086600" y="3017520"/>
            <a:ext cx="740664" cy="640080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4343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by nature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509760" y="2377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confirmatory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509760" y="274320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50976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analysis plan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10561320" y="3383280"/>
            <a:ext cx="0" cy="548640"/>
          </a:xfrm>
          <a:prstGeom prst="line">
            <a:avLst/>
          </a:prstGeom>
          <a:noFill/>
          <a:ln w="2540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509760" y="397764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9509760" y="3977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once,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 data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766560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sin: exploratory presented as confirmatory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COMMON REVIEWER CRITICISMS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reviewers think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are not hunting for brilliance; they check whether the claim is supported by the evidence.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rejections come from a short list of recurring, avoidable problems.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to anticipate them makes you a better author and a better scientist.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list is your pre-submission self-review.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98080" y="2377440"/>
            <a:ext cx="3566160" cy="2560320"/>
          </a:xfrm>
          <a:prstGeom prst="roundRect">
            <a:avLst>
              <a:gd name="adj" fmla="val 2857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498080" y="2514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reviewer's checklist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2926080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1" name="Text 8"/>
          <p:cNvSpPr/>
          <p:nvPr/>
        </p:nvSpPr>
        <p:spPr>
          <a:xfrm>
            <a:off x="781812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no external validation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726680" y="3255264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3" name="Text 10"/>
          <p:cNvSpPr/>
          <p:nvPr/>
        </p:nvSpPr>
        <p:spPr>
          <a:xfrm>
            <a:off x="7818120" y="32552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leakage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726680" y="3584448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5" name="Text 12"/>
          <p:cNvSpPr/>
          <p:nvPr/>
        </p:nvSpPr>
        <p:spPr>
          <a:xfrm>
            <a:off x="7818120" y="3584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weak biology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726680" y="3913632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7" name="Text 14"/>
          <p:cNvSpPr/>
          <p:nvPr/>
        </p:nvSpPr>
        <p:spPr>
          <a:xfrm>
            <a:off x="7818120" y="39136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circular selection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726680" y="4242816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19" name="Text 16"/>
          <p:cNvSpPr/>
          <p:nvPr/>
        </p:nvSpPr>
        <p:spPr>
          <a:xfrm>
            <a:off x="7818120" y="4242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missing baseline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726680" y="4572000"/>
            <a:ext cx="3108960" cy="274320"/>
          </a:xfrm>
          <a:prstGeom prst="roundRect">
            <a:avLst>
              <a:gd name="adj" fmla="val 13333"/>
            </a:avLst>
          </a:prstGeom>
          <a:solidFill>
            <a:srgbClr val="F2DEDB"/>
          </a:solidFill>
          <a:ln/>
        </p:spPr>
      </p:sp>
      <p:sp>
        <p:nvSpPr>
          <p:cNvPr id="21" name="Text 18"/>
          <p:cNvSpPr/>
          <p:nvPr/>
        </p:nvSpPr>
        <p:spPr>
          <a:xfrm>
            <a:off x="781812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unrealistic AUC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COMMON REVIEWER CRITICISMS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recurring reviewer criticisms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3931920" cy="56692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19202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Criticism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1920240"/>
            <a:ext cx="7132320" cy="56692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90288" y="192024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avoid 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487168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24871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validation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480560" y="248716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90288" y="248716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an independent cohort (METABRIC → GSE6532)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054096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05409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480560" y="3054096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05409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/ scaling / correction inside the split, in a pipeline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3621024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" y="362102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biological interpretation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480560" y="3621024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90288" y="362102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coherent mechanism / plausibility, not a bare gene list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4187952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1879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feature selection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480560" y="4187952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0288" y="418795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 selection inside each CV fold, not on all data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48640" y="4754880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8368" y="47548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baselines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480560" y="4754880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90288" y="475488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clinical variables and a simple model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5321808"/>
            <a:ext cx="3931920" cy="566928"/>
          </a:xfrm>
          <a:prstGeom prst="rect">
            <a:avLst/>
          </a:prstGeom>
          <a:solidFill>
            <a:srgbClr val="F2DEDB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8368" y="53218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Unrealistic performance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480560" y="532180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590288" y="532180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suspiciously high AUC in p ≫ n — be suspicious yourself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is an evidence failure, not an algorithm failure.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HOW TO READ AN ML PAPER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two-minute interrogation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31520" y="1920240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112264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63040" y="19202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&amp; cohort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840480" y="1920240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predicted, for whom? How many patients — plausible for the claim?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31520" y="2761488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14400" y="2953512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63040" y="276148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840480" y="2761488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internal validation — and a genuine external cohort?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31520" y="3602736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379476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63040" y="360273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Leakage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840480" y="3602736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/ scaling / correction done after the split, inside CV?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31520" y="4443984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914400" y="4636008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Text 21"/>
          <p:cNvSpPr/>
          <p:nvPr/>
        </p:nvSpPr>
        <p:spPr>
          <a:xfrm>
            <a:off x="9144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463040" y="444398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840480" y="4443984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data (or justified absence), fixed seeds?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31520" y="5285232"/>
            <a:ext cx="10698480" cy="749808"/>
          </a:xfrm>
          <a:prstGeom prst="roundRect">
            <a:avLst>
              <a:gd name="adj" fmla="val 9756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914400" y="5477256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Text 26"/>
          <p:cNvSpPr/>
          <p:nvPr/>
        </p:nvSpPr>
        <p:spPr>
          <a:xfrm>
            <a:off x="9144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1463040" y="528523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840480" y="5285232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by the evidence — or overreaching (causation, utility)?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FUTURE DIRECTIONS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field is going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learning: powerful with very large data; in p ≫ n it shares — and amplifies — every pitfall.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models: pre-trained, adapted to tasks; promising, but validation rules don't change.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Multi-omics integration: transcriptome + genome / proteome / methylome for a fuller picture.</a:t>
            </a:r>
            <a:endParaRPr lang="en-US" sz="14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omics &amp; precision oncology: the tumour ecosystem in situ, and right-patient / right-drug.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15200" y="2148840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9" name="Shape 6"/>
          <p:cNvSpPr/>
          <p:nvPr/>
        </p:nvSpPr>
        <p:spPr>
          <a:xfrm>
            <a:off x="7452360" y="2267712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0" y="214884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15200" y="2715768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12" name="Shape 9"/>
          <p:cNvSpPr/>
          <p:nvPr/>
        </p:nvSpPr>
        <p:spPr>
          <a:xfrm>
            <a:off x="7452360" y="2834640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0" y="2715768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15200" y="3282696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15" name="Shape 12"/>
          <p:cNvSpPr/>
          <p:nvPr/>
        </p:nvSpPr>
        <p:spPr>
          <a:xfrm>
            <a:off x="7452360" y="3401568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0" y="3282696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multi-omics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315200" y="3849624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18" name="Shape 15"/>
          <p:cNvSpPr/>
          <p:nvPr/>
        </p:nvSpPr>
        <p:spPr>
          <a:xfrm>
            <a:off x="7452360" y="3968496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0" y="3849624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omics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315200" y="4416552"/>
            <a:ext cx="4023360" cy="475488"/>
          </a:xfrm>
          <a:prstGeom prst="roundRect">
            <a:avLst>
              <a:gd name="adj" fmla="val 9615"/>
            </a:avLst>
          </a:prstGeom>
          <a:solidFill>
            <a:srgbClr val="DCEDEE"/>
          </a:solidFill>
          <a:ln/>
        </p:spPr>
      </p:sp>
      <p:sp>
        <p:nvSpPr>
          <p:cNvPr id="21" name="Shape 18"/>
          <p:cNvSpPr/>
          <p:nvPr/>
        </p:nvSpPr>
        <p:spPr>
          <a:xfrm>
            <a:off x="7452360" y="4535424"/>
            <a:ext cx="237744" cy="23774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0" y="44165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oncology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315200" y="5029200"/>
            <a:ext cx="4023360" cy="457200"/>
          </a:xfrm>
          <a:prstGeom prst="roundRect">
            <a:avLst>
              <a:gd name="adj" fmla="val 10000"/>
            </a:avLst>
          </a:prstGeom>
          <a:solidFill>
            <a:srgbClr val="0B3B40"/>
          </a:solidFill>
          <a:ln/>
        </p:spPr>
      </p:sp>
      <p:sp>
        <p:nvSpPr>
          <p:cNvPr id="24" name="Text 21"/>
          <p:cNvSpPr/>
          <p:nvPr/>
        </p:nvSpPr>
        <p:spPr>
          <a:xfrm>
            <a:off x="7315200" y="5029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rules don't change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FUTURE DIRECTIONS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methods raise the ceiling — not lower the bar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methods raise the ceiling on performance — they do not lower the bar for evidence.</a:t>
            </a:r>
            <a:endParaRPr lang="en-US" sz="15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Bigger, fancier models in small cohorts can fail harder and more confidently.</a:t>
            </a:r>
            <a:endParaRPr lang="en-US" sz="15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this course transfers: honest validation, leakage discipline, reproducibility, clinical utility.</a:t>
            </a:r>
            <a:endParaRPr lang="en-US" sz="15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skepticism is the durable skill; the algorithms will keep changing.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0" y="228600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32320" y="22860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&gt; algorithm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966960" y="2286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0424160" y="2569464"/>
            <a:ext cx="640080" cy="1060704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132320" y="315468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132320" y="31546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&gt; algorithm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966960" y="31546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0424160" y="3438144"/>
            <a:ext cx="640080" cy="192024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132320" y="4023360"/>
            <a:ext cx="2834640" cy="566928"/>
          </a:xfrm>
          <a:prstGeom prst="roundRect">
            <a:avLst>
              <a:gd name="adj" fmla="val 8065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132320" y="40233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&gt; novelty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9966960" y="40233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424160" y="4306824"/>
            <a:ext cx="640080" cy="-676656"/>
          </a:xfrm>
          <a:prstGeom prst="line">
            <a:avLst/>
          </a:prstGeom>
          <a:noFill/>
          <a:ln w="12700">
            <a:solidFill>
              <a:srgbClr val="C9D7D9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0881360" y="3291840"/>
            <a:ext cx="914400" cy="914400"/>
          </a:xfrm>
          <a:prstGeom prst="ellipse">
            <a:avLst/>
          </a:prstGeom>
          <a:solidFill>
            <a:srgbClr val="0B3B40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10881360" y="3291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· COURSE 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end-to-end workflow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39496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9496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33372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901952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938528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38528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232404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300984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3337560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337560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631436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700016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736592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736592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030468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099048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135624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135624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429500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7498080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7534656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534656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L4–5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828532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897112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933688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933688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L4–5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10227564" y="2926080"/>
            <a:ext cx="128016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10296144" y="2468880"/>
            <a:ext cx="132588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0332720" y="2578608"/>
            <a:ext cx="1252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10332720" y="3090672"/>
            <a:ext cx="1252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Trustworthiness is built in at every stage — not bolted on at the end. This pipeline is the course.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hardest part of machine learning is not training a model.</a:t>
            </a:r>
            <a:endParaRPr lang="en-US" sz="2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demonstrating that the model is trustworthy.”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biomarker failures occur after model development; validation matters more than optimization.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essential; scientific skepticism is healthy, not cynical.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build, evaluate, and review a predictive model — and recognise the failure modes that sink most.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the capstone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&amp; review a biomarker study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&amp; generalization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/ dataset shift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(two kinds)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vs clinical utility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publication-quality workflow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77640"/>
          </a:xfrm>
          <a:prstGeom prst="roundRect">
            <a:avLst>
              <a:gd name="adj" fmla="val 1839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deliberately flawed biomarker analysis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its flaws: leakage, no external validation, bad preprocessing, overfitting, unsupported interpretation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corrected workflow and compare honestly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reviewer report: publish / revise / reject — with justification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· evaluate · review · design — the goal of the whole course.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 problem → model → features → validation → study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charge: be the scientist who asks </a:t>
            </a:r>
            <a:pPr indent="0" marL="0">
              <a:buNone/>
            </a:pPr>
            <a:r>
              <a:rPr lang="en-US" sz="16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“but does it replicate, and does it help a patient?”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checklist and failure case-studies are yours to keep and reuse.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754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will be obsolete in a few years. The judgment — to demand validation, to distrust a number until it earns trust, to ask whether it helps a patient — will not.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778240" y="1371600"/>
            <a:ext cx="292608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503920" y="1371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28760" y="2048256"/>
            <a:ext cx="222504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6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8854440" y="2048256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479280" y="2724912"/>
            <a:ext cx="1524000" cy="548640"/>
          </a:xfrm>
          <a:prstGeom prst="roundRect">
            <a:avLst>
              <a:gd name="adj" fmla="val 6667"/>
            </a:avLst>
          </a:prstGeom>
          <a:solidFill>
            <a:srgbClr val="14A6B0">
              <a:alpha val="44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9204960" y="2724912"/>
            <a:ext cx="207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829800" y="3401568"/>
            <a:ext cx="822960" cy="548640"/>
          </a:xfrm>
          <a:prstGeom prst="roundRect">
            <a:avLst>
              <a:gd name="adj" fmla="val 6667"/>
            </a:avLst>
          </a:prstGeom>
          <a:solidFill>
            <a:srgbClr val="2E7D57"/>
          </a:solidFill>
          <a:ln/>
        </p:spPr>
      </p:sp>
      <p:sp>
        <p:nvSpPr>
          <p:cNvPr id="14" name="Text 12"/>
          <p:cNvSpPr/>
          <p:nvPr/>
        </p:nvSpPr>
        <p:spPr>
          <a:xfrm>
            <a:off x="9555480" y="34015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84080" y="40782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5 — Research-Grade Machine Learning</dc:title>
  <dc:subject>PptxGenJS Presentation</dc:subject>
  <dc:creator>Practical ML for Transcriptomics in Cancer Research</dc:creator>
  <cp:lastModifiedBy>Practical ML for Transcriptomics in Cancer Research</cp:lastModifiedBy>
  <cp:revision>1</cp:revision>
  <dcterms:created xsi:type="dcterms:W3CDTF">2026-06-17T15:53:42Z</dcterms:created>
  <dcterms:modified xsi:type="dcterms:W3CDTF">2026-06-17T15:53:42Z</dcterms:modified>
</cp:coreProperties>
</file>