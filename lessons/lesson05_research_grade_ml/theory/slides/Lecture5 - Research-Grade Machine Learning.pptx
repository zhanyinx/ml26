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1" d="100"/>
          <a:sy n="131" d="100"/>
        </p:scale>
        <p:origin x="3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2262B"/>
                    </a:solidFill>
                    <a:latin typeface="Arial"/>
                  </a:defRPr>
                </a:pPr>
                <a:endParaRPr lang="en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internal</c:v>
                </c:pt>
                <c:pt idx="1">
                  <c:v>external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</c:v>
                </c:pt>
                <c:pt idx="1">
                  <c:v>0.64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84A-E04E-B167-6791F7CBEFA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5"/>
          <c:min val="0.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33122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The shift in perspective: for four lectures you were the builder; today you become the judge. The skill that separates a publishable biomarker from the thousands that fail is demonstrating trust, not a cleverer algorithm.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Trustworthy problem (L1), model (L2), features (L3), improvement &amp; honest validation (L4). You can build and evaluate a model. The hardest thing left: judging whether it is trustworthy and publication-ready. Today: everything that can go wrong, and how to catch it. You move to the reviewer's chair.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Flag the lecture-defining ones: external validation &amp; generalization, exploratory vs confirmatory, and significance vs clinical utility. The deliverable: by the end you can sit in the reviewer's chair.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Provocative open: thousands of signatures published, a tiny fraction used clinically. Why? Usually not bad biology -- the EVIDENCE was never trustworthy. The failures are predictable, and almost all happen AFTER model development.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Each is a callback and a forward-link. None is about a bad algorithm -- they are evidence failures. Overfitting (L2), small cohorts/pn (L1), dataset bias/batch (L4), no external validation (today), publication bias (the field, not the paper).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Re-anchor the ladder: split -&gt; CV -&gt; nested CV. Each answers 'how well does this pipeline do on data LIKE THIS?' Done right it controls overfitting and tuning optimism. But every rung stays inside the original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Validate on a DIFFERENT cohort -- hospital, study, population, platform. Closest thing to truth before a trial; tests generalization, not memorization. METABRIC (Illumina) -&gt; GSE6532 (Affymetrix). A model that holds across cohorts has earned a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It exposes what internal hides: batch, cohort quirks, leakage that survived CV. Performance almost always drops -- report how much. 'Validated' should mean externally validated. Beware re-tuning until a signature 'passes' -- that's a second training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Models assume the deployment world looks like the training world -- often it doesn't. Distribution shift: the data distribution changes between development and deployment. Sources: population, treatment, platform, lab. The external drop isn't bad luck -- it's a real change in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Covariate: feature distributions differ (new platform, younger cohort). Label: outcome frequency differs (screening cohort, fewer recurrences). Concept: the feature-&gt;outcome relationship itself changes (new standard of care) -- can invalidate the biomarker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All course long we simplified time-to-event recurrence into a binary label -- a deliberate teaching choice. Real outcomes are time-to-event with censoring. Survival models (Cox, conceptually) use the time axis. The validation discipline still applies; the outcome is just richer and more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Computational: can someone rerun your analysis and get your numbers? Scientific (replication): can someone reproduce your finding in new data? Different bars -- passing the first does not guarantee the second. Most published work falls short of even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Seeds; encapsulated pipelines (refit inside CV); version &amp; environment capture; documentation; open science (code, data where possible, model/spec). Callback (L4): reproducibility is self-defense -- it catches your own leakage before a reviewer.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 biomarker can be highly significant and clinically useless. Significance: 'an association exists.' Utility: 'does it change a decision and help a patient?' A tiny HR with a vanishing p-value (large n) may move no decision. Ask: actionability, effect size, added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Actionability (changes management). Incremental value (beats grade/stage/nodal/Ki-67). Net benefit at a usable threshold. A biomarker that doesn't beat tumour grade and isn't actionable won't -- and shouldn't -- be adopted.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Exploratory: generate hypotheses, screen many options -- optimistic by nature. Confirmatory: pre-specify model &amp; endpoint, test ONCE on untouched data. Most published biomarker ML is exploratory dressed as confirmatory -- the core sin. Fix: pre-registration / locked plan + a test set touched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Reviewers aren't hunting for brilliance -- they check whether the CLAIM is supported by the EVIDENCE. Most rejections are a short list of recurring, avoidable problems. The same list is your pre-submission self-review.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Each is an EVIDENCE failure, not an algorithm failure -- the course thesis again. Criticism -&gt; why it matters -&gt; how to avoid.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Run this on any transcriptomic ML paper. Task &amp; n? Validation appropriate (external?)? Leakage avoided (order of operations)? Reproducible (code/data/seeds)? Conclusions justified? Full version is the reviewer checklist handout.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Brief, non-technical. Deep learning (powerful with big data; in pn shares/amplifies pitfalls). Foundation models (validation rules unchanged). Multi-omics integration. Spatial omics. Precision oncology. Banner: the validation rules don't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New methods raise the performance ceiling; they don't lower the evidence bar. Bigger models in small cohorts can fail HARDER and more confidently. Everything transfers: honest validation, leakage discipline, reproducibility, clinical utility. Skepticism is the durable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Question -&gt; Data -&gt; Baseline -&gt; Features -&gt; Model selection -&gt; Validation -&gt; Interpretation -&gt; Publication. Each stage had a lecture and a failure mode. Trustworthiness is built in at every stage, not bolted on. This pipeline IS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Deliver the thesis with full weight. Corollaries: failures occur after development; validation &gt; optimization; reproducibility is essential; skepticism is healthy. The empowering close: you can now build, evaluate, AND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Tick objectives. Capstone: receive a FLAWED biomarker analysis, diagnose its flaws (leakage, no external validation, bad preprocessing, overfitting, unsupported interpretation), build a corrected workflow, compare honestly, and WRITE A REVIEWER REPORT with a publish/revise/reject recommendation. You leave able to build, evaluate, review, and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Close the course. Name the through-line; leave the durable charge. The judgment built here outlasts any algorithm. Thank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?>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?>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?>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?>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?>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1005840"/>
            <a:ext cx="3383280" cy="566928"/>
          </a:xfrm>
          <a:prstGeom prst="roundRect">
            <a:avLst>
              <a:gd name="adj" fmla="val 6452"/>
            </a:avLst>
          </a:prstGeom>
          <a:solidFill>
            <a:srgbClr val="14A6B0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909560" y="100584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published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671560" y="1719072"/>
            <a:ext cx="2590800" cy="566928"/>
          </a:xfrm>
          <a:prstGeom prst="roundRect">
            <a:avLst>
              <a:gd name="adj" fmla="val 6452"/>
            </a:avLst>
          </a:prstGeom>
          <a:solidFill>
            <a:srgbClr val="14A6B0">
              <a:alpha val="6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305800" y="1719072"/>
            <a:ext cx="332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externally validated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9067800" y="2432304"/>
            <a:ext cx="1798320" cy="566928"/>
          </a:xfrm>
          <a:prstGeom prst="roundRect">
            <a:avLst>
              <a:gd name="adj" fmla="val 6452"/>
            </a:avLst>
          </a:prstGeom>
          <a:solidFill>
            <a:srgbClr val="14A6B0">
              <a:alpha val="44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8702040" y="2432304"/>
            <a:ext cx="252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reproducible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464040" y="3145536"/>
            <a:ext cx="1005840" cy="566928"/>
          </a:xfrm>
          <a:prstGeom prst="roundRect">
            <a:avLst>
              <a:gd name="adj" fmla="val 6452"/>
            </a:avLst>
          </a:prstGeom>
          <a:solidFill>
            <a:srgbClr val="14A6B0">
              <a:alpha val="26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9098280" y="314553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adopted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4008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5  ·  CAPSTONE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169164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Research-Grade</a:t>
            </a:r>
            <a:endParaRPr lang="en-US" sz="37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Learning</a:t>
            </a:r>
            <a:endParaRPr lang="en-US" sz="3700" dirty="0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Reproducibility, and Biomarker Development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40690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4A6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the model was the easy part. Earning trust is the science.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5532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in Cancer Research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Y. Zhan · IEO/UNIMI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we've been, and what's left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problem &amp; data → L2 baseline &amp; validation → L3 features → L4 improvement &amp; honest validation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 build and evaluate a predictive model.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left — the hardest — is judging whether a model is trustworthy and publication-ready.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everything that can go wrong in a biomarker study, and how to catch it.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309360" y="1783080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10528" y="1984248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</p:sp>
      <p:sp>
        <p:nvSpPr>
          <p:cNvPr id="10" name="Text 7"/>
          <p:cNvSpPr/>
          <p:nvPr/>
        </p:nvSpPr>
        <p:spPr>
          <a:xfrm>
            <a:off x="6510528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40880" y="1783080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question → ML problem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2715768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10528" y="2916936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</p:sp>
      <p:sp>
        <p:nvSpPr>
          <p:cNvPr id="14" name="Text 11"/>
          <p:cNvSpPr/>
          <p:nvPr/>
        </p:nvSpPr>
        <p:spPr>
          <a:xfrm>
            <a:off x="6510528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040880" y="2715768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first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309360" y="3648456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10528" y="3849624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3849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040880" y="3648456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representation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309360" y="4581144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10528" y="4782312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</p:sp>
      <p:sp>
        <p:nvSpPr>
          <p:cNvPr id="22" name="Text 19"/>
          <p:cNvSpPr/>
          <p:nvPr/>
        </p:nvSpPr>
        <p:spPr>
          <a:xfrm>
            <a:off x="6510528" y="4782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040880" y="458114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improvement &amp; validation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309360" y="5513832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510528" y="571500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6510528" y="5715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040880" y="5513832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Research-grade ML (capstone)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309360" y="64922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here → the reviewer's chair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Critically evaluate — and review — a biomarker study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external validation &amp; generalization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152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7" name="Text 14"/>
          <p:cNvSpPr/>
          <p:nvPr/>
        </p:nvSpPr>
        <p:spPr>
          <a:xfrm>
            <a:off x="73152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cohort / dataset shift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152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18872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computational &amp; scientific reproducibility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30936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9224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5" name="Text 22"/>
          <p:cNvSpPr/>
          <p:nvPr/>
        </p:nvSpPr>
        <p:spPr>
          <a:xfrm>
            <a:off x="649224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94944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exploratory from confirmatory analysis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30936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9224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9" name="Text 26"/>
          <p:cNvSpPr/>
          <p:nvPr/>
        </p:nvSpPr>
        <p:spPr>
          <a:xfrm>
            <a:off x="649224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94944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statistical significance from clinical utility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30936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9224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3" name="Text 30"/>
          <p:cNvSpPr/>
          <p:nvPr/>
        </p:nvSpPr>
        <p:spPr>
          <a:xfrm>
            <a:off x="649224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94944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limits of transcriptomic biomarkers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30936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49224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7" name="Text 34"/>
          <p:cNvSpPr/>
          <p:nvPr/>
        </p:nvSpPr>
        <p:spPr>
          <a:xfrm>
            <a:off x="649224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94944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publication-quality ML workflow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 MOST BIOMARKERS FAIL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Thousands published, very few used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transcriptomic biomarkers published; very few used clinically.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provocative question: why?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usually because the biology was wrong — because the evidence was never trustworthy.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failures are predictable, and almost all happen after model development.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949440" y="1783080"/>
            <a:ext cx="3657600" cy="749808"/>
          </a:xfrm>
          <a:prstGeom prst="roundRect">
            <a:avLst>
              <a:gd name="adj" fmla="val 6098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949440" y="178308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published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345680" y="2642616"/>
            <a:ext cx="2865120" cy="749808"/>
          </a:xfrm>
          <a:prstGeom prst="roundRect">
            <a:avLst>
              <a:gd name="adj" fmla="val 6098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45680" y="2642616"/>
            <a:ext cx="2865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externally validated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741920" y="3502152"/>
            <a:ext cx="2072640" cy="749808"/>
          </a:xfrm>
          <a:prstGeom prst="roundRect">
            <a:avLst>
              <a:gd name="adj" fmla="val 6098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41920" y="3502152"/>
            <a:ext cx="207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reproducible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138160" y="4361688"/>
            <a:ext cx="1280160" cy="749808"/>
          </a:xfrm>
          <a:prstGeom prst="roundRect">
            <a:avLst>
              <a:gd name="adj" fmla="val 6098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138160" y="4361688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adopted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 MOST BIOMARKERS FAIL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recurring causes of failure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2121408" cy="27432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94560"/>
            <a:ext cx="2121408" cy="1097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" name="Shape 6"/>
          <p:cNvSpPr/>
          <p:nvPr/>
        </p:nvSpPr>
        <p:spPr>
          <a:xfrm>
            <a:off x="1353312" y="2514600"/>
            <a:ext cx="512064" cy="512064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0" name="Text 7"/>
          <p:cNvSpPr/>
          <p:nvPr/>
        </p:nvSpPr>
        <p:spPr>
          <a:xfrm>
            <a:off x="1353312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40080" y="3154680"/>
            <a:ext cx="193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Overfitting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58368" y="3749040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that lived in one dataset's noise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40080" y="45720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2788920" y="2194560"/>
            <a:ext cx="2121408" cy="27432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2788920" y="2194560"/>
            <a:ext cx="2121408" cy="1097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6" name="Shape 13"/>
          <p:cNvSpPr/>
          <p:nvPr/>
        </p:nvSpPr>
        <p:spPr>
          <a:xfrm>
            <a:off x="3593592" y="2514600"/>
            <a:ext cx="512064" cy="512064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7" name="Text 14"/>
          <p:cNvSpPr/>
          <p:nvPr/>
        </p:nvSpPr>
        <p:spPr>
          <a:xfrm>
            <a:off x="3593592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2880360" y="3154680"/>
            <a:ext cx="193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cohorts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2898648" y="3749040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estimates, fragile signatures (p ≫ n)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2880360" y="45720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0" y="2194560"/>
            <a:ext cx="2121408" cy="27432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029200" y="2194560"/>
            <a:ext cx="2121408" cy="1097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3" name="Shape 20"/>
          <p:cNvSpPr/>
          <p:nvPr/>
        </p:nvSpPr>
        <p:spPr>
          <a:xfrm>
            <a:off x="5833872" y="2514600"/>
            <a:ext cx="512064" cy="512064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4" name="Text 21"/>
          <p:cNvSpPr/>
          <p:nvPr/>
        </p:nvSpPr>
        <p:spPr>
          <a:xfrm>
            <a:off x="5833872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5120640" y="3154680"/>
            <a:ext cx="193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bias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5138928" y="3749040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/ site / platform mistaken for biology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5120640" y="45720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269480" y="2194560"/>
            <a:ext cx="2121408" cy="27432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269480" y="2194560"/>
            <a:ext cx="2121408" cy="109728"/>
          </a:xfrm>
          <a:prstGeom prst="rect">
            <a:avLst/>
          </a:prstGeom>
          <a:solidFill>
            <a:srgbClr val="C2772B"/>
          </a:solidFill>
          <a:ln/>
        </p:spPr>
      </p:sp>
      <p:sp>
        <p:nvSpPr>
          <p:cNvPr id="30" name="Shape 27"/>
          <p:cNvSpPr/>
          <p:nvPr/>
        </p:nvSpPr>
        <p:spPr>
          <a:xfrm>
            <a:off x="8074152" y="2514600"/>
            <a:ext cx="512064" cy="512064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1" name="Text 28"/>
          <p:cNvSpPr/>
          <p:nvPr/>
        </p:nvSpPr>
        <p:spPr>
          <a:xfrm>
            <a:off x="8074152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7360920" y="3154680"/>
            <a:ext cx="193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external validation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7379208" y="3749040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tested where it matters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7360920" y="45720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9509760" y="2194560"/>
            <a:ext cx="2121408" cy="27432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509760" y="2194560"/>
            <a:ext cx="2121408" cy="1097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7" name="Shape 34"/>
          <p:cNvSpPr/>
          <p:nvPr/>
        </p:nvSpPr>
        <p:spPr>
          <a:xfrm>
            <a:off x="10314432" y="2514600"/>
            <a:ext cx="512064" cy="512064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8" name="Text 35"/>
          <p:cNvSpPr/>
          <p:nvPr/>
        </p:nvSpPr>
        <p:spPr>
          <a:xfrm>
            <a:off x="10314432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39" name="Text 36"/>
          <p:cNvSpPr/>
          <p:nvPr/>
        </p:nvSpPr>
        <p:spPr>
          <a:xfrm>
            <a:off x="9601200" y="3154680"/>
            <a:ext cx="193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Publication bias</a:t>
            </a:r>
            <a:endParaRPr lang="en-US" sz="1350" dirty="0"/>
          </a:p>
        </p:txBody>
      </p:sp>
      <p:sp>
        <p:nvSpPr>
          <p:cNvPr id="40" name="Text 37"/>
          <p:cNvSpPr/>
          <p:nvPr/>
        </p:nvSpPr>
        <p:spPr>
          <a:xfrm>
            <a:off x="9619488" y="3749040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lucky, optimistic results get published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601200" y="45720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these is a bad algorithm — they are evidence failures.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INTERNAL VS EXTERNAL 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Internal validation (review)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394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split → cross-validation → nested cross-validation (Lectures 2 &amp; 4).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rung answers: “how well does this pipeline do on data like this?”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right, internal validation controls overfitting and tuning optimism.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shares one fatal limit: it never leaves the original cohort.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949440" y="2103120"/>
            <a:ext cx="4206240" cy="3200400"/>
          </a:xfrm>
          <a:prstGeom prst="roundRect">
            <a:avLst>
              <a:gd name="adj" fmla="val 1714"/>
            </a:avLst>
          </a:prstGeom>
          <a:solidFill>
            <a:srgbClr val="DCEDEE">
              <a:alpha val="60000"/>
            </a:srgbClr>
          </a:solidFill>
          <a:ln w="19050">
            <a:solidFill>
              <a:srgbClr val="C9D7D9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6949440" y="4937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cohort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498080" y="2514600"/>
            <a:ext cx="3108960" cy="548640"/>
          </a:xfrm>
          <a:prstGeom prst="roundRect">
            <a:avLst>
              <a:gd name="adj" fmla="val 8333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49808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split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498080" y="3227832"/>
            <a:ext cx="3108960" cy="548640"/>
          </a:xfrm>
          <a:prstGeom prst="roundRect">
            <a:avLst>
              <a:gd name="adj" fmla="val 8333"/>
            </a:avLst>
          </a:prstGeom>
          <a:solidFill>
            <a:srgbClr val="14A6B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98080" y="32278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498080" y="3941064"/>
            <a:ext cx="3108960" cy="548640"/>
          </a:xfrm>
          <a:prstGeom prst="roundRect">
            <a:avLst>
              <a:gd name="adj" fmla="val 8333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498080" y="394106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CV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949440" y="17373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within this data; silent about other data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INTERNAL VS EXTERNAL 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 validation: the true test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on a different cohort: different hospital, study, population, platform.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closest thing to truth before a prospective trial — it tests generalization, not memorization.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example: train on METABRIC (Illumina), test on GSE6532 (Affymetrix) — a real cross-platform test.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holds across cohorts has earned a claim; one that only holds internally has not.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675120" y="2377440"/>
            <a:ext cx="2103120" cy="1097280"/>
          </a:xfrm>
          <a:prstGeom prst="roundRect">
            <a:avLst>
              <a:gd name="adj" fmla="val 6667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675120" y="23774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(METABRIC)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823960" y="2926080"/>
            <a:ext cx="64008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9509760" y="2377440"/>
            <a:ext cx="2103120" cy="1097280"/>
          </a:xfrm>
          <a:prstGeom prst="roundRect">
            <a:avLst>
              <a:gd name="adj" fmla="val 6667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509760" y="23774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(GSE6532)</a:t>
            </a:r>
            <a:endParaRPr lang="en-US" sz="1200" dirty="0"/>
          </a:p>
        </p:txBody>
      </p:sp>
      <p:graphicFrame>
        <p:nvGraphicFramePr>
          <p:cNvPr id="13" name="Chart 0"/>
          <p:cNvGraphicFramePr/>
          <p:nvPr/>
        </p:nvGraphicFramePr>
        <p:xfrm>
          <a:off x="7132320" y="3749040"/>
          <a:ext cx="402336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Text 10"/>
          <p:cNvSpPr/>
          <p:nvPr/>
        </p:nvSpPr>
        <p:spPr>
          <a:xfrm>
            <a:off x="7132320" y="55321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drops — the question is how much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INTERNAL VS EXTERNAL 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external validation is so demanding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exposes everything internal validation hides: batch effects, cohort quirks, leakage that survived CV.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almost always drops — the question is how much, and whether it's still useful.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“Validated” should mean externally validated; a held-out split of the same data is not external.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Beware: re-tuning a signature until it “passes” one external cohort just makes it a second training set.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766560" y="246888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F2DED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9494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internal-only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49440" y="29260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held-out split of the SAME cohort — not a test of generalization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66560" y="4023360"/>
            <a:ext cx="4572000" cy="1463040"/>
          </a:xfrm>
          <a:prstGeom prst="roundRect">
            <a:avLst>
              <a:gd name="adj" fmla="val 5000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949440" y="41148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true external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949440" y="44348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INDEPENDENT cohort (different study / platform), used once — the real generalization test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COHORT AND DATASET SHIFT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models fail when transported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assume the world they're applied to looks like the world they trained on — often it doesn't.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shift: the data distribution changes between development and deployment.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different patient populations, treatment protocols, sequencing platforms, laboratories.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external performance drops — not bad luck, but a real change in the data.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675120" y="2377440"/>
            <a:ext cx="4663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601" name="dist"/>
          <p:cNvSpPr/>
          <p:nvPr/>
        </p:nvSpPr>
        <p:spPr>
          <a:xfrm>
            <a:off x="6875120" y="2639693"/>
            <a:ext cx="4313440" cy="2280804"/>
          </a:xfrm>
          <a:custGeom>
            <a:avLst/>
            <a:gdLst/>
            <a:ahLst/>
            <a:cxnLst/>
            <a:rect l="0" t="0" r="0" b="0"/>
            <a:pathLst>
              <a:path w="4313440" h="2280804">
                <a:moveTo>
                  <a:pt x="0" y="2106006"/>
                </a:moveTo>
                <a:lnTo>
                  <a:pt x="71890" y="2057287"/>
                </a:lnTo>
                <a:lnTo>
                  <a:pt x="143781" y="1998509"/>
                </a:lnTo>
                <a:lnTo>
                  <a:pt x="215672" y="1928660"/>
                </a:lnTo>
                <a:lnTo>
                  <a:pt x="287562" y="1846928"/>
                </a:lnTo>
                <a:lnTo>
                  <a:pt x="359453" y="1752795"/>
                </a:lnTo>
                <a:lnTo>
                  <a:pt x="431344" y="1646132"/>
                </a:lnTo>
                <a:lnTo>
                  <a:pt x="503234" y="1527289"/>
                </a:lnTo>
                <a:lnTo>
                  <a:pt x="575125" y="1397176"/>
                </a:lnTo>
                <a:lnTo>
                  <a:pt x="647016" y="1257316"/>
                </a:lnTo>
                <a:lnTo>
                  <a:pt x="718906" y="1109870"/>
                </a:lnTo>
                <a:lnTo>
                  <a:pt x="790797" y="957624"/>
                </a:lnTo>
                <a:lnTo>
                  <a:pt x="862688" y="803933"/>
                </a:lnTo>
                <a:lnTo>
                  <a:pt x="934578" y="652619"/>
                </a:lnTo>
                <a:lnTo>
                  <a:pt x="1006469" y="507830"/>
                </a:lnTo>
                <a:lnTo>
                  <a:pt x="1078360" y="373858"/>
                </a:lnTo>
                <a:lnTo>
                  <a:pt x="1150250" y="254930"/>
                </a:lnTo>
                <a:lnTo>
                  <a:pt x="1222141" y="154994"/>
                </a:lnTo>
                <a:lnTo>
                  <a:pt x="1294032" y="77501"/>
                </a:lnTo>
                <a:lnTo>
                  <a:pt x="1365922" y="25204"/>
                </a:lnTo>
                <a:lnTo>
                  <a:pt x="1437813" y="0"/>
                </a:lnTo>
                <a:lnTo>
                  <a:pt x="1509704" y="2815"/>
                </a:lnTo>
                <a:lnTo>
                  <a:pt x="1581594" y="33543"/>
                </a:lnTo>
                <a:lnTo>
                  <a:pt x="1653485" y="91060"/>
                </a:lnTo>
                <a:lnTo>
                  <a:pt x="1725376" y="173287"/>
                </a:lnTo>
                <a:lnTo>
                  <a:pt x="1797266" y="277316"/>
                </a:lnTo>
                <a:lnTo>
                  <a:pt x="1869157" y="399581"/>
                </a:lnTo>
                <a:lnTo>
                  <a:pt x="1941048" y="536061"/>
                </a:lnTo>
                <a:lnTo>
                  <a:pt x="2012938" y="682496"/>
                </a:lnTo>
                <a:lnTo>
                  <a:pt x="2084829" y="834609"/>
                </a:lnTo>
                <a:lnTo>
                  <a:pt x="2156720" y="988303"/>
                </a:lnTo>
                <a:lnTo>
                  <a:pt x="2228610" y="1139841"/>
                </a:lnTo>
                <a:lnTo>
                  <a:pt x="2300501" y="1285973"/>
                </a:lnTo>
                <a:lnTo>
                  <a:pt x="2372392" y="1424036"/>
                </a:lnTo>
                <a:lnTo>
                  <a:pt x="2444282" y="1551997"/>
                </a:lnTo>
                <a:lnTo>
                  <a:pt x="2516173" y="1668458"/>
                </a:lnTo>
                <a:lnTo>
                  <a:pt x="2588064" y="1772627"/>
                </a:lnTo>
                <a:lnTo>
                  <a:pt x="2659954" y="1864255"/>
                </a:lnTo>
                <a:lnTo>
                  <a:pt x="2731845" y="1943558"/>
                </a:lnTo>
                <a:lnTo>
                  <a:pt x="2803736" y="2011120"/>
                </a:lnTo>
                <a:lnTo>
                  <a:pt x="2875626" y="2067801"/>
                </a:lnTo>
                <a:lnTo>
                  <a:pt x="2947517" y="2114641"/>
                </a:lnTo>
                <a:lnTo>
                  <a:pt x="3019408" y="2152780"/>
                </a:lnTo>
                <a:lnTo>
                  <a:pt x="3091298" y="2183384"/>
                </a:lnTo>
                <a:lnTo>
                  <a:pt x="3163189" y="2207592"/>
                </a:lnTo>
                <a:lnTo>
                  <a:pt x="3235080" y="2226470"/>
                </a:lnTo>
                <a:lnTo>
                  <a:pt x="3306970" y="2240986"/>
                </a:lnTo>
                <a:lnTo>
                  <a:pt x="3378861" y="2251993"/>
                </a:lnTo>
                <a:lnTo>
                  <a:pt x="3450752" y="2260226"/>
                </a:lnTo>
                <a:lnTo>
                  <a:pt x="3522642" y="2266300"/>
                </a:lnTo>
                <a:lnTo>
                  <a:pt x="3594533" y="2270720"/>
                </a:lnTo>
                <a:lnTo>
                  <a:pt x="3666424" y="2273894"/>
                </a:lnTo>
                <a:lnTo>
                  <a:pt x="3738314" y="2276143"/>
                </a:lnTo>
                <a:lnTo>
                  <a:pt x="3810205" y="2277715"/>
                </a:lnTo>
                <a:lnTo>
                  <a:pt x="3882096" y="2278799"/>
                </a:lnTo>
                <a:lnTo>
                  <a:pt x="3953986" y="2279537"/>
                </a:lnTo>
                <a:lnTo>
                  <a:pt x="4025877" y="2280032"/>
                </a:lnTo>
                <a:lnTo>
                  <a:pt x="4097768" y="2280361"/>
                </a:lnTo>
                <a:lnTo>
                  <a:pt x="4169658" y="2280576"/>
                </a:lnTo>
                <a:lnTo>
                  <a:pt x="4241549" y="2280715"/>
                </a:lnTo>
                <a:lnTo>
                  <a:pt x="4313440" y="2280804"/>
                </a:lnTo>
              </a:path>
            </a:pathLst>
          </a:custGeom>
          <a:noFill/>
          <a:ln w="28575" cap="rnd">
            <a:solidFill>
              <a:srgbClr val="0E7C86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602" name="dist"/>
          <p:cNvSpPr/>
          <p:nvPr/>
        </p:nvSpPr>
        <p:spPr>
          <a:xfrm>
            <a:off x="6875120" y="2638003"/>
            <a:ext cx="4313440" cy="2282191"/>
          </a:xfrm>
          <a:custGeom>
            <a:avLst/>
            <a:gdLst/>
            <a:ahLst/>
            <a:cxnLst/>
            <a:rect l="0" t="0" r="0" b="0"/>
            <a:pathLst>
              <a:path w="4313440" h="2282191">
                <a:moveTo>
                  <a:pt x="0" y="2282191"/>
                </a:moveTo>
                <a:lnTo>
                  <a:pt x="71890" y="2281936"/>
                </a:lnTo>
                <a:lnTo>
                  <a:pt x="143781" y="2281548"/>
                </a:lnTo>
                <a:lnTo>
                  <a:pt x="215672" y="2280966"/>
                </a:lnTo>
                <a:lnTo>
                  <a:pt x="287562" y="2280104"/>
                </a:lnTo>
                <a:lnTo>
                  <a:pt x="359453" y="2278844"/>
                </a:lnTo>
                <a:lnTo>
                  <a:pt x="431344" y="2277027"/>
                </a:lnTo>
                <a:lnTo>
                  <a:pt x="503234" y="2274442"/>
                </a:lnTo>
                <a:lnTo>
                  <a:pt x="575125" y="2270813"/>
                </a:lnTo>
                <a:lnTo>
                  <a:pt x="647016" y="2265785"/>
                </a:lnTo>
                <a:lnTo>
                  <a:pt x="718906" y="2258914"/>
                </a:lnTo>
                <a:lnTo>
                  <a:pt x="790797" y="2249652"/>
                </a:lnTo>
                <a:lnTo>
                  <a:pt x="862688" y="2237335"/>
                </a:lnTo>
                <a:lnTo>
                  <a:pt x="934578" y="2221184"/>
                </a:lnTo>
                <a:lnTo>
                  <a:pt x="1006469" y="2200296"/>
                </a:lnTo>
                <a:lnTo>
                  <a:pt x="1078360" y="2173662"/>
                </a:lnTo>
                <a:lnTo>
                  <a:pt x="1150250" y="2140183"/>
                </a:lnTo>
                <a:lnTo>
                  <a:pt x="1222141" y="2098704"/>
                </a:lnTo>
                <a:lnTo>
                  <a:pt x="1294032" y="2048061"/>
                </a:lnTo>
                <a:lnTo>
                  <a:pt x="1365922" y="1987144"/>
                </a:lnTo>
                <a:lnTo>
                  <a:pt x="1437813" y="1914976"/>
                </a:lnTo>
                <a:lnTo>
                  <a:pt x="1509704" y="1830794"/>
                </a:lnTo>
                <a:lnTo>
                  <a:pt x="1581594" y="1734151"/>
                </a:lnTo>
                <a:lnTo>
                  <a:pt x="1653485" y="1625007"/>
                </a:lnTo>
                <a:lnTo>
                  <a:pt x="1725376" y="1503818"/>
                </a:lnTo>
                <a:lnTo>
                  <a:pt x="1797266" y="1371614"/>
                </a:lnTo>
                <a:lnTo>
                  <a:pt x="1869157" y="1230043"/>
                </a:lnTo>
                <a:lnTo>
                  <a:pt x="1941048" y="1081395"/>
                </a:lnTo>
                <a:lnTo>
                  <a:pt x="2012938" y="928575"/>
                </a:lnTo>
                <a:lnTo>
                  <a:pt x="2084829" y="775041"/>
                </a:lnTo>
                <a:lnTo>
                  <a:pt x="2156720" y="624693"/>
                </a:lnTo>
                <a:lnTo>
                  <a:pt x="2228610" y="481723"/>
                </a:lnTo>
                <a:lnTo>
                  <a:pt x="2300501" y="350427"/>
                </a:lnTo>
                <a:lnTo>
                  <a:pt x="2372392" y="234994"/>
                </a:lnTo>
                <a:lnTo>
                  <a:pt x="2444282" y="139291"/>
                </a:lnTo>
                <a:lnTo>
                  <a:pt x="2516173" y="66642"/>
                </a:lnTo>
                <a:lnTo>
                  <a:pt x="2588064" y="19642"/>
                </a:lnTo>
                <a:lnTo>
                  <a:pt x="2659954" y="0"/>
                </a:lnTo>
                <a:lnTo>
                  <a:pt x="2731845" y="8439"/>
                </a:lnTo>
                <a:lnTo>
                  <a:pt x="2803736" y="44647"/>
                </a:lnTo>
                <a:lnTo>
                  <a:pt x="2875626" y="107301"/>
                </a:lnTo>
                <a:lnTo>
                  <a:pt x="2947517" y="194145"/>
                </a:lnTo>
                <a:lnTo>
                  <a:pt x="3019408" y="302124"/>
                </a:lnTo>
                <a:lnTo>
                  <a:pt x="3091298" y="427564"/>
                </a:lnTo>
                <a:lnTo>
                  <a:pt x="3163189" y="566379"/>
                </a:lnTo>
                <a:lnTo>
                  <a:pt x="3235080" y="714289"/>
                </a:lnTo>
                <a:lnTo>
                  <a:pt x="3306970" y="867037"/>
                </a:lnTo>
                <a:lnTo>
                  <a:pt x="3378861" y="1020585"/>
                </a:lnTo>
                <a:lnTo>
                  <a:pt x="3450752" y="1171284"/>
                </a:lnTo>
                <a:lnTo>
                  <a:pt x="3522642" y="1315996"/>
                </a:lnTo>
                <a:lnTo>
                  <a:pt x="3594533" y="1452180"/>
                </a:lnTo>
                <a:lnTo>
                  <a:pt x="3666424" y="1577933"/>
                </a:lnTo>
                <a:lnTo>
                  <a:pt x="3738314" y="1691980"/>
                </a:lnTo>
                <a:lnTo>
                  <a:pt x="3810205" y="1793645"/>
                </a:lnTo>
                <a:lnTo>
                  <a:pt x="3882096" y="1882778"/>
                </a:lnTo>
                <a:lnTo>
                  <a:pt x="3953986" y="1959676"/>
                </a:lnTo>
                <a:lnTo>
                  <a:pt x="4025877" y="2024986"/>
                </a:lnTo>
                <a:lnTo>
                  <a:pt x="4097768" y="2079611"/>
                </a:lnTo>
                <a:lnTo>
                  <a:pt x="4169658" y="2124617"/>
                </a:lnTo>
                <a:lnTo>
                  <a:pt x="4241549" y="2161156"/>
                </a:lnTo>
                <a:lnTo>
                  <a:pt x="4313440" y="2190392"/>
                </a:lnTo>
              </a:path>
            </a:pathLst>
          </a:custGeom>
          <a:noFill/>
          <a:ln w="28575" cap="rnd">
            <a:solidFill>
              <a:srgbClr val="C2772B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7525512" y="2344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000" dirty="0"/>
          </a:p>
        </p:txBody>
      </p:sp>
      <p:sp>
        <p:nvSpPr>
          <p:cNvPr id="66" name="Text 63"/>
          <p:cNvSpPr/>
          <p:nvPr/>
        </p:nvSpPr>
        <p:spPr>
          <a:xfrm>
            <a:off x="8842248" y="2344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6675120" y="51663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assumes these match — often they don't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COHORT AND DATASET SHIFT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flavours of shift (with oncology examples)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529584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011680"/>
            <a:ext cx="3529584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011680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Covariate shift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265176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distributions differ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14400" y="3520440"/>
            <a:ext cx="2798064" cy="0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361188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oncology example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77240" y="3931920"/>
            <a:ext cx="3072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platform's intensities; a younger cohort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261104" y="2011680"/>
            <a:ext cx="3529584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61104" y="2011680"/>
            <a:ext cx="3529584" cy="457200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6" name="Text 13"/>
          <p:cNvSpPr/>
          <p:nvPr/>
        </p:nvSpPr>
        <p:spPr>
          <a:xfrm>
            <a:off x="4261104" y="2011680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 shift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443984" y="265176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frequency differs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626864" y="3520440"/>
            <a:ext cx="2798064" cy="0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43984" y="361188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oncology example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489704" y="3931920"/>
            <a:ext cx="3072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screening cohort with far fewer recurrences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973568" y="2011680"/>
            <a:ext cx="3529584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973568" y="2011680"/>
            <a:ext cx="3529584" cy="457200"/>
          </a:xfrm>
          <a:prstGeom prst="rect">
            <a:avLst/>
          </a:prstGeom>
          <a:solidFill>
            <a:srgbClr val="C2772B"/>
          </a:solidFill>
          <a:ln/>
        </p:spPr>
      </p:sp>
      <p:sp>
        <p:nvSpPr>
          <p:cNvPr id="23" name="Text 20"/>
          <p:cNvSpPr/>
          <p:nvPr/>
        </p:nvSpPr>
        <p:spPr>
          <a:xfrm>
            <a:off x="7973568" y="2011680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 shift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8156448" y="265176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→ outcome relationship changes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8339328" y="3520440"/>
            <a:ext cx="2798064" cy="0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156448" y="361188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oncology example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8202168" y="3931920"/>
            <a:ext cx="3072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standard-of-care therapy alters who recurs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shift can invalidate the biomarker entirely — what it learned is no longer true.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COHORT AND DATASET SHIFT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Paying back the time: from binary label to survival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577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course long we simplified time-to-event recurrence into a binary label — a deliberate teaching choice.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outcomes are time-to-event: when does recurrence happen, and who is still at risk / censored?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models (Cox, conceptually) use the time axis and handle censoring — the research-grade framing.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validation discipline still applies; the outcome is just richer and more honest.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949440" y="2377440"/>
            <a:ext cx="43891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0" y="208483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recurrence-free over time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132320" y="2560320"/>
            <a:ext cx="670560" cy="0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02880" y="2560320"/>
            <a:ext cx="0" cy="65837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02880" y="2626157"/>
            <a:ext cx="670560" cy="0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473440" y="2626157"/>
            <a:ext cx="0" cy="87782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473440" y="2713939"/>
            <a:ext cx="670560" cy="0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44000" y="2713939"/>
            <a:ext cx="0" cy="65837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44000" y="2779776"/>
            <a:ext cx="670560" cy="0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814560" y="2779776"/>
            <a:ext cx="0" cy="65837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814560" y="2845613"/>
            <a:ext cx="670560" cy="0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485120" y="2845613"/>
            <a:ext cx="0" cy="43891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485120" y="2889504"/>
            <a:ext cx="670560" cy="0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155680" y="2889504"/>
            <a:ext cx="0" cy="43891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32320" y="2560320"/>
            <a:ext cx="670560" cy="0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802880" y="2560320"/>
            <a:ext cx="0" cy="219456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802880" y="2779776"/>
            <a:ext cx="670560" cy="0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473440" y="2779776"/>
            <a:ext cx="0" cy="263347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473440" y="3043123"/>
            <a:ext cx="670560" cy="0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144000" y="3043123"/>
            <a:ext cx="0" cy="263347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144000" y="3306470"/>
            <a:ext cx="670560" cy="0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14560" y="3306470"/>
            <a:ext cx="0" cy="241402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814560" y="3547872"/>
            <a:ext cx="670560" cy="0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485120" y="3547872"/>
            <a:ext cx="0" cy="175565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485120" y="3723437"/>
            <a:ext cx="670560" cy="0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1155680" y="3723437"/>
            <a:ext cx="0" cy="153619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540496" y="2697480"/>
            <a:ext cx="0" cy="128016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546336" y="2697480"/>
            <a:ext cx="0" cy="128016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351008" y="2697480"/>
            <a:ext cx="0" cy="128016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144000" y="2514600"/>
            <a:ext cx="0" cy="2377440"/>
          </a:xfrm>
          <a:prstGeom prst="line">
            <a:avLst/>
          </a:prstGeom>
          <a:noFill/>
          <a:ln w="15240">
            <a:solidFill>
              <a:srgbClr val="5B6B70"/>
            </a:solidFill>
            <a:prstDash val="dash"/>
          </a:ln>
        </p:spPr>
      </p:sp>
      <p:sp>
        <p:nvSpPr>
          <p:cNvPr id="38" name="Text 35"/>
          <p:cNvSpPr/>
          <p:nvPr/>
        </p:nvSpPr>
        <p:spPr>
          <a:xfrm>
            <a:off x="8503920" y="48006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cutoff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10149840" y="28346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0149840" y="4206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7132320" y="24871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= censored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949440" y="5166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binary label was a scaffold; survival is the honest outcome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REPRODUCIBILITY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 — two kinds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reproducibility: can someone rerun your analysis and get your numbers?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reproducibility (replication): can someone reproduce your finding in new data?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different bars — passing the first does not guarantee the second.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Biomarker research needs both; most published work falls short of even the first.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675120" y="2468880"/>
            <a:ext cx="2377440" cy="2286000"/>
          </a:xfrm>
          <a:prstGeom prst="roundRect">
            <a:avLst>
              <a:gd name="adj" fmla="val 32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675120" y="2651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 the code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67512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675120" y="35661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 + data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same numbers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235440" y="2468880"/>
            <a:ext cx="2377440" cy="2286000"/>
          </a:xfrm>
          <a:prstGeom prst="roundRect">
            <a:avLst>
              <a:gd name="adj" fmla="val 3200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9235440" y="2651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the finding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923544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/ replication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235440" y="35661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data + new team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same conclusion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675120" y="49377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pass the left and still fail the right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REPRODUCIBILITY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work reproducible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seeds; encapsulated pipelines (everything data-dependent refits inside CV); version &amp; environment capture.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and organised notebooks: every figure and number regenerable from a known state.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science: share code, data (where possible), and the trained model / specification.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 (L4): reproducibility is self-defense — it catches your own leakage before a reviewer does.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77240" y="402336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40233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seed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807208" y="4453128"/>
            <a:ext cx="237744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044952" y="402336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044952" y="40233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encapsulated pipeline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074920" y="4453128"/>
            <a:ext cx="237744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312664" y="402336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312664" y="40233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342632" y="4453128"/>
            <a:ext cx="237744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580376" y="402336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580376" y="40233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capture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610344" y="4453128"/>
            <a:ext cx="237744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9848088" y="402336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2E7D57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848088" y="40233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release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77240" y="5074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reported number regenerable from a known state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INTERPRETABILITY &amp; CLINICAL UTILITY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Statistical significance ≠ clinical utility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biomarker can be highly statistically significant and still clinically useless.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says “an association exists”; utility asks “does it change a decision and help a patient?”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hazard ratio with a vanishing p-value (large n) may move no treatment decision at all.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questions: actionability, effect size, added value over what clinicians already have.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766560" y="2468880"/>
            <a:ext cx="2194560" cy="2468880"/>
          </a:xfrm>
          <a:prstGeom prst="roundRect">
            <a:avLst>
              <a:gd name="adj" fmla="val 3333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766560" y="2606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statistically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766560" y="3291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&lt; 0.0001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766560" y="3794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≈ 1.05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766560" y="4160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(large n)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9235440" y="2468880"/>
            <a:ext cx="2377440" cy="2468880"/>
          </a:xfrm>
          <a:prstGeom prst="roundRect">
            <a:avLst>
              <a:gd name="adj" fmla="val 3077"/>
            </a:avLst>
          </a:prstGeom>
          <a:solidFill>
            <a:srgbClr val="F2DED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9235440" y="2606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601200" y="4206240"/>
            <a:ext cx="1645920" cy="109728"/>
          </a:xfrm>
          <a:prstGeom prst="rect">
            <a:avLst/>
          </a:prstGeom>
          <a:solidFill>
            <a:srgbClr val="A8403A"/>
          </a:solidFill>
          <a:ln/>
        </p:spPr>
      </p:sp>
      <p:sp>
        <p:nvSpPr>
          <p:cNvPr id="16" name="Text 13"/>
          <p:cNvSpPr/>
          <p:nvPr/>
        </p:nvSpPr>
        <p:spPr>
          <a:xfrm>
            <a:off x="923544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A84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9235440" y="4389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no treatment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766560" y="50749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is not useful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INTERPRETABILITY &amp; CLINICAL UTILITY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clinical utility actually requires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Actionability: the result changes management (escalate, de-escalate, monitor).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value: beats cheap clinical variables already in use (grade, stage, nodal, Ki-67).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benefit at a usable threshold: helps more patients than it harms across a real decision point.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biomarker that doesn't beat tumour grade — and isn't actionable — won't be adopted.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7315200" y="4343400"/>
            <a:ext cx="3291840" cy="640080"/>
          </a:xfrm>
          <a:prstGeom prst="roundRect">
            <a:avLst>
              <a:gd name="adj" fmla="val 7143"/>
            </a:avLst>
          </a:prstGeom>
          <a:solidFill>
            <a:srgbClr val="F6E9D8"/>
          </a:solidFill>
          <a:ln w="19050">
            <a:solidFill>
              <a:srgbClr val="C277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0" y="4343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baseline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(grade, stage, Ki-67)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315200" y="3474720"/>
            <a:ext cx="3291840" cy="640080"/>
          </a:xfrm>
          <a:prstGeom prst="roundRect">
            <a:avLst>
              <a:gd name="adj" fmla="val 7143"/>
            </a:avLst>
          </a:prstGeom>
          <a:solidFill>
            <a:srgbClr val="DCEEE4"/>
          </a:solidFill>
          <a:ln w="19050">
            <a:solidFill>
              <a:srgbClr val="2E7D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0" y="34747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the biomarker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(must clear this)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961120" y="5120640"/>
            <a:ext cx="0" cy="0"/>
          </a:xfrm>
          <a:prstGeom prst="line">
            <a:avLst/>
          </a:prstGeom>
          <a:noFill/>
          <a:ln w="1270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7315200" y="5212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value over existing tools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INTERPRETABILITY &amp; CLINICAL UTILITY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Exploratory vs confirmatory analysis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Exploratory: generate hypotheses, screen many options — flexible, but optimistic by nature.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Confirmatory: pre-specify the model and endpoint, then test once on untouched data.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published biomarker ML is exploratory dressed as confirmatory — the core sin.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fix: pre-registration / a locked analysis plan, and a test set touched exactly once.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766560" y="2377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949440" y="2743200"/>
            <a:ext cx="274320" cy="2743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Shape 7"/>
          <p:cNvSpPr/>
          <p:nvPr/>
        </p:nvSpPr>
        <p:spPr>
          <a:xfrm>
            <a:off x="7086600" y="3017520"/>
            <a:ext cx="201168" cy="201168"/>
          </a:xfrm>
          <a:prstGeom prst="ellipse">
            <a:avLst/>
          </a:prstGeom>
          <a:solidFill>
            <a:srgbClr val="14A6B0">
              <a:alpha val="80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7086600" y="3017520"/>
            <a:ext cx="100584" cy="0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46520" y="3657600"/>
            <a:ext cx="201168" cy="201168"/>
          </a:xfrm>
          <a:prstGeom prst="ellipse">
            <a:avLst/>
          </a:prstGeom>
          <a:solidFill>
            <a:srgbClr val="14A6B0">
              <a:alpha val="80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7086600" y="3017520"/>
            <a:ext cx="0" cy="640080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086600" y="3017520"/>
            <a:ext cx="201168" cy="201168"/>
          </a:xfrm>
          <a:prstGeom prst="ellipse">
            <a:avLst/>
          </a:prstGeom>
          <a:solidFill>
            <a:srgbClr val="14A6B0">
              <a:alpha val="80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7086600" y="3017520"/>
            <a:ext cx="100584" cy="0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086600" y="3657600"/>
            <a:ext cx="201168" cy="201168"/>
          </a:xfrm>
          <a:prstGeom prst="ellipse">
            <a:avLst/>
          </a:prstGeom>
          <a:solidFill>
            <a:srgbClr val="14A6B0">
              <a:alpha val="80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7086600" y="3017520"/>
            <a:ext cx="100584" cy="640080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086600" y="3017520"/>
            <a:ext cx="201168" cy="201168"/>
          </a:xfrm>
          <a:prstGeom prst="ellipse">
            <a:avLst/>
          </a:prstGeom>
          <a:solidFill>
            <a:srgbClr val="14A6B0">
              <a:alpha val="80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7086600" y="3017520"/>
            <a:ext cx="100584" cy="0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726680" y="3657600"/>
            <a:ext cx="201168" cy="201168"/>
          </a:xfrm>
          <a:prstGeom prst="ellipse">
            <a:avLst/>
          </a:prstGeom>
          <a:solidFill>
            <a:srgbClr val="14A6B0">
              <a:alpha val="80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7086600" y="3017520"/>
            <a:ext cx="740664" cy="640080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66560" y="4343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 by nature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9509760" y="2377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confirmatory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509760" y="2743200"/>
            <a:ext cx="2103120" cy="640080"/>
          </a:xfrm>
          <a:prstGeom prst="roundRect">
            <a:avLst>
              <a:gd name="adj" fmla="val 11429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9509760" y="2743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analysis plan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10561320" y="3383280"/>
            <a:ext cx="0" cy="548640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509760" y="3977640"/>
            <a:ext cx="2103120" cy="640080"/>
          </a:xfrm>
          <a:prstGeom prst="roundRect">
            <a:avLst>
              <a:gd name="adj" fmla="val 11429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9509760" y="3977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once,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untouched data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766560" y="5029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sin: exploratory presented as confirmatory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COMMON REVIEWER CRITICISMS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reviewers think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 are not hunting for brilliance; they check whether the claim is supported by the evidence.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rejections come from a short list of recurring, avoidable problems.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to anticipate them makes you a better author and a better scientist.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list is your pre-submission self-review.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98080" y="2377440"/>
            <a:ext cx="3566160" cy="2560320"/>
          </a:xfrm>
          <a:prstGeom prst="roundRect">
            <a:avLst>
              <a:gd name="adj" fmla="val 2857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498080" y="2514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reviewer's checklist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26680" y="2926080"/>
            <a:ext cx="3108960" cy="274320"/>
          </a:xfrm>
          <a:prstGeom prst="roundRect">
            <a:avLst>
              <a:gd name="adj" fmla="val 13333"/>
            </a:avLst>
          </a:prstGeom>
          <a:solidFill>
            <a:srgbClr val="F2DEDB"/>
          </a:solidFill>
          <a:ln/>
        </p:spPr>
      </p:sp>
      <p:sp>
        <p:nvSpPr>
          <p:cNvPr id="11" name="Text 8"/>
          <p:cNvSpPr/>
          <p:nvPr/>
        </p:nvSpPr>
        <p:spPr>
          <a:xfrm>
            <a:off x="7818120" y="2926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 no external validation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726680" y="3255264"/>
            <a:ext cx="3108960" cy="274320"/>
          </a:xfrm>
          <a:prstGeom prst="roundRect">
            <a:avLst>
              <a:gd name="adj" fmla="val 13333"/>
            </a:avLst>
          </a:prstGeom>
          <a:solidFill>
            <a:srgbClr val="F2DEDB"/>
          </a:solidFill>
          <a:ln/>
        </p:spPr>
      </p:sp>
      <p:sp>
        <p:nvSpPr>
          <p:cNvPr id="13" name="Text 10"/>
          <p:cNvSpPr/>
          <p:nvPr/>
        </p:nvSpPr>
        <p:spPr>
          <a:xfrm>
            <a:off x="7818120" y="32552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 leakage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726680" y="3584448"/>
            <a:ext cx="3108960" cy="274320"/>
          </a:xfrm>
          <a:prstGeom prst="roundRect">
            <a:avLst>
              <a:gd name="adj" fmla="val 13333"/>
            </a:avLst>
          </a:prstGeom>
          <a:solidFill>
            <a:srgbClr val="F2DEDB"/>
          </a:solidFill>
          <a:ln/>
        </p:spPr>
      </p:sp>
      <p:sp>
        <p:nvSpPr>
          <p:cNvPr id="15" name="Text 12"/>
          <p:cNvSpPr/>
          <p:nvPr/>
        </p:nvSpPr>
        <p:spPr>
          <a:xfrm>
            <a:off x="7818120" y="35844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 weak biology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726680" y="3913632"/>
            <a:ext cx="3108960" cy="274320"/>
          </a:xfrm>
          <a:prstGeom prst="roundRect">
            <a:avLst>
              <a:gd name="adj" fmla="val 13333"/>
            </a:avLst>
          </a:prstGeom>
          <a:solidFill>
            <a:srgbClr val="F2DEDB"/>
          </a:solidFill>
          <a:ln/>
        </p:spPr>
      </p:sp>
      <p:sp>
        <p:nvSpPr>
          <p:cNvPr id="17" name="Text 14"/>
          <p:cNvSpPr/>
          <p:nvPr/>
        </p:nvSpPr>
        <p:spPr>
          <a:xfrm>
            <a:off x="7818120" y="39136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 circular selection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726680" y="4242816"/>
            <a:ext cx="3108960" cy="274320"/>
          </a:xfrm>
          <a:prstGeom prst="roundRect">
            <a:avLst>
              <a:gd name="adj" fmla="val 13333"/>
            </a:avLst>
          </a:prstGeom>
          <a:solidFill>
            <a:srgbClr val="F2DEDB"/>
          </a:solidFill>
          <a:ln/>
        </p:spPr>
      </p:sp>
      <p:sp>
        <p:nvSpPr>
          <p:cNvPr id="19" name="Text 16"/>
          <p:cNvSpPr/>
          <p:nvPr/>
        </p:nvSpPr>
        <p:spPr>
          <a:xfrm>
            <a:off x="7818120" y="42428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 missing baseline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726680" y="4572000"/>
            <a:ext cx="3108960" cy="274320"/>
          </a:xfrm>
          <a:prstGeom prst="roundRect">
            <a:avLst>
              <a:gd name="adj" fmla="val 13333"/>
            </a:avLst>
          </a:prstGeom>
          <a:solidFill>
            <a:srgbClr val="F2DEDB"/>
          </a:solidFill>
          <a:ln/>
        </p:spPr>
      </p:sp>
      <p:sp>
        <p:nvSpPr>
          <p:cNvPr id="21" name="Text 18"/>
          <p:cNvSpPr/>
          <p:nvPr/>
        </p:nvSpPr>
        <p:spPr>
          <a:xfrm>
            <a:off x="7818120" y="4572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 unrealistic AUC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COMMON REVIEWER CRITICISMS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six recurring reviewer criticisms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3931920" cy="56692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192024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Criticism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80560" y="1920240"/>
            <a:ext cx="7132320" cy="56692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90288" y="192024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avoid it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487168"/>
            <a:ext cx="3931920" cy="566928"/>
          </a:xfrm>
          <a:prstGeom prst="rect">
            <a:avLst/>
          </a:prstGeom>
          <a:solidFill>
            <a:srgbClr val="F2DEDB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" y="248716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validation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480560" y="2487168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90288" y="2487168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an independent cohort (METABRIC → GSE6532)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3054096"/>
            <a:ext cx="3931920" cy="566928"/>
          </a:xfrm>
          <a:prstGeom prst="rect">
            <a:avLst/>
          </a:prstGeom>
          <a:solidFill>
            <a:srgbClr val="F2DEDB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" y="305409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480560" y="3054096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90288" y="3054096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/ scaling / correction inside the split, in a pipeline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48640" y="3621024"/>
            <a:ext cx="3931920" cy="566928"/>
          </a:xfrm>
          <a:prstGeom prst="rect">
            <a:avLst/>
          </a:prstGeom>
          <a:solidFill>
            <a:srgbClr val="F2DEDB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8368" y="362102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biological interpretation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480560" y="3621024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90288" y="3621024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coherent mechanism / plausibility, not a bare gene list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48640" y="4187952"/>
            <a:ext cx="3931920" cy="566928"/>
          </a:xfrm>
          <a:prstGeom prst="rect">
            <a:avLst/>
          </a:prstGeom>
          <a:solidFill>
            <a:srgbClr val="F2DEDB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8368" y="418795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feature selection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480560" y="4187952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90288" y="418795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redo selection inside each CV fold, not on all data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48640" y="4754880"/>
            <a:ext cx="3931920" cy="566928"/>
          </a:xfrm>
          <a:prstGeom prst="rect">
            <a:avLst/>
          </a:prstGeom>
          <a:solidFill>
            <a:srgbClr val="F2DEDB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58368" y="475488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baselines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480560" y="4754880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590288" y="475488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clinical variables and a simple model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48640" y="5321808"/>
            <a:ext cx="3931920" cy="566928"/>
          </a:xfrm>
          <a:prstGeom prst="rect">
            <a:avLst/>
          </a:prstGeom>
          <a:solidFill>
            <a:srgbClr val="F2DEDB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58368" y="532180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Unrealistic performance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4480560" y="5321808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590288" y="5321808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suspiciously high AUC in p ≫ n — be suspicious yourself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is an evidence failure, not an algorithm failure.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HOW TO READ AN ML PAPER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two-minute interrogation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31520" y="1920240"/>
            <a:ext cx="10698480" cy="749808"/>
          </a:xfrm>
          <a:prstGeom prst="roundRect">
            <a:avLst>
              <a:gd name="adj" fmla="val 9756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14400" y="2112264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463040" y="192024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&amp; cohort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840480" y="1920240"/>
            <a:ext cx="7406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predicted, for whom? How many patients — plausible for the claim?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" y="2761488"/>
            <a:ext cx="106984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914400" y="2953512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463040" y="2761488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840480" y="2761488"/>
            <a:ext cx="7406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 internal validation — and a genuine external cohort?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31520" y="3602736"/>
            <a:ext cx="10698480" cy="749808"/>
          </a:xfrm>
          <a:prstGeom prst="roundRect">
            <a:avLst>
              <a:gd name="adj" fmla="val 9756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14400" y="3794760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9" name="Text 16"/>
          <p:cNvSpPr/>
          <p:nvPr/>
        </p:nvSpPr>
        <p:spPr>
          <a:xfrm>
            <a:off x="91440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463040" y="3602736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Leakage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3840480" y="3602736"/>
            <a:ext cx="7406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/ scaling / correction done after the split, inside CV?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31520" y="4443984"/>
            <a:ext cx="106984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914400" y="4636008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4" name="Text 21"/>
          <p:cNvSpPr/>
          <p:nvPr/>
        </p:nvSpPr>
        <p:spPr>
          <a:xfrm>
            <a:off x="914400" y="4636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463040" y="4443984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3840480" y="4443984"/>
            <a:ext cx="7406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data (or justified absence), fixed seeds?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31520" y="5285232"/>
            <a:ext cx="10698480" cy="749808"/>
          </a:xfrm>
          <a:prstGeom prst="roundRect">
            <a:avLst>
              <a:gd name="adj" fmla="val 9756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914400" y="5477256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9" name="Text 26"/>
          <p:cNvSpPr/>
          <p:nvPr/>
        </p:nvSpPr>
        <p:spPr>
          <a:xfrm>
            <a:off x="914400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1463040" y="5285232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3840480" y="5285232"/>
            <a:ext cx="7406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Justified by the evidence — or overreaching (causation, utility)?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· FUTURE DIRECTIONS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field is going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learning: powerful with very large data; in p ≫ n it shares — and amplifies — every pitfall.</a:t>
            </a:r>
            <a:endParaRPr lang="en-US" sz="14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models: pre-trained, adapted to tasks; promising, but validation rules don't change.</a:t>
            </a:r>
            <a:endParaRPr lang="en-US" sz="14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Multi-omics integration: transcriptome + genome / proteome / methylome for a fuller picture.</a:t>
            </a:r>
            <a:endParaRPr lang="en-US" sz="14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omics &amp; precision oncology: the tumour ecosystem in situ, and right-patient / right-drug.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7315200" y="2148840"/>
            <a:ext cx="4023360" cy="475488"/>
          </a:xfrm>
          <a:prstGeom prst="roundRect">
            <a:avLst>
              <a:gd name="adj" fmla="val 9615"/>
            </a:avLst>
          </a:prstGeom>
          <a:solidFill>
            <a:srgbClr val="DCEDEE"/>
          </a:solidFill>
          <a:ln/>
        </p:spPr>
      </p:sp>
      <p:sp>
        <p:nvSpPr>
          <p:cNvPr id="9" name="Shape 6"/>
          <p:cNvSpPr/>
          <p:nvPr/>
        </p:nvSpPr>
        <p:spPr>
          <a:xfrm>
            <a:off x="7452360" y="2267712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0" y="2148840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315200" y="2715768"/>
            <a:ext cx="4023360" cy="475488"/>
          </a:xfrm>
          <a:prstGeom prst="roundRect">
            <a:avLst>
              <a:gd name="adj" fmla="val 9615"/>
            </a:avLst>
          </a:prstGeom>
          <a:solidFill>
            <a:srgbClr val="DCEDEE"/>
          </a:solidFill>
          <a:ln/>
        </p:spPr>
      </p:sp>
      <p:sp>
        <p:nvSpPr>
          <p:cNvPr id="12" name="Shape 9"/>
          <p:cNvSpPr/>
          <p:nvPr/>
        </p:nvSpPr>
        <p:spPr>
          <a:xfrm>
            <a:off x="7452360" y="2834640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0" y="2715768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315200" y="3282696"/>
            <a:ext cx="4023360" cy="475488"/>
          </a:xfrm>
          <a:prstGeom prst="roundRect">
            <a:avLst>
              <a:gd name="adj" fmla="val 9615"/>
            </a:avLst>
          </a:prstGeom>
          <a:solidFill>
            <a:srgbClr val="DCEDEE"/>
          </a:solidFill>
          <a:ln/>
        </p:spPr>
      </p:sp>
      <p:sp>
        <p:nvSpPr>
          <p:cNvPr id="15" name="Shape 12"/>
          <p:cNvSpPr/>
          <p:nvPr/>
        </p:nvSpPr>
        <p:spPr>
          <a:xfrm>
            <a:off x="7452360" y="3401568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0" y="3282696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multi-omics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315200" y="3849624"/>
            <a:ext cx="4023360" cy="475488"/>
          </a:xfrm>
          <a:prstGeom prst="roundRect">
            <a:avLst>
              <a:gd name="adj" fmla="val 9615"/>
            </a:avLst>
          </a:prstGeom>
          <a:solidFill>
            <a:srgbClr val="DCEDEE"/>
          </a:solidFill>
          <a:ln/>
        </p:spPr>
      </p:sp>
      <p:sp>
        <p:nvSpPr>
          <p:cNvPr id="18" name="Shape 15"/>
          <p:cNvSpPr/>
          <p:nvPr/>
        </p:nvSpPr>
        <p:spPr>
          <a:xfrm>
            <a:off x="7452360" y="3968496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0" y="3849624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omics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7315200" y="4416552"/>
            <a:ext cx="4023360" cy="475488"/>
          </a:xfrm>
          <a:prstGeom prst="roundRect">
            <a:avLst>
              <a:gd name="adj" fmla="val 9615"/>
            </a:avLst>
          </a:prstGeom>
          <a:solidFill>
            <a:srgbClr val="DCEDEE"/>
          </a:solidFill>
          <a:ln/>
        </p:spPr>
      </p:sp>
      <p:sp>
        <p:nvSpPr>
          <p:cNvPr id="21" name="Shape 18"/>
          <p:cNvSpPr/>
          <p:nvPr/>
        </p:nvSpPr>
        <p:spPr>
          <a:xfrm>
            <a:off x="7452360" y="4535424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0" y="441655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oncology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315200" y="5029200"/>
            <a:ext cx="4023360" cy="457200"/>
          </a:xfrm>
          <a:prstGeom prst="roundRect">
            <a:avLst>
              <a:gd name="adj" fmla="val 10000"/>
            </a:avLst>
          </a:prstGeom>
          <a:solidFill>
            <a:srgbClr val="0B3B40"/>
          </a:solidFill>
          <a:ln/>
        </p:spPr>
      </p:sp>
      <p:sp>
        <p:nvSpPr>
          <p:cNvPr id="24" name="Text 21"/>
          <p:cNvSpPr/>
          <p:nvPr/>
        </p:nvSpPr>
        <p:spPr>
          <a:xfrm>
            <a:off x="7315200" y="50292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validation rules don't change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· FUTURE DIRECTIONS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methods raise the ceiling — not lower the bar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methods raise the ceiling on performance — they do not lower the bar for evidence.</a:t>
            </a:r>
            <a:endParaRPr lang="en-US" sz="15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Bigger, fancier models in small cohorts can fail harder and more confidently.</a:t>
            </a:r>
            <a:endParaRPr lang="en-US" sz="15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this course transfers: honest validation, leakage discipline, reproducibility, clinical utility.</a:t>
            </a:r>
            <a:endParaRPr lang="en-US" sz="15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skepticism is the durable skill; the algorithms will keep changing.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132320" y="2286000"/>
            <a:ext cx="2834640" cy="566928"/>
          </a:xfrm>
          <a:prstGeom prst="roundRect">
            <a:avLst>
              <a:gd name="adj" fmla="val 8065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132320" y="22860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&gt; algorithm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9966960" y="22860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132320" y="3154680"/>
            <a:ext cx="2834640" cy="566928"/>
          </a:xfrm>
          <a:prstGeom prst="roundRect">
            <a:avLst>
              <a:gd name="adj" fmla="val 8065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132320" y="315468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&gt; algorithm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9966960" y="315468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132320" y="4023360"/>
            <a:ext cx="2834640" cy="566928"/>
          </a:xfrm>
          <a:prstGeom prst="roundRect">
            <a:avLst>
              <a:gd name="adj" fmla="val 8065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132320" y="402336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&gt; novelty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9966960" y="40233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</a:t>
            </a:r>
            <a:endParaRPr lang="en-US" sz="1000" dirty="0"/>
          </a:p>
        </p:txBody>
      </p:sp>
      <p:cxnSp>
        <p:nvCxnSpPr>
          <p:cNvPr id="900" name="trustarrow0"/>
          <p:cNvCxnSpPr/>
          <p:nvPr/>
        </p:nvCxnSpPr>
        <p:spPr>
          <a:xfrm flipH="0" flipV="0">
            <a:off x="10424160" y="2940000"/>
            <a:ext cx="487200" cy="809040"/>
          </a:xfrm>
          <a:prstGeom prst="straightConnector1">
            <a:avLst/>
          </a:prstGeom>
          <a:ln w="19050">
            <a:solidFill>
              <a:srgbClr val="5B6B70"/>
            </a:solidFill>
            <a:tailEnd type="triangle" w="med" len="med"/>
          </a:ln>
        </p:spPr>
      </p:cxnSp>
      <p:cxnSp>
        <p:nvCxnSpPr>
          <p:cNvPr id="901" name="trustarrow1"/>
          <p:cNvCxnSpPr/>
          <p:nvPr/>
        </p:nvCxnSpPr>
        <p:spPr>
          <a:xfrm flipH="0" flipV="0">
            <a:off x="10424160" y="3657600"/>
            <a:ext cx="487200" cy="91440"/>
          </a:xfrm>
          <a:prstGeom prst="straightConnector1">
            <a:avLst/>
          </a:prstGeom>
          <a:ln w="19050">
            <a:solidFill>
              <a:srgbClr val="5B6B70"/>
            </a:solidFill>
            <a:tailEnd type="triangle" w="med" len="med"/>
          </a:ln>
        </p:spPr>
      </p:cxnSp>
      <p:cxnSp>
        <p:nvCxnSpPr>
          <p:cNvPr id="902" name="trustarrow2"/>
          <p:cNvCxnSpPr/>
          <p:nvPr/>
        </p:nvCxnSpPr>
        <p:spPr>
          <a:xfrm flipH="0" flipV="1">
            <a:off x="10424160" y="3749040"/>
            <a:ext cx="487200" cy="650960"/>
          </a:xfrm>
          <a:prstGeom prst="straightConnector1">
            <a:avLst/>
          </a:prstGeom>
          <a:ln w="19050">
            <a:solidFill>
              <a:srgbClr val="5B6B70"/>
            </a:solidFill>
            <a:tailEnd type="triangle" w="med" len="med"/>
          </a:ln>
        </p:spPr>
      </p:cxnSp>
      <p:sp>
        <p:nvSpPr>
          <p:cNvPr id="20" name="Shape 17"/>
          <p:cNvSpPr/>
          <p:nvPr/>
        </p:nvSpPr>
        <p:spPr>
          <a:xfrm>
            <a:off x="10881360" y="3291840"/>
            <a:ext cx="914400" cy="914400"/>
          </a:xfrm>
          <a:prstGeom prst="ellipse">
            <a:avLst/>
          </a:prstGeom>
          <a:solidFill>
            <a:srgbClr val="0B3B4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10881360" y="32918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· COURSE WRAP-UP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end-to-end workflow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02920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39496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39496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33372" y="2926080"/>
            <a:ext cx="128016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1901952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938528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938528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232404" y="2926080"/>
            <a:ext cx="128016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300984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3337560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337560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631436" y="2926080"/>
            <a:ext cx="128016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4700016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4736592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736592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030468" y="2926080"/>
            <a:ext cx="128016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099048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6135624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135624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7429500" y="2926080"/>
            <a:ext cx="128016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7498080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7534656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534656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L4–5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8828532" y="2926080"/>
            <a:ext cx="128016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8897112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8933688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933688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L4–5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10227564" y="2926080"/>
            <a:ext cx="128016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10296144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10332720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10332720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548640" y="3931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Trustworthiness is built in at every stage — not bolted on at the end. This pipeline is the course.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MESSAGE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hardest part of machine learning is not training a model.</a:t>
            </a:r>
            <a:endParaRPr lang="en-US" sz="2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demonstrating that the model is trustworthy.”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5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biomarker failures occur after model development; validation matters more than optimization.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5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is essential; scientific skepticism is healthy, not cynical.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 build, evaluate, and review a predictive model — and recognise the failure modes that sink most.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the capstone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— ticked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5394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&amp; review a biomarker study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validation &amp; generalization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/ dataset shift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(two kinds)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vs clinical utility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publication-quality workflow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309360" y="1783080"/>
            <a:ext cx="5303520" cy="3977640"/>
          </a:xfrm>
          <a:prstGeom prst="roundRect">
            <a:avLst>
              <a:gd name="adj" fmla="val 1839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capstone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8368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a deliberately flawed biomarker analysis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its flaws: leakage, no external validation, bad preprocessing, overfitting, unsupported interpretation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corrected workflow and compare honestly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reviewer report: publish / revise / reject — with justification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583680" y="5440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· evaluate · review · design — the goal of the whole course.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Trustworthy problem → model → features → validation → study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31089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final charge: be the scientist who asks </a:t>
            </a:r>
            <a:r>
              <a:rPr lang="en-US" sz="1600" i="1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“but does it replicate, and does it help a patient?”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9319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checklist and failure case-studies are yours to keep and reuse.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7548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i="1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algorithms will be obsolete in a few years. The judgment — to demand validation, to distrust a number until it earns trust, to ask whether it helps a patient — will not.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778240" y="1371600"/>
            <a:ext cx="2926080" cy="548640"/>
          </a:xfrm>
          <a:prstGeom prst="roundRect">
            <a:avLst>
              <a:gd name="adj" fmla="val 6667"/>
            </a:avLst>
          </a:prstGeom>
          <a:solidFill>
            <a:srgbClr val="14A6B0">
              <a:alpha val="8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503920" y="13716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28760" y="2048256"/>
            <a:ext cx="2225040" cy="548640"/>
          </a:xfrm>
          <a:prstGeom prst="roundRect">
            <a:avLst>
              <a:gd name="adj" fmla="val 6667"/>
            </a:avLst>
          </a:prstGeom>
          <a:solidFill>
            <a:srgbClr val="14A6B0">
              <a:alpha val="62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8854440" y="2048256"/>
            <a:ext cx="277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479280" y="2724912"/>
            <a:ext cx="1524000" cy="548640"/>
          </a:xfrm>
          <a:prstGeom prst="roundRect">
            <a:avLst>
              <a:gd name="adj" fmla="val 6667"/>
            </a:avLst>
          </a:prstGeom>
          <a:solidFill>
            <a:srgbClr val="14A6B0">
              <a:alpha val="44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9204960" y="2724912"/>
            <a:ext cx="207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829800" y="3401568"/>
            <a:ext cx="822960" cy="548640"/>
          </a:xfrm>
          <a:prstGeom prst="roundRect">
            <a:avLst>
              <a:gd name="adj" fmla="val 6667"/>
            </a:avLst>
          </a:prstGeom>
          <a:solidFill>
            <a:srgbClr val="2E7D57"/>
          </a:solidFill>
          <a:ln/>
        </p:spPr>
      </p:sp>
      <p:sp>
        <p:nvSpPr>
          <p:cNvPr id="14" name="Text 12"/>
          <p:cNvSpPr/>
          <p:nvPr/>
        </p:nvSpPr>
        <p:spPr>
          <a:xfrm>
            <a:off x="9555480" y="340156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784080" y="40782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you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3612</Words>
  <Application>Microsoft Macintosh PowerPoint</Application>
  <PresentationFormat>Widescreen</PresentationFormat>
  <Paragraphs>430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5 — Research-Grade Machine Learning</dc:title>
  <dc:subject>PptxGenJS Presentation</dc:subject>
  <dc:creator>Practical ML for Transcriptomics in Cancer Research</dc:creator>
  <cp:lastModifiedBy>Zhan Yinxiu</cp:lastModifiedBy>
  <cp:revision>2</cp:revision>
  <dcterms:created xsi:type="dcterms:W3CDTF">2026-06-17T15:53:42Z</dcterms:created>
  <dcterms:modified xsi:type="dcterms:W3CDTF">2026-06-21T08:33:11Z</dcterms:modified>
</cp:coreProperties>
</file>