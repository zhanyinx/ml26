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7" r:id="rId20"/>
    <p:sldId id="278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2262B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internal</c:v>
                </c:pt>
                <c:pt idx="1">
                  <c:v>external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4A-E04E-B167-6791F7CBEF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31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The shift in perspective: for four lectures you were the builder; today you become the judge. The skill that separates a publishable biomarker from the thousands that fail is demonstrating trust, not a cleverer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Trustworthy problem (L1), model (L2), features (L3), improvement &amp; honest validation (L4). You can build and evaluate a model. The hardest thing left: judging whether it is trustworthy and publication-ready. Today: everything that can go wrong, and how to catch it. You move to the reviewer's chair.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Flag the lecture-defining ones: external validation &amp; generalization, exploratory vs confirmatory, and significance vs clinical utility. The deliverable: by the end you can sit in the reviewer's chair.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Provocative open: thousands of signatures published, a tiny fraction used clinically. Why? Usually not bad biology -- the EVIDENCE was never trustworthy. The failures are predictable, and almost all happen AFTER model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Each is a callback and a forward-link. None is about a bad algorithm -- they are evidence failures. Overfitting (L2), small cohorts/pn (L1), dataset bias/batch (L4), no external validation (today), publication bias (the field, not the paper).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Re-anchor the ladder: split -&gt; CV -&gt; nested CV. Each answers 'how well does this pipeline do on data LIKE THIS?' Done right it controls overfitting and tuning optimism. But every rung stays inside the original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Validate on a DIFFERENT cohort -- hospital, study, population, platform. Closest thing to truth before a trial; tests generalization, not memorization. METABRIC (Illumina) -&gt; GSE6532 (Affymetrix). A model that holds across cohorts has earned a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It exposes what internal hides: batch, cohort quirks, leakage that survived CV. Performance almost always drops -- report how much. 'Validated' should mean externally validated. Beware re-tuning until a signature 'passes' -- that's a second training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Models assume the deployment world looks like the training world -- often it doesn't. Distribution shift: the data distribution changes between development and deployment. Sources: population, treatment, platform, lab. The external drop isn't bad luck -- it's a real change in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Covariate: feature distributions differ (new platform, younger cohort). Label: outcome frequency differs (screening cohort, fewer recurrences). Concept: the feature-&gt;outcome relationship itself changes (new standard of care) -- can invalidate the biomarker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All course long we simplified time-to-event recurrence into a binary label -- a deliberate teaching choice. Real outcomes are time-to-event with censoring. Survival models (Cox, conceptually) use the time axis. The validation discipline still applies; the outcome is just richer and more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Computational: can someone rerun your analysis and get your numbers? Scientific (replication): can someone reproduce your finding in new data? Different bars -- passing the first does not guarantee the second. Most published work falls short of even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Seeds; encapsulated pipelines (refit inside CV); version &amp; environment capture; documentation; open science (code, data where possible, model/spec). Callback (L4): reproducibility is self-defense -- it catches your own leakage before a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 biomarker can be highly significant and clinically useless. Significance: 'an association exists.' Utility: 'does it change a decision and help a patient?' A tiny HR with a vanishing p-value (large n) may move no decision. Ask: actionability, effect size, added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Actionability (changes management). Incremental value (beats grade/stage/nodal/Ki-67). Net benefit at a usable threshold. A biomarker that doesn't beat tumour grade and isn't actionable won't -- and shouldn't -- be adopted.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Each is an EVIDENCE failure, not an algorithm failure -- the course thesis again. Criticism -&gt; why it matters -&gt; how to avoid.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Run this on any transcriptomic ML paper. Task &amp; n? Validation appropriate (external?)? Leakage avoided (order of operations)? Reproducible (code/data/seeds)? Conclusions justified? Full version is the reviewer checklist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Brief, non-technical. Deep learning (powerful with big data; in pn shares/amplifies pitfalls). Foundation models (validation rules unchanged). Multi-omics integration. Spatial omics. Precision oncology. Banner: the validation rules don't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Question -&gt; Data -&gt; Baseline -&gt; Features -&gt; Model selection -&gt; Validation -&gt; Interpretation -&gt; Publication. Each stage had a lecture and a failure mode. Trustworthiness is built in at every stage, not bolted on. This pipeline IS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Deliver the thesis with full weight. Corollaries: failures occur after development; validation &gt; optimization; reproducibility is essential; skepticism is healthy. The empowering close: you can now build, evaluate, AND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Tick objectives. Capstone: receive a FLAWED biomarker analysis, diagnose its flaws (leakage, no external validation, bad preprocessing, overfitting, unsupported interpretation), build a corrected workflow, compare honestly, and WRITE A REVIEWER REPORT with a publish/revise/reject recommendation. You leave able to build, evaluate, review, and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Close the course. Name the through-line; leave the durable charge. The judgment built here outlasts any algorithm. Thank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005840"/>
            <a:ext cx="3383280" cy="566928"/>
          </a:xfrm>
          <a:prstGeom prst="roundRect">
            <a:avLst>
              <a:gd name="adj" fmla="val 6452"/>
            </a:avLst>
          </a:prstGeom>
          <a:solidFill>
            <a:srgbClr val="14A6B0">
              <a:alpha val="80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7909560" y="10058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published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671560" y="1719072"/>
            <a:ext cx="2590800" cy="566928"/>
          </a:xfrm>
          <a:prstGeom prst="roundRect">
            <a:avLst>
              <a:gd name="adj" fmla="val 6452"/>
            </a:avLst>
          </a:prstGeom>
          <a:solidFill>
            <a:srgbClr val="14A6B0">
              <a:alpha val="6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8305800" y="1719072"/>
            <a:ext cx="332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externally validated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067800" y="2432304"/>
            <a:ext cx="1798320" cy="566928"/>
          </a:xfrm>
          <a:prstGeom prst="roundRect">
            <a:avLst>
              <a:gd name="adj" fmla="val 6452"/>
            </a:avLst>
          </a:prstGeom>
          <a:solidFill>
            <a:srgbClr val="14A6B0">
              <a:alpha val="44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8702040" y="2432304"/>
            <a:ext cx="252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reproducible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464040" y="3145536"/>
            <a:ext cx="1005840" cy="566928"/>
          </a:xfrm>
          <a:prstGeom prst="roundRect">
            <a:avLst>
              <a:gd name="adj" fmla="val 6452"/>
            </a:avLst>
          </a:prstGeom>
          <a:solidFill>
            <a:srgbClr val="14A6B0">
              <a:alpha val="26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9098280" y="314553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adopted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 ·  CAPSTONE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Research-Grade</a:t>
            </a:r>
            <a:endParaRPr lang="en-US" sz="3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Reproducibility, and Biomarker Development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4A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model was the easy part. Earning trust is the science.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in Cancer Research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Zhan · IEO/UNIMI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we've been, and what's left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problem &amp; data → L2 baseline &amp; validation → L3 features → L4 improvement &amp; honest validation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build and evaluate a predictive model.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left is judging whether a model is trustworthy and publication-ready (survival the </a:t>
            </a:r>
            <a:r>
              <a:rPr lang="en-US" sz="1550" b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test)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everything that can go wrong in a biomarker study, and how to catch it.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hape 6"/>
          <p:cNvSpPr/>
          <p:nvPr/>
        </p:nvSpPr>
        <p:spPr>
          <a:xfrm>
            <a:off x="6510528" y="1984248"/>
            <a:ext cx="365760" cy="365760"/>
          </a:xfrm>
          <a:prstGeom prst="ellipse">
            <a:avLst/>
          </a:prstGeom>
          <a:solidFill>
            <a:srgbClr val="2E7D5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6510528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1783080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question → ML problem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2715768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0"/>
          <p:cNvSpPr/>
          <p:nvPr/>
        </p:nvSpPr>
        <p:spPr>
          <a:xfrm>
            <a:off x="6510528" y="2916936"/>
            <a:ext cx="365760" cy="365760"/>
          </a:xfrm>
          <a:prstGeom prst="ellipse">
            <a:avLst/>
          </a:prstGeom>
          <a:solidFill>
            <a:srgbClr val="2E7D5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1"/>
          <p:cNvSpPr/>
          <p:nvPr/>
        </p:nvSpPr>
        <p:spPr>
          <a:xfrm>
            <a:off x="65105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40880" y="2715768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first model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09360" y="3648456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4"/>
          <p:cNvSpPr/>
          <p:nvPr/>
        </p:nvSpPr>
        <p:spPr>
          <a:xfrm>
            <a:off x="6510528" y="3849624"/>
            <a:ext cx="365760" cy="365760"/>
          </a:xfrm>
          <a:prstGeom prst="ellipse">
            <a:avLst/>
          </a:prstGeom>
          <a:solidFill>
            <a:srgbClr val="2E7D5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5"/>
          <p:cNvSpPr/>
          <p:nvPr/>
        </p:nvSpPr>
        <p:spPr>
          <a:xfrm>
            <a:off x="6510528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40880" y="3648456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representation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09360" y="4581144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8"/>
          <p:cNvSpPr/>
          <p:nvPr/>
        </p:nvSpPr>
        <p:spPr>
          <a:xfrm>
            <a:off x="6510528" y="4782312"/>
            <a:ext cx="365760" cy="365760"/>
          </a:xfrm>
          <a:prstGeom prst="ellipse">
            <a:avLst/>
          </a:prstGeom>
          <a:solidFill>
            <a:srgbClr val="2E7D5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19"/>
          <p:cNvSpPr/>
          <p:nvPr/>
        </p:nvSpPr>
        <p:spPr>
          <a:xfrm>
            <a:off x="6510528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40880" y="4581144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improvement &amp; validation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0" y="5513832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0E7C8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5" name="Shape 22"/>
          <p:cNvSpPr/>
          <p:nvPr/>
        </p:nvSpPr>
        <p:spPr>
          <a:xfrm>
            <a:off x="6510528" y="57150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3"/>
          <p:cNvSpPr/>
          <p:nvPr/>
        </p:nvSpPr>
        <p:spPr>
          <a:xfrm>
            <a:off x="6510528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040880" y="5513832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ML (capstone)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309360" y="6492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→ the reviewer's chair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Shape 5"/>
          <p:cNvSpPr/>
          <p:nvPr/>
        </p:nvSpPr>
        <p:spPr>
          <a:xfrm>
            <a:off x="731520" y="1975104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73152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8288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evaluate and review a biomarker study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78608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731520" y="2724912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73152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25786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external validation &amp; generalization</a:t>
            </a:r>
            <a:endParaRPr lang="en-US" sz="1300" b="1" dirty="0"/>
          </a:p>
        </p:txBody>
      </p:sp>
      <p:sp>
        <p:nvSpPr>
          <p:cNvPr id="15" name="Shape 12"/>
          <p:cNvSpPr/>
          <p:nvPr/>
        </p:nvSpPr>
        <p:spPr>
          <a:xfrm>
            <a:off x="548640" y="3328416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3"/>
          <p:cNvSpPr/>
          <p:nvPr/>
        </p:nvSpPr>
        <p:spPr>
          <a:xfrm>
            <a:off x="731520" y="3474720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4"/>
          <p:cNvSpPr/>
          <p:nvPr/>
        </p:nvSpPr>
        <p:spPr>
          <a:xfrm>
            <a:off x="73152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33284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cohort / dataset shift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078224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7"/>
          <p:cNvSpPr/>
          <p:nvPr/>
        </p:nvSpPr>
        <p:spPr>
          <a:xfrm>
            <a:off x="731520" y="4224528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8"/>
          <p:cNvSpPr/>
          <p:nvPr/>
        </p:nvSpPr>
        <p:spPr>
          <a:xfrm>
            <a:off x="73152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88720" y="4078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computational &amp; scientific reproducibility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309360" y="2578608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5"/>
          <p:cNvSpPr/>
          <p:nvPr/>
        </p:nvSpPr>
        <p:spPr>
          <a:xfrm>
            <a:off x="6492240" y="2724912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Text 26"/>
          <p:cNvSpPr/>
          <p:nvPr/>
        </p:nvSpPr>
        <p:spPr>
          <a:xfrm>
            <a:off x="649224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49440" y="25786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statistical significance from clinical utility</a:t>
            </a:r>
            <a:endParaRPr lang="en-US" sz="1300" b="1" dirty="0"/>
          </a:p>
        </p:txBody>
      </p:sp>
      <p:sp>
        <p:nvSpPr>
          <p:cNvPr id="31" name="Shape 28"/>
          <p:cNvSpPr/>
          <p:nvPr/>
        </p:nvSpPr>
        <p:spPr>
          <a:xfrm>
            <a:off x="6309360" y="3328416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29"/>
          <p:cNvSpPr/>
          <p:nvPr/>
        </p:nvSpPr>
        <p:spPr>
          <a:xfrm>
            <a:off x="6492240" y="3474720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Text 30"/>
          <p:cNvSpPr/>
          <p:nvPr/>
        </p:nvSpPr>
        <p:spPr>
          <a:xfrm>
            <a:off x="649224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49440" y="33284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limits of transcriptomic biomarkers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309360" y="4078224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3"/>
          <p:cNvSpPr/>
          <p:nvPr/>
        </p:nvSpPr>
        <p:spPr>
          <a:xfrm>
            <a:off x="6492240" y="4224528"/>
            <a:ext cx="310896" cy="310896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Text 34"/>
          <p:cNvSpPr/>
          <p:nvPr/>
        </p:nvSpPr>
        <p:spPr>
          <a:xfrm>
            <a:off x="649224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949440" y="4078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publication-quality ML workflow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MOST BIOMARKERS FAIL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 published, very few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transcriptomic biomarkers published; very few used clinically. </a:t>
            </a:r>
            <a:r>
              <a:rPr lang="en-US" sz="15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550" dirty="0">
              <a:solidFill>
                <a:srgbClr val="FF0000"/>
              </a:solidFill>
            </a:endParaRP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usually because the biology was wrong, because the evidence was never trustworthy (no </a:t>
            </a:r>
            <a:r>
              <a:rPr lang="en-US" sz="1550" dirty="0" err="1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over optimistic results).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failures are predictable, and almost all happen after model development.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49440" y="1783080"/>
            <a:ext cx="3657600" cy="749808"/>
          </a:xfrm>
          <a:prstGeom prst="roundRect">
            <a:avLst>
              <a:gd name="adj" fmla="val 6098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949440" y="17830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published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45680" y="2642616"/>
            <a:ext cx="2865120" cy="749808"/>
          </a:xfrm>
          <a:prstGeom prst="roundRect">
            <a:avLst>
              <a:gd name="adj" fmla="val 6098"/>
            </a:avLst>
          </a:prstGeom>
          <a:solidFill>
            <a:srgbClr val="F6E9D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7345680" y="2642616"/>
            <a:ext cx="2865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externally validated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41920" y="3502152"/>
            <a:ext cx="2072640" cy="749808"/>
          </a:xfrm>
          <a:prstGeom prst="roundRect">
            <a:avLst>
              <a:gd name="adj" fmla="val 6098"/>
            </a:avLst>
          </a:prstGeom>
          <a:solidFill>
            <a:srgbClr val="F6E9D8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7741920" y="3502152"/>
            <a:ext cx="207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reproducible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38160" y="4361688"/>
            <a:ext cx="1280160" cy="749808"/>
          </a:xfrm>
          <a:prstGeom prst="roundRect">
            <a:avLst>
              <a:gd name="adj" fmla="val 6098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Text 12"/>
          <p:cNvSpPr/>
          <p:nvPr/>
        </p:nvSpPr>
        <p:spPr>
          <a:xfrm>
            <a:off x="8138160" y="4361688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adopted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 MOST BIOMARKERS FAIL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recurring causes of failure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121408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2121408" cy="10972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Shape 6"/>
          <p:cNvSpPr/>
          <p:nvPr/>
        </p:nvSpPr>
        <p:spPr>
          <a:xfrm>
            <a:off x="1353312" y="2514600"/>
            <a:ext cx="512064" cy="512064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135331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8368" y="37490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that lived in one dataset's noise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4572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88920" y="2194560"/>
            <a:ext cx="2121408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2788920" y="2194560"/>
            <a:ext cx="2121408" cy="10972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Shape 13"/>
          <p:cNvSpPr/>
          <p:nvPr/>
        </p:nvSpPr>
        <p:spPr>
          <a:xfrm>
            <a:off x="3593592" y="2514600"/>
            <a:ext cx="512064" cy="512064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4"/>
          <p:cNvSpPr/>
          <p:nvPr/>
        </p:nvSpPr>
        <p:spPr>
          <a:xfrm>
            <a:off x="359359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880360" y="31546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cohorts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898648" y="37490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estimates, fragile signatures (p ≫ n)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880360" y="4572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0" y="2194560"/>
            <a:ext cx="2121408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2" name="Shape 19"/>
          <p:cNvSpPr/>
          <p:nvPr/>
        </p:nvSpPr>
        <p:spPr>
          <a:xfrm>
            <a:off x="5029200" y="2194560"/>
            <a:ext cx="2121408" cy="10972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Shape 20"/>
          <p:cNvSpPr/>
          <p:nvPr/>
        </p:nvSpPr>
        <p:spPr>
          <a:xfrm>
            <a:off x="5833872" y="2514600"/>
            <a:ext cx="512064" cy="512064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Text 21"/>
          <p:cNvSpPr/>
          <p:nvPr/>
        </p:nvSpPr>
        <p:spPr>
          <a:xfrm>
            <a:off x="583387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120640" y="31546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bias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138928" y="37490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site / platform biases. No proper </a:t>
            </a:r>
            <a:r>
              <a:rPr lang="en-US" sz="105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renormalisation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120640" y="4572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269480" y="2194560"/>
            <a:ext cx="2121408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9" name="Shape 26"/>
          <p:cNvSpPr/>
          <p:nvPr/>
        </p:nvSpPr>
        <p:spPr>
          <a:xfrm>
            <a:off x="7269480" y="2194560"/>
            <a:ext cx="2121408" cy="109728"/>
          </a:xfrm>
          <a:prstGeom prst="rect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Shape 27"/>
          <p:cNvSpPr/>
          <p:nvPr/>
        </p:nvSpPr>
        <p:spPr>
          <a:xfrm>
            <a:off x="8074152" y="2514600"/>
            <a:ext cx="512064" cy="512064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1" name="Text 28"/>
          <p:cNvSpPr/>
          <p:nvPr/>
        </p:nvSpPr>
        <p:spPr>
          <a:xfrm>
            <a:off x="807415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7360920" y="31546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external validation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379208" y="37490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tested where it matters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360920" y="4572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509760" y="2194560"/>
            <a:ext cx="2121408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36" name="Shape 33"/>
          <p:cNvSpPr/>
          <p:nvPr/>
        </p:nvSpPr>
        <p:spPr>
          <a:xfrm>
            <a:off x="9509760" y="2194560"/>
            <a:ext cx="2121408" cy="10972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Shape 34"/>
          <p:cNvSpPr/>
          <p:nvPr/>
        </p:nvSpPr>
        <p:spPr>
          <a:xfrm>
            <a:off x="10314432" y="2514600"/>
            <a:ext cx="512064" cy="512064"/>
          </a:xfrm>
          <a:prstGeom prst="ellipse">
            <a:avLst/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8" name="Text 35"/>
          <p:cNvSpPr/>
          <p:nvPr/>
        </p:nvSpPr>
        <p:spPr>
          <a:xfrm>
            <a:off x="1031443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9601200" y="315468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 bias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9619488" y="374904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lucky, optimistic results get published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601200" y="4572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is a bad algorithm, they are evidence failures.</a:t>
            </a:r>
            <a:endParaRPr lang="en-US" sz="13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C225BD-0A29-45C2-6A02-D6F5FF3CFFFA}"/>
              </a:ext>
            </a:extLst>
          </p:cNvPr>
          <p:cNvSpPr txBox="1"/>
          <p:nvPr/>
        </p:nvSpPr>
        <p:spPr>
          <a:xfrm>
            <a:off x="1557495" y="5788152"/>
            <a:ext cx="9269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if you read a paper, which is the most difficult to detect among these causes?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INTERNAL VS EXTERNAL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validation (review)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→ cross-validation → nested cross-validation (Lectures 2 &amp; 4).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well does this pipeline do on data like this?”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right, internal validation controls overfitting and tuning optimism.</a:t>
            </a:r>
            <a:endParaRPr lang="en-US" sz="15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shares one fatal limit: it never leaves the original cohort.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49440" y="2103120"/>
            <a:ext cx="4206240" cy="3200400"/>
          </a:xfrm>
          <a:prstGeom prst="roundRect">
            <a:avLst>
              <a:gd name="adj" fmla="val 1714"/>
            </a:avLst>
          </a:prstGeom>
          <a:solidFill>
            <a:srgbClr val="DCEDEE">
              <a:alpha val="60000"/>
            </a:srgbClr>
          </a:solidFill>
          <a:ln w="19050">
            <a:solidFill>
              <a:srgbClr val="C9D7D9"/>
            </a:solidFill>
            <a:prstDash val="dash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949440" y="4937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cohort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251460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749808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98080" y="3227832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14A6B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7498080" y="3227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98080" y="3941064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Text 12"/>
          <p:cNvSpPr/>
          <p:nvPr/>
        </p:nvSpPr>
        <p:spPr>
          <a:xfrm>
            <a:off x="7498080" y="39410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CV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4944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within this data; silent about other 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INTERNAL VS EXTERNAL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validation: the true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a different cohort: different hospital, study, population, platform.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thing to truth before a prospective trial, it tests generalization, not memorization.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 train on METABRIC (Illumina), test on GSE6532 (Affymetrix), a real cross-platform test.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does not guarantee no failure, it just decreases its probability</a:t>
            </a:r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cs typeface="Calibri" pitchFamily="34" charset="-120"/>
              </a:rPr>
              <a:t>The held out dataset is </a:t>
            </a:r>
            <a:r>
              <a:rPr lang="en-US" sz="1500" b="1" dirty="0">
                <a:solidFill>
                  <a:srgbClr val="12262B"/>
                </a:solidFill>
                <a:latin typeface="Calibri" pitchFamily="34" charset="0"/>
                <a:cs typeface="Calibri" pitchFamily="34" charset="-120"/>
              </a:rPr>
              <a:t>not</a:t>
            </a:r>
            <a:r>
              <a:rPr lang="en-US" sz="1500" dirty="0">
                <a:solidFill>
                  <a:srgbClr val="12262B"/>
                </a:solidFill>
                <a:latin typeface="Calibri" pitchFamily="34" charset="0"/>
                <a:cs typeface="Calibri" pitchFamily="34" charset="-120"/>
              </a:rPr>
              <a:t> external validation!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675120" y="237744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675120" y="2377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(METABRIC)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823960" y="2926080"/>
            <a:ext cx="640080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9509760" y="237744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9509760" y="2377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(GSE6532)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7132320" y="3749040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INTERNAL VS EXTERNAL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external validation is so demanding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exposes everything internal validation hides: batch effects, cohort quirks, leakage that survived CV.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almost always drops, the question is how much, and whether it's still useful.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Beware: re-tuning a signature until it “passes” one external cohort just makes it a second training set.</a:t>
            </a:r>
          </a:p>
          <a:p>
            <a:pPr marL="203200" indent="-203200">
              <a:spcAft>
                <a:spcPts val="1100"/>
              </a:spcAft>
              <a:buSzPct val="100000"/>
              <a:buFontTx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external independent different cohort until the very last. Use it only when you have to make your final figure! 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66560" y="246888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2DED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949440" y="2560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internal-only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49440" y="29260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held-out split of the SAME cohort, not a test of generalization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402336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6949440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true external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4944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cohort (different study / platform), used once -&gt; the real generalization test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COHORT AND DATASET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models fail when transported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assume the world they're applied to looks like the world they trained on. Often it doesn't.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shift: the data distribution changes between development and deployment (same label distribution!)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r>
              <a:rPr lang="en-US" sz="15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patient populations, treatment protocols</a:t>
            </a: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platforms, laboratories</a:t>
            </a: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external performance drops — not bad luck, but a real change in the data.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675120" y="2377440"/>
            <a:ext cx="4663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1" name="dist"/>
          <p:cNvSpPr/>
          <p:nvPr/>
        </p:nvSpPr>
        <p:spPr>
          <a:xfrm>
            <a:off x="6875120" y="2639693"/>
            <a:ext cx="4313440" cy="2280804"/>
          </a:xfrm>
          <a:custGeom>
            <a:avLst/>
            <a:gdLst/>
            <a:ahLst/>
            <a:cxnLst/>
            <a:rect l="0" t="0" r="0" b="0"/>
            <a:pathLst>
              <a:path w="4313440" h="2280804">
                <a:moveTo>
                  <a:pt x="0" y="2106006"/>
                </a:moveTo>
                <a:lnTo>
                  <a:pt x="71890" y="2057287"/>
                </a:lnTo>
                <a:lnTo>
                  <a:pt x="143781" y="1998509"/>
                </a:lnTo>
                <a:lnTo>
                  <a:pt x="215672" y="1928660"/>
                </a:lnTo>
                <a:lnTo>
                  <a:pt x="287562" y="1846928"/>
                </a:lnTo>
                <a:lnTo>
                  <a:pt x="359453" y="1752795"/>
                </a:lnTo>
                <a:lnTo>
                  <a:pt x="431344" y="1646132"/>
                </a:lnTo>
                <a:lnTo>
                  <a:pt x="503234" y="1527289"/>
                </a:lnTo>
                <a:lnTo>
                  <a:pt x="575125" y="1397176"/>
                </a:lnTo>
                <a:lnTo>
                  <a:pt x="647016" y="1257316"/>
                </a:lnTo>
                <a:lnTo>
                  <a:pt x="718906" y="1109870"/>
                </a:lnTo>
                <a:lnTo>
                  <a:pt x="790797" y="957624"/>
                </a:lnTo>
                <a:lnTo>
                  <a:pt x="862688" y="803933"/>
                </a:lnTo>
                <a:lnTo>
                  <a:pt x="934578" y="652619"/>
                </a:lnTo>
                <a:lnTo>
                  <a:pt x="1006469" y="507830"/>
                </a:lnTo>
                <a:lnTo>
                  <a:pt x="1078360" y="373858"/>
                </a:lnTo>
                <a:lnTo>
                  <a:pt x="1150250" y="254930"/>
                </a:lnTo>
                <a:lnTo>
                  <a:pt x="1222141" y="154994"/>
                </a:lnTo>
                <a:lnTo>
                  <a:pt x="1294032" y="77501"/>
                </a:lnTo>
                <a:lnTo>
                  <a:pt x="1365922" y="25204"/>
                </a:lnTo>
                <a:lnTo>
                  <a:pt x="1437813" y="0"/>
                </a:lnTo>
                <a:lnTo>
                  <a:pt x="1509704" y="2815"/>
                </a:lnTo>
                <a:lnTo>
                  <a:pt x="1581594" y="33543"/>
                </a:lnTo>
                <a:lnTo>
                  <a:pt x="1653485" y="91060"/>
                </a:lnTo>
                <a:lnTo>
                  <a:pt x="1725376" y="173287"/>
                </a:lnTo>
                <a:lnTo>
                  <a:pt x="1797266" y="277316"/>
                </a:lnTo>
                <a:lnTo>
                  <a:pt x="1869157" y="399581"/>
                </a:lnTo>
                <a:lnTo>
                  <a:pt x="1941048" y="536061"/>
                </a:lnTo>
                <a:lnTo>
                  <a:pt x="2012938" y="682496"/>
                </a:lnTo>
                <a:lnTo>
                  <a:pt x="2084829" y="834609"/>
                </a:lnTo>
                <a:lnTo>
                  <a:pt x="2156720" y="988303"/>
                </a:lnTo>
                <a:lnTo>
                  <a:pt x="2228610" y="1139841"/>
                </a:lnTo>
                <a:lnTo>
                  <a:pt x="2300501" y="1285973"/>
                </a:lnTo>
                <a:lnTo>
                  <a:pt x="2372392" y="1424036"/>
                </a:lnTo>
                <a:lnTo>
                  <a:pt x="2444282" y="1551997"/>
                </a:lnTo>
                <a:lnTo>
                  <a:pt x="2516173" y="1668458"/>
                </a:lnTo>
                <a:lnTo>
                  <a:pt x="2588064" y="1772627"/>
                </a:lnTo>
                <a:lnTo>
                  <a:pt x="2659954" y="1864255"/>
                </a:lnTo>
                <a:lnTo>
                  <a:pt x="2731845" y="1943558"/>
                </a:lnTo>
                <a:lnTo>
                  <a:pt x="2803736" y="2011120"/>
                </a:lnTo>
                <a:lnTo>
                  <a:pt x="2875626" y="2067801"/>
                </a:lnTo>
                <a:lnTo>
                  <a:pt x="2947517" y="2114641"/>
                </a:lnTo>
                <a:lnTo>
                  <a:pt x="3019408" y="2152780"/>
                </a:lnTo>
                <a:lnTo>
                  <a:pt x="3091298" y="2183384"/>
                </a:lnTo>
                <a:lnTo>
                  <a:pt x="3163189" y="2207592"/>
                </a:lnTo>
                <a:lnTo>
                  <a:pt x="3235080" y="2226470"/>
                </a:lnTo>
                <a:lnTo>
                  <a:pt x="3306970" y="2240986"/>
                </a:lnTo>
                <a:lnTo>
                  <a:pt x="3378861" y="2251993"/>
                </a:lnTo>
                <a:lnTo>
                  <a:pt x="3450752" y="2260226"/>
                </a:lnTo>
                <a:lnTo>
                  <a:pt x="3522642" y="2266300"/>
                </a:lnTo>
                <a:lnTo>
                  <a:pt x="3594533" y="2270720"/>
                </a:lnTo>
                <a:lnTo>
                  <a:pt x="3666424" y="2273894"/>
                </a:lnTo>
                <a:lnTo>
                  <a:pt x="3738314" y="2276143"/>
                </a:lnTo>
                <a:lnTo>
                  <a:pt x="3810205" y="2277715"/>
                </a:lnTo>
                <a:lnTo>
                  <a:pt x="3882096" y="2278799"/>
                </a:lnTo>
                <a:lnTo>
                  <a:pt x="3953986" y="2279537"/>
                </a:lnTo>
                <a:lnTo>
                  <a:pt x="4025877" y="2280032"/>
                </a:lnTo>
                <a:lnTo>
                  <a:pt x="4097768" y="2280361"/>
                </a:lnTo>
                <a:lnTo>
                  <a:pt x="4169658" y="2280576"/>
                </a:lnTo>
                <a:lnTo>
                  <a:pt x="4241549" y="2280715"/>
                </a:lnTo>
                <a:lnTo>
                  <a:pt x="4313440" y="2280804"/>
                </a:lnTo>
              </a:path>
            </a:pathLst>
          </a:custGeom>
          <a:noFill/>
          <a:ln w="28575" cap="rnd">
            <a:solidFill>
              <a:srgbClr val="0E7C86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2" name="dist"/>
          <p:cNvSpPr/>
          <p:nvPr/>
        </p:nvSpPr>
        <p:spPr>
          <a:xfrm>
            <a:off x="6875120" y="2638003"/>
            <a:ext cx="4313440" cy="2282191"/>
          </a:xfrm>
          <a:custGeom>
            <a:avLst/>
            <a:gdLst/>
            <a:ahLst/>
            <a:cxnLst/>
            <a:rect l="0" t="0" r="0" b="0"/>
            <a:pathLst>
              <a:path w="4313440" h="2282191">
                <a:moveTo>
                  <a:pt x="0" y="2282191"/>
                </a:moveTo>
                <a:lnTo>
                  <a:pt x="71890" y="2281936"/>
                </a:lnTo>
                <a:lnTo>
                  <a:pt x="143781" y="2281548"/>
                </a:lnTo>
                <a:lnTo>
                  <a:pt x="215672" y="2280966"/>
                </a:lnTo>
                <a:lnTo>
                  <a:pt x="287562" y="2280104"/>
                </a:lnTo>
                <a:lnTo>
                  <a:pt x="359453" y="2278844"/>
                </a:lnTo>
                <a:lnTo>
                  <a:pt x="431344" y="2277027"/>
                </a:lnTo>
                <a:lnTo>
                  <a:pt x="503234" y="2274442"/>
                </a:lnTo>
                <a:lnTo>
                  <a:pt x="575125" y="2270813"/>
                </a:lnTo>
                <a:lnTo>
                  <a:pt x="647016" y="2265785"/>
                </a:lnTo>
                <a:lnTo>
                  <a:pt x="718906" y="2258914"/>
                </a:lnTo>
                <a:lnTo>
                  <a:pt x="790797" y="2249652"/>
                </a:lnTo>
                <a:lnTo>
                  <a:pt x="862688" y="2237335"/>
                </a:lnTo>
                <a:lnTo>
                  <a:pt x="934578" y="2221184"/>
                </a:lnTo>
                <a:lnTo>
                  <a:pt x="1006469" y="2200296"/>
                </a:lnTo>
                <a:lnTo>
                  <a:pt x="1078360" y="2173662"/>
                </a:lnTo>
                <a:lnTo>
                  <a:pt x="1150250" y="2140183"/>
                </a:lnTo>
                <a:lnTo>
                  <a:pt x="1222141" y="2098704"/>
                </a:lnTo>
                <a:lnTo>
                  <a:pt x="1294032" y="2048061"/>
                </a:lnTo>
                <a:lnTo>
                  <a:pt x="1365922" y="1987144"/>
                </a:lnTo>
                <a:lnTo>
                  <a:pt x="1437813" y="1914976"/>
                </a:lnTo>
                <a:lnTo>
                  <a:pt x="1509704" y="1830794"/>
                </a:lnTo>
                <a:lnTo>
                  <a:pt x="1581594" y="1734151"/>
                </a:lnTo>
                <a:lnTo>
                  <a:pt x="1653485" y="1625007"/>
                </a:lnTo>
                <a:lnTo>
                  <a:pt x="1725376" y="1503818"/>
                </a:lnTo>
                <a:lnTo>
                  <a:pt x="1797266" y="1371614"/>
                </a:lnTo>
                <a:lnTo>
                  <a:pt x="1869157" y="1230043"/>
                </a:lnTo>
                <a:lnTo>
                  <a:pt x="1941048" y="1081395"/>
                </a:lnTo>
                <a:lnTo>
                  <a:pt x="2012938" y="928575"/>
                </a:lnTo>
                <a:lnTo>
                  <a:pt x="2084829" y="775041"/>
                </a:lnTo>
                <a:lnTo>
                  <a:pt x="2156720" y="624693"/>
                </a:lnTo>
                <a:lnTo>
                  <a:pt x="2228610" y="481723"/>
                </a:lnTo>
                <a:lnTo>
                  <a:pt x="2300501" y="350427"/>
                </a:lnTo>
                <a:lnTo>
                  <a:pt x="2372392" y="234994"/>
                </a:lnTo>
                <a:lnTo>
                  <a:pt x="2444282" y="139291"/>
                </a:lnTo>
                <a:lnTo>
                  <a:pt x="2516173" y="66642"/>
                </a:lnTo>
                <a:lnTo>
                  <a:pt x="2588064" y="19642"/>
                </a:lnTo>
                <a:lnTo>
                  <a:pt x="2659954" y="0"/>
                </a:lnTo>
                <a:lnTo>
                  <a:pt x="2731845" y="8439"/>
                </a:lnTo>
                <a:lnTo>
                  <a:pt x="2803736" y="44647"/>
                </a:lnTo>
                <a:lnTo>
                  <a:pt x="2875626" y="107301"/>
                </a:lnTo>
                <a:lnTo>
                  <a:pt x="2947517" y="194145"/>
                </a:lnTo>
                <a:lnTo>
                  <a:pt x="3019408" y="302124"/>
                </a:lnTo>
                <a:lnTo>
                  <a:pt x="3091298" y="427564"/>
                </a:lnTo>
                <a:lnTo>
                  <a:pt x="3163189" y="566379"/>
                </a:lnTo>
                <a:lnTo>
                  <a:pt x="3235080" y="714289"/>
                </a:lnTo>
                <a:lnTo>
                  <a:pt x="3306970" y="867037"/>
                </a:lnTo>
                <a:lnTo>
                  <a:pt x="3378861" y="1020585"/>
                </a:lnTo>
                <a:lnTo>
                  <a:pt x="3450752" y="1171284"/>
                </a:lnTo>
                <a:lnTo>
                  <a:pt x="3522642" y="1315996"/>
                </a:lnTo>
                <a:lnTo>
                  <a:pt x="3594533" y="1452180"/>
                </a:lnTo>
                <a:lnTo>
                  <a:pt x="3666424" y="1577933"/>
                </a:lnTo>
                <a:lnTo>
                  <a:pt x="3738314" y="1691980"/>
                </a:lnTo>
                <a:lnTo>
                  <a:pt x="3810205" y="1793645"/>
                </a:lnTo>
                <a:lnTo>
                  <a:pt x="3882096" y="1882778"/>
                </a:lnTo>
                <a:lnTo>
                  <a:pt x="3953986" y="1959676"/>
                </a:lnTo>
                <a:lnTo>
                  <a:pt x="4025877" y="2024986"/>
                </a:lnTo>
                <a:lnTo>
                  <a:pt x="4097768" y="2079611"/>
                </a:lnTo>
                <a:lnTo>
                  <a:pt x="4169658" y="2124617"/>
                </a:lnTo>
                <a:lnTo>
                  <a:pt x="4241549" y="2161156"/>
                </a:lnTo>
                <a:lnTo>
                  <a:pt x="4313440" y="2190392"/>
                </a:lnTo>
              </a:path>
            </a:pathLst>
          </a:custGeom>
          <a:noFill/>
          <a:ln w="28575" cap="rnd">
            <a:solidFill>
              <a:srgbClr val="C2772B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525512" y="234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8842248" y="234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6675120" y="5166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assumes these match — often they don't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COHORT AND DATASET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flavours of shift (with oncology examples)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529584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3529584" cy="4572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548640" y="201168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Covariate shift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 differ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520440"/>
            <a:ext cx="2798064" cy="0"/>
          </a:xfrm>
          <a:prstGeom prst="line">
            <a:avLst/>
          </a:prstGeom>
          <a:noFill/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731520" y="361188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example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393192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platform's intensities (to correct); a younger cohort (not to correct)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61104" y="2011680"/>
            <a:ext cx="3529584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4261104" y="2011680"/>
            <a:ext cx="3529584" cy="457200"/>
          </a:xfrm>
          <a:prstGeom prst="rect">
            <a:avLst/>
          </a:prstGeom>
          <a:solidFill>
            <a:srgbClr val="14A6B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4261104" y="201168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shift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43984" y="265176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frequency differs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26864" y="3520440"/>
            <a:ext cx="2798064" cy="0"/>
          </a:xfrm>
          <a:prstGeom prst="line">
            <a:avLst/>
          </a:prstGeom>
          <a:noFill/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6"/>
          <p:cNvSpPr/>
          <p:nvPr/>
        </p:nvSpPr>
        <p:spPr>
          <a:xfrm>
            <a:off x="4443984" y="361188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example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489704" y="393192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 cohort with far fewer recurrences (feature distribution should also differ) -&gt; </a:t>
            </a:r>
            <a:r>
              <a:rPr lang="en-US" sz="1150" dirty="0" err="1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</a:t>
            </a: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check feature distribution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973568" y="2011680"/>
            <a:ext cx="3529584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2" name="Shape 19"/>
          <p:cNvSpPr/>
          <p:nvPr/>
        </p:nvSpPr>
        <p:spPr>
          <a:xfrm>
            <a:off x="7973568" y="2011680"/>
            <a:ext cx="3529584" cy="457200"/>
          </a:xfrm>
          <a:prstGeom prst="rect">
            <a:avLst/>
          </a:prstGeom>
          <a:solidFill>
            <a:srgbClr val="C277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0"/>
          <p:cNvSpPr/>
          <p:nvPr/>
        </p:nvSpPr>
        <p:spPr>
          <a:xfrm>
            <a:off x="7973568" y="201168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shift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156448" y="265176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→ outcome relationship changes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339328" y="3520440"/>
            <a:ext cx="2798064" cy="0"/>
          </a:xfrm>
          <a:prstGeom prst="line">
            <a:avLst/>
          </a:prstGeom>
          <a:noFill/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3"/>
          <p:cNvSpPr/>
          <p:nvPr/>
        </p:nvSpPr>
        <p:spPr>
          <a:xfrm>
            <a:off x="8156448" y="361188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example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02168" y="393192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standard-of-care therapy alters who recurs   -&gt; rebuild the model? Here the interpretation comes in!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shift can invalidate the biomarker entirely: what it learned is no longer true.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COHORT AND DATASET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Paying back the time: from binary label to survival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course long we simplified time-to-event recurrence into a binary label: a deliberate teaching choice.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outcomes are time-to-event: when does recurrence happen, and who is still at risk / censored?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models (Cox, conceptually) use the time axis and handle censoring: you should use the right type of models!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validation discipline still applies; the outcome is just richer and more honest.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949440" y="2377440"/>
            <a:ext cx="4389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949440" y="2084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recurrence-free over time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32320" y="2560320"/>
            <a:ext cx="670560" cy="0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7802880" y="2560320"/>
            <a:ext cx="0" cy="65837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7802880" y="2626157"/>
            <a:ext cx="670560" cy="0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0"/>
          <p:cNvSpPr/>
          <p:nvPr/>
        </p:nvSpPr>
        <p:spPr>
          <a:xfrm>
            <a:off x="8473440" y="2626157"/>
            <a:ext cx="0" cy="87782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1"/>
          <p:cNvSpPr/>
          <p:nvPr/>
        </p:nvSpPr>
        <p:spPr>
          <a:xfrm>
            <a:off x="8473440" y="2713939"/>
            <a:ext cx="670560" cy="0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9144000" y="2713939"/>
            <a:ext cx="0" cy="65837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3"/>
          <p:cNvSpPr/>
          <p:nvPr/>
        </p:nvSpPr>
        <p:spPr>
          <a:xfrm>
            <a:off x="9144000" y="2779776"/>
            <a:ext cx="670560" cy="0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4"/>
          <p:cNvSpPr/>
          <p:nvPr/>
        </p:nvSpPr>
        <p:spPr>
          <a:xfrm>
            <a:off x="9814560" y="2779776"/>
            <a:ext cx="0" cy="65837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5"/>
          <p:cNvSpPr/>
          <p:nvPr/>
        </p:nvSpPr>
        <p:spPr>
          <a:xfrm>
            <a:off x="9814560" y="2845613"/>
            <a:ext cx="670560" cy="0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6"/>
          <p:cNvSpPr/>
          <p:nvPr/>
        </p:nvSpPr>
        <p:spPr>
          <a:xfrm>
            <a:off x="10485120" y="2845613"/>
            <a:ext cx="0" cy="43891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7"/>
          <p:cNvSpPr/>
          <p:nvPr/>
        </p:nvSpPr>
        <p:spPr>
          <a:xfrm>
            <a:off x="10485120" y="2889504"/>
            <a:ext cx="670560" cy="0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8"/>
          <p:cNvSpPr/>
          <p:nvPr/>
        </p:nvSpPr>
        <p:spPr>
          <a:xfrm>
            <a:off x="11155680" y="2889504"/>
            <a:ext cx="0" cy="43891"/>
          </a:xfrm>
          <a:prstGeom prst="line">
            <a:avLst/>
          </a:prstGeom>
          <a:noFill/>
          <a:ln w="2540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19"/>
          <p:cNvSpPr/>
          <p:nvPr/>
        </p:nvSpPr>
        <p:spPr>
          <a:xfrm>
            <a:off x="7132320" y="2560320"/>
            <a:ext cx="670560" cy="0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0"/>
          <p:cNvSpPr/>
          <p:nvPr/>
        </p:nvSpPr>
        <p:spPr>
          <a:xfrm>
            <a:off x="7802880" y="2560320"/>
            <a:ext cx="0" cy="219456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1"/>
          <p:cNvSpPr/>
          <p:nvPr/>
        </p:nvSpPr>
        <p:spPr>
          <a:xfrm>
            <a:off x="7802880" y="2779776"/>
            <a:ext cx="670560" cy="0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2"/>
          <p:cNvSpPr/>
          <p:nvPr/>
        </p:nvSpPr>
        <p:spPr>
          <a:xfrm>
            <a:off x="8473440" y="2779776"/>
            <a:ext cx="0" cy="263347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3"/>
          <p:cNvSpPr/>
          <p:nvPr/>
        </p:nvSpPr>
        <p:spPr>
          <a:xfrm>
            <a:off x="8473440" y="3043123"/>
            <a:ext cx="670560" cy="0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4"/>
          <p:cNvSpPr/>
          <p:nvPr/>
        </p:nvSpPr>
        <p:spPr>
          <a:xfrm>
            <a:off x="9144000" y="3043123"/>
            <a:ext cx="0" cy="263347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5"/>
          <p:cNvSpPr/>
          <p:nvPr/>
        </p:nvSpPr>
        <p:spPr>
          <a:xfrm>
            <a:off x="9144000" y="3306470"/>
            <a:ext cx="670560" cy="0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6"/>
          <p:cNvSpPr/>
          <p:nvPr/>
        </p:nvSpPr>
        <p:spPr>
          <a:xfrm>
            <a:off x="9814560" y="3306470"/>
            <a:ext cx="0" cy="241402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7"/>
          <p:cNvSpPr/>
          <p:nvPr/>
        </p:nvSpPr>
        <p:spPr>
          <a:xfrm>
            <a:off x="9814560" y="3547872"/>
            <a:ext cx="670560" cy="0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8"/>
          <p:cNvSpPr/>
          <p:nvPr/>
        </p:nvSpPr>
        <p:spPr>
          <a:xfrm>
            <a:off x="10485120" y="3547872"/>
            <a:ext cx="0" cy="175565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29"/>
          <p:cNvSpPr/>
          <p:nvPr/>
        </p:nvSpPr>
        <p:spPr>
          <a:xfrm>
            <a:off x="10485120" y="3723437"/>
            <a:ext cx="670560" cy="0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0"/>
          <p:cNvSpPr/>
          <p:nvPr/>
        </p:nvSpPr>
        <p:spPr>
          <a:xfrm>
            <a:off x="11155680" y="3723437"/>
            <a:ext cx="0" cy="153619"/>
          </a:xfrm>
          <a:prstGeom prst="line">
            <a:avLst/>
          </a:prstGeom>
          <a:noFill/>
          <a:ln w="25400">
            <a:solidFill>
              <a:srgbClr val="A840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1"/>
          <p:cNvSpPr/>
          <p:nvPr/>
        </p:nvSpPr>
        <p:spPr>
          <a:xfrm>
            <a:off x="8540496" y="2697480"/>
            <a:ext cx="0" cy="128016"/>
          </a:xfrm>
          <a:prstGeom prst="line">
            <a:avLst/>
          </a:prstGeom>
          <a:noFill/>
          <a:ln w="1905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2"/>
          <p:cNvSpPr/>
          <p:nvPr/>
        </p:nvSpPr>
        <p:spPr>
          <a:xfrm>
            <a:off x="9546336" y="2697480"/>
            <a:ext cx="0" cy="128016"/>
          </a:xfrm>
          <a:prstGeom prst="line">
            <a:avLst/>
          </a:prstGeom>
          <a:noFill/>
          <a:ln w="1905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3"/>
          <p:cNvSpPr/>
          <p:nvPr/>
        </p:nvSpPr>
        <p:spPr>
          <a:xfrm>
            <a:off x="10351008" y="2697480"/>
            <a:ext cx="0" cy="128016"/>
          </a:xfrm>
          <a:prstGeom prst="line">
            <a:avLst/>
          </a:prstGeom>
          <a:noFill/>
          <a:ln w="19050">
            <a:solidFill>
              <a:srgbClr val="2E7D5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4"/>
          <p:cNvSpPr/>
          <p:nvPr/>
        </p:nvSpPr>
        <p:spPr>
          <a:xfrm>
            <a:off x="9144000" y="2514600"/>
            <a:ext cx="0" cy="2377440"/>
          </a:xfrm>
          <a:prstGeom prst="line">
            <a:avLst/>
          </a:prstGeom>
          <a:noFill/>
          <a:ln w="15240">
            <a:solidFill>
              <a:srgbClr val="5B6B70"/>
            </a:solidFill>
            <a:prstDash val="dash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5"/>
          <p:cNvSpPr/>
          <p:nvPr/>
        </p:nvSpPr>
        <p:spPr>
          <a:xfrm>
            <a:off x="8503920" y="4800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cutoff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014984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14984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132320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= censored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949440" y="5166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label was a scaffold; survival is the honest outcome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REPRODUCIBILITY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— two kinds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reproducibility: can someone rerun your analysis and get your numbers?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reproducibility (replication): can someone reproduce your finding in new data?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different bars: passing the first does not guarantee the second.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research needs both; most published work falls short of even the first.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675120" y="246888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6751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the code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+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numbers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235440" y="246888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DCEEE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92354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finding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23544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/ replication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3544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+ new team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conclusion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pass the left and still fail the right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REPRODUCIBILITY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work reproducible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seeds; encapsulated pipelines (everything data-dependent refits inside CV); version &amp; environment capture.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organised notebooks: every figure and number regenerable from a known state.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science: share code, data (where possible), and the trained model / specification.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(L4): reproducibility is self-defense — it catches your own leakage before a reviewer does.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40233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777240" y="40233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07208" y="4453128"/>
            <a:ext cx="237744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3044952" y="40233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3044952" y="40233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pipeline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74920" y="4453128"/>
            <a:ext cx="237744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1"/>
          <p:cNvSpPr/>
          <p:nvPr/>
        </p:nvSpPr>
        <p:spPr>
          <a:xfrm>
            <a:off x="5312664" y="40233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Text 12"/>
          <p:cNvSpPr/>
          <p:nvPr/>
        </p:nvSpPr>
        <p:spPr>
          <a:xfrm>
            <a:off x="5312664" y="40233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42632" y="4453128"/>
            <a:ext cx="237744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4"/>
          <p:cNvSpPr/>
          <p:nvPr/>
        </p:nvSpPr>
        <p:spPr>
          <a:xfrm>
            <a:off x="7580376" y="40233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Text 15"/>
          <p:cNvSpPr/>
          <p:nvPr/>
        </p:nvSpPr>
        <p:spPr>
          <a:xfrm>
            <a:off x="7580376" y="40233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capture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610344" y="4453128"/>
            <a:ext cx="237744" cy="0"/>
          </a:xfrm>
          <a:prstGeom prst="line">
            <a:avLst/>
          </a:prstGeom>
          <a:noFill/>
          <a:ln w="1905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7"/>
          <p:cNvSpPr/>
          <p:nvPr/>
        </p:nvSpPr>
        <p:spPr>
          <a:xfrm>
            <a:off x="9848088" y="40233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2E7D5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1" name="Text 18"/>
          <p:cNvSpPr/>
          <p:nvPr/>
        </p:nvSpPr>
        <p:spPr>
          <a:xfrm>
            <a:off x="9848088" y="40233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release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" y="5074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reported number regenerable from a known state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INTERPRETABILITY &amp; CLINICAL UTILITY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significance ≠ clinical utility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biomarker can be highly statistically significant and still clinically useless.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says “an association exists”; utility asks “does it change a decision and help a patient?”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questions: actionability, effect size, added value over what clinicians already have.</a:t>
            </a:r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cs typeface="Calibri" pitchFamily="34" charset="-120"/>
              </a:rPr>
              <a:t>Great model, but not additive predictive power compared to clinical variable -&gt; clinically useless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766560" y="2468880"/>
            <a:ext cx="2194560" cy="2468880"/>
          </a:xfrm>
          <a:prstGeom prst="roundRect">
            <a:avLst>
              <a:gd name="adj" fmla="val 3333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676656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6656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≈ 1.05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 n)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235440" y="246888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F2DED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Text 11"/>
          <p:cNvSpPr/>
          <p:nvPr/>
        </p:nvSpPr>
        <p:spPr>
          <a:xfrm>
            <a:off x="923544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601200" y="4206240"/>
            <a:ext cx="1645920" cy="109728"/>
          </a:xfrm>
          <a:prstGeom prst="rect">
            <a:avLst/>
          </a:prstGeom>
          <a:solidFill>
            <a:srgbClr val="A840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923544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23544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no treatment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66560" y="5074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is not useful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INTERPRETABILITY &amp; CLINICAL UTILITY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clinical utility actually requires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Actionability: the result changes management (escalate, de-escalate, monitor).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value: beats cheap clinical variables already in use (grade, stage, nodal, Ki-67).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 at a usable threshold: helps more patients than it harms across a real decision point.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biomarker that doesn't beat </a:t>
            </a:r>
            <a:r>
              <a:rPr lang="en-US" sz="1450" b="1" dirty="0" err="1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</a:t>
            </a:r>
            <a:r>
              <a:rPr lang="en-US" sz="1450" b="1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grade and isn't actionable won't be adopted, even with AUC = 0.99!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COMMON REVIEWER CRITICISMS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recurring reviewer (LLMs) criticisms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3931920" cy="566928"/>
          </a:xfrm>
          <a:prstGeom prst="rect">
            <a:avLst/>
          </a:prstGeom>
          <a:solidFill>
            <a:srgbClr val="0B3B40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658368" y="19202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Criticism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920240"/>
            <a:ext cx="7132320" cy="566928"/>
          </a:xfrm>
          <a:prstGeom prst="rect">
            <a:avLst/>
          </a:prstGeom>
          <a:solidFill>
            <a:srgbClr val="0B3B40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4590288" y="19202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avoid 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487168"/>
            <a:ext cx="3931920" cy="566928"/>
          </a:xfrm>
          <a:prstGeom prst="rect">
            <a:avLst/>
          </a:prstGeom>
          <a:solidFill>
            <a:srgbClr val="F2DEDB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658368" y="24871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80560" y="2487168"/>
            <a:ext cx="7132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1"/>
          <p:cNvSpPr/>
          <p:nvPr/>
        </p:nvSpPr>
        <p:spPr>
          <a:xfrm>
            <a:off x="4590288" y="24871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an independent cohort (METABRIC → GSE6532)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054096"/>
            <a:ext cx="3931920" cy="566928"/>
          </a:xfrm>
          <a:prstGeom prst="rect">
            <a:avLst/>
          </a:prstGeom>
          <a:solidFill>
            <a:srgbClr val="F2DEDB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658368" y="30540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480560" y="3054096"/>
            <a:ext cx="7132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5"/>
          <p:cNvSpPr/>
          <p:nvPr/>
        </p:nvSpPr>
        <p:spPr>
          <a:xfrm>
            <a:off x="4590288" y="305409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/ scaling / correction inside the split, in a pipeline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3621024"/>
            <a:ext cx="3931920" cy="566928"/>
          </a:xfrm>
          <a:prstGeom prst="rect">
            <a:avLst/>
          </a:prstGeom>
          <a:solidFill>
            <a:srgbClr val="F2DEDB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7"/>
          <p:cNvSpPr/>
          <p:nvPr/>
        </p:nvSpPr>
        <p:spPr>
          <a:xfrm>
            <a:off x="658368" y="362102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biological interpretation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480560" y="3621024"/>
            <a:ext cx="7132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19"/>
          <p:cNvSpPr/>
          <p:nvPr/>
        </p:nvSpPr>
        <p:spPr>
          <a:xfrm>
            <a:off x="4590288" y="36210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coherent mechanism / plausibility, not a bare gene list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4187952"/>
            <a:ext cx="3931920" cy="566928"/>
          </a:xfrm>
          <a:prstGeom prst="rect">
            <a:avLst/>
          </a:prstGeom>
          <a:solidFill>
            <a:srgbClr val="F2DEDB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1"/>
          <p:cNvSpPr/>
          <p:nvPr/>
        </p:nvSpPr>
        <p:spPr>
          <a:xfrm>
            <a:off x="658368" y="41879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feature selection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80560" y="4187952"/>
            <a:ext cx="7132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3"/>
          <p:cNvSpPr/>
          <p:nvPr/>
        </p:nvSpPr>
        <p:spPr>
          <a:xfrm>
            <a:off x="4590288" y="418795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selection inside each CV fold, not on all data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4754880"/>
            <a:ext cx="3931920" cy="566928"/>
          </a:xfrm>
          <a:prstGeom prst="rect">
            <a:avLst/>
          </a:prstGeom>
          <a:solidFill>
            <a:srgbClr val="F2DEDB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5"/>
          <p:cNvSpPr/>
          <p:nvPr/>
        </p:nvSpPr>
        <p:spPr>
          <a:xfrm>
            <a:off x="658368" y="4754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baselines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480560" y="4754880"/>
            <a:ext cx="7132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7"/>
          <p:cNvSpPr/>
          <p:nvPr/>
        </p:nvSpPr>
        <p:spPr>
          <a:xfrm>
            <a:off x="4590288" y="47548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clinical variables and a simple model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48640" y="5321808"/>
            <a:ext cx="3931920" cy="566928"/>
          </a:xfrm>
          <a:prstGeom prst="rect">
            <a:avLst/>
          </a:prstGeom>
          <a:solidFill>
            <a:srgbClr val="F2DEDB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29"/>
          <p:cNvSpPr/>
          <p:nvPr/>
        </p:nvSpPr>
        <p:spPr>
          <a:xfrm>
            <a:off x="658368" y="53218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Unrealistic performance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480560" y="5321808"/>
            <a:ext cx="7132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7D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1"/>
          <p:cNvSpPr/>
          <p:nvPr/>
        </p:nvSpPr>
        <p:spPr>
          <a:xfrm>
            <a:off x="4590288" y="532180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suspiciously high AUC in p ≫ n, be suspicious yourself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is an evidence failure, not an algorithm failure.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HOW TO READ AN ML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two-minute interrogation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31520" y="192024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Shape 5"/>
          <p:cNvSpPr/>
          <p:nvPr/>
        </p:nvSpPr>
        <p:spPr>
          <a:xfrm>
            <a:off x="914400" y="211226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914400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19202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&amp; cohort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840480" y="192024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predicted, for whom? How many patients, plausible for the claim?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2761488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0"/>
          <p:cNvSpPr/>
          <p:nvPr/>
        </p:nvSpPr>
        <p:spPr>
          <a:xfrm>
            <a:off x="914400" y="29535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1"/>
          <p:cNvSpPr/>
          <p:nvPr/>
        </p:nvSpPr>
        <p:spPr>
          <a:xfrm>
            <a:off x="9144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63040" y="276148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840480" y="2761488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internal validation — and a genuine external cohort?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31520" y="3602736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Shape 15"/>
          <p:cNvSpPr/>
          <p:nvPr/>
        </p:nvSpPr>
        <p:spPr>
          <a:xfrm>
            <a:off x="914400" y="379476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6"/>
          <p:cNvSpPr/>
          <p:nvPr/>
        </p:nvSpPr>
        <p:spPr>
          <a:xfrm>
            <a:off x="9144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63040" y="360273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40480" y="3602736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/ scaling / correction done after the split, inside CV?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31520" y="4443984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3" name="Shape 20"/>
          <p:cNvSpPr/>
          <p:nvPr/>
        </p:nvSpPr>
        <p:spPr>
          <a:xfrm>
            <a:off x="914400" y="4636008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Text 21"/>
          <p:cNvSpPr/>
          <p:nvPr/>
        </p:nvSpPr>
        <p:spPr>
          <a:xfrm>
            <a:off x="91440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3040" y="444398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840480" y="4443984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 (or justified absence), fixed seeds?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31520" y="5285232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8" name="Shape 25"/>
          <p:cNvSpPr/>
          <p:nvPr/>
        </p:nvSpPr>
        <p:spPr>
          <a:xfrm>
            <a:off x="914400" y="547725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Text 26"/>
          <p:cNvSpPr/>
          <p:nvPr/>
        </p:nvSpPr>
        <p:spPr>
          <a:xfrm>
            <a:off x="91440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463040" y="528523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840480" y="5285232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by the evidence — or overreaching (causation, utility)?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FUTURE DIRECTIONS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field is going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 powerful with very large data; in p ≫ n it shares, and amplifies — every pitfall.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models: pre-trained, adapted to tasks; promising, but validation rules don't change.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Multi-omics integration: transcriptome + genome / proteome / methylome for a fuller picture. More feature = more datapoints!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omics &amp; precision oncology: the tumour ecosystem in situ, and right-patient / right-drug.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0" y="214884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Shape 6"/>
          <p:cNvSpPr/>
          <p:nvPr/>
        </p:nvSpPr>
        <p:spPr>
          <a:xfrm>
            <a:off x="7452360" y="2267712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7863840" y="21488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0" y="2715768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7452360" y="2834640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7863840" y="27157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15200" y="3282696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7452360" y="3401568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7863840" y="32826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multi-omics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315200" y="3849624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Shape 15"/>
          <p:cNvSpPr/>
          <p:nvPr/>
        </p:nvSpPr>
        <p:spPr>
          <a:xfrm>
            <a:off x="7452360" y="3968496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6"/>
          <p:cNvSpPr/>
          <p:nvPr/>
        </p:nvSpPr>
        <p:spPr>
          <a:xfrm>
            <a:off x="7863840" y="38496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omics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15200" y="4416552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DCEDEE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Shape 18"/>
          <p:cNvSpPr/>
          <p:nvPr/>
        </p:nvSpPr>
        <p:spPr>
          <a:xfrm>
            <a:off x="7452360" y="4535424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19"/>
          <p:cNvSpPr/>
          <p:nvPr/>
        </p:nvSpPr>
        <p:spPr>
          <a:xfrm>
            <a:off x="7863840" y="44165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oncology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315200" y="5029200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0B3B4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Text 21"/>
          <p:cNvSpPr/>
          <p:nvPr/>
        </p:nvSpPr>
        <p:spPr>
          <a:xfrm>
            <a:off x="7315200" y="5029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rules don't change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· COURSE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24688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539496" y="2578608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9496" y="309067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33372" y="2926080"/>
            <a:ext cx="128016" cy="0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1901952" y="24688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1938528" y="2578608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38528" y="309067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32404" y="2926080"/>
            <a:ext cx="128016" cy="0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3300984" y="24688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3337560" y="2578608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37560" y="309067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31436" y="2926080"/>
            <a:ext cx="128016" cy="0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6"/>
          <p:cNvSpPr/>
          <p:nvPr/>
        </p:nvSpPr>
        <p:spPr>
          <a:xfrm>
            <a:off x="4700016" y="24688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0" name="Text 17"/>
          <p:cNvSpPr/>
          <p:nvPr/>
        </p:nvSpPr>
        <p:spPr>
          <a:xfrm>
            <a:off x="4736592" y="2578608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309067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30468" y="2926080"/>
            <a:ext cx="128016" cy="0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0"/>
          <p:cNvSpPr/>
          <p:nvPr/>
        </p:nvSpPr>
        <p:spPr>
          <a:xfrm>
            <a:off x="6099048" y="24688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4" name="Text 21"/>
          <p:cNvSpPr/>
          <p:nvPr/>
        </p:nvSpPr>
        <p:spPr>
          <a:xfrm>
            <a:off x="6135624" y="2578608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35624" y="309067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429500" y="2926080"/>
            <a:ext cx="128016" cy="0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4"/>
          <p:cNvSpPr/>
          <p:nvPr/>
        </p:nvSpPr>
        <p:spPr>
          <a:xfrm>
            <a:off x="7498080" y="24688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8" name="Text 25"/>
          <p:cNvSpPr/>
          <p:nvPr/>
        </p:nvSpPr>
        <p:spPr>
          <a:xfrm>
            <a:off x="7534656" y="2578608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534656" y="309067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L4–5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828532" y="2926080"/>
            <a:ext cx="128016" cy="0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8"/>
          <p:cNvSpPr/>
          <p:nvPr/>
        </p:nvSpPr>
        <p:spPr>
          <a:xfrm>
            <a:off x="8897112" y="24688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32" name="Text 29"/>
          <p:cNvSpPr/>
          <p:nvPr/>
        </p:nvSpPr>
        <p:spPr>
          <a:xfrm>
            <a:off x="8933688" y="2578608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933688" y="309067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L4–5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0227564" y="2926080"/>
            <a:ext cx="128016" cy="0"/>
          </a:xfrm>
          <a:prstGeom prst="line">
            <a:avLst/>
          </a:prstGeom>
          <a:noFill/>
          <a:ln w="16510">
            <a:solidFill>
              <a:srgbClr val="5B6B70"/>
            </a:solidFill>
            <a:prstDash val="solid"/>
            <a:tailEnd type="triangle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2"/>
          <p:cNvSpPr/>
          <p:nvPr/>
        </p:nvSpPr>
        <p:spPr>
          <a:xfrm>
            <a:off x="10296144" y="246888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36" name="Text 33"/>
          <p:cNvSpPr/>
          <p:nvPr/>
        </p:nvSpPr>
        <p:spPr>
          <a:xfrm>
            <a:off x="10332720" y="2578608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332720" y="3090672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Trustworthiness is built in at every stage — not bolted on at the end. This pipeline is the course.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MESSAGE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hardest part of machine learning is not training a model.</a:t>
            </a:r>
            <a:endParaRPr lang="en-US" sz="2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demonstrating that the model is trustworthy.”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biomarker failures occur after model development; validation matters more than optimization.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essential; scientific skepticism is healthy, not cynical.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build, evaluate, and review a predictive model — and recognise the failure modes that sink most.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the capstone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for Transcriptomics  ·  Lecture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— ticked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review a biomarker study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&amp; generalization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/ dataset shift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(two kinds)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vs clinical utility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publication-quality workflow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3977640"/>
          </a:xfrm>
          <a:prstGeom prst="roundRect">
            <a:avLst>
              <a:gd name="adj" fmla="val 1839"/>
            </a:avLst>
          </a:prstGeom>
          <a:solidFill>
            <a:srgbClr val="DCEDEE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capstone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deliberately flawed biomarker analysis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its flaws: leakage, no external validation, bad preprocessing, overfitting, unsupported interpretation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corrected workflow and compare honestly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reviewer report: publish / revise / reject — with justification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evaluate · review · design — the goal of the whole course.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problem → model → features → validation → study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charge: be the scientist who asks </a:t>
            </a:r>
            <a:r>
              <a:rPr lang="en-US" sz="1600" i="1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“but does it replicate, and does it help a patient?”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checklist and failure case-studies are yours to keep and reuse.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algorithms will be obsolete in a few years. The judgment — to demand validation, to distrust a number until it earns trust, to ask whether it helps a patient — will not.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778240" y="1371600"/>
            <a:ext cx="2926080" cy="548640"/>
          </a:xfrm>
          <a:prstGeom prst="roundRect">
            <a:avLst>
              <a:gd name="adj" fmla="val 6667"/>
            </a:avLst>
          </a:prstGeom>
          <a:solidFill>
            <a:srgbClr val="14A6B0">
              <a:alpha val="80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850392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28760" y="2048256"/>
            <a:ext cx="2225040" cy="548640"/>
          </a:xfrm>
          <a:prstGeom prst="roundRect">
            <a:avLst>
              <a:gd name="adj" fmla="val 6667"/>
            </a:avLst>
          </a:prstGeom>
          <a:solidFill>
            <a:srgbClr val="14A6B0">
              <a:alpha val="62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8854440" y="2048256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479280" y="2724912"/>
            <a:ext cx="1524000" cy="548640"/>
          </a:xfrm>
          <a:prstGeom prst="roundRect">
            <a:avLst>
              <a:gd name="adj" fmla="val 6667"/>
            </a:avLst>
          </a:prstGeom>
          <a:solidFill>
            <a:srgbClr val="14A6B0">
              <a:alpha val="44000"/>
            </a:srgbClr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9204960" y="2724912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829800" y="3401568"/>
            <a:ext cx="822960" cy="548640"/>
          </a:xfrm>
          <a:prstGeom prst="roundRect">
            <a:avLst>
              <a:gd name="adj" fmla="val 6667"/>
            </a:avLst>
          </a:prstGeom>
          <a:solidFill>
            <a:srgbClr val="2E7D5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9555480" y="34015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84080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3213</Words>
  <Application>Microsoft Macintosh PowerPoint</Application>
  <PresentationFormat>Widescreen</PresentationFormat>
  <Paragraphs>372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 — Research-Grade Machine Learning</dc:title>
  <dc:subject>PptxGenJS Presentation</dc:subject>
  <dc:creator>Practical ML for Transcriptomics in Cancer Research</dc:creator>
  <cp:lastModifiedBy>Zhan Yinxiu</cp:lastModifiedBy>
  <cp:revision>41</cp:revision>
  <dcterms:created xsi:type="dcterms:W3CDTF">2026-06-17T15:53:42Z</dcterms:created>
  <dcterms:modified xsi:type="dcterms:W3CDTF">2026-07-01T13:41:09Z</dcterms:modified>
</cp:coreProperties>
</file>