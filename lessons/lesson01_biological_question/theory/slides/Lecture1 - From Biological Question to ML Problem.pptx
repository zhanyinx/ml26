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1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1061"/>
  </p:normalViewPr>
  <p:slideViewPr>
    <p:cSldViewPr snapToGrid="0" snapToObjects="1">
      <p:cViewPr varScale="1">
        <p:scale>
          <a:sx n="113" d="100"/>
          <a:sy n="113" d="100"/>
        </p:scale>
        <p:origin x="5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300" b="0" i="0" u="none" strike="noStrike">
                <a:solidFill>
                  <a:srgbClr val="12262B"/>
                </a:solidFill>
                <a:latin typeface="Arial"/>
              </a:rPr>
              <a:t>The overfitting signature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Training</c:v>
                </c:pt>
                <c:pt idx="1">
                  <c:v>New patients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0.55000000000000004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A2-8C4F-90A7-159C020AA5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Coloured by batch / platform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Batch A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xVal>
            <c:numRef>
              <c:f>Sheet1!$A$2:$A$41</c:f>
              <c:numCache>
                <c:formatCode>General</c:formatCode>
                <c:ptCount val="40"/>
                <c:pt idx="0">
                  <c:v>-3.5252843291293319</c:v>
                </c:pt>
                <c:pt idx="1">
                  <c:v>-2.5983269720788811</c:v>
                </c:pt>
                <c:pt idx="2">
                  <c:v>-2.9871049617612018</c:v>
                </c:pt>
                <c:pt idx="3">
                  <c:v>-2.2336249548039353</c:v>
                </c:pt>
                <c:pt idx="4">
                  <c:v>-4.1324473897545229</c:v>
                </c:pt>
                <c:pt idx="5">
                  <c:v>-2.6842750783960447</c:v>
                </c:pt>
                <c:pt idx="6">
                  <c:v>-4.8379731953236798</c:v>
                </c:pt>
                <c:pt idx="7">
                  <c:v>-4.6060542280096533</c:v>
                </c:pt>
                <c:pt idx="8">
                  <c:v>-3.8468745726364184</c:v>
                </c:pt>
                <c:pt idx="9">
                  <c:v>-2.7740248192316606</c:v>
                </c:pt>
                <c:pt idx="10">
                  <c:v>-3.0497098746942051</c:v>
                </c:pt>
                <c:pt idx="11">
                  <c:v>-3.1381284915624916</c:v>
                </c:pt>
                <c:pt idx="12">
                  <c:v>-4.9113174115674827</c:v>
                </c:pt>
                <c:pt idx="13">
                  <c:v>-2.9329528066233657</c:v>
                </c:pt>
                <c:pt idx="14">
                  <c:v>-2.3700751750596245</c:v>
                </c:pt>
                <c:pt idx="15">
                  <c:v>-4.2668387504684171</c:v>
                </c:pt>
                <c:pt idx="16">
                  <c:v>-1.1778608704796762</c:v>
                </c:pt>
                <c:pt idx="17">
                  <c:v>-3.1752532453414548</c:v>
                </c:pt>
                <c:pt idx="18">
                  <c:v>-4.4439371821003002</c:v>
                </c:pt>
                <c:pt idx="19">
                  <c:v>-3.2066691713430964</c:v>
                </c:pt>
                <c:pt idx="20">
                  <c:v>2.9897047144207751</c:v>
                </c:pt>
                <c:pt idx="21">
                  <c:v>3.7445835656166713</c:v>
                </c:pt>
                <c:pt idx="22">
                  <c:v>2.3312418570425795</c:v>
                </c:pt>
                <c:pt idx="23">
                  <c:v>2.8121530261745562</c:v>
                </c:pt>
                <c:pt idx="24">
                  <c:v>3.4842922078581817</c:v>
                </c:pt>
                <c:pt idx="25">
                  <c:v>2.3536824965469849</c:v>
                </c:pt>
                <c:pt idx="26">
                  <c:v>2.3668676542569749</c:v>
                </c:pt>
                <c:pt idx="27">
                  <c:v>3.4424246405060073</c:v>
                </c:pt>
                <c:pt idx="28">
                  <c:v>3.6409839592254474</c:v>
                </c:pt>
                <c:pt idx="29">
                  <c:v>3.2512661639663967</c:v>
                </c:pt>
                <c:pt idx="30">
                  <c:v>2.5001158019626111</c:v>
                </c:pt>
                <c:pt idx="31">
                  <c:v>2.9206140893638972</c:v>
                </c:pt>
                <c:pt idx="32">
                  <c:v>3.8839060234553093</c:v>
                </c:pt>
                <c:pt idx="33">
                  <c:v>3.2713811600063019</c:v>
                </c:pt>
                <c:pt idx="34">
                  <c:v>1.0518174150550834</c:v>
                </c:pt>
                <c:pt idx="35">
                  <c:v>2.3610008317686066</c:v>
                </c:pt>
                <c:pt idx="36">
                  <c:v>3.0931010105036689</c:v>
                </c:pt>
                <c:pt idx="37">
                  <c:v>1.8196383090384842</c:v>
                </c:pt>
                <c:pt idx="38">
                  <c:v>1.347583538195452</c:v>
                </c:pt>
                <c:pt idx="39">
                  <c:v>2.1679901358774982</c:v>
                </c:pt>
              </c:numCache>
            </c:numRef>
          </c:xVal>
          <c:yVal>
            <c:numRef>
              <c:f>Sheet1!$B$2:$B$41</c:f>
              <c:numCache>
                <c:formatCode>General</c:formatCode>
                <c:ptCount val="40"/>
                <c:pt idx="0">
                  <c:v>-1.3504407209393179</c:v>
                </c:pt>
                <c:pt idx="1">
                  <c:v>-0.26582614530320708</c:v>
                </c:pt>
                <c:pt idx="2">
                  <c:v>-2.527511289233018</c:v>
                </c:pt>
                <c:pt idx="3">
                  <c:v>-2.3814705065539594</c:v>
                </c:pt>
                <c:pt idx="4">
                  <c:v>2.2238795951529227</c:v>
                </c:pt>
                <c:pt idx="5">
                  <c:v>-1.0041685090960992</c:v>
                </c:pt>
                <c:pt idx="6">
                  <c:v>-2.0522156272763623</c:v>
                </c:pt>
                <c:pt idx="7">
                  <c:v>2.4494971905997556</c:v>
                </c:pt>
                <c:pt idx="8">
                  <c:v>-1.0788310467681215</c:v>
                </c:pt>
                <c:pt idx="9">
                  <c:v>1.6510593723184228E-2</c:v>
                </c:pt>
                <c:pt idx="10">
                  <c:v>-3.090865191264653</c:v>
                </c:pt>
                <c:pt idx="11">
                  <c:v>1.4429887116210094</c:v>
                </c:pt>
                <c:pt idx="12">
                  <c:v>-0.45090880103575437</c:v>
                </c:pt>
                <c:pt idx="13">
                  <c:v>1.0207882902926173</c:v>
                </c:pt>
                <c:pt idx="14">
                  <c:v>1.3532605064916097</c:v>
                </c:pt>
                <c:pt idx="15">
                  <c:v>2.1617791864236895</c:v>
                </c:pt>
                <c:pt idx="16">
                  <c:v>-2.441305803108837</c:v>
                </c:pt>
                <c:pt idx="17">
                  <c:v>1.3879245495411772</c:v>
                </c:pt>
                <c:pt idx="18">
                  <c:v>1.8345864701045895</c:v>
                </c:pt>
                <c:pt idx="19">
                  <c:v>1.593054110496527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71E-B948-A87C-C61B0E3D82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Batch B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xVal>
            <c:numRef>
              <c:f>Sheet1!$A$2:$A$41</c:f>
              <c:numCache>
                <c:formatCode>General</c:formatCode>
                <c:ptCount val="40"/>
                <c:pt idx="0">
                  <c:v>-3.5252843291293319</c:v>
                </c:pt>
                <c:pt idx="1">
                  <c:v>-2.5983269720788811</c:v>
                </c:pt>
                <c:pt idx="2">
                  <c:v>-2.9871049617612018</c:v>
                </c:pt>
                <c:pt idx="3">
                  <c:v>-2.2336249548039353</c:v>
                </c:pt>
                <c:pt idx="4">
                  <c:v>-4.1324473897545229</c:v>
                </c:pt>
                <c:pt idx="5">
                  <c:v>-2.6842750783960447</c:v>
                </c:pt>
                <c:pt idx="6">
                  <c:v>-4.8379731953236798</c:v>
                </c:pt>
                <c:pt idx="7">
                  <c:v>-4.6060542280096533</c:v>
                </c:pt>
                <c:pt idx="8">
                  <c:v>-3.8468745726364184</c:v>
                </c:pt>
                <c:pt idx="9">
                  <c:v>-2.7740248192316606</c:v>
                </c:pt>
                <c:pt idx="10">
                  <c:v>-3.0497098746942051</c:v>
                </c:pt>
                <c:pt idx="11">
                  <c:v>-3.1381284915624916</c:v>
                </c:pt>
                <c:pt idx="12">
                  <c:v>-4.9113174115674827</c:v>
                </c:pt>
                <c:pt idx="13">
                  <c:v>-2.9329528066233657</c:v>
                </c:pt>
                <c:pt idx="14">
                  <c:v>-2.3700751750596245</c:v>
                </c:pt>
                <c:pt idx="15">
                  <c:v>-4.2668387504684171</c:v>
                </c:pt>
                <c:pt idx="16">
                  <c:v>-1.1778608704796762</c:v>
                </c:pt>
                <c:pt idx="17">
                  <c:v>-3.1752532453414548</c:v>
                </c:pt>
                <c:pt idx="18">
                  <c:v>-4.4439371821003002</c:v>
                </c:pt>
                <c:pt idx="19">
                  <c:v>-3.2066691713430964</c:v>
                </c:pt>
                <c:pt idx="20">
                  <c:v>2.9897047144207751</c:v>
                </c:pt>
                <c:pt idx="21">
                  <c:v>3.7445835656166713</c:v>
                </c:pt>
                <c:pt idx="22">
                  <c:v>2.3312418570425795</c:v>
                </c:pt>
                <c:pt idx="23">
                  <c:v>2.8121530261745562</c:v>
                </c:pt>
                <c:pt idx="24">
                  <c:v>3.4842922078581817</c:v>
                </c:pt>
                <c:pt idx="25">
                  <c:v>2.3536824965469849</c:v>
                </c:pt>
                <c:pt idx="26">
                  <c:v>2.3668676542569749</c:v>
                </c:pt>
                <c:pt idx="27">
                  <c:v>3.4424246405060073</c:v>
                </c:pt>
                <c:pt idx="28">
                  <c:v>3.6409839592254474</c:v>
                </c:pt>
                <c:pt idx="29">
                  <c:v>3.2512661639663967</c:v>
                </c:pt>
                <c:pt idx="30">
                  <c:v>2.5001158019626111</c:v>
                </c:pt>
                <c:pt idx="31">
                  <c:v>2.9206140893638972</c:v>
                </c:pt>
                <c:pt idx="32">
                  <c:v>3.8839060234553093</c:v>
                </c:pt>
                <c:pt idx="33">
                  <c:v>3.2713811600063019</c:v>
                </c:pt>
                <c:pt idx="34">
                  <c:v>1.0518174150550834</c:v>
                </c:pt>
                <c:pt idx="35">
                  <c:v>2.3610008317686066</c:v>
                </c:pt>
                <c:pt idx="36">
                  <c:v>3.0931010105036689</c:v>
                </c:pt>
                <c:pt idx="37">
                  <c:v>1.8196383090384842</c:v>
                </c:pt>
                <c:pt idx="38">
                  <c:v>1.347583538195452</c:v>
                </c:pt>
                <c:pt idx="39">
                  <c:v>2.1679901358774982</c:v>
                </c:pt>
              </c:numCache>
            </c:numRef>
          </c:xVal>
          <c:yVal>
            <c:numRef>
              <c:f>Sheet1!$C$2:$C$41</c:f>
              <c:numCache>
                <c:formatCode>General</c:formatCode>
                <c:ptCount val="40"/>
                <c:pt idx="20">
                  <c:v>0.45741726413007211</c:v>
                </c:pt>
                <c:pt idx="21">
                  <c:v>1.3629299729852522</c:v>
                </c:pt>
                <c:pt idx="22">
                  <c:v>-0.53772954573487841</c:v>
                </c:pt>
                <c:pt idx="23">
                  <c:v>-0.74296544170109613</c:v>
                </c:pt>
                <c:pt idx="24">
                  <c:v>1.3057286104102221</c:v>
                </c:pt>
                <c:pt idx="25">
                  <c:v>-0.89519717564858403</c:v>
                </c:pt>
                <c:pt idx="26">
                  <c:v>0.72810091661647025</c:v>
                </c:pt>
                <c:pt idx="27">
                  <c:v>1.6904455203540107</c:v>
                </c:pt>
                <c:pt idx="28">
                  <c:v>-0.86346825064199639</c:v>
                </c:pt>
                <c:pt idx="29">
                  <c:v>2.7469134137437781</c:v>
                </c:pt>
                <c:pt idx="30">
                  <c:v>5.4366460159678956E-2</c:v>
                </c:pt>
                <c:pt idx="31">
                  <c:v>2.0217048932583186</c:v>
                </c:pt>
                <c:pt idx="32">
                  <c:v>1.1195124721081957</c:v>
                </c:pt>
                <c:pt idx="33">
                  <c:v>2.9600543235659229</c:v>
                </c:pt>
                <c:pt idx="34">
                  <c:v>-1.8145442965939129</c:v>
                </c:pt>
                <c:pt idx="35">
                  <c:v>1.6525210751722832</c:v>
                </c:pt>
                <c:pt idx="36">
                  <c:v>-0.20435919678047143</c:v>
                </c:pt>
                <c:pt idx="37">
                  <c:v>-0.99603788937057147</c:v>
                </c:pt>
                <c:pt idx="38">
                  <c:v>-0.88670064798133197</c:v>
                </c:pt>
                <c:pt idx="39">
                  <c:v>-1.4870937554588457E-2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71E-B948-A87C-C61B0E3D82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"/>
          <c:min val="-6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PC1 (48%)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5"/>
          <c:min val="-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PC2 (11%)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Coloured by recurrence label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Relapse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0B3B40"/>
              </a:solidFill>
              <a:ln w="9525" cap="flat">
                <a:solidFill>
                  <a:srgbClr val="0B3B40"/>
                </a:solidFill>
                <a:prstDash val="solid"/>
                <a:round/>
              </a:ln>
              <a:effectLst/>
            </c:spPr>
          </c:marker>
          <c:xVal>
            <c:numRef>
              <c:f>Sheet1!$A$2:$A$41</c:f>
              <c:numCache>
                <c:formatCode>General</c:formatCode>
                <c:ptCount val="40"/>
                <c:pt idx="0">
                  <c:v>-3.5252843291293319</c:v>
                </c:pt>
                <c:pt idx="1">
                  <c:v>-2.5983269720788811</c:v>
                </c:pt>
                <c:pt idx="2">
                  <c:v>-2.2336249548039353</c:v>
                </c:pt>
                <c:pt idx="3">
                  <c:v>-2.6842750783960447</c:v>
                </c:pt>
                <c:pt idx="4">
                  <c:v>-4.6060542280096533</c:v>
                </c:pt>
                <c:pt idx="5">
                  <c:v>-3.8468745726364184</c:v>
                </c:pt>
                <c:pt idx="6">
                  <c:v>-2.7740248192316606</c:v>
                </c:pt>
                <c:pt idx="7">
                  <c:v>-3.0497098746942051</c:v>
                </c:pt>
                <c:pt idx="8">
                  <c:v>-3.1381284915624916</c:v>
                </c:pt>
                <c:pt idx="9">
                  <c:v>-2.9329528066233657</c:v>
                </c:pt>
                <c:pt idx="10">
                  <c:v>-4.2668387504684171</c:v>
                </c:pt>
                <c:pt idx="11">
                  <c:v>-3.2066691713430964</c:v>
                </c:pt>
                <c:pt idx="12">
                  <c:v>2.9897047144207751</c:v>
                </c:pt>
                <c:pt idx="13">
                  <c:v>2.3312418570425795</c:v>
                </c:pt>
                <c:pt idx="14">
                  <c:v>3.4842922078581817</c:v>
                </c:pt>
                <c:pt idx="15">
                  <c:v>2.3668676542569749</c:v>
                </c:pt>
                <c:pt idx="16">
                  <c:v>3.4424246405060073</c:v>
                </c:pt>
                <c:pt idx="17">
                  <c:v>3.6409839592254474</c:v>
                </c:pt>
                <c:pt idx="18">
                  <c:v>3.8839060234553093</c:v>
                </c:pt>
                <c:pt idx="19">
                  <c:v>2.3610008317686066</c:v>
                </c:pt>
                <c:pt idx="20">
                  <c:v>1.8196383090384842</c:v>
                </c:pt>
                <c:pt idx="21">
                  <c:v>1.347583538195452</c:v>
                </c:pt>
                <c:pt idx="22">
                  <c:v>2.1679901358774982</c:v>
                </c:pt>
                <c:pt idx="23">
                  <c:v>-2.9871049617612018</c:v>
                </c:pt>
                <c:pt idx="24">
                  <c:v>-4.1324473897545229</c:v>
                </c:pt>
                <c:pt idx="25">
                  <c:v>-4.8379731953236798</c:v>
                </c:pt>
                <c:pt idx="26">
                  <c:v>-4.9113174115674827</c:v>
                </c:pt>
                <c:pt idx="27">
                  <c:v>-2.3700751750596245</c:v>
                </c:pt>
                <c:pt idx="28">
                  <c:v>-1.1778608704796762</c:v>
                </c:pt>
                <c:pt idx="29">
                  <c:v>-3.1752532453414548</c:v>
                </c:pt>
                <c:pt idx="30">
                  <c:v>-4.4439371821003002</c:v>
                </c:pt>
                <c:pt idx="31">
                  <c:v>3.7445835656166713</c:v>
                </c:pt>
                <c:pt idx="32">
                  <c:v>2.8121530261745562</c:v>
                </c:pt>
                <c:pt idx="33">
                  <c:v>2.3536824965469849</c:v>
                </c:pt>
                <c:pt idx="34">
                  <c:v>3.2512661639663967</c:v>
                </c:pt>
                <c:pt idx="35">
                  <c:v>2.5001158019626111</c:v>
                </c:pt>
                <c:pt idx="36">
                  <c:v>2.9206140893638972</c:v>
                </c:pt>
                <c:pt idx="37">
                  <c:v>3.2713811600063019</c:v>
                </c:pt>
                <c:pt idx="38">
                  <c:v>1.0518174150550834</c:v>
                </c:pt>
                <c:pt idx="39">
                  <c:v>3.0931010105036689</c:v>
                </c:pt>
              </c:numCache>
            </c:numRef>
          </c:xVal>
          <c:yVal>
            <c:numRef>
              <c:f>Sheet1!$B$2:$B$41</c:f>
              <c:numCache>
                <c:formatCode>General</c:formatCode>
                <c:ptCount val="40"/>
                <c:pt idx="0">
                  <c:v>-1.3504407209393179</c:v>
                </c:pt>
                <c:pt idx="1">
                  <c:v>-0.26582614530320708</c:v>
                </c:pt>
                <c:pt idx="2">
                  <c:v>-2.3814705065539594</c:v>
                </c:pt>
                <c:pt idx="3">
                  <c:v>-1.0041685090960992</c:v>
                </c:pt>
                <c:pt idx="4">
                  <c:v>2.4494971905997556</c:v>
                </c:pt>
                <c:pt idx="5">
                  <c:v>-1.0788310467681215</c:v>
                </c:pt>
                <c:pt idx="6">
                  <c:v>1.6510593723184228E-2</c:v>
                </c:pt>
                <c:pt idx="7">
                  <c:v>-3.090865191264653</c:v>
                </c:pt>
                <c:pt idx="8">
                  <c:v>1.4429887116210094</c:v>
                </c:pt>
                <c:pt idx="9">
                  <c:v>1.0207882902926173</c:v>
                </c:pt>
                <c:pt idx="10">
                  <c:v>2.1617791864236895</c:v>
                </c:pt>
                <c:pt idx="11">
                  <c:v>1.593054110496527</c:v>
                </c:pt>
                <c:pt idx="12">
                  <c:v>0.45741726413007211</c:v>
                </c:pt>
                <c:pt idx="13">
                  <c:v>-0.53772954573487841</c:v>
                </c:pt>
                <c:pt idx="14">
                  <c:v>1.3057286104102221</c:v>
                </c:pt>
                <c:pt idx="15">
                  <c:v>0.72810091661647025</c:v>
                </c:pt>
                <c:pt idx="16">
                  <c:v>1.6904455203540107</c:v>
                </c:pt>
                <c:pt idx="17">
                  <c:v>-0.86346825064199639</c:v>
                </c:pt>
                <c:pt idx="18">
                  <c:v>1.1195124721081957</c:v>
                </c:pt>
                <c:pt idx="19">
                  <c:v>1.6525210751722832</c:v>
                </c:pt>
                <c:pt idx="20">
                  <c:v>-0.99603788937057147</c:v>
                </c:pt>
                <c:pt idx="21">
                  <c:v>-0.88670064798133197</c:v>
                </c:pt>
                <c:pt idx="22">
                  <c:v>-1.4870937554588457E-2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0E6-9249-AD3E-C87909F493D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relapse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14A6B0"/>
              </a:solidFill>
              <a:ln w="9525" cap="flat">
                <a:solidFill>
                  <a:srgbClr val="14A6B0"/>
                </a:solidFill>
                <a:prstDash val="solid"/>
                <a:round/>
              </a:ln>
              <a:effectLst/>
            </c:spPr>
          </c:marker>
          <c:xVal>
            <c:numRef>
              <c:f>Sheet1!$A$2:$A$41</c:f>
              <c:numCache>
                <c:formatCode>General</c:formatCode>
                <c:ptCount val="40"/>
                <c:pt idx="0">
                  <c:v>-3.5252843291293319</c:v>
                </c:pt>
                <c:pt idx="1">
                  <c:v>-2.5983269720788811</c:v>
                </c:pt>
                <c:pt idx="2">
                  <c:v>-2.2336249548039353</c:v>
                </c:pt>
                <c:pt idx="3">
                  <c:v>-2.6842750783960447</c:v>
                </c:pt>
                <c:pt idx="4">
                  <c:v>-4.6060542280096533</c:v>
                </c:pt>
                <c:pt idx="5">
                  <c:v>-3.8468745726364184</c:v>
                </c:pt>
                <c:pt idx="6">
                  <c:v>-2.7740248192316606</c:v>
                </c:pt>
                <c:pt idx="7">
                  <c:v>-3.0497098746942051</c:v>
                </c:pt>
                <c:pt idx="8">
                  <c:v>-3.1381284915624916</c:v>
                </c:pt>
                <c:pt idx="9">
                  <c:v>-2.9329528066233657</c:v>
                </c:pt>
                <c:pt idx="10">
                  <c:v>-4.2668387504684171</c:v>
                </c:pt>
                <c:pt idx="11">
                  <c:v>-3.2066691713430964</c:v>
                </c:pt>
                <c:pt idx="12">
                  <c:v>2.9897047144207751</c:v>
                </c:pt>
                <c:pt idx="13">
                  <c:v>2.3312418570425795</c:v>
                </c:pt>
                <c:pt idx="14">
                  <c:v>3.4842922078581817</c:v>
                </c:pt>
                <c:pt idx="15">
                  <c:v>2.3668676542569749</c:v>
                </c:pt>
                <c:pt idx="16">
                  <c:v>3.4424246405060073</c:v>
                </c:pt>
                <c:pt idx="17">
                  <c:v>3.6409839592254474</c:v>
                </c:pt>
                <c:pt idx="18">
                  <c:v>3.8839060234553093</c:v>
                </c:pt>
                <c:pt idx="19">
                  <c:v>2.3610008317686066</c:v>
                </c:pt>
                <c:pt idx="20">
                  <c:v>1.8196383090384842</c:v>
                </c:pt>
                <c:pt idx="21">
                  <c:v>1.347583538195452</c:v>
                </c:pt>
                <c:pt idx="22">
                  <c:v>2.1679901358774982</c:v>
                </c:pt>
                <c:pt idx="23">
                  <c:v>-2.9871049617612018</c:v>
                </c:pt>
                <c:pt idx="24">
                  <c:v>-4.1324473897545229</c:v>
                </c:pt>
                <c:pt idx="25">
                  <c:v>-4.8379731953236798</c:v>
                </c:pt>
                <c:pt idx="26">
                  <c:v>-4.9113174115674827</c:v>
                </c:pt>
                <c:pt idx="27">
                  <c:v>-2.3700751750596245</c:v>
                </c:pt>
                <c:pt idx="28">
                  <c:v>-1.1778608704796762</c:v>
                </c:pt>
                <c:pt idx="29">
                  <c:v>-3.1752532453414548</c:v>
                </c:pt>
                <c:pt idx="30">
                  <c:v>-4.4439371821003002</c:v>
                </c:pt>
                <c:pt idx="31">
                  <c:v>3.7445835656166713</c:v>
                </c:pt>
                <c:pt idx="32">
                  <c:v>2.8121530261745562</c:v>
                </c:pt>
                <c:pt idx="33">
                  <c:v>2.3536824965469849</c:v>
                </c:pt>
                <c:pt idx="34">
                  <c:v>3.2512661639663967</c:v>
                </c:pt>
                <c:pt idx="35">
                  <c:v>2.5001158019626111</c:v>
                </c:pt>
                <c:pt idx="36">
                  <c:v>2.9206140893638972</c:v>
                </c:pt>
                <c:pt idx="37">
                  <c:v>3.2713811600063019</c:v>
                </c:pt>
                <c:pt idx="38">
                  <c:v>1.0518174150550834</c:v>
                </c:pt>
                <c:pt idx="39">
                  <c:v>3.0931010105036689</c:v>
                </c:pt>
              </c:numCache>
            </c:numRef>
          </c:xVal>
          <c:yVal>
            <c:numRef>
              <c:f>Sheet1!$C$2:$C$41</c:f>
              <c:numCache>
                <c:formatCode>General</c:formatCode>
                <c:ptCount val="40"/>
                <c:pt idx="23">
                  <c:v>-2.527511289233018</c:v>
                </c:pt>
                <c:pt idx="24">
                  <c:v>2.2238795951529227</c:v>
                </c:pt>
                <c:pt idx="25">
                  <c:v>-2.0522156272763623</c:v>
                </c:pt>
                <c:pt idx="26">
                  <c:v>-0.45090880103575437</c:v>
                </c:pt>
                <c:pt idx="27">
                  <c:v>1.3532605064916097</c:v>
                </c:pt>
                <c:pt idx="28">
                  <c:v>-2.441305803108837</c:v>
                </c:pt>
                <c:pt idx="29">
                  <c:v>1.3879245495411772</c:v>
                </c:pt>
                <c:pt idx="30">
                  <c:v>1.8345864701045895</c:v>
                </c:pt>
                <c:pt idx="31">
                  <c:v>1.3629299729852522</c:v>
                </c:pt>
                <c:pt idx="32">
                  <c:v>-0.74296544170109613</c:v>
                </c:pt>
                <c:pt idx="33">
                  <c:v>-0.89519717564858403</c:v>
                </c:pt>
                <c:pt idx="34">
                  <c:v>2.7469134137437781</c:v>
                </c:pt>
                <c:pt idx="35">
                  <c:v>5.4366460159678956E-2</c:v>
                </c:pt>
                <c:pt idx="36">
                  <c:v>2.0217048932583186</c:v>
                </c:pt>
                <c:pt idx="37">
                  <c:v>2.9600543235659229</c:v>
                </c:pt>
                <c:pt idx="38">
                  <c:v>-1.8145442965939129</c:v>
                </c:pt>
                <c:pt idx="39">
                  <c:v>-0.20435919678047143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0E6-9249-AD3E-C87909F493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"/>
          <c:min val="-6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PC1 (48%)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5"/>
          <c:min val="-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PC2 (11%)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AUC drops from discovery to validation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Discovery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Marker 1</c:v>
                </c:pt>
                <c:pt idx="1">
                  <c:v>Marker 2</c:v>
                </c:pt>
                <c:pt idx="2">
                  <c:v>Marker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0.92</c:v>
                </c:pt>
                <c:pt idx="2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3B-E942-9AA8-35FDF23ED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Independent validation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Marker 1</c:v>
                </c:pt>
                <c:pt idx="1">
                  <c:v>Marker 2</c:v>
                </c:pt>
                <c:pt idx="2">
                  <c:v>Marker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0.57999999999999996</c:v>
                </c:pt>
                <c:pt idx="2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A3B-E942-9AA8-35FDF23ED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215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 DS; a lot of practice; instead of mathematics, we focus on pipeline; feedbacks on this; </a:t>
            </a:r>
          </a:p>
          <a:p>
            <a:r>
              <a:rPr lang="en-US" dirty="0"/>
              <a:t>Question we </a:t>
            </a:r>
            <a:r>
              <a:rPr lang="en-US" dirty="0" err="1"/>
              <a:t>wanna</a:t>
            </a:r>
            <a:r>
              <a:rPr lang="en-US" dirty="0"/>
              <a:t> address. Why is it important? Can we use ML to answer? Why many failed.</a:t>
            </a:r>
          </a:p>
          <a:p>
            <a:br>
              <a:rPr lang="en-US" dirty="0"/>
            </a:br>
            <a:r>
              <a:rPr lang="en-US" dirty="0"/>
              <a:t>Brief background of the students.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today is about; what today is not about; why we choose data and question over models (because data matter more); description of the course; and the expected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the learning objectives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we </a:t>
            </a:r>
            <a:r>
              <a:rPr lang="en-US" dirty="0" err="1"/>
              <a:t>wanna</a:t>
            </a:r>
            <a:r>
              <a:rPr lang="en-US" dirty="0"/>
              <a:t> ask; the clinical setting; the central challenge; the data we use because by eye and with clinical data, they are the same, but behavior is different.</a:t>
            </a:r>
          </a:p>
          <a:p>
            <a:r>
              <a:rPr lang="en-US" dirty="0"/>
              <a:t>One possible clinical need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Title; point 1 -&gt; well posed clinical question -&gt; 2 -&gt; 3 and plot -&gt; 4 -&gt; wrong translation and model will model it, with confidence. Describe how to approach a problem: prob -&gt; data -&gt; no data? -&gt; new prob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Defining prediction target is difficult -&gt; different definition of responses -&gt; describe the two boxes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-&gt; describe diagram -&gt; data we use -&gt; comment on data we use -&gt; artefacts restated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data structure</a:t>
            </a:r>
            <a:r>
              <a:rPr lang="en-US" dirty="0">
                <a:sym typeface="Wingdings" pitchFamily="2" charset="2"/>
              </a:rPr>
              <a:t> ML expectation -&gt; remember to transpose and check!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features -&gt; label -&gt; question of clinical covariate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1 -&gt; 2 -&gt; </a:t>
            </a:r>
            <a:r>
              <a:rPr lang="en-US" dirty="0" err="1"/>
              <a:t>oppositve</a:t>
            </a:r>
            <a:r>
              <a:rPr lang="en-US" dirty="0"/>
              <a:t> of most ML (image etc..) -&gt; 3 (big for us but not for LM) -&gt; short and fat amplifies lots of problems -&gt; question -&gt; is it feasible?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lvl="0" indent="-285750">
              <a:buFont typeface="Arial"/>
              <a:buChar char="•"/>
            </a:pPr>
            <a:r>
              <a:rPr lang="en-US" dirty="0"/>
              <a:t>Explain with dots in different dimension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1-&gt; 2 -&gt; 3 -&gt; example figure -&gt; 4 -&gt; 5 (answer external validation, gene signature matching biology)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1 -&gt; 2 -&gt; 3 -&gt; 4 -&gt;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1 2 3 4 5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PCA -&gt; describe plots -&gt; 2 -&gt; 3 -&gt;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expensive error: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1 (with 20k, some genes just correlate with outcome and you pick them) 2 3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1 (we will see more in lecture 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Comment on Validated panel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sample split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</a:t>
            </a:r>
            <a:r>
              <a:rPr lang="en-US"/>
              <a:t>ticked objectives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" name="Shape 1"/>
          <p:cNvSpPr/>
          <p:nvPr/>
        </p:nvSpPr>
        <p:spPr>
          <a:xfrm>
            <a:off x="53949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Shape 2"/>
          <p:cNvSpPr/>
          <p:nvPr/>
        </p:nvSpPr>
        <p:spPr>
          <a:xfrm>
            <a:off x="566928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594360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62179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64922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676656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70408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73152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75895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786384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81381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84124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86868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89611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923544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95097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7"/>
          <p:cNvSpPr/>
          <p:nvPr/>
        </p:nvSpPr>
        <p:spPr>
          <a:xfrm>
            <a:off x="97840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1005840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103327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106070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1"/>
          <p:cNvSpPr/>
          <p:nvPr/>
        </p:nvSpPr>
        <p:spPr>
          <a:xfrm>
            <a:off x="108813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512064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539496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4"/>
          <p:cNvSpPr/>
          <p:nvPr/>
        </p:nvSpPr>
        <p:spPr>
          <a:xfrm>
            <a:off x="566928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5"/>
          <p:cNvSpPr/>
          <p:nvPr/>
        </p:nvSpPr>
        <p:spPr>
          <a:xfrm>
            <a:off x="59436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6"/>
          <p:cNvSpPr/>
          <p:nvPr/>
        </p:nvSpPr>
        <p:spPr>
          <a:xfrm>
            <a:off x="62179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7"/>
          <p:cNvSpPr/>
          <p:nvPr/>
        </p:nvSpPr>
        <p:spPr>
          <a:xfrm>
            <a:off x="649224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8"/>
          <p:cNvSpPr/>
          <p:nvPr/>
        </p:nvSpPr>
        <p:spPr>
          <a:xfrm>
            <a:off x="67665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9"/>
          <p:cNvSpPr/>
          <p:nvPr/>
        </p:nvSpPr>
        <p:spPr>
          <a:xfrm>
            <a:off x="704088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30"/>
          <p:cNvSpPr/>
          <p:nvPr/>
        </p:nvSpPr>
        <p:spPr>
          <a:xfrm>
            <a:off x="73152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1"/>
          <p:cNvSpPr/>
          <p:nvPr/>
        </p:nvSpPr>
        <p:spPr>
          <a:xfrm>
            <a:off x="758952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2"/>
          <p:cNvSpPr/>
          <p:nvPr/>
        </p:nvSpPr>
        <p:spPr>
          <a:xfrm>
            <a:off x="786384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3"/>
          <p:cNvSpPr/>
          <p:nvPr/>
        </p:nvSpPr>
        <p:spPr>
          <a:xfrm>
            <a:off x="813816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4"/>
          <p:cNvSpPr/>
          <p:nvPr/>
        </p:nvSpPr>
        <p:spPr>
          <a:xfrm>
            <a:off x="84124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5"/>
          <p:cNvSpPr/>
          <p:nvPr/>
        </p:nvSpPr>
        <p:spPr>
          <a:xfrm>
            <a:off x="86868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6"/>
          <p:cNvSpPr/>
          <p:nvPr/>
        </p:nvSpPr>
        <p:spPr>
          <a:xfrm>
            <a:off x="89611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7"/>
          <p:cNvSpPr/>
          <p:nvPr/>
        </p:nvSpPr>
        <p:spPr>
          <a:xfrm>
            <a:off x="923544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8"/>
          <p:cNvSpPr/>
          <p:nvPr/>
        </p:nvSpPr>
        <p:spPr>
          <a:xfrm>
            <a:off x="95097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9"/>
          <p:cNvSpPr/>
          <p:nvPr/>
        </p:nvSpPr>
        <p:spPr>
          <a:xfrm>
            <a:off x="978408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40"/>
          <p:cNvSpPr/>
          <p:nvPr/>
        </p:nvSpPr>
        <p:spPr>
          <a:xfrm>
            <a:off x="100584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1"/>
          <p:cNvSpPr/>
          <p:nvPr/>
        </p:nvSpPr>
        <p:spPr>
          <a:xfrm>
            <a:off x="103327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2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108813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4"/>
          <p:cNvSpPr/>
          <p:nvPr/>
        </p:nvSpPr>
        <p:spPr>
          <a:xfrm>
            <a:off x="512064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5"/>
          <p:cNvSpPr/>
          <p:nvPr/>
        </p:nvSpPr>
        <p:spPr>
          <a:xfrm>
            <a:off x="53949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6"/>
          <p:cNvSpPr/>
          <p:nvPr/>
        </p:nvSpPr>
        <p:spPr>
          <a:xfrm>
            <a:off x="56692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7"/>
          <p:cNvSpPr/>
          <p:nvPr/>
        </p:nvSpPr>
        <p:spPr>
          <a:xfrm>
            <a:off x="594360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8"/>
          <p:cNvSpPr/>
          <p:nvPr/>
        </p:nvSpPr>
        <p:spPr>
          <a:xfrm>
            <a:off x="62179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9"/>
          <p:cNvSpPr/>
          <p:nvPr/>
        </p:nvSpPr>
        <p:spPr>
          <a:xfrm>
            <a:off x="64922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50"/>
          <p:cNvSpPr/>
          <p:nvPr/>
        </p:nvSpPr>
        <p:spPr>
          <a:xfrm>
            <a:off x="67665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1"/>
          <p:cNvSpPr/>
          <p:nvPr/>
        </p:nvSpPr>
        <p:spPr>
          <a:xfrm>
            <a:off x="704088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2"/>
          <p:cNvSpPr/>
          <p:nvPr/>
        </p:nvSpPr>
        <p:spPr>
          <a:xfrm>
            <a:off x="731520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3"/>
          <p:cNvSpPr/>
          <p:nvPr/>
        </p:nvSpPr>
        <p:spPr>
          <a:xfrm>
            <a:off x="75895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4"/>
          <p:cNvSpPr/>
          <p:nvPr/>
        </p:nvSpPr>
        <p:spPr>
          <a:xfrm>
            <a:off x="786384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5"/>
          <p:cNvSpPr/>
          <p:nvPr/>
        </p:nvSpPr>
        <p:spPr>
          <a:xfrm>
            <a:off x="81381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6"/>
          <p:cNvSpPr/>
          <p:nvPr/>
        </p:nvSpPr>
        <p:spPr>
          <a:xfrm>
            <a:off x="841248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868680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8"/>
          <p:cNvSpPr/>
          <p:nvPr/>
        </p:nvSpPr>
        <p:spPr>
          <a:xfrm>
            <a:off x="89611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9"/>
          <p:cNvSpPr/>
          <p:nvPr/>
        </p:nvSpPr>
        <p:spPr>
          <a:xfrm>
            <a:off x="92354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60"/>
          <p:cNvSpPr/>
          <p:nvPr/>
        </p:nvSpPr>
        <p:spPr>
          <a:xfrm>
            <a:off x="95097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1"/>
          <p:cNvSpPr/>
          <p:nvPr/>
        </p:nvSpPr>
        <p:spPr>
          <a:xfrm>
            <a:off x="978408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2"/>
          <p:cNvSpPr/>
          <p:nvPr/>
        </p:nvSpPr>
        <p:spPr>
          <a:xfrm>
            <a:off x="1005840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3"/>
          <p:cNvSpPr/>
          <p:nvPr/>
        </p:nvSpPr>
        <p:spPr>
          <a:xfrm>
            <a:off x="103327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4"/>
          <p:cNvSpPr/>
          <p:nvPr/>
        </p:nvSpPr>
        <p:spPr>
          <a:xfrm>
            <a:off x="106070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5"/>
          <p:cNvSpPr/>
          <p:nvPr/>
        </p:nvSpPr>
        <p:spPr>
          <a:xfrm>
            <a:off x="108813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6"/>
          <p:cNvSpPr/>
          <p:nvPr/>
        </p:nvSpPr>
        <p:spPr>
          <a:xfrm>
            <a:off x="51206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7"/>
          <p:cNvSpPr/>
          <p:nvPr/>
        </p:nvSpPr>
        <p:spPr>
          <a:xfrm>
            <a:off x="53949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8"/>
          <p:cNvSpPr/>
          <p:nvPr/>
        </p:nvSpPr>
        <p:spPr>
          <a:xfrm>
            <a:off x="56692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9"/>
          <p:cNvSpPr/>
          <p:nvPr/>
        </p:nvSpPr>
        <p:spPr>
          <a:xfrm>
            <a:off x="59436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70"/>
          <p:cNvSpPr/>
          <p:nvPr/>
        </p:nvSpPr>
        <p:spPr>
          <a:xfrm>
            <a:off x="621792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1"/>
          <p:cNvSpPr/>
          <p:nvPr/>
        </p:nvSpPr>
        <p:spPr>
          <a:xfrm>
            <a:off x="64922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2"/>
          <p:cNvSpPr/>
          <p:nvPr/>
        </p:nvSpPr>
        <p:spPr>
          <a:xfrm>
            <a:off x="67665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3"/>
          <p:cNvSpPr/>
          <p:nvPr/>
        </p:nvSpPr>
        <p:spPr>
          <a:xfrm>
            <a:off x="70408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4"/>
          <p:cNvSpPr/>
          <p:nvPr/>
        </p:nvSpPr>
        <p:spPr>
          <a:xfrm>
            <a:off x="73152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5"/>
          <p:cNvSpPr/>
          <p:nvPr/>
        </p:nvSpPr>
        <p:spPr>
          <a:xfrm>
            <a:off x="758952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78638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7"/>
          <p:cNvSpPr/>
          <p:nvPr/>
        </p:nvSpPr>
        <p:spPr>
          <a:xfrm>
            <a:off x="81381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8"/>
          <p:cNvSpPr/>
          <p:nvPr/>
        </p:nvSpPr>
        <p:spPr>
          <a:xfrm>
            <a:off x="84124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9"/>
          <p:cNvSpPr/>
          <p:nvPr/>
        </p:nvSpPr>
        <p:spPr>
          <a:xfrm>
            <a:off x="868680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80"/>
          <p:cNvSpPr/>
          <p:nvPr/>
        </p:nvSpPr>
        <p:spPr>
          <a:xfrm>
            <a:off x="896112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1"/>
          <p:cNvSpPr/>
          <p:nvPr/>
        </p:nvSpPr>
        <p:spPr>
          <a:xfrm>
            <a:off x="923544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2"/>
          <p:cNvSpPr/>
          <p:nvPr/>
        </p:nvSpPr>
        <p:spPr>
          <a:xfrm>
            <a:off x="95097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3"/>
          <p:cNvSpPr/>
          <p:nvPr/>
        </p:nvSpPr>
        <p:spPr>
          <a:xfrm>
            <a:off x="978408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4"/>
          <p:cNvSpPr/>
          <p:nvPr/>
        </p:nvSpPr>
        <p:spPr>
          <a:xfrm>
            <a:off x="100584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5"/>
          <p:cNvSpPr/>
          <p:nvPr/>
        </p:nvSpPr>
        <p:spPr>
          <a:xfrm>
            <a:off x="1033272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6"/>
          <p:cNvSpPr/>
          <p:nvPr/>
        </p:nvSpPr>
        <p:spPr>
          <a:xfrm>
            <a:off x="106070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7"/>
          <p:cNvSpPr/>
          <p:nvPr/>
        </p:nvSpPr>
        <p:spPr>
          <a:xfrm>
            <a:off x="1088136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8"/>
          <p:cNvSpPr/>
          <p:nvPr/>
        </p:nvSpPr>
        <p:spPr>
          <a:xfrm>
            <a:off x="51206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9"/>
          <p:cNvSpPr/>
          <p:nvPr/>
        </p:nvSpPr>
        <p:spPr>
          <a:xfrm>
            <a:off x="53949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90"/>
          <p:cNvSpPr/>
          <p:nvPr/>
        </p:nvSpPr>
        <p:spPr>
          <a:xfrm>
            <a:off x="566928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1"/>
          <p:cNvSpPr/>
          <p:nvPr/>
        </p:nvSpPr>
        <p:spPr>
          <a:xfrm>
            <a:off x="594360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2"/>
          <p:cNvSpPr/>
          <p:nvPr/>
        </p:nvSpPr>
        <p:spPr>
          <a:xfrm>
            <a:off x="62179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3"/>
          <p:cNvSpPr/>
          <p:nvPr/>
        </p:nvSpPr>
        <p:spPr>
          <a:xfrm>
            <a:off x="64922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4"/>
          <p:cNvSpPr/>
          <p:nvPr/>
        </p:nvSpPr>
        <p:spPr>
          <a:xfrm>
            <a:off x="67665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5"/>
          <p:cNvSpPr/>
          <p:nvPr/>
        </p:nvSpPr>
        <p:spPr>
          <a:xfrm>
            <a:off x="704088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6"/>
          <p:cNvSpPr/>
          <p:nvPr/>
        </p:nvSpPr>
        <p:spPr>
          <a:xfrm>
            <a:off x="73152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7"/>
          <p:cNvSpPr/>
          <p:nvPr/>
        </p:nvSpPr>
        <p:spPr>
          <a:xfrm>
            <a:off x="758952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8"/>
          <p:cNvSpPr/>
          <p:nvPr/>
        </p:nvSpPr>
        <p:spPr>
          <a:xfrm>
            <a:off x="78638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9"/>
          <p:cNvSpPr/>
          <p:nvPr/>
        </p:nvSpPr>
        <p:spPr>
          <a:xfrm>
            <a:off x="81381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100"/>
          <p:cNvSpPr/>
          <p:nvPr/>
        </p:nvSpPr>
        <p:spPr>
          <a:xfrm>
            <a:off x="841248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1"/>
          <p:cNvSpPr/>
          <p:nvPr/>
        </p:nvSpPr>
        <p:spPr>
          <a:xfrm>
            <a:off x="86868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2"/>
          <p:cNvSpPr/>
          <p:nvPr/>
        </p:nvSpPr>
        <p:spPr>
          <a:xfrm>
            <a:off x="89611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3"/>
          <p:cNvSpPr/>
          <p:nvPr/>
        </p:nvSpPr>
        <p:spPr>
          <a:xfrm>
            <a:off x="923544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4"/>
          <p:cNvSpPr/>
          <p:nvPr/>
        </p:nvSpPr>
        <p:spPr>
          <a:xfrm>
            <a:off x="95097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5"/>
          <p:cNvSpPr/>
          <p:nvPr/>
        </p:nvSpPr>
        <p:spPr>
          <a:xfrm>
            <a:off x="97840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6"/>
          <p:cNvSpPr/>
          <p:nvPr/>
        </p:nvSpPr>
        <p:spPr>
          <a:xfrm>
            <a:off x="1005840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7"/>
          <p:cNvSpPr/>
          <p:nvPr/>
        </p:nvSpPr>
        <p:spPr>
          <a:xfrm>
            <a:off x="103327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8"/>
          <p:cNvSpPr/>
          <p:nvPr/>
        </p:nvSpPr>
        <p:spPr>
          <a:xfrm>
            <a:off x="106070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9"/>
          <p:cNvSpPr/>
          <p:nvPr/>
        </p:nvSpPr>
        <p:spPr>
          <a:xfrm>
            <a:off x="1088136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10"/>
          <p:cNvSpPr/>
          <p:nvPr/>
        </p:nvSpPr>
        <p:spPr>
          <a:xfrm>
            <a:off x="51206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1"/>
          <p:cNvSpPr/>
          <p:nvPr/>
        </p:nvSpPr>
        <p:spPr>
          <a:xfrm>
            <a:off x="53949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2"/>
          <p:cNvSpPr/>
          <p:nvPr/>
        </p:nvSpPr>
        <p:spPr>
          <a:xfrm>
            <a:off x="566928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3"/>
          <p:cNvSpPr/>
          <p:nvPr/>
        </p:nvSpPr>
        <p:spPr>
          <a:xfrm>
            <a:off x="59436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4"/>
          <p:cNvSpPr/>
          <p:nvPr/>
        </p:nvSpPr>
        <p:spPr>
          <a:xfrm>
            <a:off x="621792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5"/>
          <p:cNvSpPr/>
          <p:nvPr/>
        </p:nvSpPr>
        <p:spPr>
          <a:xfrm>
            <a:off x="64922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6"/>
          <p:cNvSpPr/>
          <p:nvPr/>
        </p:nvSpPr>
        <p:spPr>
          <a:xfrm>
            <a:off x="67665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7"/>
          <p:cNvSpPr/>
          <p:nvPr/>
        </p:nvSpPr>
        <p:spPr>
          <a:xfrm>
            <a:off x="70408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8"/>
          <p:cNvSpPr/>
          <p:nvPr/>
        </p:nvSpPr>
        <p:spPr>
          <a:xfrm>
            <a:off x="73152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9"/>
          <p:cNvSpPr/>
          <p:nvPr/>
        </p:nvSpPr>
        <p:spPr>
          <a:xfrm>
            <a:off x="75895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20"/>
          <p:cNvSpPr/>
          <p:nvPr/>
        </p:nvSpPr>
        <p:spPr>
          <a:xfrm>
            <a:off x="78638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1"/>
          <p:cNvSpPr/>
          <p:nvPr/>
        </p:nvSpPr>
        <p:spPr>
          <a:xfrm>
            <a:off x="81381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2"/>
          <p:cNvSpPr/>
          <p:nvPr/>
        </p:nvSpPr>
        <p:spPr>
          <a:xfrm>
            <a:off x="84124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3"/>
          <p:cNvSpPr/>
          <p:nvPr/>
        </p:nvSpPr>
        <p:spPr>
          <a:xfrm>
            <a:off x="86868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4"/>
          <p:cNvSpPr/>
          <p:nvPr/>
        </p:nvSpPr>
        <p:spPr>
          <a:xfrm>
            <a:off x="89611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5"/>
          <p:cNvSpPr/>
          <p:nvPr/>
        </p:nvSpPr>
        <p:spPr>
          <a:xfrm>
            <a:off x="92354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6"/>
          <p:cNvSpPr/>
          <p:nvPr/>
        </p:nvSpPr>
        <p:spPr>
          <a:xfrm>
            <a:off x="95097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7"/>
          <p:cNvSpPr/>
          <p:nvPr/>
        </p:nvSpPr>
        <p:spPr>
          <a:xfrm>
            <a:off x="97840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8"/>
          <p:cNvSpPr/>
          <p:nvPr/>
        </p:nvSpPr>
        <p:spPr>
          <a:xfrm>
            <a:off x="1005840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9"/>
          <p:cNvSpPr/>
          <p:nvPr/>
        </p:nvSpPr>
        <p:spPr>
          <a:xfrm>
            <a:off x="1033272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30"/>
          <p:cNvSpPr/>
          <p:nvPr/>
        </p:nvSpPr>
        <p:spPr>
          <a:xfrm>
            <a:off x="106070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1"/>
          <p:cNvSpPr/>
          <p:nvPr/>
        </p:nvSpPr>
        <p:spPr>
          <a:xfrm>
            <a:off x="108813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Shape 132"/>
          <p:cNvSpPr/>
          <p:nvPr/>
        </p:nvSpPr>
        <p:spPr>
          <a:xfrm>
            <a:off x="51206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5" name="Shape 133"/>
          <p:cNvSpPr/>
          <p:nvPr/>
        </p:nvSpPr>
        <p:spPr>
          <a:xfrm>
            <a:off x="53949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6" name="Shape 134"/>
          <p:cNvSpPr/>
          <p:nvPr/>
        </p:nvSpPr>
        <p:spPr>
          <a:xfrm>
            <a:off x="56692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Shape 135"/>
          <p:cNvSpPr/>
          <p:nvPr/>
        </p:nvSpPr>
        <p:spPr>
          <a:xfrm>
            <a:off x="594360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8" name="Shape 136"/>
          <p:cNvSpPr/>
          <p:nvPr/>
        </p:nvSpPr>
        <p:spPr>
          <a:xfrm>
            <a:off x="62179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9" name="Shape 137"/>
          <p:cNvSpPr/>
          <p:nvPr/>
        </p:nvSpPr>
        <p:spPr>
          <a:xfrm>
            <a:off x="64922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0" name="Shape 138"/>
          <p:cNvSpPr/>
          <p:nvPr/>
        </p:nvSpPr>
        <p:spPr>
          <a:xfrm>
            <a:off x="67665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1" name="Shape 139"/>
          <p:cNvSpPr/>
          <p:nvPr/>
        </p:nvSpPr>
        <p:spPr>
          <a:xfrm>
            <a:off x="704088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2" name="Shape 140"/>
          <p:cNvSpPr/>
          <p:nvPr/>
        </p:nvSpPr>
        <p:spPr>
          <a:xfrm>
            <a:off x="73152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3" name="Shape 141"/>
          <p:cNvSpPr/>
          <p:nvPr/>
        </p:nvSpPr>
        <p:spPr>
          <a:xfrm>
            <a:off x="75895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4" name="Shape 142"/>
          <p:cNvSpPr/>
          <p:nvPr/>
        </p:nvSpPr>
        <p:spPr>
          <a:xfrm>
            <a:off x="78638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5" name="Shape 143"/>
          <p:cNvSpPr/>
          <p:nvPr/>
        </p:nvSpPr>
        <p:spPr>
          <a:xfrm>
            <a:off x="813816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6" name="Shape 144"/>
          <p:cNvSpPr/>
          <p:nvPr/>
        </p:nvSpPr>
        <p:spPr>
          <a:xfrm>
            <a:off x="84124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7" name="Shape 145"/>
          <p:cNvSpPr/>
          <p:nvPr/>
        </p:nvSpPr>
        <p:spPr>
          <a:xfrm>
            <a:off x="86868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8" name="Shape 146"/>
          <p:cNvSpPr/>
          <p:nvPr/>
        </p:nvSpPr>
        <p:spPr>
          <a:xfrm>
            <a:off x="896112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9" name="Shape 147"/>
          <p:cNvSpPr/>
          <p:nvPr/>
        </p:nvSpPr>
        <p:spPr>
          <a:xfrm>
            <a:off x="92354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0" name="Shape 148"/>
          <p:cNvSpPr/>
          <p:nvPr/>
        </p:nvSpPr>
        <p:spPr>
          <a:xfrm>
            <a:off x="95097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1" name="Shape 149"/>
          <p:cNvSpPr/>
          <p:nvPr/>
        </p:nvSpPr>
        <p:spPr>
          <a:xfrm>
            <a:off x="978408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2" name="Shape 150"/>
          <p:cNvSpPr/>
          <p:nvPr/>
        </p:nvSpPr>
        <p:spPr>
          <a:xfrm>
            <a:off x="100584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3" name="Shape 151"/>
          <p:cNvSpPr/>
          <p:nvPr/>
        </p:nvSpPr>
        <p:spPr>
          <a:xfrm>
            <a:off x="1033272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152"/>
          <p:cNvSpPr/>
          <p:nvPr/>
        </p:nvSpPr>
        <p:spPr>
          <a:xfrm>
            <a:off x="106070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153"/>
          <p:cNvSpPr/>
          <p:nvPr/>
        </p:nvSpPr>
        <p:spPr>
          <a:xfrm>
            <a:off x="108813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154"/>
          <p:cNvSpPr/>
          <p:nvPr/>
        </p:nvSpPr>
        <p:spPr>
          <a:xfrm>
            <a:off x="51206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55"/>
          <p:cNvSpPr/>
          <p:nvPr/>
        </p:nvSpPr>
        <p:spPr>
          <a:xfrm>
            <a:off x="53949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56"/>
          <p:cNvSpPr/>
          <p:nvPr/>
        </p:nvSpPr>
        <p:spPr>
          <a:xfrm>
            <a:off x="56692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57"/>
          <p:cNvSpPr/>
          <p:nvPr/>
        </p:nvSpPr>
        <p:spPr>
          <a:xfrm>
            <a:off x="59436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58"/>
          <p:cNvSpPr/>
          <p:nvPr/>
        </p:nvSpPr>
        <p:spPr>
          <a:xfrm>
            <a:off x="62179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59"/>
          <p:cNvSpPr/>
          <p:nvPr/>
        </p:nvSpPr>
        <p:spPr>
          <a:xfrm>
            <a:off x="64922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60"/>
          <p:cNvSpPr/>
          <p:nvPr/>
        </p:nvSpPr>
        <p:spPr>
          <a:xfrm>
            <a:off x="67665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1"/>
          <p:cNvSpPr/>
          <p:nvPr/>
        </p:nvSpPr>
        <p:spPr>
          <a:xfrm>
            <a:off x="704088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62"/>
          <p:cNvSpPr/>
          <p:nvPr/>
        </p:nvSpPr>
        <p:spPr>
          <a:xfrm>
            <a:off x="73152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63"/>
          <p:cNvSpPr/>
          <p:nvPr/>
        </p:nvSpPr>
        <p:spPr>
          <a:xfrm>
            <a:off x="758952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64"/>
          <p:cNvSpPr/>
          <p:nvPr/>
        </p:nvSpPr>
        <p:spPr>
          <a:xfrm>
            <a:off x="78638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165"/>
          <p:cNvSpPr/>
          <p:nvPr/>
        </p:nvSpPr>
        <p:spPr>
          <a:xfrm>
            <a:off x="81381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Shape 166"/>
          <p:cNvSpPr/>
          <p:nvPr/>
        </p:nvSpPr>
        <p:spPr>
          <a:xfrm>
            <a:off x="84124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9" name="Shape 167"/>
          <p:cNvSpPr/>
          <p:nvPr/>
        </p:nvSpPr>
        <p:spPr>
          <a:xfrm>
            <a:off x="86868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0" name="Shape 168"/>
          <p:cNvSpPr/>
          <p:nvPr/>
        </p:nvSpPr>
        <p:spPr>
          <a:xfrm>
            <a:off x="89611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1" name="Shape 169"/>
          <p:cNvSpPr/>
          <p:nvPr/>
        </p:nvSpPr>
        <p:spPr>
          <a:xfrm>
            <a:off x="92354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2" name="Shape 170"/>
          <p:cNvSpPr/>
          <p:nvPr/>
        </p:nvSpPr>
        <p:spPr>
          <a:xfrm>
            <a:off x="95097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3" name="Shape 171"/>
          <p:cNvSpPr/>
          <p:nvPr/>
        </p:nvSpPr>
        <p:spPr>
          <a:xfrm>
            <a:off x="97840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4" name="Shape 172"/>
          <p:cNvSpPr/>
          <p:nvPr/>
        </p:nvSpPr>
        <p:spPr>
          <a:xfrm>
            <a:off x="1005840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5" name="Shape 173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6" name="Shape 174"/>
          <p:cNvSpPr/>
          <p:nvPr/>
        </p:nvSpPr>
        <p:spPr>
          <a:xfrm>
            <a:off x="106070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7" name="Shape 175"/>
          <p:cNvSpPr/>
          <p:nvPr/>
        </p:nvSpPr>
        <p:spPr>
          <a:xfrm>
            <a:off x="108813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8" name="Shape 176"/>
          <p:cNvSpPr/>
          <p:nvPr/>
        </p:nvSpPr>
        <p:spPr>
          <a:xfrm>
            <a:off x="51206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9" name="Shape 177"/>
          <p:cNvSpPr/>
          <p:nvPr/>
        </p:nvSpPr>
        <p:spPr>
          <a:xfrm>
            <a:off x="53949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0" name="Shape 178"/>
          <p:cNvSpPr/>
          <p:nvPr/>
        </p:nvSpPr>
        <p:spPr>
          <a:xfrm>
            <a:off x="56692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1" name="Shape 179"/>
          <p:cNvSpPr/>
          <p:nvPr/>
        </p:nvSpPr>
        <p:spPr>
          <a:xfrm>
            <a:off x="59436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2" name="Shape 180"/>
          <p:cNvSpPr/>
          <p:nvPr/>
        </p:nvSpPr>
        <p:spPr>
          <a:xfrm>
            <a:off x="62179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3" name="Shape 181"/>
          <p:cNvSpPr/>
          <p:nvPr/>
        </p:nvSpPr>
        <p:spPr>
          <a:xfrm>
            <a:off x="649224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4" name="Shape 182"/>
          <p:cNvSpPr/>
          <p:nvPr/>
        </p:nvSpPr>
        <p:spPr>
          <a:xfrm>
            <a:off x="67665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5" name="Shape 183"/>
          <p:cNvSpPr/>
          <p:nvPr/>
        </p:nvSpPr>
        <p:spPr>
          <a:xfrm>
            <a:off x="70408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6" name="Shape 184"/>
          <p:cNvSpPr/>
          <p:nvPr/>
        </p:nvSpPr>
        <p:spPr>
          <a:xfrm>
            <a:off x="731520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7" name="Shape 185"/>
          <p:cNvSpPr/>
          <p:nvPr/>
        </p:nvSpPr>
        <p:spPr>
          <a:xfrm>
            <a:off x="758952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8" name="Shape 186"/>
          <p:cNvSpPr/>
          <p:nvPr/>
        </p:nvSpPr>
        <p:spPr>
          <a:xfrm>
            <a:off x="786384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9" name="Shape 187"/>
          <p:cNvSpPr/>
          <p:nvPr/>
        </p:nvSpPr>
        <p:spPr>
          <a:xfrm>
            <a:off x="813816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0" name="Shape 188"/>
          <p:cNvSpPr/>
          <p:nvPr/>
        </p:nvSpPr>
        <p:spPr>
          <a:xfrm>
            <a:off x="84124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1" name="Shape 189"/>
          <p:cNvSpPr/>
          <p:nvPr/>
        </p:nvSpPr>
        <p:spPr>
          <a:xfrm>
            <a:off x="86868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2" name="Shape 190"/>
          <p:cNvSpPr/>
          <p:nvPr/>
        </p:nvSpPr>
        <p:spPr>
          <a:xfrm>
            <a:off x="89611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3" name="Shape 191"/>
          <p:cNvSpPr/>
          <p:nvPr/>
        </p:nvSpPr>
        <p:spPr>
          <a:xfrm>
            <a:off x="923544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4" name="Shape 192"/>
          <p:cNvSpPr/>
          <p:nvPr/>
        </p:nvSpPr>
        <p:spPr>
          <a:xfrm>
            <a:off x="95097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5" name="Shape 193"/>
          <p:cNvSpPr/>
          <p:nvPr/>
        </p:nvSpPr>
        <p:spPr>
          <a:xfrm>
            <a:off x="978408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6" name="Shape 194"/>
          <p:cNvSpPr/>
          <p:nvPr/>
        </p:nvSpPr>
        <p:spPr>
          <a:xfrm>
            <a:off x="100584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7" name="Shape 195"/>
          <p:cNvSpPr/>
          <p:nvPr/>
        </p:nvSpPr>
        <p:spPr>
          <a:xfrm>
            <a:off x="103327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8" name="Shape 196"/>
          <p:cNvSpPr/>
          <p:nvPr/>
        </p:nvSpPr>
        <p:spPr>
          <a:xfrm>
            <a:off x="106070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9" name="Shape 197"/>
          <p:cNvSpPr/>
          <p:nvPr/>
        </p:nvSpPr>
        <p:spPr>
          <a:xfrm>
            <a:off x="108813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0" name="Text 198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</a:t>
            </a:r>
            <a:endParaRPr lang="en-US" sz="1500" dirty="0"/>
          </a:p>
        </p:txBody>
      </p:sp>
      <p:sp>
        <p:nvSpPr>
          <p:cNvPr id="201" name="Text 199"/>
          <p:cNvSpPr/>
          <p:nvPr/>
        </p:nvSpPr>
        <p:spPr>
          <a:xfrm>
            <a:off x="64008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Biological Question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Machine Learning Problem</a:t>
            </a:r>
            <a:endParaRPr lang="en-US" sz="4000" dirty="0"/>
          </a:p>
        </p:txBody>
      </p:sp>
      <p:sp>
        <p:nvSpPr>
          <p:cNvPr id="202" name="Text 200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03" name="Text 201"/>
          <p:cNvSpPr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a tumour’s transcriptome tell us who will recur and who is safe?”</a:t>
            </a:r>
            <a:endParaRPr lang="en-US" sz="1800" dirty="0"/>
          </a:p>
        </p:txBody>
      </p:sp>
      <p:sp>
        <p:nvSpPr>
          <p:cNvPr id="204" name="Text 202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UNIMI/IEO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lecture sits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about thinking, not modelling.</a:t>
            </a:r>
            <a:endParaRPr lang="en-US" sz="17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not touch logistic regression, random forests, or neural nets today.</a:t>
            </a:r>
            <a:endParaRPr lang="en-US" sz="17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promise: by the end you can take a vague clinical question, state it as a well-posed prediction problem, and spot the traps that sink most biomarker studies.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grade ML model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31520" y="2039112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731520" y="2039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07008" y="187452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clinical prediction problem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679192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31520" y="2843784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31520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07008" y="267919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transcriptomic data are represented for ML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3483864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548640" y="3483864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31520" y="3648456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73152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348386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features and labels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48640" y="4288536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548640" y="4288536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31520" y="4453128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731520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07008" y="428853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why transcriptomic data are hard (p ≫ n, batch, </a:t>
            </a:r>
            <a:r>
              <a:rPr lang="en-US" sz="13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</a:t>
            </a: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309360" y="1874520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309360" y="187452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6492240" y="2039112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6492240" y="2039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967728" y="187452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curse of dimensionality intuitively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6309360" y="2679192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6309360" y="2679192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6492240" y="2843784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2"/>
          <p:cNvSpPr/>
          <p:nvPr/>
        </p:nvSpPr>
        <p:spPr>
          <a:xfrm>
            <a:off x="6492240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967728" y="267919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many published biomarkers fail validation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6309360" y="3483864"/>
            <a:ext cx="5486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6309360" y="3483864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6492240" y="3648456"/>
            <a:ext cx="329184" cy="32918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Text 37"/>
          <p:cNvSpPr/>
          <p:nvPr/>
        </p:nvSpPr>
        <p:spPr>
          <a:xfrm>
            <a:off x="649224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67728" y="348386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defensible train / validation / test split</a:t>
            </a:r>
            <a:endParaRPr lang="en-US" sz="135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SETTING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needs more therapy and who is harmed by it?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HR+/HER2- early breast cancer: the most common subtype (~70% of cases).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good prognosis, but heterogeneous. Some tumours need chemotherapy, many do not.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tension: overtreatment (toxicity such as heart damage, infertility, secondary AML) vs undertreatment (metastatic recurrences).</a:t>
            </a:r>
          </a:p>
          <a:p>
            <a:pPr marL="203200" indent="-203200">
              <a:spcAft>
                <a:spcPts val="1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transcriptomics data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is it better to give chemo to patients that do not need? Or the opposite? </a:t>
            </a:r>
          </a:p>
          <a:p>
            <a:pPr marL="203200" indent="-203200">
              <a:spcAft>
                <a:spcPts val="14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need: a tool that identifies who actually benefits from added therapy.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583680" y="18288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83680" y="18288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595360" y="2057400"/>
            <a:ext cx="1005840" cy="1005840"/>
          </a:xfrm>
          <a:prstGeom prst="ellipse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859536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 flipH="1">
            <a:off x="7818120" y="3154680"/>
            <a:ext cx="91440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9464040" y="3154680"/>
            <a:ext cx="91440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903720" y="38862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903720" y="4023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Spared chemo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03720" y="440740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Overtreatment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needless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toxicity &amp; cost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89720" y="38862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189720" y="4023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from chemo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189720" y="440740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Undertreatment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missed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see this split with the naked eye.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question is not yet an ML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79120" y="1627632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Clinician’s words: “Will this patient’s tumour respond to treatment?”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yet a well made machine learning problem, it is underspecified.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it ML-ready, we need 4 </a:t>
            </a:r>
            <a:r>
              <a:rPr lang="en-US" sz="16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ingrediants</a:t>
            </a: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what we measure (input), what we predict (output), when we measure it, and on whom.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scientific decisions and the danger lives in this translation step, not the model.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Try to not let the data decide the question!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b="1" dirty="0">
              <a:solidFill>
                <a:srgbClr val="0E7C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675120" y="1874520"/>
            <a:ext cx="4937760" cy="713232"/>
          </a:xfrm>
          <a:prstGeom prst="roundRect">
            <a:avLst>
              <a:gd name="adj" fmla="val 7692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187452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question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119518" y="2715768"/>
            <a:ext cx="4048963" cy="713232"/>
          </a:xfrm>
          <a:prstGeom prst="roundRect">
            <a:avLst>
              <a:gd name="adj" fmla="val 7692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19518" y="2715768"/>
            <a:ext cx="40489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define the input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563917" y="3557016"/>
            <a:ext cx="3160166" cy="713232"/>
          </a:xfrm>
          <a:prstGeom prst="roundRect">
            <a:avLst>
              <a:gd name="adj" fmla="val 7692"/>
            </a:avLst>
          </a:prstGeom>
          <a:solidFill>
            <a:srgbClr val="14A6B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563917" y="3557016"/>
            <a:ext cx="316016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define the output (label)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08315" y="4398264"/>
            <a:ext cx="2271370" cy="713232"/>
          </a:xfrm>
          <a:prstGeom prst="roundRect">
            <a:avLst>
              <a:gd name="adj" fmla="val 7692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8008315" y="4398264"/>
            <a:ext cx="22713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when &amp; on whom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403336" y="5239512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0B3B4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8403336" y="5239512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Well-posed prediction task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Defining the prediction target is a scientific choice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015153"/>
              </p:ext>
            </p:extLst>
          </p:nvPr>
        </p:nvGraphicFramePr>
        <p:xfrm>
          <a:off x="548640" y="1783080"/>
          <a:ext cx="6858000" cy="23774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available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Caveat in HR+/HER2−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(neoadjuvant)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(at surgery)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in luminal; weak surrogate for survival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latin typeface="Calibri" charset="0"/>
                          <a:ea typeface="Calibri" charset="0"/>
                          <a:cs typeface="Calibri" charset="0"/>
                        </a:rPr>
                        <a:t>Clinical Benefit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50" dirty="0">
                          <a:latin typeface="Calibri" charset="0"/>
                          <a:ea typeface="Calibri" charset="0"/>
                          <a:cs typeface="Calibri" charset="0"/>
                        </a:rPr>
                        <a:t>Only with a comparator arm (treated-vs-untreated)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latin typeface="Calibri" charset="0"/>
                          <a:ea typeface="Calibri" charset="0"/>
                          <a:cs typeface="Calibri" charset="0"/>
                        </a:rPr>
                        <a:t>Needs untreated patients; not learnable from single-arm data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Relapse / DMFS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D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of follow-up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D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2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to what patients care about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7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D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726680" y="1783080"/>
            <a:ext cx="3886200" cy="1783080"/>
          </a:xfrm>
          <a:prstGeom prst="roundRect">
            <a:avLst>
              <a:gd name="adj" fmla="val 4103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7955280" y="19202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running case study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955280" y="228600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METABRIC has long </a:t>
            </a:r>
            <a:r>
              <a:rPr lang="en-US" sz="11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followup</a:t>
            </a: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practical predicts relapse / recurrence from long-term survival data: this will be our endpoint.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726680" y="3749040"/>
            <a:ext cx="3886200" cy="2148840"/>
          </a:xfrm>
          <a:prstGeom prst="roundRect">
            <a:avLst>
              <a:gd name="adj" fmla="val 3404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7955280" y="38862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choice we make on purpose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955280" y="422452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Relapse is time-to-event. We collapse it to a binary label (relapsed vs not, by a fixed horizon) to keep modelling simple. That discards information — an 11-month and a 110-month relapse get the same label, and censored patients become awkward. We return to the cost in lecture 5.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data come from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621792" y="182880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</a:t>
            </a: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biopsy</a:t>
            </a:r>
          </a:p>
        </p:txBody>
      </p:sp>
      <p:sp>
        <p:nvSpPr>
          <p:cNvPr id="9" name="Shape 6"/>
          <p:cNvSpPr/>
          <p:nvPr/>
        </p:nvSpPr>
        <p:spPr>
          <a:xfrm>
            <a:off x="2560320" y="22860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2798064" y="18288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2871216" y="182880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 extraction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09744" y="22860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5047488" y="18288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5120640" y="182880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 hybridisation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59168" y="22860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296912" y="18288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70064" y="182880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intensities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308592" y="22860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9546336" y="18288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9619488" y="182880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matrix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290779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(which part, tumor content,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Preservation)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37490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Microarrays (Affymetrix, Illumina): probes for tens of thousands of transcripts; intensity ∝ abundance.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cohorts live in GEO / ArrayExpress and curated portals.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injects potential artefacts: </a:t>
            </a: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platform, batch. Two cohorts on two platforms is exactly where batch effects are born.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83680" y="374904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812280" y="38221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METABRIC  </a:t>
            </a: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~1,900 tumours · Illumina HT-12 · via cBioPortal (Pereira 2016). Development cohort of the model we follow.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4864608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583680" y="4864608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4"/>
          <p:cNvSpPr/>
          <p:nvPr/>
        </p:nvSpPr>
        <p:spPr>
          <a:xfrm>
            <a:off x="681228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GSE6532 (Loi et al.)  </a:t>
            </a: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Affymetrix series, combined in so a real cross-platform batch effect appears in the practical.</a:t>
            </a:r>
            <a:endParaRPr lang="en-US" sz="1200" dirty="0"/>
          </a:p>
        </p:txBody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7EDE9598-E1BD-C279-70EB-237ED8FEDC6B}"/>
              </a:ext>
            </a:extLst>
          </p:cNvPr>
          <p:cNvSpPr/>
          <p:nvPr/>
        </p:nvSpPr>
        <p:spPr>
          <a:xfrm>
            <a:off x="2779776" y="2861476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Depends on preservation</a:t>
            </a:r>
            <a:endParaRPr lang="en-US" sz="110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9089BDCD-5221-4866-8A43-B8B664BC3FA5}"/>
              </a:ext>
            </a:extLst>
          </p:cNvPr>
          <p:cNvSpPr/>
          <p:nvPr/>
        </p:nvSpPr>
        <p:spPr>
          <a:xfrm>
            <a:off x="5047488" y="2856109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vs </a:t>
            </a:r>
            <a:r>
              <a:rPr lang="en-US" sz="1100" dirty="0" err="1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RNAseq</a:t>
            </a: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?</a:t>
            </a:r>
            <a:endParaRPr lang="en-US" sz="1100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1239C92-C097-E9F5-72C4-1F0F4E895689}"/>
              </a:ext>
            </a:extLst>
          </p:cNvPr>
          <p:cNvSpPr/>
          <p:nvPr/>
        </p:nvSpPr>
        <p:spPr>
          <a:xfrm>
            <a:off x="9546336" y="281635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Normalisation</a:t>
            </a:r>
            <a:r>
              <a:rPr lang="en-US" sz="11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?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OBJECT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transcriptomic data matrix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object: an expression matrix.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samples (patients/tumours), 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= genes/probes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study: ~100-500 samples × ~20,000 genes.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in bioinformatics, row and columns are swapped. Rows = genes! TRANSPOSE IT!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067044" y="21945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6281928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6496812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711696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926580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141464" y="21945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356348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571232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786116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001000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215884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430768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645652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860536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9075420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9290304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505188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720072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9934956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10149840" y="21945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10364724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10579608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794492" y="21945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1009376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1224260" y="21945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5852160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6067044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281928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6496812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6711696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6926580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141464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7356348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7571232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7786116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8001000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215884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8430768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8645652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8860536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9075420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290304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9505188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9720072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9934956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0149840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0364724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10579608" y="24688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10794492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11009376" y="24688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11224260" y="24688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5852160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6067044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6281928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6496812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6711696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6926580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7141464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7356348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571232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7786116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8001000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8215884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430768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8645652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8860536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9075420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9290304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9505188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9720072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9934956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10149840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10364724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10579608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10794492" y="274320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11009376" y="274320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11224260" y="274320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5852160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6067044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6281928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6496812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6711696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6926580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7141464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7356348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7571232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7786116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8001000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8215884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8430768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8645652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8860536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9075420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9290304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9505188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9720072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9934956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10149840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10364724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10579608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10794492" y="301752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11009376" y="301752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11224260" y="301752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5852160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6067044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6281928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6496812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6711696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6926580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7141464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7356348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7571232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7786116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8001000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8215884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8430768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8645652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8860536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9075420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9290304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9505188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7"/>
          <p:cNvSpPr/>
          <p:nvPr/>
        </p:nvSpPr>
        <p:spPr>
          <a:xfrm>
            <a:off x="9720072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8"/>
          <p:cNvSpPr/>
          <p:nvPr/>
        </p:nvSpPr>
        <p:spPr>
          <a:xfrm>
            <a:off x="9934956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29"/>
          <p:cNvSpPr/>
          <p:nvPr/>
        </p:nvSpPr>
        <p:spPr>
          <a:xfrm>
            <a:off x="10149840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10364724" y="329184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Shape 131"/>
          <p:cNvSpPr/>
          <p:nvPr/>
        </p:nvSpPr>
        <p:spPr>
          <a:xfrm>
            <a:off x="10579608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5" name="Shape 132"/>
          <p:cNvSpPr/>
          <p:nvPr/>
        </p:nvSpPr>
        <p:spPr>
          <a:xfrm>
            <a:off x="10794492" y="329184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11009376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Shape 134"/>
          <p:cNvSpPr/>
          <p:nvPr/>
        </p:nvSpPr>
        <p:spPr>
          <a:xfrm>
            <a:off x="11224260" y="329184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8" name="Shape 135"/>
          <p:cNvSpPr/>
          <p:nvPr/>
        </p:nvSpPr>
        <p:spPr>
          <a:xfrm>
            <a:off x="5852160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9" name="Shape 136"/>
          <p:cNvSpPr/>
          <p:nvPr/>
        </p:nvSpPr>
        <p:spPr>
          <a:xfrm>
            <a:off x="6067044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0" name="Shape 137"/>
          <p:cNvSpPr/>
          <p:nvPr/>
        </p:nvSpPr>
        <p:spPr>
          <a:xfrm>
            <a:off x="6281928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1" name="Shape 138"/>
          <p:cNvSpPr/>
          <p:nvPr/>
        </p:nvSpPr>
        <p:spPr>
          <a:xfrm>
            <a:off x="6496812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2" name="Shape 139"/>
          <p:cNvSpPr/>
          <p:nvPr/>
        </p:nvSpPr>
        <p:spPr>
          <a:xfrm>
            <a:off x="6711696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3" name="Shape 140"/>
          <p:cNvSpPr/>
          <p:nvPr/>
        </p:nvSpPr>
        <p:spPr>
          <a:xfrm>
            <a:off x="6926580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4" name="Shape 141"/>
          <p:cNvSpPr/>
          <p:nvPr/>
        </p:nvSpPr>
        <p:spPr>
          <a:xfrm>
            <a:off x="7141464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5" name="Shape 142"/>
          <p:cNvSpPr/>
          <p:nvPr/>
        </p:nvSpPr>
        <p:spPr>
          <a:xfrm>
            <a:off x="7356348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6" name="Shape 143"/>
          <p:cNvSpPr/>
          <p:nvPr/>
        </p:nvSpPr>
        <p:spPr>
          <a:xfrm>
            <a:off x="7571232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7" name="Shape 144"/>
          <p:cNvSpPr/>
          <p:nvPr/>
        </p:nvSpPr>
        <p:spPr>
          <a:xfrm>
            <a:off x="7786116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8" name="Shape 145"/>
          <p:cNvSpPr/>
          <p:nvPr/>
        </p:nvSpPr>
        <p:spPr>
          <a:xfrm>
            <a:off x="8001000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9" name="Shape 146"/>
          <p:cNvSpPr/>
          <p:nvPr/>
        </p:nvSpPr>
        <p:spPr>
          <a:xfrm>
            <a:off x="8215884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0" name="Shape 147"/>
          <p:cNvSpPr/>
          <p:nvPr/>
        </p:nvSpPr>
        <p:spPr>
          <a:xfrm>
            <a:off x="8430768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1" name="Shape 148"/>
          <p:cNvSpPr/>
          <p:nvPr/>
        </p:nvSpPr>
        <p:spPr>
          <a:xfrm>
            <a:off x="8645652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2" name="Shape 149"/>
          <p:cNvSpPr/>
          <p:nvPr/>
        </p:nvSpPr>
        <p:spPr>
          <a:xfrm>
            <a:off x="8860536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3" name="Shape 150"/>
          <p:cNvSpPr/>
          <p:nvPr/>
        </p:nvSpPr>
        <p:spPr>
          <a:xfrm>
            <a:off x="9075420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151"/>
          <p:cNvSpPr/>
          <p:nvPr/>
        </p:nvSpPr>
        <p:spPr>
          <a:xfrm>
            <a:off x="9290304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152"/>
          <p:cNvSpPr/>
          <p:nvPr/>
        </p:nvSpPr>
        <p:spPr>
          <a:xfrm>
            <a:off x="9505188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153"/>
          <p:cNvSpPr/>
          <p:nvPr/>
        </p:nvSpPr>
        <p:spPr>
          <a:xfrm>
            <a:off x="9720072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54"/>
          <p:cNvSpPr/>
          <p:nvPr/>
        </p:nvSpPr>
        <p:spPr>
          <a:xfrm>
            <a:off x="9934956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55"/>
          <p:cNvSpPr/>
          <p:nvPr/>
        </p:nvSpPr>
        <p:spPr>
          <a:xfrm>
            <a:off x="10149840" y="356616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56"/>
          <p:cNvSpPr/>
          <p:nvPr/>
        </p:nvSpPr>
        <p:spPr>
          <a:xfrm>
            <a:off x="10364724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57"/>
          <p:cNvSpPr/>
          <p:nvPr/>
        </p:nvSpPr>
        <p:spPr>
          <a:xfrm>
            <a:off x="10579608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58"/>
          <p:cNvSpPr/>
          <p:nvPr/>
        </p:nvSpPr>
        <p:spPr>
          <a:xfrm>
            <a:off x="10794492" y="356616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59"/>
          <p:cNvSpPr/>
          <p:nvPr/>
        </p:nvSpPr>
        <p:spPr>
          <a:xfrm>
            <a:off x="11009376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0"/>
          <p:cNvSpPr/>
          <p:nvPr/>
        </p:nvSpPr>
        <p:spPr>
          <a:xfrm>
            <a:off x="11224260" y="356616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61"/>
          <p:cNvSpPr/>
          <p:nvPr/>
        </p:nvSpPr>
        <p:spPr>
          <a:xfrm>
            <a:off x="5852160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62"/>
          <p:cNvSpPr/>
          <p:nvPr/>
        </p:nvSpPr>
        <p:spPr>
          <a:xfrm>
            <a:off x="6067044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63"/>
          <p:cNvSpPr/>
          <p:nvPr/>
        </p:nvSpPr>
        <p:spPr>
          <a:xfrm>
            <a:off x="6281928" y="38404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164"/>
          <p:cNvSpPr/>
          <p:nvPr/>
        </p:nvSpPr>
        <p:spPr>
          <a:xfrm>
            <a:off x="6496812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Shape 165"/>
          <p:cNvSpPr/>
          <p:nvPr/>
        </p:nvSpPr>
        <p:spPr>
          <a:xfrm>
            <a:off x="6711696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9" name="Shape 166"/>
          <p:cNvSpPr/>
          <p:nvPr/>
        </p:nvSpPr>
        <p:spPr>
          <a:xfrm>
            <a:off x="6926580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0" name="Shape 167"/>
          <p:cNvSpPr/>
          <p:nvPr/>
        </p:nvSpPr>
        <p:spPr>
          <a:xfrm>
            <a:off x="7141464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1" name="Shape 168"/>
          <p:cNvSpPr/>
          <p:nvPr/>
        </p:nvSpPr>
        <p:spPr>
          <a:xfrm>
            <a:off x="7356348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2" name="Shape 169"/>
          <p:cNvSpPr/>
          <p:nvPr/>
        </p:nvSpPr>
        <p:spPr>
          <a:xfrm>
            <a:off x="7571232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3" name="Shape 170"/>
          <p:cNvSpPr/>
          <p:nvPr/>
        </p:nvSpPr>
        <p:spPr>
          <a:xfrm>
            <a:off x="7786116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4" name="Shape 171"/>
          <p:cNvSpPr/>
          <p:nvPr/>
        </p:nvSpPr>
        <p:spPr>
          <a:xfrm>
            <a:off x="8001000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5" name="Shape 172"/>
          <p:cNvSpPr/>
          <p:nvPr/>
        </p:nvSpPr>
        <p:spPr>
          <a:xfrm>
            <a:off x="8215884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6" name="Shape 173"/>
          <p:cNvSpPr/>
          <p:nvPr/>
        </p:nvSpPr>
        <p:spPr>
          <a:xfrm>
            <a:off x="8430768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7" name="Shape 174"/>
          <p:cNvSpPr/>
          <p:nvPr/>
        </p:nvSpPr>
        <p:spPr>
          <a:xfrm>
            <a:off x="8645652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8" name="Shape 175"/>
          <p:cNvSpPr/>
          <p:nvPr/>
        </p:nvSpPr>
        <p:spPr>
          <a:xfrm>
            <a:off x="8860536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9" name="Shape 176"/>
          <p:cNvSpPr/>
          <p:nvPr/>
        </p:nvSpPr>
        <p:spPr>
          <a:xfrm>
            <a:off x="9075420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0" name="Shape 177"/>
          <p:cNvSpPr/>
          <p:nvPr/>
        </p:nvSpPr>
        <p:spPr>
          <a:xfrm>
            <a:off x="9290304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1" name="Shape 178"/>
          <p:cNvSpPr/>
          <p:nvPr/>
        </p:nvSpPr>
        <p:spPr>
          <a:xfrm>
            <a:off x="9505188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2" name="Shape 179"/>
          <p:cNvSpPr/>
          <p:nvPr/>
        </p:nvSpPr>
        <p:spPr>
          <a:xfrm>
            <a:off x="9720072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3" name="Shape 180"/>
          <p:cNvSpPr/>
          <p:nvPr/>
        </p:nvSpPr>
        <p:spPr>
          <a:xfrm>
            <a:off x="9934956" y="38404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4" name="Shape 181"/>
          <p:cNvSpPr/>
          <p:nvPr/>
        </p:nvSpPr>
        <p:spPr>
          <a:xfrm>
            <a:off x="10149840" y="38404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5" name="Shape 182"/>
          <p:cNvSpPr/>
          <p:nvPr/>
        </p:nvSpPr>
        <p:spPr>
          <a:xfrm>
            <a:off x="10364724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6" name="Shape 183"/>
          <p:cNvSpPr/>
          <p:nvPr/>
        </p:nvSpPr>
        <p:spPr>
          <a:xfrm>
            <a:off x="10579608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7" name="Shape 184"/>
          <p:cNvSpPr/>
          <p:nvPr/>
        </p:nvSpPr>
        <p:spPr>
          <a:xfrm>
            <a:off x="10794492" y="3840480"/>
            <a:ext cx="196596" cy="246888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8" name="Shape 185"/>
          <p:cNvSpPr/>
          <p:nvPr/>
        </p:nvSpPr>
        <p:spPr>
          <a:xfrm>
            <a:off x="11009376" y="3840480"/>
            <a:ext cx="196596" cy="24688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9" name="Shape 186"/>
          <p:cNvSpPr/>
          <p:nvPr/>
        </p:nvSpPr>
        <p:spPr>
          <a:xfrm>
            <a:off x="11224260" y="3840480"/>
            <a:ext cx="196596" cy="246888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0" name="Shape 187"/>
          <p:cNvSpPr/>
          <p:nvPr/>
        </p:nvSpPr>
        <p:spPr>
          <a:xfrm>
            <a:off x="5824728" y="2715768"/>
            <a:ext cx="5623560" cy="274320"/>
          </a:xfrm>
          <a:prstGeom prst="rect">
            <a:avLst/>
          </a:prstGeom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1" name="Shape 188"/>
          <p:cNvSpPr/>
          <p:nvPr/>
        </p:nvSpPr>
        <p:spPr>
          <a:xfrm>
            <a:off x="9692640" y="2167128"/>
            <a:ext cx="233172" cy="1938528"/>
          </a:xfrm>
          <a:prstGeom prst="rect">
            <a:avLst/>
          </a:prstGeom>
          <a:ln w="31750">
            <a:solidFill>
              <a:srgbClr val="1226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2" name="Text 189"/>
          <p:cNvSpPr/>
          <p:nvPr/>
        </p:nvSpPr>
        <p:spPr>
          <a:xfrm>
            <a:off x="5852160" y="4187952"/>
            <a:ext cx="5586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= patient 17 (everything we measured)</a:t>
            </a:r>
            <a:endParaRPr lang="en-US" sz="1100" dirty="0"/>
          </a:p>
        </p:txBody>
      </p:sp>
      <p:sp>
        <p:nvSpPr>
          <p:cNvPr id="193" name="Text 190"/>
          <p:cNvSpPr/>
          <p:nvPr/>
        </p:nvSpPr>
        <p:spPr>
          <a:xfrm>
            <a:off x="5852160" y="4462272"/>
            <a:ext cx="5586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= gene X across all patients</a:t>
            </a:r>
            <a:endParaRPr lang="en-US" sz="1100" dirty="0"/>
          </a:p>
        </p:txBody>
      </p:sp>
      <p:sp>
        <p:nvSpPr>
          <p:cNvPr id="194" name="Text 191"/>
          <p:cNvSpPr/>
          <p:nvPr/>
        </p:nvSpPr>
        <p:spPr>
          <a:xfrm>
            <a:off x="4983480" y="2971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↓</a:t>
            </a:r>
            <a:endParaRPr lang="en-US" sz="1100" dirty="0"/>
          </a:p>
        </p:txBody>
      </p:sp>
      <p:sp>
        <p:nvSpPr>
          <p:cNvPr id="195" name="Text 192"/>
          <p:cNvSpPr/>
          <p:nvPr/>
        </p:nvSpPr>
        <p:spPr>
          <a:xfrm>
            <a:off x="5852160" y="1828800"/>
            <a:ext cx="5586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→   (~20,000)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AND 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and labels, concretely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(X): expression of each gene for each sample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(y): the chosen recurrence endpoint per sample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features: clinical covariates (age, tumour size, grade, nodal status). 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~20,000 numbers describing each tumour, and one number we wish we knew in advance.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Should age and tumor size be features, or should we test the transcriptome on its own?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92240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729984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6967728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205472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443216" y="228600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680960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918704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156448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8394192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8631936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869680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9107424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9345168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582912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9820656" y="228600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10058400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10296144" y="228600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10533888" y="228600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492240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6729984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967728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205472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7443216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680960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918704" y="259689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156448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8394192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8631936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8869680" y="259689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9107424" y="259689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345168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9582912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9820656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10058400" y="259689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10296144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10533888" y="259689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6492240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6729984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6967728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7205472" y="290779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7443216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7680960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7918704" y="290779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8156448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8394192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8631936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8869680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9107424" y="290779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9345168" y="290779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9582912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9820656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10058400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10296144" y="290779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10533888" y="290779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6492240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6729984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6967728" y="3218688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7205472" y="3218688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7443216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7680960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918704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8156448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8394192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8631936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869680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9107424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9345168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9582912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9820656" y="3218688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10058400" y="3218688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10296144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10533888" y="3218688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6492240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6729984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6967728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7205472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7443216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7680960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7918704" y="3529584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8156448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8394192" y="3529584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8631936" y="3529584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8869680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9107424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9345168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9582912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9820656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10058400" y="3529584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10296144" y="3529584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10533888" y="3529584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6492240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6729984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6967728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7205472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7443216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7680960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7918704" y="384048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8156448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8394192" y="384048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8631936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8869680" y="384048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9107424" y="384048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9345168" y="384048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9582912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9820656" y="3840480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10058400" y="3840480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10296144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10533888" y="3840480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6492240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6729984" y="415137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6967728" y="415137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7205472" y="415137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7443216" y="415137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7680960" y="415137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7918704" y="415137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8156448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8394192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8631936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8869680" y="415137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9107424" y="415137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9345168" y="4151376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9582912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7"/>
          <p:cNvSpPr/>
          <p:nvPr/>
        </p:nvSpPr>
        <p:spPr>
          <a:xfrm>
            <a:off x="9820656" y="4151376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8"/>
          <p:cNvSpPr/>
          <p:nvPr/>
        </p:nvSpPr>
        <p:spPr>
          <a:xfrm>
            <a:off x="10058400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29"/>
          <p:cNvSpPr/>
          <p:nvPr/>
        </p:nvSpPr>
        <p:spPr>
          <a:xfrm>
            <a:off x="10296144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10533888" y="4151376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Shape 131"/>
          <p:cNvSpPr/>
          <p:nvPr/>
        </p:nvSpPr>
        <p:spPr>
          <a:xfrm>
            <a:off x="6492240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5" name="Shape 132"/>
          <p:cNvSpPr/>
          <p:nvPr/>
        </p:nvSpPr>
        <p:spPr>
          <a:xfrm>
            <a:off x="6729984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6967728" y="446227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Shape 134"/>
          <p:cNvSpPr/>
          <p:nvPr/>
        </p:nvSpPr>
        <p:spPr>
          <a:xfrm>
            <a:off x="7205472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8" name="Shape 135"/>
          <p:cNvSpPr/>
          <p:nvPr/>
        </p:nvSpPr>
        <p:spPr>
          <a:xfrm>
            <a:off x="7443216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9" name="Shape 136"/>
          <p:cNvSpPr/>
          <p:nvPr/>
        </p:nvSpPr>
        <p:spPr>
          <a:xfrm>
            <a:off x="7680960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0" name="Shape 137"/>
          <p:cNvSpPr/>
          <p:nvPr/>
        </p:nvSpPr>
        <p:spPr>
          <a:xfrm>
            <a:off x="7918704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1" name="Shape 138"/>
          <p:cNvSpPr/>
          <p:nvPr/>
        </p:nvSpPr>
        <p:spPr>
          <a:xfrm>
            <a:off x="8156448" y="446227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2" name="Shape 139"/>
          <p:cNvSpPr/>
          <p:nvPr/>
        </p:nvSpPr>
        <p:spPr>
          <a:xfrm>
            <a:off x="8394192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3" name="Shape 140"/>
          <p:cNvSpPr/>
          <p:nvPr/>
        </p:nvSpPr>
        <p:spPr>
          <a:xfrm>
            <a:off x="8631936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4" name="Shape 141"/>
          <p:cNvSpPr/>
          <p:nvPr/>
        </p:nvSpPr>
        <p:spPr>
          <a:xfrm>
            <a:off x="8869680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5" name="Shape 142"/>
          <p:cNvSpPr/>
          <p:nvPr/>
        </p:nvSpPr>
        <p:spPr>
          <a:xfrm>
            <a:off x="9107424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6" name="Shape 143"/>
          <p:cNvSpPr/>
          <p:nvPr/>
        </p:nvSpPr>
        <p:spPr>
          <a:xfrm>
            <a:off x="9345168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7" name="Shape 144"/>
          <p:cNvSpPr/>
          <p:nvPr/>
        </p:nvSpPr>
        <p:spPr>
          <a:xfrm>
            <a:off x="9582912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8" name="Shape 145"/>
          <p:cNvSpPr/>
          <p:nvPr/>
        </p:nvSpPr>
        <p:spPr>
          <a:xfrm>
            <a:off x="9820656" y="4462272"/>
            <a:ext cx="219456" cy="283464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9" name="Shape 146"/>
          <p:cNvSpPr/>
          <p:nvPr/>
        </p:nvSpPr>
        <p:spPr>
          <a:xfrm>
            <a:off x="10058400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0" name="Shape 147"/>
          <p:cNvSpPr/>
          <p:nvPr/>
        </p:nvSpPr>
        <p:spPr>
          <a:xfrm>
            <a:off x="10296144" y="4462272"/>
            <a:ext cx="219456" cy="283464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1" name="Shape 148"/>
          <p:cNvSpPr/>
          <p:nvPr/>
        </p:nvSpPr>
        <p:spPr>
          <a:xfrm>
            <a:off x="10533888" y="4462272"/>
            <a:ext cx="219456" cy="283464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2" name="Text 149"/>
          <p:cNvSpPr/>
          <p:nvPr/>
        </p:nvSpPr>
        <p:spPr>
          <a:xfrm>
            <a:off x="6492240" y="1901952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 (features)</a:t>
            </a:r>
            <a:endParaRPr lang="en-US" sz="1300" dirty="0"/>
          </a:p>
        </p:txBody>
      </p:sp>
      <p:sp>
        <p:nvSpPr>
          <p:cNvPr id="153" name="Shape 150"/>
          <p:cNvSpPr/>
          <p:nvPr/>
        </p:nvSpPr>
        <p:spPr>
          <a:xfrm>
            <a:off x="11000232" y="2286000"/>
            <a:ext cx="332842" cy="283464"/>
          </a:xfrm>
          <a:prstGeom prst="rect">
            <a:avLst/>
          </a:prstGeom>
          <a:solidFill>
            <a:srgbClr val="F6E9D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151"/>
          <p:cNvSpPr/>
          <p:nvPr/>
        </p:nvSpPr>
        <p:spPr>
          <a:xfrm>
            <a:off x="11000232" y="2596896"/>
            <a:ext cx="332842" cy="283464"/>
          </a:xfrm>
          <a:prstGeom prst="rect">
            <a:avLst/>
          </a:prstGeom>
          <a:solidFill>
            <a:srgbClr val="F6E9D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152"/>
          <p:cNvSpPr/>
          <p:nvPr/>
        </p:nvSpPr>
        <p:spPr>
          <a:xfrm>
            <a:off x="11000232" y="2907792"/>
            <a:ext cx="332842" cy="283464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153"/>
          <p:cNvSpPr/>
          <p:nvPr/>
        </p:nvSpPr>
        <p:spPr>
          <a:xfrm>
            <a:off x="11000232" y="3218688"/>
            <a:ext cx="332842" cy="283464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54"/>
          <p:cNvSpPr/>
          <p:nvPr/>
        </p:nvSpPr>
        <p:spPr>
          <a:xfrm>
            <a:off x="11000232" y="3529584"/>
            <a:ext cx="332842" cy="283464"/>
          </a:xfrm>
          <a:prstGeom prst="rect">
            <a:avLst/>
          </a:prstGeom>
          <a:solidFill>
            <a:srgbClr val="F6E9D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55"/>
          <p:cNvSpPr/>
          <p:nvPr/>
        </p:nvSpPr>
        <p:spPr>
          <a:xfrm>
            <a:off x="11000232" y="3840480"/>
            <a:ext cx="332842" cy="283464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56"/>
          <p:cNvSpPr/>
          <p:nvPr/>
        </p:nvSpPr>
        <p:spPr>
          <a:xfrm>
            <a:off x="11000232" y="4151376"/>
            <a:ext cx="332842" cy="283464"/>
          </a:xfrm>
          <a:prstGeom prst="rect">
            <a:avLst/>
          </a:prstGeom>
          <a:solidFill>
            <a:srgbClr val="F6E9D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57"/>
          <p:cNvSpPr/>
          <p:nvPr/>
        </p:nvSpPr>
        <p:spPr>
          <a:xfrm>
            <a:off x="11000232" y="4462272"/>
            <a:ext cx="332842" cy="283464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Text 158"/>
          <p:cNvSpPr/>
          <p:nvPr/>
        </p:nvSpPr>
        <p:spPr>
          <a:xfrm>
            <a:off x="11000232" y="1901952"/>
            <a:ext cx="33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62" name="Text 159"/>
          <p:cNvSpPr/>
          <p:nvPr/>
        </p:nvSpPr>
        <p:spPr>
          <a:xfrm>
            <a:off x="10725912" y="4828032"/>
            <a:ext cx="8814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relapse?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defining property: p &gt;&gt; 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Transcriptomics: lot of information (regulatory network, proxy for genetic events and so on) summarized in 20k gene expression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more features (p ≈ 20,000) than samples (n ≈ hundreds to low thousands).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defining property of transcriptomic ML: p ≫ n, true even for a large cohort like METABRIC (~1,400 HR+/HER2− still ≪ 20,000 genes).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classic ML, where n ≫ p.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the data are “short and fat,” and short-fat data behave counterintuitively: overfitting is just around the corner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how many samples such that 20k feature would not be dangerous?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  (n ≫ p)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040880" y="2423160"/>
            <a:ext cx="914400" cy="3291840"/>
          </a:xfrm>
          <a:prstGeom prst="rect">
            <a:avLst/>
          </a:prstGeom>
          <a:solidFill>
            <a:srgbClr val="DCEDEE"/>
          </a:solidFill>
          <a:ln w="127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400800" y="5760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samples,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features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869680" y="2057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Transcriptomics  (p ≫ 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15400" y="2423160"/>
            <a:ext cx="3017520" cy="868680"/>
          </a:xfrm>
          <a:prstGeom prst="rect">
            <a:avLst/>
          </a:prstGeom>
          <a:solidFill>
            <a:srgbClr val="14A6B0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8869680" y="3429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patients,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~20,000 genes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ONLY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curse of dimensionality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 dimensions, almost everything looks far from everything else; data become sparse.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20,000 dimensions and 200 points, the space is essentially empty.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always find some combination of genes that perfectly separates your patients, even from pure noise.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high-dimensional data make overfitting the default, not the exception.</a:t>
            </a:r>
          </a:p>
          <a:p>
            <a:pPr marL="203200" indent="-203200">
              <a:spcAft>
                <a:spcPts val="1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if the model perfectly separates the classes, does this imply that the model learned biology?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101" name="frame"/>
          <p:cNvSpPr/>
          <p:nvPr/>
        </p:nvSpPr>
        <p:spPr>
          <a:xfrm>
            <a:off x="6248400" y="2057400"/>
            <a:ext cx="1170000" cy="1430000"/>
          </a:xfrm>
          <a:prstGeom prst="rect">
            <a:avLst/>
          </a:prstGeom>
          <a:noFill/>
          <a:ln w="9525">
            <a:solidFill>
              <a:srgbClr val="C9D2D6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02" name="ln"/>
          <p:cNvCxnSpPr/>
          <p:nvPr/>
        </p:nvCxnSpPr>
        <p:spPr>
          <a:xfrm>
            <a:off x="6398400" y="2772400"/>
            <a:ext cx="870000" cy="0"/>
          </a:xfrm>
          <a:prstGeom prst="line">
            <a:avLst/>
          </a:prstGeom>
          <a:ln w="12700">
            <a:solidFill>
              <a:srgbClr val="9AA7AC"/>
            </a:solidFill>
          </a:ln>
        </p:spPr>
      </p:cxnSp>
      <p:sp>
        <p:nvSpPr>
          <p:cNvPr id="103" name="dot"/>
          <p:cNvSpPr/>
          <p:nvPr/>
        </p:nvSpPr>
        <p:spPr>
          <a:xfrm>
            <a:off x="6412900" y="27144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dot"/>
          <p:cNvSpPr/>
          <p:nvPr/>
        </p:nvSpPr>
        <p:spPr>
          <a:xfrm>
            <a:off x="6557900" y="2714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dot"/>
          <p:cNvSpPr/>
          <p:nvPr/>
        </p:nvSpPr>
        <p:spPr>
          <a:xfrm>
            <a:off x="6702900" y="27144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dot"/>
          <p:cNvSpPr/>
          <p:nvPr/>
        </p:nvSpPr>
        <p:spPr>
          <a:xfrm>
            <a:off x="6847900" y="2714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dot"/>
          <p:cNvSpPr/>
          <p:nvPr/>
        </p:nvSpPr>
        <p:spPr>
          <a:xfrm>
            <a:off x="6992900" y="27144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dot"/>
          <p:cNvSpPr/>
          <p:nvPr/>
        </p:nvSpPr>
        <p:spPr>
          <a:xfrm>
            <a:off x="7137900" y="2714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frame"/>
          <p:cNvSpPr/>
          <p:nvPr/>
        </p:nvSpPr>
        <p:spPr>
          <a:xfrm>
            <a:off x="7628400" y="2057400"/>
            <a:ext cx="1170000" cy="1430000"/>
          </a:xfrm>
          <a:prstGeom prst="rect">
            <a:avLst/>
          </a:prstGeom>
          <a:noFill/>
          <a:ln w="9525">
            <a:solidFill>
              <a:srgbClr val="C9D2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dot"/>
          <p:cNvSpPr/>
          <p:nvPr/>
        </p:nvSpPr>
        <p:spPr>
          <a:xfrm>
            <a:off x="7877000" y="24884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" name="dot"/>
          <p:cNvSpPr/>
          <p:nvPr/>
        </p:nvSpPr>
        <p:spPr>
          <a:xfrm>
            <a:off x="8068400" y="23528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dot"/>
          <p:cNvSpPr/>
          <p:nvPr/>
        </p:nvSpPr>
        <p:spPr>
          <a:xfrm>
            <a:off x="7981400" y="28500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3" name="dot"/>
          <p:cNvSpPr/>
          <p:nvPr/>
        </p:nvSpPr>
        <p:spPr>
          <a:xfrm>
            <a:off x="8312000" y="2601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dot"/>
          <p:cNvSpPr/>
          <p:nvPr/>
        </p:nvSpPr>
        <p:spPr>
          <a:xfrm>
            <a:off x="8399000" y="29630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dot"/>
          <p:cNvSpPr/>
          <p:nvPr/>
        </p:nvSpPr>
        <p:spPr>
          <a:xfrm>
            <a:off x="8172800" y="30760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frame"/>
          <p:cNvSpPr/>
          <p:nvPr/>
        </p:nvSpPr>
        <p:spPr>
          <a:xfrm>
            <a:off x="9008400" y="2057400"/>
            <a:ext cx="1170000" cy="1430000"/>
          </a:xfrm>
          <a:prstGeom prst="rect">
            <a:avLst/>
          </a:prstGeom>
          <a:noFill/>
          <a:ln w="9525">
            <a:solidFill>
              <a:srgbClr val="C9D2D6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7" name="ln"/>
          <p:cNvCxnSpPr/>
          <p:nvPr/>
        </p:nvCxnSpPr>
        <p:spPr>
          <a:xfrm>
            <a:off x="9158400" y="2467400"/>
            <a:ext cx="640000" cy="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9798400" y="2467400"/>
            <a:ext cx="0" cy="87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19" name="ln"/>
          <p:cNvCxnSpPr/>
          <p:nvPr/>
        </p:nvCxnSpPr>
        <p:spPr>
          <a:xfrm flipH="1">
            <a:off x="9158400" y="3337400"/>
            <a:ext cx="640000" cy="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9158400" y="2467400"/>
            <a:ext cx="0" cy="87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9388400" y="2237400"/>
            <a:ext cx="640000" cy="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10028400" y="2237400"/>
            <a:ext cx="0" cy="87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3" name="ln"/>
          <p:cNvCxnSpPr/>
          <p:nvPr/>
        </p:nvCxnSpPr>
        <p:spPr>
          <a:xfrm flipH="1">
            <a:off x="9388400" y="3107400"/>
            <a:ext cx="640000" cy="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9388400" y="2237400"/>
            <a:ext cx="0" cy="87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5" name="ln"/>
          <p:cNvCxnSpPr/>
          <p:nvPr/>
        </p:nvCxnSpPr>
        <p:spPr>
          <a:xfrm flipV="1">
            <a:off x="9158400" y="2237400"/>
            <a:ext cx="230000" cy="23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6" name="ln"/>
          <p:cNvCxnSpPr/>
          <p:nvPr/>
        </p:nvCxnSpPr>
        <p:spPr>
          <a:xfrm flipV="1">
            <a:off x="9798400" y="2237400"/>
            <a:ext cx="230000" cy="23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7" name="ln"/>
          <p:cNvCxnSpPr/>
          <p:nvPr/>
        </p:nvCxnSpPr>
        <p:spPr>
          <a:xfrm flipV="1">
            <a:off x="9798400" y="3107400"/>
            <a:ext cx="230000" cy="23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9158400" y="3107400"/>
            <a:ext cx="230000" cy="230000"/>
          </a:xfrm>
          <a:prstGeom prst="line">
            <a:avLst/>
          </a:prstGeom>
          <a:ln w="9525">
            <a:solidFill>
              <a:srgbClr val="9AA7AC"/>
            </a:solidFill>
          </a:ln>
        </p:spPr>
      </p:cxnSp>
      <p:sp>
        <p:nvSpPr>
          <p:cNvPr id="129" name="dot"/>
          <p:cNvSpPr/>
          <p:nvPr/>
        </p:nvSpPr>
        <p:spPr>
          <a:xfrm>
            <a:off x="9251400" y="29258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0" name="dot"/>
          <p:cNvSpPr/>
          <p:nvPr/>
        </p:nvSpPr>
        <p:spPr>
          <a:xfrm>
            <a:off x="9613400" y="25094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1" name="dot"/>
          <p:cNvSpPr/>
          <p:nvPr/>
        </p:nvSpPr>
        <p:spPr>
          <a:xfrm>
            <a:off x="9361400" y="26449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dot"/>
          <p:cNvSpPr/>
          <p:nvPr/>
        </p:nvSpPr>
        <p:spPr>
          <a:xfrm>
            <a:off x="9653200" y="28916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3" name="dot"/>
          <p:cNvSpPr/>
          <p:nvPr/>
        </p:nvSpPr>
        <p:spPr>
          <a:xfrm>
            <a:off x="9839900" y="25793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4" name="dot"/>
          <p:cNvSpPr/>
          <p:nvPr/>
        </p:nvSpPr>
        <p:spPr>
          <a:xfrm>
            <a:off x="9534100" y="29615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5" name="frame"/>
          <p:cNvSpPr/>
          <p:nvPr/>
        </p:nvSpPr>
        <p:spPr>
          <a:xfrm>
            <a:off x="10388400" y="2057400"/>
            <a:ext cx="1170000" cy="1430000"/>
          </a:xfrm>
          <a:prstGeom prst="rect">
            <a:avLst/>
          </a:prstGeom>
          <a:noFill/>
          <a:ln w="9525">
            <a:solidFill>
              <a:srgbClr val="C9D2D6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36" name="ln"/>
          <p:cNvCxnSpPr/>
          <p:nvPr/>
        </p:nvCxnSpPr>
        <p:spPr>
          <a:xfrm flipH="1">
            <a:off x="10799400" y="2207400"/>
            <a:ext cx="313200" cy="1130000"/>
          </a:xfrm>
          <a:prstGeom prst="line">
            <a:avLst/>
          </a:prstGeom>
          <a:ln w="19050">
            <a:solidFill>
              <a:srgbClr val="C8743C"/>
            </a:solidFill>
            <a:prstDash val="dash"/>
          </a:ln>
        </p:spPr>
      </p:cxnSp>
      <p:sp>
        <p:nvSpPr>
          <p:cNvPr id="137" name="dot"/>
          <p:cNvSpPr/>
          <p:nvPr/>
        </p:nvSpPr>
        <p:spPr>
          <a:xfrm>
            <a:off x="10619600" y="23980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8" name="dot"/>
          <p:cNvSpPr/>
          <p:nvPr/>
        </p:nvSpPr>
        <p:spPr>
          <a:xfrm>
            <a:off x="10741400" y="22850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9" name="dot"/>
          <p:cNvSpPr/>
          <p:nvPr/>
        </p:nvSpPr>
        <p:spPr>
          <a:xfrm>
            <a:off x="10584800" y="2669200"/>
            <a:ext cx="116000" cy="116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0" name="dot"/>
          <p:cNvSpPr/>
          <p:nvPr/>
        </p:nvSpPr>
        <p:spPr>
          <a:xfrm>
            <a:off x="11228600" y="3053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1" name="dot"/>
          <p:cNvSpPr/>
          <p:nvPr/>
        </p:nvSpPr>
        <p:spPr>
          <a:xfrm>
            <a:off x="11089400" y="31664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2" name="dot"/>
          <p:cNvSpPr/>
          <p:nvPr/>
        </p:nvSpPr>
        <p:spPr>
          <a:xfrm>
            <a:off x="11263400" y="2782200"/>
            <a:ext cx="116000" cy="116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3" name="plabel"/>
          <p:cNvSpPr/>
          <p:nvPr/>
        </p:nvSpPr>
        <p:spPr>
          <a:xfrm>
            <a:off x="6248400" y="3527400"/>
            <a:ext cx="117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A70"/>
                </a:solidFill>
                <a:latin typeface="Calibri"/>
              </a:rPr>
              <a:t>1D</a:t>
            </a:r>
          </a:p>
        </p:txBody>
      </p:sp>
      <p:sp>
        <p:nvSpPr>
          <p:cNvPr id="144" name="plabel"/>
          <p:cNvSpPr/>
          <p:nvPr/>
        </p:nvSpPr>
        <p:spPr>
          <a:xfrm>
            <a:off x="7628400" y="3527400"/>
            <a:ext cx="117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A70"/>
                </a:solidFill>
                <a:latin typeface="Calibri"/>
              </a:rPr>
              <a:t>2D</a:t>
            </a:r>
          </a:p>
        </p:txBody>
      </p:sp>
      <p:sp>
        <p:nvSpPr>
          <p:cNvPr id="145" name="plabel"/>
          <p:cNvSpPr/>
          <p:nvPr/>
        </p:nvSpPr>
        <p:spPr>
          <a:xfrm>
            <a:off x="9008400" y="3527400"/>
            <a:ext cx="117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A70"/>
                </a:solidFill>
                <a:latin typeface="Calibri"/>
              </a:rPr>
              <a:t>3D</a:t>
            </a:r>
          </a:p>
        </p:txBody>
      </p:sp>
      <p:sp>
        <p:nvSpPr>
          <p:cNvPr id="146" name="plabel"/>
          <p:cNvSpPr/>
          <p:nvPr/>
        </p:nvSpPr>
        <p:spPr>
          <a:xfrm>
            <a:off x="10388400" y="3527400"/>
            <a:ext cx="117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8743C"/>
                </a:solidFill>
                <a:latin typeface="Calibri"/>
              </a:rPr>
              <a:t>20,000D</a:t>
            </a:r>
          </a:p>
        </p:txBody>
      </p:sp>
      <p:sp>
        <p:nvSpPr>
          <p:cNvPr id="147" name="dot"/>
          <p:cNvSpPr/>
          <p:nvPr/>
        </p:nvSpPr>
        <p:spPr>
          <a:xfrm>
            <a:off x="6256400" y="1845400"/>
            <a:ext cx="104000" cy="104000"/>
          </a:xfrm>
          <a:prstGeom prst="ellipse">
            <a:avLst/>
          </a:prstGeom>
          <a:solidFill>
            <a:srgbClr val="1A6B7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8" name="leg1"/>
          <p:cNvSpPr/>
          <p:nvPr/>
        </p:nvSpPr>
        <p:spPr>
          <a:xfrm>
            <a:off x="6408400" y="1807400"/>
            <a:ext cx="150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70"/>
                </a:solidFill>
                <a:latin typeface="Calibri"/>
              </a:rPr>
              <a:t>disease-free</a:t>
            </a:r>
          </a:p>
        </p:txBody>
      </p:sp>
      <p:sp>
        <p:nvSpPr>
          <p:cNvPr id="149" name="dot"/>
          <p:cNvSpPr/>
          <p:nvPr/>
        </p:nvSpPr>
        <p:spPr>
          <a:xfrm>
            <a:off x="8046400" y="1845400"/>
            <a:ext cx="104000" cy="104000"/>
          </a:xfrm>
          <a:prstGeom prst="ellipse">
            <a:avLst/>
          </a:prstGeom>
          <a:solidFill>
            <a:srgbClr val="C8743C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leg2"/>
          <p:cNvSpPr/>
          <p:nvPr/>
        </p:nvSpPr>
        <p:spPr>
          <a:xfrm>
            <a:off x="8198400" y="1807400"/>
            <a:ext cx="1200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A70"/>
                </a:solidFill>
                <a:latin typeface="Calibri"/>
              </a:rPr>
              <a:t>recurs</a:t>
            </a:r>
          </a:p>
        </p:txBody>
      </p:sp>
      <p:sp>
        <p:nvSpPr>
          <p:cNvPr id="151" name="caption"/>
          <p:cNvSpPr/>
          <p:nvPr/>
        </p:nvSpPr>
        <p:spPr>
          <a:xfrm>
            <a:off x="6248400" y="3847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2262B"/>
                </a:solidFill>
                <a:latin typeface="Calibri"/>
              </a:rPr>
              <a:t>Same points, more room: by high D every point sits alone — so a separating line is always there.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 in the p &gt;&gt; n regime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the model memorises specific patients, not the underlying biology.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it is trivially easy.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near-perfect performance on training data, collapse on new data.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 enough genes, you can fit the noise in your sample as confidently as the signal.”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What would actually convince you that a model learned biology, not noise?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92240" y="210312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SOBERING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signatures are not unique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Reanalyses of famous breast-cancer signatures: many different, non-overlapping gene sets predict outcome almost equally well.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signatures are often unstable: resampling patients changes which genes are selected.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appearing in your signature is weak evidence that it might be biologically causal.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feature of p ≫ n, not a flaw in any one study.</a:t>
            </a:r>
          </a:p>
          <a:p>
            <a:pPr marL="203200" indent="-203200">
              <a:spcAft>
                <a:spcPts val="1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how do we avoid randomness and pick at least weak evidence? 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828800"/>
            <a:ext cx="1828800" cy="1828800"/>
          </a:xfrm>
          <a:prstGeom prst="ellipse">
            <a:avLst/>
          </a:prstGeom>
          <a:solidFill>
            <a:srgbClr val="0E7C86">
              <a:alpha val="38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680960" y="1828800"/>
            <a:ext cx="1828800" cy="1828800"/>
          </a:xfrm>
          <a:prstGeom prst="ellipse">
            <a:avLst/>
          </a:prstGeom>
          <a:solidFill>
            <a:srgbClr val="14A6B0">
              <a:alpha val="38000"/>
            </a:srgbClr>
          </a:solidFill>
          <a:ln w="1905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40880" y="2926080"/>
            <a:ext cx="1828800" cy="1828800"/>
          </a:xfrm>
          <a:prstGeom prst="ellipse">
            <a:avLst/>
          </a:prstGeom>
          <a:solidFill>
            <a:srgbClr val="C2772B">
              <a:alpha val="38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58368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86968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72668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4846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≈ AUC 0.70 ± 0.02,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almost no shared genes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SILENT CONFOUNDER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effects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 = systematic technical variation linked to when / where / how / who processed the samples (run date, machine, technician, reagent lot, hospital, platform).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larger than the biological signal you care about.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Danger: if batch correlates with outcome (e.g. all relapses processed at one site), the model learns the batch, not the biology.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cs typeface="Calibri" pitchFamily="34" charset="-120"/>
              </a:rPr>
              <a:t>Imagine: all responders are from A and all no responder are from B (or enrichment)!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REMEMBER: standard normalization does not necessary correct for batch effect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210312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212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254203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X · 2018 · Scanner 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675120" y="338328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675120" y="34930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675120" y="38221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Y · 2020 · Scanner 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418320" y="2606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9418320" y="2606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9418320" y="2606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778240" y="2651760"/>
            <a:ext cx="64008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 flipV="1">
            <a:off x="8778240" y="3561588"/>
            <a:ext cx="64008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6675120" y="4617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technical shift rides in with the data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Seeing batch effects with PCA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3880" y="1499616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projects the high-dimensional matrix onto a few axes capturing most variance.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samples cluster by batch rather than biology, batch dominates the variance.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diagnostic, not a fix: correction (e.g. </a:t>
            </a: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quantile </a:t>
            </a: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comes later and must done carefully to avoid data leakage!</a:t>
            </a:r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QUESTION: Suppose PC1 perfectly separates two hospitals, and all your responders happen to be in one. Can you still correct for batch?</a:t>
            </a:r>
            <a:endParaRPr lang="en-US" sz="1500" dirty="0">
              <a:solidFill>
                <a:srgbClr val="00B0F0"/>
              </a:solidFill>
            </a:endParaRPr>
          </a:p>
        </p:txBody>
      </p:sp>
      <p:graphicFrame>
        <p:nvGraphicFramePr>
          <p:cNvPr id="8" name="Chart 0"/>
          <p:cNvGraphicFramePr/>
          <p:nvPr/>
        </p:nvGraphicFramePr>
        <p:xfrm>
          <a:off x="64008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621792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5"/>
          <p:cNvSpPr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array knew the platform before it knew the tumour.”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EXPENSIVE MISTAKE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leakage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= information from outside the training set (e.g. hold out test set) sneaks into model building.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looks brilliant in development and fails in the real world.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common reason “great” biomarkers do not replicate.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recognise leakage; later we prevent it systematically.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Leakage is very often a mistake in the conceptual design, not coding error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21945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2331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2697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0.95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6675120" y="397764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949440" y="4480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0.58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972800" y="3977640"/>
            <a:ext cx="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949440" y="5486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hidden pipe carries test info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into training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flavours of leakage in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63040" y="21214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Feature-selection leakage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63040" y="267004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the “best” genes using all samples before splitting — the classic killer.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6537960" y="2148840"/>
            <a:ext cx="457200" cy="457200"/>
          </a:xfrm>
          <a:prstGeom prst="ellipse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537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178040" y="21214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Normalisation leakage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178040" y="267004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using statistics computed over train + test together.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82296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463040" y="431596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leakage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463040" y="48646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Replicates or multiple biopsies from one patient split across train and test. Longitudinal data of same patient </a:t>
            </a:r>
            <a:r>
              <a:rPr lang="en-US" sz="1300" dirty="0" err="1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splitted</a:t>
            </a: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train test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6537960" y="4343400"/>
            <a:ext cx="457200" cy="457200"/>
          </a:xfrm>
          <a:prstGeom prst="ellipse">
            <a:avLst/>
          </a:prstGeom>
          <a:solidFill>
            <a:srgbClr val="A8403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653796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178040" y="431596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leakage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178040" y="48646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published signatures extracted from the cohort you are using to develop the model!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biomarkers fail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bias from leakage and tuning on the test set.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Tiny, underpowered cohorts in p ≫ n.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confounding mistaken for biology.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to a single dataset; no independent cohort.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reporting of the best-looking result.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endParaRPr lang="en-US" sz="1600" dirty="0">
              <a:solidFill>
                <a:srgbClr val="12262B"/>
              </a:solidFill>
              <a:latin typeface="Calibri" pitchFamily="34" charset="0"/>
              <a:cs typeface="Calibri" pitchFamily="34" charset="-120"/>
            </a:endParaRPr>
          </a:p>
          <a:p>
            <a:pPr marL="203200" indent="-203200">
              <a:spcAft>
                <a:spcPts val="13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aim to have a model that might reach only 0.8 but it holds in the validation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0312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400800" y="5486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chance line near 0.5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that held up share three traits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cohort, no independent validation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Post-hoc signature, chosen after seeing data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in feature selection / normalisation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association only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30936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67512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675120" y="269748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Pre-specified, locked-down signature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multi-cohort validation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clinical utility (change decision), not just association</a:t>
            </a:r>
            <a:endParaRPr lang="en-US" sz="14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documented pipeline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defensible workflow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Lock the question and label</a:t>
            </a:r>
            <a:endParaRPr lang="en-US" sz="16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Split the data first</a:t>
            </a:r>
            <a:endParaRPr lang="en-US" sz="16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Everything data-dependent (normalisation, feature selection, tuning) happens inside training only</a:t>
            </a:r>
            <a:endParaRPr lang="en-US" sz="16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Touch the test set once, at the very end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“Split first, decide everything else downstream of the split.”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179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(everything happens here)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237744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21792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329184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217920" y="3291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Feature-select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420624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21792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&amp; tune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0" y="1874520"/>
            <a:ext cx="146304" cy="3200400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589520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0B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 WALL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869680" y="32004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2772B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8869680" y="3291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TEST SET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869680" y="36758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once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/ validation / test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09106" y="1379913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809106" y="1379913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09106" y="1379913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809106" y="1379913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set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643746" y="1517073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model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643746" y="1946841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learn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106" y="2724081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09106" y="2724081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09106" y="2724081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809106" y="2724081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set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3643746" y="2861241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choices — which genes, which settings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643746" y="3291009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many times: it gives you optimistic performance as you used it to make choices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106" y="4068249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09106" y="4068249"/>
            <a:ext cx="10058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9106" y="4068249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809106" y="4068249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set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3643746" y="4205409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real-world performance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3643746" y="4635177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ONCE — never for decisions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09106" y="5458137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small cohorts, cross-validation replaces a fixed validation set (preview only).</a:t>
            </a:r>
            <a:endParaRPr lang="en-US" sz="12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150910-7BEE-13B8-D28A-B4FCE471324B}"/>
              </a:ext>
            </a:extLst>
          </p:cNvPr>
          <p:cNvSpPr txBox="1"/>
          <p:nvPr/>
        </p:nvSpPr>
        <p:spPr>
          <a:xfrm>
            <a:off x="1878676" y="6041106"/>
            <a:ext cx="9185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buSzPct val="100000"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what happens if I look at the test set multiple times as “sanity” check?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OMICS-SPECIFIC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Splitting pitfalls in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patient, not by sample — keep all of one patient’s material on one side.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batch: don’t let a split accidentally separate batches by outcome.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class balance (stratify) — relapses may be a minority.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an independent external cohort, ideally from another institution / platform.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7665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two biopsies, split wrongly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66560" y="237744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76656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418320" y="237744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941832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098280" y="2331720"/>
            <a:ext cx="91440" cy="2468880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43800" y="3474720"/>
            <a:ext cx="548640" cy="548640"/>
          </a:xfrm>
          <a:prstGeom prst="ellipse">
            <a:avLst/>
          </a:prstGeom>
          <a:solidFill>
            <a:srgbClr val="A8403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178040" y="4069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 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0195560" y="3474720"/>
            <a:ext cx="548640" cy="548640"/>
          </a:xfrm>
          <a:prstGeom prst="ellipse">
            <a:avLst/>
          </a:prstGeom>
          <a:solidFill>
            <a:srgbClr val="A8403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9829800" y="4069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 B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766560" y="4892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from patient 7  ✗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a trustworthy predictive biomarker is more important than choosing a sophisticated algorithm.”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the science around the model : the question, the label, the data structure, the splits, the validation.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model on a clean, leak-free, validated pipeline beats a fancy model on a </a:t>
            </a:r>
            <a:r>
              <a:rPr lang="en-US" sz="160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one, every </a:t>
            </a: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prediction problem framed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representation &amp; X / y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and the curse of dimensionality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effects &amp; PCA diagnosis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&amp; why biomarkers fail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train / val / test splits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METABRIC matrix (combined with GSE6532)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clinical metadata; derive a binary relapse label from survival fields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class balance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PCA; hunt the cross-platform batch effect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patient-level, stratified, batch-aware split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583680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now that the problem is well-posed, we introduce our first models.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</TotalTime>
  <Words>2921</Words>
  <Application>Microsoft Macintosh PowerPoint</Application>
  <PresentationFormat>Widescreen</PresentationFormat>
  <Paragraphs>403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 — From Biological Question to Machine Learning Problem</dc:title>
  <dc:subject>PptxGenJS Presentation</dc:subject>
  <dc:creator>Practical ML for Transcriptomics in Cancer Research</dc:creator>
  <cp:lastModifiedBy>Zhan Yinxiu</cp:lastModifiedBy>
  <cp:revision>93</cp:revision>
  <dcterms:created xsi:type="dcterms:W3CDTF">2026-06-17T09:20:29Z</dcterms:created>
  <dcterms:modified xsi:type="dcterms:W3CDTF">2026-07-02T10:07:45Z</dcterms:modified>
</cp:coreProperties>
</file>