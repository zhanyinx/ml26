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81"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405"/>
  </p:normalViewPr>
  <p:slideViewPr>
    <p:cSldViewPr snapToGrid="0" snapToObjects="1">
      <p:cViewPr varScale="1">
        <p:scale>
          <a:sx n="131" d="100"/>
          <a:sy n="131"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2262B"/>
                </a:solidFill>
                <a:latin typeface="Arial"/>
              </a:defRPr>
            </a:pPr>
            <a:r>
              <a:rPr lang="en-GB" sz="1300" b="0" i="0" u="none" strike="noStrike">
                <a:solidFill>
                  <a:srgbClr val="12262B"/>
                </a:solidFill>
                <a:latin typeface="Arial"/>
              </a:rPr>
              <a:t>The overfitting signature</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0E7C86"/>
            </a:solidFill>
            <a:effectLst/>
          </c:spPr>
          <c:invertIfNegative val="0"/>
          <c:dLbls>
            <c:numFmt formatCode="0.00" sourceLinked="0"/>
            <c:spPr>
              <a:noFill/>
              <a:ln>
                <a:noFill/>
              </a:ln>
              <a:effectLst/>
            </c:spPr>
            <c:txPr>
              <a:bodyPr/>
              <a:lstStyle/>
              <a:p>
                <a:pPr>
                  <a:defRPr sz="1200" b="0" i="0" u="none" strike="noStrike">
                    <a:solidFill>
                      <a:srgbClr val="12262B"/>
                    </a:solidFill>
                    <a:latin typeface="Arial"/>
                  </a:defRPr>
                </a:pPr>
                <a:endParaRPr lang="en-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Training</c:v>
                </c:pt>
                <c:pt idx="1">
                  <c:v>New patients</c:v>
                </c:pt>
              </c:strCache>
            </c:strRef>
          </c:cat>
          <c:val>
            <c:numRef>
              <c:f>Sheet1!$B$2:$B$3</c:f>
              <c:numCache>
                <c:formatCode>General</c:formatCode>
                <c:ptCount val="2"/>
                <c:pt idx="0">
                  <c:v>0.99</c:v>
                </c:pt>
                <c:pt idx="1">
                  <c:v>0.55000000000000004</c:v>
                </c:pt>
              </c:numCache>
            </c:numRef>
          </c:val>
          <c:extLst>
            <c:ext xmlns:c16="http://schemas.microsoft.com/office/drawing/2014/chart" uri="{C3380CC4-5D6E-409C-BE32-E72D297353CC}">
              <c16:uniqueId val="{00000000-94A2-8C4F-90A7-159C020AA5A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0"/>
                </a:solidFill>
                <a:latin typeface="Arial"/>
              </a:defRPr>
            </a:pPr>
            <a:endParaRPr lang="en-IT"/>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C9D7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0"/>
                </a:solidFill>
                <a:latin typeface="Arial"/>
              </a:defRPr>
            </a:pPr>
            <a:endParaRPr lang="en-IT"/>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2262B"/>
                </a:solidFill>
                <a:latin typeface="Arial"/>
              </a:defRPr>
            </a:pPr>
            <a:r>
              <a:rPr lang="en-GB" sz="1200" b="0" i="0" u="none" strike="noStrike">
                <a:solidFill>
                  <a:srgbClr val="12262B"/>
                </a:solidFill>
                <a:latin typeface="Arial"/>
              </a:rPr>
              <a:t>Coloured by batch / platform</a:t>
            </a:r>
          </a:p>
        </c:rich>
      </c:tx>
      <c:overlay val="0"/>
    </c:title>
    <c:autoTitleDeleted val="0"/>
    <c:plotArea>
      <c:layout/>
      <c:scatterChart>
        <c:scatterStyle val="lineMarker"/>
        <c:varyColors val="0"/>
        <c:ser>
          <c:idx val="0"/>
          <c:order val="0"/>
          <c:tx>
            <c:strRef>
              <c:f>Sheet1!$B$1</c:f>
              <c:strCache>
                <c:ptCount val="1"/>
                <c:pt idx="0">
                  <c:v>Batch A</c:v>
                </c:pt>
              </c:strCache>
            </c:strRef>
          </c:tx>
          <c:spPr>
            <a:ln>
              <a:noFill/>
            </a:ln>
            <a:effectLst/>
          </c:spPr>
          <c:marker>
            <c:symbol val="circle"/>
            <c:size val="6"/>
            <c:spPr>
              <a:solidFill>
                <a:srgbClr val="0E7C86"/>
              </a:solidFill>
              <a:ln w="9525" cap="flat">
                <a:solidFill>
                  <a:srgbClr val="0E7C86"/>
                </a:solidFill>
                <a:prstDash val="solid"/>
                <a:round/>
              </a:ln>
              <a:effectLst/>
            </c:spPr>
          </c:marker>
          <c:xVal>
            <c:numRef>
              <c:f>Sheet1!$A$2:$A$41</c:f>
              <c:numCache>
                <c:formatCode>General</c:formatCode>
                <c:ptCount val="40"/>
                <c:pt idx="0">
                  <c:v>-3.5252843291293319</c:v>
                </c:pt>
                <c:pt idx="1">
                  <c:v>-2.5983269720788811</c:v>
                </c:pt>
                <c:pt idx="2">
                  <c:v>-2.9871049617612018</c:v>
                </c:pt>
                <c:pt idx="3">
                  <c:v>-2.2336249548039353</c:v>
                </c:pt>
                <c:pt idx="4">
                  <c:v>-4.1324473897545229</c:v>
                </c:pt>
                <c:pt idx="5">
                  <c:v>-2.6842750783960447</c:v>
                </c:pt>
                <c:pt idx="6">
                  <c:v>-4.8379731953236798</c:v>
                </c:pt>
                <c:pt idx="7">
                  <c:v>-4.6060542280096533</c:v>
                </c:pt>
                <c:pt idx="8">
                  <c:v>-3.8468745726364184</c:v>
                </c:pt>
                <c:pt idx="9">
                  <c:v>-2.7740248192316606</c:v>
                </c:pt>
                <c:pt idx="10">
                  <c:v>-3.0497098746942051</c:v>
                </c:pt>
                <c:pt idx="11">
                  <c:v>-3.1381284915624916</c:v>
                </c:pt>
                <c:pt idx="12">
                  <c:v>-4.9113174115674827</c:v>
                </c:pt>
                <c:pt idx="13">
                  <c:v>-2.9329528066233657</c:v>
                </c:pt>
                <c:pt idx="14">
                  <c:v>-2.3700751750596245</c:v>
                </c:pt>
                <c:pt idx="15">
                  <c:v>-4.2668387504684171</c:v>
                </c:pt>
                <c:pt idx="16">
                  <c:v>-1.1778608704796762</c:v>
                </c:pt>
                <c:pt idx="17">
                  <c:v>-3.1752532453414548</c:v>
                </c:pt>
                <c:pt idx="18">
                  <c:v>-4.4439371821003002</c:v>
                </c:pt>
                <c:pt idx="19">
                  <c:v>-3.2066691713430964</c:v>
                </c:pt>
                <c:pt idx="20">
                  <c:v>2.9897047144207751</c:v>
                </c:pt>
                <c:pt idx="21">
                  <c:v>3.7445835656166713</c:v>
                </c:pt>
                <c:pt idx="22">
                  <c:v>2.3312418570425795</c:v>
                </c:pt>
                <c:pt idx="23">
                  <c:v>2.8121530261745562</c:v>
                </c:pt>
                <c:pt idx="24">
                  <c:v>3.4842922078581817</c:v>
                </c:pt>
                <c:pt idx="25">
                  <c:v>2.3536824965469849</c:v>
                </c:pt>
                <c:pt idx="26">
                  <c:v>2.3668676542569749</c:v>
                </c:pt>
                <c:pt idx="27">
                  <c:v>3.4424246405060073</c:v>
                </c:pt>
                <c:pt idx="28">
                  <c:v>3.6409839592254474</c:v>
                </c:pt>
                <c:pt idx="29">
                  <c:v>3.2512661639663967</c:v>
                </c:pt>
                <c:pt idx="30">
                  <c:v>2.5001158019626111</c:v>
                </c:pt>
                <c:pt idx="31">
                  <c:v>2.9206140893638972</c:v>
                </c:pt>
                <c:pt idx="32">
                  <c:v>3.8839060234553093</c:v>
                </c:pt>
                <c:pt idx="33">
                  <c:v>3.2713811600063019</c:v>
                </c:pt>
                <c:pt idx="34">
                  <c:v>1.0518174150550834</c:v>
                </c:pt>
                <c:pt idx="35">
                  <c:v>2.3610008317686066</c:v>
                </c:pt>
                <c:pt idx="36">
                  <c:v>3.0931010105036689</c:v>
                </c:pt>
                <c:pt idx="37">
                  <c:v>1.8196383090384842</c:v>
                </c:pt>
                <c:pt idx="38">
                  <c:v>1.347583538195452</c:v>
                </c:pt>
                <c:pt idx="39">
                  <c:v>2.1679901358774982</c:v>
                </c:pt>
              </c:numCache>
            </c:numRef>
          </c:xVal>
          <c:yVal>
            <c:numRef>
              <c:f>Sheet1!$B$2:$B$41</c:f>
              <c:numCache>
                <c:formatCode>General</c:formatCode>
                <c:ptCount val="40"/>
                <c:pt idx="0">
                  <c:v>-1.3504407209393179</c:v>
                </c:pt>
                <c:pt idx="1">
                  <c:v>-0.26582614530320708</c:v>
                </c:pt>
                <c:pt idx="2">
                  <c:v>-2.527511289233018</c:v>
                </c:pt>
                <c:pt idx="3">
                  <c:v>-2.3814705065539594</c:v>
                </c:pt>
                <c:pt idx="4">
                  <c:v>2.2238795951529227</c:v>
                </c:pt>
                <c:pt idx="5">
                  <c:v>-1.0041685090960992</c:v>
                </c:pt>
                <c:pt idx="6">
                  <c:v>-2.0522156272763623</c:v>
                </c:pt>
                <c:pt idx="7">
                  <c:v>2.4494971905997556</c:v>
                </c:pt>
                <c:pt idx="8">
                  <c:v>-1.0788310467681215</c:v>
                </c:pt>
                <c:pt idx="9">
                  <c:v>1.6510593723184228E-2</c:v>
                </c:pt>
                <c:pt idx="10">
                  <c:v>-3.090865191264653</c:v>
                </c:pt>
                <c:pt idx="11">
                  <c:v>1.4429887116210094</c:v>
                </c:pt>
                <c:pt idx="12">
                  <c:v>-0.45090880103575437</c:v>
                </c:pt>
                <c:pt idx="13">
                  <c:v>1.0207882902926173</c:v>
                </c:pt>
                <c:pt idx="14">
                  <c:v>1.3532605064916097</c:v>
                </c:pt>
                <c:pt idx="15">
                  <c:v>2.1617791864236895</c:v>
                </c:pt>
                <c:pt idx="16">
                  <c:v>-2.441305803108837</c:v>
                </c:pt>
                <c:pt idx="17">
                  <c:v>1.3879245495411772</c:v>
                </c:pt>
                <c:pt idx="18">
                  <c:v>1.8345864701045895</c:v>
                </c:pt>
                <c:pt idx="19">
                  <c:v>1.593054110496527</c:v>
                </c:pt>
              </c:numCache>
            </c:numRef>
          </c:yVal>
          <c:smooth val="0"/>
          <c:extLst>
            <c:ext xmlns:c16="http://schemas.microsoft.com/office/drawing/2014/chart" uri="{C3380CC4-5D6E-409C-BE32-E72D297353CC}">
              <c16:uniqueId val="{00000000-A71E-B948-A87C-C61B0E3D82CF}"/>
            </c:ext>
          </c:extLst>
        </c:ser>
        <c:ser>
          <c:idx val="1"/>
          <c:order val="1"/>
          <c:tx>
            <c:strRef>
              <c:f>Sheet1!$C$1</c:f>
              <c:strCache>
                <c:ptCount val="1"/>
                <c:pt idx="0">
                  <c:v>Batch B</c:v>
                </c:pt>
              </c:strCache>
            </c:strRef>
          </c:tx>
          <c:spPr>
            <a:ln>
              <a:noFill/>
            </a:ln>
            <a:effectLst/>
          </c:spPr>
          <c:marker>
            <c:symbol val="circle"/>
            <c:size val="6"/>
            <c:spPr>
              <a:solidFill>
                <a:srgbClr val="C2772B"/>
              </a:solidFill>
              <a:ln w="9525" cap="flat">
                <a:solidFill>
                  <a:srgbClr val="C2772B"/>
                </a:solidFill>
                <a:prstDash val="solid"/>
                <a:round/>
              </a:ln>
              <a:effectLst/>
            </c:spPr>
          </c:marker>
          <c:xVal>
            <c:numRef>
              <c:f>Sheet1!$A$2:$A$41</c:f>
              <c:numCache>
                <c:formatCode>General</c:formatCode>
                <c:ptCount val="40"/>
                <c:pt idx="0">
                  <c:v>-3.5252843291293319</c:v>
                </c:pt>
                <c:pt idx="1">
                  <c:v>-2.5983269720788811</c:v>
                </c:pt>
                <c:pt idx="2">
                  <c:v>-2.9871049617612018</c:v>
                </c:pt>
                <c:pt idx="3">
                  <c:v>-2.2336249548039353</c:v>
                </c:pt>
                <c:pt idx="4">
                  <c:v>-4.1324473897545229</c:v>
                </c:pt>
                <c:pt idx="5">
                  <c:v>-2.6842750783960447</c:v>
                </c:pt>
                <c:pt idx="6">
                  <c:v>-4.8379731953236798</c:v>
                </c:pt>
                <c:pt idx="7">
                  <c:v>-4.6060542280096533</c:v>
                </c:pt>
                <c:pt idx="8">
                  <c:v>-3.8468745726364184</c:v>
                </c:pt>
                <c:pt idx="9">
                  <c:v>-2.7740248192316606</c:v>
                </c:pt>
                <c:pt idx="10">
                  <c:v>-3.0497098746942051</c:v>
                </c:pt>
                <c:pt idx="11">
                  <c:v>-3.1381284915624916</c:v>
                </c:pt>
                <c:pt idx="12">
                  <c:v>-4.9113174115674827</c:v>
                </c:pt>
                <c:pt idx="13">
                  <c:v>-2.9329528066233657</c:v>
                </c:pt>
                <c:pt idx="14">
                  <c:v>-2.3700751750596245</c:v>
                </c:pt>
                <c:pt idx="15">
                  <c:v>-4.2668387504684171</c:v>
                </c:pt>
                <c:pt idx="16">
                  <c:v>-1.1778608704796762</c:v>
                </c:pt>
                <c:pt idx="17">
                  <c:v>-3.1752532453414548</c:v>
                </c:pt>
                <c:pt idx="18">
                  <c:v>-4.4439371821003002</c:v>
                </c:pt>
                <c:pt idx="19">
                  <c:v>-3.2066691713430964</c:v>
                </c:pt>
                <c:pt idx="20">
                  <c:v>2.9897047144207751</c:v>
                </c:pt>
                <c:pt idx="21">
                  <c:v>3.7445835656166713</c:v>
                </c:pt>
                <c:pt idx="22">
                  <c:v>2.3312418570425795</c:v>
                </c:pt>
                <c:pt idx="23">
                  <c:v>2.8121530261745562</c:v>
                </c:pt>
                <c:pt idx="24">
                  <c:v>3.4842922078581817</c:v>
                </c:pt>
                <c:pt idx="25">
                  <c:v>2.3536824965469849</c:v>
                </c:pt>
                <c:pt idx="26">
                  <c:v>2.3668676542569749</c:v>
                </c:pt>
                <c:pt idx="27">
                  <c:v>3.4424246405060073</c:v>
                </c:pt>
                <c:pt idx="28">
                  <c:v>3.6409839592254474</c:v>
                </c:pt>
                <c:pt idx="29">
                  <c:v>3.2512661639663967</c:v>
                </c:pt>
                <c:pt idx="30">
                  <c:v>2.5001158019626111</c:v>
                </c:pt>
                <c:pt idx="31">
                  <c:v>2.9206140893638972</c:v>
                </c:pt>
                <c:pt idx="32">
                  <c:v>3.8839060234553093</c:v>
                </c:pt>
                <c:pt idx="33">
                  <c:v>3.2713811600063019</c:v>
                </c:pt>
                <c:pt idx="34">
                  <c:v>1.0518174150550834</c:v>
                </c:pt>
                <c:pt idx="35">
                  <c:v>2.3610008317686066</c:v>
                </c:pt>
                <c:pt idx="36">
                  <c:v>3.0931010105036689</c:v>
                </c:pt>
                <c:pt idx="37">
                  <c:v>1.8196383090384842</c:v>
                </c:pt>
                <c:pt idx="38">
                  <c:v>1.347583538195452</c:v>
                </c:pt>
                <c:pt idx="39">
                  <c:v>2.1679901358774982</c:v>
                </c:pt>
              </c:numCache>
            </c:numRef>
          </c:xVal>
          <c:yVal>
            <c:numRef>
              <c:f>Sheet1!$C$2:$C$41</c:f>
              <c:numCache>
                <c:formatCode>General</c:formatCode>
                <c:ptCount val="40"/>
                <c:pt idx="20">
                  <c:v>0.45741726413007211</c:v>
                </c:pt>
                <c:pt idx="21">
                  <c:v>1.3629299729852522</c:v>
                </c:pt>
                <c:pt idx="22">
                  <c:v>-0.53772954573487841</c:v>
                </c:pt>
                <c:pt idx="23">
                  <c:v>-0.74296544170109613</c:v>
                </c:pt>
                <c:pt idx="24">
                  <c:v>1.3057286104102221</c:v>
                </c:pt>
                <c:pt idx="25">
                  <c:v>-0.89519717564858403</c:v>
                </c:pt>
                <c:pt idx="26">
                  <c:v>0.72810091661647025</c:v>
                </c:pt>
                <c:pt idx="27">
                  <c:v>1.6904455203540107</c:v>
                </c:pt>
                <c:pt idx="28">
                  <c:v>-0.86346825064199639</c:v>
                </c:pt>
                <c:pt idx="29">
                  <c:v>2.7469134137437781</c:v>
                </c:pt>
                <c:pt idx="30">
                  <c:v>5.4366460159678956E-2</c:v>
                </c:pt>
                <c:pt idx="31">
                  <c:v>2.0217048932583186</c:v>
                </c:pt>
                <c:pt idx="32">
                  <c:v>1.1195124721081957</c:v>
                </c:pt>
                <c:pt idx="33">
                  <c:v>2.9600543235659229</c:v>
                </c:pt>
                <c:pt idx="34">
                  <c:v>-1.8145442965939129</c:v>
                </c:pt>
                <c:pt idx="35">
                  <c:v>1.6525210751722832</c:v>
                </c:pt>
                <c:pt idx="36">
                  <c:v>-0.20435919678047143</c:v>
                </c:pt>
                <c:pt idx="37">
                  <c:v>-0.99603788937057147</c:v>
                </c:pt>
                <c:pt idx="38">
                  <c:v>-0.88670064798133197</c:v>
                </c:pt>
                <c:pt idx="39">
                  <c:v>-1.4870937554588457E-2</c:v>
                </c:pt>
              </c:numCache>
            </c:numRef>
          </c:yVal>
          <c:smooth val="0"/>
          <c:extLst>
            <c:ext xmlns:c16="http://schemas.microsoft.com/office/drawing/2014/chart" uri="{C3380CC4-5D6E-409C-BE32-E72D297353CC}">
              <c16:uniqueId val="{00000001-A71E-B948-A87C-C61B0E3D82CF}"/>
            </c:ext>
          </c:extLst>
        </c:ser>
        <c:dLbls>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majorGridlines>
          <c:spPr>
            <a:ln w="6350" cap="flat">
              <a:solidFill>
                <a:srgbClr val="C9D7D9"/>
              </a:solidFill>
              <a:prstDash val="solid"/>
              <a:round/>
            </a:ln>
          </c:spPr>
        </c:majorGridlines>
        <c:title>
          <c:tx>
            <c:rich>
              <a:bodyPr/>
              <a:lstStyle/>
              <a:p>
                <a:pPr>
                  <a:defRPr sz="900" b="0" i="0" u="none" strike="noStrike">
                    <a:solidFill>
                      <a:srgbClr val="5B6B70"/>
                    </a:solidFill>
                    <a:latin typeface="Arial"/>
                  </a:defRPr>
                </a:pPr>
                <a:r>
                  <a:rPr lang="en-GB" sz="900" b="0" i="0" u="none" strike="noStrike">
                    <a:solidFill>
                      <a:srgbClr val="5B6B70"/>
                    </a:solidFill>
                    <a:latin typeface="Arial"/>
                  </a:rPr>
                  <a:t>PC1 (48%)</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5B6B70"/>
                </a:solidFill>
                <a:latin typeface="Arial"/>
              </a:defRPr>
            </a:pPr>
            <a:endParaRPr lang="en-IT"/>
          </a:p>
        </c:txPr>
        <c:crossAx val="2094734552"/>
        <c:crosses val="autoZero"/>
        <c:crossBetween val="midCat"/>
      </c:valAx>
      <c:valAx>
        <c:axId val="2094734552"/>
        <c:scaling>
          <c:orientation val="minMax"/>
          <c:max val="5"/>
          <c:min val="-5"/>
        </c:scaling>
        <c:delete val="0"/>
        <c:axPos val="l"/>
        <c:majorGridlines>
          <c:spPr>
            <a:ln w="6350" cap="flat">
              <a:solidFill>
                <a:srgbClr val="C9D7D9"/>
              </a:solidFill>
              <a:prstDash val="solid"/>
              <a:round/>
            </a:ln>
          </c:spPr>
        </c:majorGridlines>
        <c:title>
          <c:tx>
            <c:rich>
              <a:bodyPr/>
              <a:lstStyle/>
              <a:p>
                <a:pPr>
                  <a:defRPr sz="900" b="0" i="0" u="none" strike="noStrike">
                    <a:solidFill>
                      <a:srgbClr val="5B6B70"/>
                    </a:solidFill>
                    <a:latin typeface="Arial"/>
                  </a:defRPr>
                </a:pPr>
                <a:r>
                  <a:rPr lang="en-GB" sz="900" b="0" i="0" u="none" strike="noStrike">
                    <a:solidFill>
                      <a:srgbClr val="5B6B70"/>
                    </a:solidFill>
                    <a:latin typeface="Arial"/>
                  </a:rPr>
                  <a:t>PC2 (11%)</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5B6B70"/>
                </a:solidFill>
                <a:latin typeface="Arial"/>
              </a:defRPr>
            </a:pPr>
            <a:endParaRPr lang="en-IT"/>
          </a:p>
        </c:txPr>
        <c:crossAx val="2094734554"/>
        <c:crosses val="autoZero"/>
        <c:crossBetween val="midCat"/>
      </c:valAx>
      <c:spPr>
        <a:noFill/>
        <a:ln>
          <a:noFill/>
        </a:ln>
        <a:effectLst/>
      </c:spPr>
    </c:plotArea>
    <c:legend>
      <c:legendPos val="b"/>
      <c:overlay val="0"/>
      <c:txPr>
        <a:bodyPr/>
        <a:lstStyle/>
        <a:p>
          <a:pPr>
            <a:defRPr sz="900">
              <a:solidFill>
                <a:srgbClr val="5B6B70"/>
              </a:solidFill>
            </a:defRPr>
          </a:pPr>
          <a:endParaRPr lang="en-IT"/>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2262B"/>
                </a:solidFill>
                <a:latin typeface="Arial"/>
              </a:defRPr>
            </a:pPr>
            <a:r>
              <a:rPr lang="en-GB" sz="1200" b="0" i="0" u="none" strike="noStrike">
                <a:solidFill>
                  <a:srgbClr val="12262B"/>
                </a:solidFill>
                <a:latin typeface="Arial"/>
              </a:rPr>
              <a:t>Coloured by recurrence label</a:t>
            </a:r>
          </a:p>
        </c:rich>
      </c:tx>
      <c:overlay val="0"/>
    </c:title>
    <c:autoTitleDeleted val="0"/>
    <c:plotArea>
      <c:layout/>
      <c:scatterChart>
        <c:scatterStyle val="lineMarker"/>
        <c:varyColors val="0"/>
        <c:ser>
          <c:idx val="0"/>
          <c:order val="0"/>
          <c:tx>
            <c:strRef>
              <c:f>Sheet1!$B$1</c:f>
              <c:strCache>
                <c:ptCount val="1"/>
                <c:pt idx="0">
                  <c:v>Relapse</c:v>
                </c:pt>
              </c:strCache>
            </c:strRef>
          </c:tx>
          <c:spPr>
            <a:ln>
              <a:noFill/>
            </a:ln>
            <a:effectLst/>
          </c:spPr>
          <c:marker>
            <c:symbol val="circle"/>
            <c:size val="6"/>
            <c:spPr>
              <a:solidFill>
                <a:srgbClr val="0B3B40"/>
              </a:solidFill>
              <a:ln w="9525" cap="flat">
                <a:solidFill>
                  <a:srgbClr val="0B3B40"/>
                </a:solidFill>
                <a:prstDash val="solid"/>
                <a:round/>
              </a:ln>
              <a:effectLst/>
            </c:spPr>
          </c:marker>
          <c:xVal>
            <c:numRef>
              <c:f>Sheet1!$A$2:$A$41</c:f>
              <c:numCache>
                <c:formatCode>General</c:formatCode>
                <c:ptCount val="40"/>
                <c:pt idx="0">
                  <c:v>-3.5252843291293319</c:v>
                </c:pt>
                <c:pt idx="1">
                  <c:v>-2.5983269720788811</c:v>
                </c:pt>
                <c:pt idx="2">
                  <c:v>-2.2336249548039353</c:v>
                </c:pt>
                <c:pt idx="3">
                  <c:v>-2.6842750783960447</c:v>
                </c:pt>
                <c:pt idx="4">
                  <c:v>-4.6060542280096533</c:v>
                </c:pt>
                <c:pt idx="5">
                  <c:v>-3.8468745726364184</c:v>
                </c:pt>
                <c:pt idx="6">
                  <c:v>-2.7740248192316606</c:v>
                </c:pt>
                <c:pt idx="7">
                  <c:v>-3.0497098746942051</c:v>
                </c:pt>
                <c:pt idx="8">
                  <c:v>-3.1381284915624916</c:v>
                </c:pt>
                <c:pt idx="9">
                  <c:v>-2.9329528066233657</c:v>
                </c:pt>
                <c:pt idx="10">
                  <c:v>-4.2668387504684171</c:v>
                </c:pt>
                <c:pt idx="11">
                  <c:v>-3.2066691713430964</c:v>
                </c:pt>
                <c:pt idx="12">
                  <c:v>2.9897047144207751</c:v>
                </c:pt>
                <c:pt idx="13">
                  <c:v>2.3312418570425795</c:v>
                </c:pt>
                <c:pt idx="14">
                  <c:v>3.4842922078581817</c:v>
                </c:pt>
                <c:pt idx="15">
                  <c:v>2.3668676542569749</c:v>
                </c:pt>
                <c:pt idx="16">
                  <c:v>3.4424246405060073</c:v>
                </c:pt>
                <c:pt idx="17">
                  <c:v>3.6409839592254474</c:v>
                </c:pt>
                <c:pt idx="18">
                  <c:v>3.8839060234553093</c:v>
                </c:pt>
                <c:pt idx="19">
                  <c:v>2.3610008317686066</c:v>
                </c:pt>
                <c:pt idx="20">
                  <c:v>1.8196383090384842</c:v>
                </c:pt>
                <c:pt idx="21">
                  <c:v>1.347583538195452</c:v>
                </c:pt>
                <c:pt idx="22">
                  <c:v>2.1679901358774982</c:v>
                </c:pt>
                <c:pt idx="23">
                  <c:v>-2.9871049617612018</c:v>
                </c:pt>
                <c:pt idx="24">
                  <c:v>-4.1324473897545229</c:v>
                </c:pt>
                <c:pt idx="25">
                  <c:v>-4.8379731953236798</c:v>
                </c:pt>
                <c:pt idx="26">
                  <c:v>-4.9113174115674827</c:v>
                </c:pt>
                <c:pt idx="27">
                  <c:v>-2.3700751750596245</c:v>
                </c:pt>
                <c:pt idx="28">
                  <c:v>-1.1778608704796762</c:v>
                </c:pt>
                <c:pt idx="29">
                  <c:v>-3.1752532453414548</c:v>
                </c:pt>
                <c:pt idx="30">
                  <c:v>-4.4439371821003002</c:v>
                </c:pt>
                <c:pt idx="31">
                  <c:v>3.7445835656166713</c:v>
                </c:pt>
                <c:pt idx="32">
                  <c:v>2.8121530261745562</c:v>
                </c:pt>
                <c:pt idx="33">
                  <c:v>2.3536824965469849</c:v>
                </c:pt>
                <c:pt idx="34">
                  <c:v>3.2512661639663967</c:v>
                </c:pt>
                <c:pt idx="35">
                  <c:v>2.5001158019626111</c:v>
                </c:pt>
                <c:pt idx="36">
                  <c:v>2.9206140893638972</c:v>
                </c:pt>
                <c:pt idx="37">
                  <c:v>3.2713811600063019</c:v>
                </c:pt>
                <c:pt idx="38">
                  <c:v>1.0518174150550834</c:v>
                </c:pt>
                <c:pt idx="39">
                  <c:v>3.0931010105036689</c:v>
                </c:pt>
              </c:numCache>
            </c:numRef>
          </c:xVal>
          <c:yVal>
            <c:numRef>
              <c:f>Sheet1!$B$2:$B$41</c:f>
              <c:numCache>
                <c:formatCode>General</c:formatCode>
                <c:ptCount val="40"/>
                <c:pt idx="0">
                  <c:v>-1.3504407209393179</c:v>
                </c:pt>
                <c:pt idx="1">
                  <c:v>-0.26582614530320708</c:v>
                </c:pt>
                <c:pt idx="2">
                  <c:v>-2.3814705065539594</c:v>
                </c:pt>
                <c:pt idx="3">
                  <c:v>-1.0041685090960992</c:v>
                </c:pt>
                <c:pt idx="4">
                  <c:v>2.4494971905997556</c:v>
                </c:pt>
                <c:pt idx="5">
                  <c:v>-1.0788310467681215</c:v>
                </c:pt>
                <c:pt idx="6">
                  <c:v>1.6510593723184228E-2</c:v>
                </c:pt>
                <c:pt idx="7">
                  <c:v>-3.090865191264653</c:v>
                </c:pt>
                <c:pt idx="8">
                  <c:v>1.4429887116210094</c:v>
                </c:pt>
                <c:pt idx="9">
                  <c:v>1.0207882902926173</c:v>
                </c:pt>
                <c:pt idx="10">
                  <c:v>2.1617791864236895</c:v>
                </c:pt>
                <c:pt idx="11">
                  <c:v>1.593054110496527</c:v>
                </c:pt>
                <c:pt idx="12">
                  <c:v>0.45741726413007211</c:v>
                </c:pt>
                <c:pt idx="13">
                  <c:v>-0.53772954573487841</c:v>
                </c:pt>
                <c:pt idx="14">
                  <c:v>1.3057286104102221</c:v>
                </c:pt>
                <c:pt idx="15">
                  <c:v>0.72810091661647025</c:v>
                </c:pt>
                <c:pt idx="16">
                  <c:v>1.6904455203540107</c:v>
                </c:pt>
                <c:pt idx="17">
                  <c:v>-0.86346825064199639</c:v>
                </c:pt>
                <c:pt idx="18">
                  <c:v>1.1195124721081957</c:v>
                </c:pt>
                <c:pt idx="19">
                  <c:v>1.6525210751722832</c:v>
                </c:pt>
                <c:pt idx="20">
                  <c:v>-0.99603788937057147</c:v>
                </c:pt>
                <c:pt idx="21">
                  <c:v>-0.88670064798133197</c:v>
                </c:pt>
                <c:pt idx="22">
                  <c:v>-1.4870937554588457E-2</c:v>
                </c:pt>
              </c:numCache>
            </c:numRef>
          </c:yVal>
          <c:smooth val="0"/>
          <c:extLst>
            <c:ext xmlns:c16="http://schemas.microsoft.com/office/drawing/2014/chart" uri="{C3380CC4-5D6E-409C-BE32-E72D297353CC}">
              <c16:uniqueId val="{00000000-D0E6-9249-AD3E-C87909F493DE}"/>
            </c:ext>
          </c:extLst>
        </c:ser>
        <c:ser>
          <c:idx val="1"/>
          <c:order val="1"/>
          <c:tx>
            <c:strRef>
              <c:f>Sheet1!$C$1</c:f>
              <c:strCache>
                <c:ptCount val="1"/>
                <c:pt idx="0">
                  <c:v>No relapse</c:v>
                </c:pt>
              </c:strCache>
            </c:strRef>
          </c:tx>
          <c:spPr>
            <a:ln>
              <a:noFill/>
            </a:ln>
            <a:effectLst/>
          </c:spPr>
          <c:marker>
            <c:symbol val="circle"/>
            <c:size val="6"/>
            <c:spPr>
              <a:solidFill>
                <a:srgbClr val="14A6B0"/>
              </a:solidFill>
              <a:ln w="9525" cap="flat">
                <a:solidFill>
                  <a:srgbClr val="14A6B0"/>
                </a:solidFill>
                <a:prstDash val="solid"/>
                <a:round/>
              </a:ln>
              <a:effectLst/>
            </c:spPr>
          </c:marker>
          <c:xVal>
            <c:numRef>
              <c:f>Sheet1!$A$2:$A$41</c:f>
              <c:numCache>
                <c:formatCode>General</c:formatCode>
                <c:ptCount val="40"/>
                <c:pt idx="0">
                  <c:v>-3.5252843291293319</c:v>
                </c:pt>
                <c:pt idx="1">
                  <c:v>-2.5983269720788811</c:v>
                </c:pt>
                <c:pt idx="2">
                  <c:v>-2.2336249548039353</c:v>
                </c:pt>
                <c:pt idx="3">
                  <c:v>-2.6842750783960447</c:v>
                </c:pt>
                <c:pt idx="4">
                  <c:v>-4.6060542280096533</c:v>
                </c:pt>
                <c:pt idx="5">
                  <c:v>-3.8468745726364184</c:v>
                </c:pt>
                <c:pt idx="6">
                  <c:v>-2.7740248192316606</c:v>
                </c:pt>
                <c:pt idx="7">
                  <c:v>-3.0497098746942051</c:v>
                </c:pt>
                <c:pt idx="8">
                  <c:v>-3.1381284915624916</c:v>
                </c:pt>
                <c:pt idx="9">
                  <c:v>-2.9329528066233657</c:v>
                </c:pt>
                <c:pt idx="10">
                  <c:v>-4.2668387504684171</c:v>
                </c:pt>
                <c:pt idx="11">
                  <c:v>-3.2066691713430964</c:v>
                </c:pt>
                <c:pt idx="12">
                  <c:v>2.9897047144207751</c:v>
                </c:pt>
                <c:pt idx="13">
                  <c:v>2.3312418570425795</c:v>
                </c:pt>
                <c:pt idx="14">
                  <c:v>3.4842922078581817</c:v>
                </c:pt>
                <c:pt idx="15">
                  <c:v>2.3668676542569749</c:v>
                </c:pt>
                <c:pt idx="16">
                  <c:v>3.4424246405060073</c:v>
                </c:pt>
                <c:pt idx="17">
                  <c:v>3.6409839592254474</c:v>
                </c:pt>
                <c:pt idx="18">
                  <c:v>3.8839060234553093</c:v>
                </c:pt>
                <c:pt idx="19">
                  <c:v>2.3610008317686066</c:v>
                </c:pt>
                <c:pt idx="20">
                  <c:v>1.8196383090384842</c:v>
                </c:pt>
                <c:pt idx="21">
                  <c:v>1.347583538195452</c:v>
                </c:pt>
                <c:pt idx="22">
                  <c:v>2.1679901358774982</c:v>
                </c:pt>
                <c:pt idx="23">
                  <c:v>-2.9871049617612018</c:v>
                </c:pt>
                <c:pt idx="24">
                  <c:v>-4.1324473897545229</c:v>
                </c:pt>
                <c:pt idx="25">
                  <c:v>-4.8379731953236798</c:v>
                </c:pt>
                <c:pt idx="26">
                  <c:v>-4.9113174115674827</c:v>
                </c:pt>
                <c:pt idx="27">
                  <c:v>-2.3700751750596245</c:v>
                </c:pt>
                <c:pt idx="28">
                  <c:v>-1.1778608704796762</c:v>
                </c:pt>
                <c:pt idx="29">
                  <c:v>-3.1752532453414548</c:v>
                </c:pt>
                <c:pt idx="30">
                  <c:v>-4.4439371821003002</c:v>
                </c:pt>
                <c:pt idx="31">
                  <c:v>3.7445835656166713</c:v>
                </c:pt>
                <c:pt idx="32">
                  <c:v>2.8121530261745562</c:v>
                </c:pt>
                <c:pt idx="33">
                  <c:v>2.3536824965469849</c:v>
                </c:pt>
                <c:pt idx="34">
                  <c:v>3.2512661639663967</c:v>
                </c:pt>
                <c:pt idx="35">
                  <c:v>2.5001158019626111</c:v>
                </c:pt>
                <c:pt idx="36">
                  <c:v>2.9206140893638972</c:v>
                </c:pt>
                <c:pt idx="37">
                  <c:v>3.2713811600063019</c:v>
                </c:pt>
                <c:pt idx="38">
                  <c:v>1.0518174150550834</c:v>
                </c:pt>
                <c:pt idx="39">
                  <c:v>3.0931010105036689</c:v>
                </c:pt>
              </c:numCache>
            </c:numRef>
          </c:xVal>
          <c:yVal>
            <c:numRef>
              <c:f>Sheet1!$C$2:$C$41</c:f>
              <c:numCache>
                <c:formatCode>General</c:formatCode>
                <c:ptCount val="40"/>
                <c:pt idx="23">
                  <c:v>-2.527511289233018</c:v>
                </c:pt>
                <c:pt idx="24">
                  <c:v>2.2238795951529227</c:v>
                </c:pt>
                <c:pt idx="25">
                  <c:v>-2.0522156272763623</c:v>
                </c:pt>
                <c:pt idx="26">
                  <c:v>-0.45090880103575437</c:v>
                </c:pt>
                <c:pt idx="27">
                  <c:v>1.3532605064916097</c:v>
                </c:pt>
                <c:pt idx="28">
                  <c:v>-2.441305803108837</c:v>
                </c:pt>
                <c:pt idx="29">
                  <c:v>1.3879245495411772</c:v>
                </c:pt>
                <c:pt idx="30">
                  <c:v>1.8345864701045895</c:v>
                </c:pt>
                <c:pt idx="31">
                  <c:v>1.3629299729852522</c:v>
                </c:pt>
                <c:pt idx="32">
                  <c:v>-0.74296544170109613</c:v>
                </c:pt>
                <c:pt idx="33">
                  <c:v>-0.89519717564858403</c:v>
                </c:pt>
                <c:pt idx="34">
                  <c:v>2.7469134137437781</c:v>
                </c:pt>
                <c:pt idx="35">
                  <c:v>5.4366460159678956E-2</c:v>
                </c:pt>
                <c:pt idx="36">
                  <c:v>2.0217048932583186</c:v>
                </c:pt>
                <c:pt idx="37">
                  <c:v>2.9600543235659229</c:v>
                </c:pt>
                <c:pt idx="38">
                  <c:v>-1.8145442965939129</c:v>
                </c:pt>
                <c:pt idx="39">
                  <c:v>-0.20435919678047143</c:v>
                </c:pt>
              </c:numCache>
            </c:numRef>
          </c:yVal>
          <c:smooth val="0"/>
          <c:extLst>
            <c:ext xmlns:c16="http://schemas.microsoft.com/office/drawing/2014/chart" uri="{C3380CC4-5D6E-409C-BE32-E72D297353CC}">
              <c16:uniqueId val="{00000001-D0E6-9249-AD3E-C87909F493DE}"/>
            </c:ext>
          </c:extLst>
        </c:ser>
        <c:dLbls>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majorGridlines>
          <c:spPr>
            <a:ln w="6350" cap="flat">
              <a:solidFill>
                <a:srgbClr val="C9D7D9"/>
              </a:solidFill>
              <a:prstDash val="solid"/>
              <a:round/>
            </a:ln>
          </c:spPr>
        </c:majorGridlines>
        <c:title>
          <c:tx>
            <c:rich>
              <a:bodyPr/>
              <a:lstStyle/>
              <a:p>
                <a:pPr>
                  <a:defRPr sz="900" b="0" i="0" u="none" strike="noStrike">
                    <a:solidFill>
                      <a:srgbClr val="5B6B70"/>
                    </a:solidFill>
                    <a:latin typeface="Arial"/>
                  </a:defRPr>
                </a:pPr>
                <a:r>
                  <a:rPr lang="en-GB" sz="900" b="0" i="0" u="none" strike="noStrike">
                    <a:solidFill>
                      <a:srgbClr val="5B6B70"/>
                    </a:solidFill>
                    <a:latin typeface="Arial"/>
                  </a:rPr>
                  <a:t>PC1 (48%)</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5B6B70"/>
                </a:solidFill>
                <a:latin typeface="Arial"/>
              </a:defRPr>
            </a:pPr>
            <a:endParaRPr lang="en-IT"/>
          </a:p>
        </c:txPr>
        <c:crossAx val="2094734552"/>
        <c:crosses val="autoZero"/>
        <c:crossBetween val="midCat"/>
      </c:valAx>
      <c:valAx>
        <c:axId val="2094734552"/>
        <c:scaling>
          <c:orientation val="minMax"/>
          <c:max val="5"/>
          <c:min val="-5"/>
        </c:scaling>
        <c:delete val="0"/>
        <c:axPos val="l"/>
        <c:majorGridlines>
          <c:spPr>
            <a:ln w="6350" cap="flat">
              <a:solidFill>
                <a:srgbClr val="C9D7D9"/>
              </a:solidFill>
              <a:prstDash val="solid"/>
              <a:round/>
            </a:ln>
          </c:spPr>
        </c:majorGridlines>
        <c:title>
          <c:tx>
            <c:rich>
              <a:bodyPr/>
              <a:lstStyle/>
              <a:p>
                <a:pPr>
                  <a:defRPr sz="900" b="0" i="0" u="none" strike="noStrike">
                    <a:solidFill>
                      <a:srgbClr val="5B6B70"/>
                    </a:solidFill>
                    <a:latin typeface="Arial"/>
                  </a:defRPr>
                </a:pPr>
                <a:r>
                  <a:rPr lang="en-GB" sz="900" b="0" i="0" u="none" strike="noStrike">
                    <a:solidFill>
                      <a:srgbClr val="5B6B70"/>
                    </a:solidFill>
                    <a:latin typeface="Arial"/>
                  </a:rPr>
                  <a:t>PC2 (11%)</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5B6B70"/>
                </a:solidFill>
                <a:latin typeface="Arial"/>
              </a:defRPr>
            </a:pPr>
            <a:endParaRPr lang="en-IT"/>
          </a:p>
        </c:txPr>
        <c:crossAx val="2094734554"/>
        <c:crosses val="autoZero"/>
        <c:crossBetween val="midCat"/>
      </c:valAx>
      <c:spPr>
        <a:noFill/>
        <a:ln>
          <a:noFill/>
        </a:ln>
        <a:effectLst/>
      </c:spPr>
    </c:plotArea>
    <c:legend>
      <c:legendPos val="b"/>
      <c:overlay val="0"/>
      <c:txPr>
        <a:bodyPr/>
        <a:lstStyle/>
        <a:p>
          <a:pPr>
            <a:defRPr sz="900">
              <a:solidFill>
                <a:srgbClr val="5B6B70"/>
              </a:solidFill>
            </a:defRPr>
          </a:pPr>
          <a:endParaRPr lang="en-IT"/>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2262B"/>
                </a:solidFill>
                <a:latin typeface="Arial"/>
              </a:defRPr>
            </a:pPr>
            <a:r>
              <a:rPr sz="1200" b="0" i="0" u="none" strike="noStrike">
                <a:solidFill>
                  <a:srgbClr val="12262B"/>
                </a:solidFill>
                <a:latin typeface="Arial"/>
              </a:rPr>
              <a:t>AUC drops from discovery to validation</a:t>
            </a:r>
          </a:p>
        </c:rich>
      </c:tx>
      <c:overlay val="0"/>
    </c:title>
    <c:autoTitleDeleted val="0"/>
    <c:plotArea>
      <c:layout/>
      <c:barChart>
        <c:barDir val="col"/>
        <c:grouping val="clustered"/>
        <c:varyColors val="0"/>
        <c:ser>
          <c:idx val="0"/>
          <c:order val="0"/>
          <c:tx>
            <c:strRef>
              <c:f>Sheet1!$B$1</c:f>
              <c:strCache>
                <c:ptCount val="1"/>
                <c:pt idx="0">
                  <c:v>Discovery</c:v>
                </c:pt>
              </c:strCache>
            </c:strRef>
          </c:tx>
          <c:spPr>
            <a:solidFill>
              <a:srgbClr val="0E7C86"/>
            </a:solidFill>
            <a:effectLst/>
          </c:spPr>
          <c:invertIfNegative val="0"/>
          <c:cat>
            <c:strRef>
              <c:f>Sheet1!$A$2:$A$4</c:f>
              <c:strCache>
                <c:ptCount val="3"/>
                <c:pt idx="0">
                  <c:v>Marker 1</c:v>
                </c:pt>
                <c:pt idx="1">
                  <c:v>Marker 2</c:v>
                </c:pt>
                <c:pt idx="2">
                  <c:v>Marker 3</c:v>
                </c:pt>
              </c:strCache>
            </c:strRef>
          </c:cat>
          <c:val>
            <c:numRef>
              <c:f>Sheet1!$B$2:$B$4</c:f>
              <c:numCache>
                <c:formatCode>General</c:formatCode>
                <c:ptCount val="3"/>
                <c:pt idx="0">
                  <c:v>0.95</c:v>
                </c:pt>
                <c:pt idx="1">
                  <c:v>0.92</c:v>
                </c:pt>
                <c:pt idx="2">
                  <c:v>0.94</c:v>
                </c:pt>
              </c:numCache>
            </c:numRef>
          </c:val>
          <c:extLst>
            <c:ext xmlns:c16="http://schemas.microsoft.com/office/drawing/2014/chart" uri="{C3380CC4-5D6E-409C-BE32-E72D297353CC}">
              <c16:uniqueId val="{00000000-EA3B-E942-9AA8-35FDF23ED08D}"/>
            </c:ext>
          </c:extLst>
        </c:ser>
        <c:ser>
          <c:idx val="1"/>
          <c:order val="1"/>
          <c:tx>
            <c:strRef>
              <c:f>Sheet1!$C$1</c:f>
              <c:strCache>
                <c:ptCount val="1"/>
                <c:pt idx="0">
                  <c:v>Independent validation</c:v>
                </c:pt>
              </c:strCache>
            </c:strRef>
          </c:tx>
          <c:spPr>
            <a:solidFill>
              <a:srgbClr val="C2772B"/>
            </a:solidFill>
            <a:effectLst/>
          </c:spPr>
          <c:invertIfNegative val="0"/>
          <c:cat>
            <c:strRef>
              <c:f>Sheet1!$A$2:$A$4</c:f>
              <c:strCache>
                <c:ptCount val="3"/>
                <c:pt idx="0">
                  <c:v>Marker 1</c:v>
                </c:pt>
                <c:pt idx="1">
                  <c:v>Marker 2</c:v>
                </c:pt>
                <c:pt idx="2">
                  <c:v>Marker 3</c:v>
                </c:pt>
              </c:strCache>
            </c:strRef>
          </c:cat>
          <c:val>
            <c:numRef>
              <c:f>Sheet1!$C$2:$C$4</c:f>
              <c:numCache>
                <c:formatCode>General</c:formatCode>
                <c:ptCount val="3"/>
                <c:pt idx="0">
                  <c:v>0.6</c:v>
                </c:pt>
                <c:pt idx="1">
                  <c:v>0.57999999999999996</c:v>
                </c:pt>
                <c:pt idx="2">
                  <c:v>0.62</c:v>
                </c:pt>
              </c:numCache>
            </c:numRef>
          </c:val>
          <c:extLst>
            <c:ext xmlns:c16="http://schemas.microsoft.com/office/drawing/2014/chart" uri="{C3380CC4-5D6E-409C-BE32-E72D297353CC}">
              <c16:uniqueId val="{00000001-EA3B-E942-9AA8-35FDF23ED08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0"/>
                </a:solidFill>
                <a:latin typeface="Arial"/>
              </a:defRPr>
            </a:pPr>
            <a:endParaRPr lang="en-IT"/>
          </a:p>
        </c:txPr>
        <c:crossAx val="2094734552"/>
        <c:crosses val="autoZero"/>
        <c:auto val="1"/>
        <c:lblAlgn val="ctr"/>
        <c:lblOffset val="100"/>
        <c:noMultiLvlLbl val="1"/>
      </c:catAx>
      <c:valAx>
        <c:axId val="2094734552"/>
        <c:scaling>
          <c:orientation val="minMax"/>
          <c:max val="1"/>
          <c:min val="0.5"/>
        </c:scaling>
        <c:delete val="0"/>
        <c:axPos val="l"/>
        <c:majorGridlines>
          <c:spPr>
            <a:ln w="6350" cap="flat">
              <a:solidFill>
                <a:srgbClr val="C9D7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0"/>
                </a:solidFill>
                <a:latin typeface="Arial"/>
              </a:defRPr>
            </a:pPr>
            <a:endParaRPr lang="en-IT"/>
          </a:p>
        </c:txPr>
        <c:crossAx val="2094734554"/>
        <c:crosses val="autoZero"/>
        <c:crossBetween val="between"/>
        <c:majorUnit val="0.1"/>
      </c:valAx>
      <c:spPr>
        <a:noFill/>
        <a:ln>
          <a:noFill/>
        </a:ln>
        <a:effectLst/>
      </c:spPr>
    </c:plotArea>
    <c:legend>
      <c:legendPos val="b"/>
      <c:overlay val="0"/>
      <c:txPr>
        <a:bodyPr/>
        <a:lstStyle/>
        <a:p>
          <a:pPr>
            <a:defRPr>
              <a:solidFill>
                <a:srgbClr val="5B6B70"/>
              </a:solidFill>
            </a:defRPr>
          </a:pPr>
          <a:endParaRPr lang="en-IT"/>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152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Open on the clinical hook: a tumour's gene-expression profile may carry the answer to who recurs. Today is about thinking, not modelling.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Today is about thinking, not modelling — no logistic regression, random forests, or neural nets. The promise: by the end you can turn a vague clinical question into a well-posed prediction problem and spot the traps that sink most biomarker studies.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Present as a checklist we tick off through the lecture. These are the Section-1 objectives.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HR+/HER2- is ~70% of breast cancer, generally good prognosis but heterogeneous. The tension is overtreatment (toxicity, cost, harm to those who'd have done well) vs undertreatment (missed recurrences). The unmet need: identify who actually benefits. Stress we cannot see this split with the naked eye.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The clinician's question is underspecified. To make it ML-shaped we commit to input, output, when measured, on whom. Most scientific judgement — and most danger — lives in this translation step, not the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Spend real time. Lay out candidate endpoints. pCR is convenient but a weak surrogate in luminal disease. BRIDGE: our cohort METABRIC has no pCR, so the practical predicts relapse/DMFS — the endpoint family the published model uses. SEED the time-dependent thread: relapse is time-to-event; we collapse to binary on purpose; an 11-month and 110-month relapse get the same label; censored patients get awkward. Revisit in Section 5. Do not teach survival analysis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Trace wet-lab to matrix so students see the human/instrument decisions upstream of the numbers. METABRIC is Illumina HT-12; GSE6532 is Affymetrix — two chemistries, which is exactly why combining them produces the PC1 batch split in Section 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Make the matrix concrete: wide and short. Walk one row (a patient) and one column (a gene). Insist on stating the convention — samples-as-rows is the ML default; transposition errors are a real bug source. ~100-500 samples x ~20,000 genes.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X is the wide matrix of expression; y is the one column we want to predict. Optional clinical covariates. Mental model: ~20,000 numbers per patient, and one number we wish we knew in advance.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Far more features (~20,000) than samples (hundreds to low thousands). Holds even for METABRIC (~1,400 HR+/HER2-). Contrast with classic ML where n &gt;&gt; p. The data are short and fat and behave counterintuitively.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a:buFont typeface="Arial"/>
              <a:buChar char="•"/>
            </a:pPr>
            <a:r>
              <a:rPr lang="en-US" dirty="0"/>
              <a:t>(~5 min) Intuition for WHY p ≫ n is dangerous. No maths.</a:t>
            </a:r>
          </a:p>
          <a:p>
            <a:pPr marL="285750" lvl="0" indent="-285750">
              <a:buFont typeface="Arial"/>
              <a:buChar char="•"/>
            </a:pPr>
            <a:r>
              <a:rPr lang="en-US" dirty="0"/>
              <a:t>10 points: packed on a line → spread on a plane → isolated in a cube.</a:t>
            </a:r>
          </a:p>
          <a:p>
            <a:pPr marL="285750" lvl="0" indent="-285750">
              <a:buFont typeface="Arial"/>
              <a:buChar char="•"/>
            </a:pPr>
            <a:r>
              <a:rPr lang="en-US" dirty="0"/>
              <a:t>20,000 dimensions → space is essentially empty, everything far from everything.</a:t>
            </a:r>
          </a:p>
          <a:p>
            <a:pPr marL="285750" lvl="0" indent="-285750">
              <a:buFont typeface="Arial"/>
              <a:buChar char="•"/>
            </a:pPr>
            <a:r>
              <a:rPr lang="en-US" dirty="0"/>
              <a:t>Punchline: you can ALWAYS find a gene combo that separates the classes.</a:t>
            </a:r>
          </a:p>
          <a:p>
            <a:pPr marL="285750" lvl="0" indent="-285750">
              <a:buFont typeface="Arial"/>
              <a:buChar char="•"/>
            </a:pPr>
            <a:r>
              <a:rPr lang="en-US" dirty="0"/>
              <a:t>True even with randomly assigned labels — separability is free, not informative.</a:t>
            </a:r>
          </a:p>
          <a:p>
            <a:pPr marL="285750" lvl="0" indent="-285750">
              <a:buFont typeface="Arial"/>
              <a:buChar char="•"/>
            </a:pPr>
            <a:r>
              <a:rPr lang="en-US" dirty="0"/>
              <a:t>Later you'll see random gene sets predict as well as the famous signature.</a:t>
            </a:r>
          </a:p>
          <a:p>
            <a:pPr marL="285750" lvl="0" indent="-285750">
              <a:buFont typeface="Arial"/>
              <a:buChar char="•"/>
            </a:pPr>
            <a:r>
              <a:rPr lang="en-US" b="1" dirty="0"/>
              <a:t>Q: If I can always separate, what has the model learned?</a:t>
            </a:r>
          </a:p>
          <a:p>
            <a:pPr marL="285750" lvl="0" indent="-285750">
              <a:buFont typeface="Arial"/>
              <a:buChar char="–"/>
            </a:pPr>
            <a:r>
              <a:rPr lang="en-US" i="1" dirty="0">
                <a:solidFill>
                  <a:srgbClr val="C00000"/>
                </a:solidFill>
              </a:rPr>
              <a:t>A: Possibly nothing — geometry handed it the split for free.</a:t>
            </a:r>
          </a:p>
          <a:p>
            <a:pPr marL="285750" lvl="0" indent="-285750">
              <a:buFont typeface="Arial"/>
              <a:buChar char="•"/>
            </a:pPr>
            <a:r>
              <a:rPr lang="en-US" dirty="0"/>
              <a:t>Myth to bury: 'perfect separation = real signal.' It's the null expectation.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Overfitting = memorising patients, not biology. Trivially easy when there are more knobs than data points. Symptom: near-perfect on training, collapse on new data. 'With enough genes you fit the noise as confidently as the signal.'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Reanalyses of famous breast cancer signatures: many different, barely-overlapping gene sets predict outcome about equally well. Signatures are unstable under resampling. A gene's presence is weak evidence of causal biology. This is a feature of p &gt;&gt; 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Batch = systematic technical variation tied to when/where/how samples were processed. Can be larger than the biological signal. Danger: if batch correlates with outcome, the model learns batch, not biology. Canonical disaster: responders at Hospital A 2018, non-responders at Hospital B 2020.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PCA projects the 20,000-dim matrix onto a few variance axes. Show the SAME plot coloured two ways: by batch (separates) and by biology (mixes). If it separates by batch, batch dominates variance. PCA reveals, it does not fix. Our practical: METABRIC vs GSE6532, Illumina vs Affymetrix.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Leakage = information from outside the training set sneaks into model building. Looks brilliant in development, fails in the real world. The single most common reason great biomarkers don't replicate. Today we recognise it; later we prevent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Feature-selection leakage (picking genes on all samples before splitting — the classic killer). Normalisation leakage (scaling on train+test together). Sample leakage (replicates/multiple biopsies/related patients split across sides). Temporal/label leakage (using post-outcome info).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Chemosensitivity signatures published in top journals, headed to clinical trials, later retracted amid irreproducibility and data errors. Baggerly &amp; Coombes could not reproduce; trials suspended. Lesson is not 'bad scientists' — the pipeline was undocumented and these failure modes were uncontrolled. VERIFY exact dates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Optimistic bias from leakage/tuning on test; tiny underpowered cohorts in p&gt;&gt;n; batch confounding read as biology; overfitting to one dataset; selective reporting. Pattern: spectacular discovery, silent validation failure.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clinically adopted multi-gene recurrence assays share: pre-specified locked signatures, independent multi-cohort validation, demonstrated clinical utility. Rigour in framing and validation, not algorithmic novelty, made them trustworthy.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Order of operations is a scientific commitment: lock question &amp; label; split first; everything data-dependent happens inside training only; touch the test set once at the end. 'Split first, decide everything else downstream of the split.'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Train fits the model. Validation tunes choices (used many times). Test estimates real-world performance (used once, never for decisions). In small cohorts, cross-validation replaces a fixed validation set (preview).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Split by patient not sample. Respect batch — don't separate batches by outcome. Stratify for class balance (relapses are a minority). Gold standard: an independent external cohort, ideally another institution/platform.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Land the thesis. A simple model on a clean pipeline beats a fancy model on a compromised one, every time.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Tick the objectives. Preview the practical: load METABRIC + GSE6532, derive a binary relapse label, check class balance, run PCA, hunt the cross-platform batch effect, build a patient-level stratified batch-aware split. Next lecture: our first models.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0"/>
        </a:solidFill>
        <a:effectLst/>
      </p:bgPr>
    </p:bg>
    <p:spTree>
      <p:nvGrpSpPr>
        <p:cNvPr id="1" name=""/>
        <p:cNvGrpSpPr/>
        <p:nvPr/>
      </p:nvGrpSpPr>
      <p:grpSpPr>
        <a:xfrm>
          <a:off x="0" y="0"/>
          <a:ext cx="0" cy="0"/>
          <a:chOff x="0" y="0"/>
          <a:chExt cx="0" cy="0"/>
        </a:xfrm>
      </p:grpSpPr>
      <p:sp>
        <p:nvSpPr>
          <p:cNvPr id="2" name="Shape 0"/>
          <p:cNvSpPr/>
          <p:nvPr/>
        </p:nvSpPr>
        <p:spPr>
          <a:xfrm>
            <a:off x="5120640" y="0"/>
            <a:ext cx="256032" cy="256032"/>
          </a:xfrm>
          <a:prstGeom prst="rect">
            <a:avLst/>
          </a:prstGeom>
          <a:solidFill>
            <a:srgbClr val="0E7C86">
              <a:alpha val="22000"/>
            </a:srgbClr>
          </a:solidFill>
          <a:ln/>
        </p:spPr>
      </p:sp>
      <p:sp>
        <p:nvSpPr>
          <p:cNvPr id="3" name="Shape 1"/>
          <p:cNvSpPr/>
          <p:nvPr/>
        </p:nvSpPr>
        <p:spPr>
          <a:xfrm>
            <a:off x="5394960" y="0"/>
            <a:ext cx="256032" cy="256032"/>
          </a:xfrm>
          <a:prstGeom prst="rect">
            <a:avLst/>
          </a:prstGeom>
          <a:solidFill>
            <a:srgbClr val="0B3B40">
              <a:alpha val="22000"/>
            </a:srgbClr>
          </a:solidFill>
          <a:ln/>
        </p:spPr>
      </p:sp>
      <p:sp>
        <p:nvSpPr>
          <p:cNvPr id="4" name="Shape 2"/>
          <p:cNvSpPr/>
          <p:nvPr/>
        </p:nvSpPr>
        <p:spPr>
          <a:xfrm>
            <a:off x="5669280" y="0"/>
            <a:ext cx="256032" cy="256032"/>
          </a:xfrm>
          <a:prstGeom prst="rect">
            <a:avLst/>
          </a:prstGeom>
          <a:solidFill>
            <a:srgbClr val="0E7C86">
              <a:alpha val="22000"/>
            </a:srgbClr>
          </a:solidFill>
          <a:ln/>
        </p:spPr>
      </p:sp>
      <p:sp>
        <p:nvSpPr>
          <p:cNvPr id="5" name="Shape 3"/>
          <p:cNvSpPr/>
          <p:nvPr/>
        </p:nvSpPr>
        <p:spPr>
          <a:xfrm>
            <a:off x="5943600" y="0"/>
            <a:ext cx="256032" cy="256032"/>
          </a:xfrm>
          <a:prstGeom prst="rect">
            <a:avLst/>
          </a:prstGeom>
          <a:solidFill>
            <a:srgbClr val="14A6B0">
              <a:alpha val="22000"/>
            </a:srgbClr>
          </a:solidFill>
          <a:ln/>
        </p:spPr>
      </p:sp>
      <p:sp>
        <p:nvSpPr>
          <p:cNvPr id="6" name="Shape 4"/>
          <p:cNvSpPr/>
          <p:nvPr/>
        </p:nvSpPr>
        <p:spPr>
          <a:xfrm>
            <a:off x="6217920" y="0"/>
            <a:ext cx="256032" cy="256032"/>
          </a:xfrm>
          <a:prstGeom prst="rect">
            <a:avLst/>
          </a:prstGeom>
          <a:solidFill>
            <a:srgbClr val="14A6B0">
              <a:alpha val="22000"/>
            </a:srgbClr>
          </a:solidFill>
          <a:ln/>
        </p:spPr>
      </p:sp>
      <p:sp>
        <p:nvSpPr>
          <p:cNvPr id="7" name="Shape 5"/>
          <p:cNvSpPr/>
          <p:nvPr/>
        </p:nvSpPr>
        <p:spPr>
          <a:xfrm>
            <a:off x="6492240" y="0"/>
            <a:ext cx="256032" cy="256032"/>
          </a:xfrm>
          <a:prstGeom prst="rect">
            <a:avLst/>
          </a:prstGeom>
          <a:solidFill>
            <a:srgbClr val="0E7C86">
              <a:alpha val="22000"/>
            </a:srgbClr>
          </a:solidFill>
          <a:ln/>
        </p:spPr>
      </p:sp>
      <p:sp>
        <p:nvSpPr>
          <p:cNvPr id="8" name="Shape 6"/>
          <p:cNvSpPr/>
          <p:nvPr/>
        </p:nvSpPr>
        <p:spPr>
          <a:xfrm>
            <a:off x="6766560" y="0"/>
            <a:ext cx="256032" cy="256032"/>
          </a:xfrm>
          <a:prstGeom prst="rect">
            <a:avLst/>
          </a:prstGeom>
          <a:solidFill>
            <a:srgbClr val="14A6B0">
              <a:alpha val="22000"/>
            </a:srgbClr>
          </a:solidFill>
          <a:ln/>
        </p:spPr>
      </p:sp>
      <p:sp>
        <p:nvSpPr>
          <p:cNvPr id="9" name="Shape 7"/>
          <p:cNvSpPr/>
          <p:nvPr/>
        </p:nvSpPr>
        <p:spPr>
          <a:xfrm>
            <a:off x="7040880" y="0"/>
            <a:ext cx="256032" cy="256032"/>
          </a:xfrm>
          <a:prstGeom prst="rect">
            <a:avLst/>
          </a:prstGeom>
          <a:solidFill>
            <a:srgbClr val="14A6B0">
              <a:alpha val="22000"/>
            </a:srgbClr>
          </a:solidFill>
          <a:ln/>
        </p:spPr>
      </p:sp>
      <p:sp>
        <p:nvSpPr>
          <p:cNvPr id="10" name="Shape 8"/>
          <p:cNvSpPr/>
          <p:nvPr/>
        </p:nvSpPr>
        <p:spPr>
          <a:xfrm>
            <a:off x="7315200" y="0"/>
            <a:ext cx="256032" cy="256032"/>
          </a:xfrm>
          <a:prstGeom prst="rect">
            <a:avLst/>
          </a:prstGeom>
          <a:solidFill>
            <a:srgbClr val="0B3B40">
              <a:alpha val="22000"/>
            </a:srgbClr>
          </a:solidFill>
          <a:ln/>
        </p:spPr>
      </p:sp>
      <p:sp>
        <p:nvSpPr>
          <p:cNvPr id="11" name="Shape 9"/>
          <p:cNvSpPr/>
          <p:nvPr/>
        </p:nvSpPr>
        <p:spPr>
          <a:xfrm>
            <a:off x="7589520" y="0"/>
            <a:ext cx="256032" cy="256032"/>
          </a:xfrm>
          <a:prstGeom prst="rect">
            <a:avLst/>
          </a:prstGeom>
          <a:solidFill>
            <a:srgbClr val="14A6B0">
              <a:alpha val="22000"/>
            </a:srgbClr>
          </a:solidFill>
          <a:ln/>
        </p:spPr>
      </p:sp>
      <p:sp>
        <p:nvSpPr>
          <p:cNvPr id="12" name="Shape 10"/>
          <p:cNvSpPr/>
          <p:nvPr/>
        </p:nvSpPr>
        <p:spPr>
          <a:xfrm>
            <a:off x="7863840" y="0"/>
            <a:ext cx="256032" cy="256032"/>
          </a:xfrm>
          <a:prstGeom prst="rect">
            <a:avLst/>
          </a:prstGeom>
          <a:solidFill>
            <a:srgbClr val="0B3B40">
              <a:alpha val="22000"/>
            </a:srgbClr>
          </a:solidFill>
          <a:ln/>
        </p:spPr>
      </p:sp>
      <p:sp>
        <p:nvSpPr>
          <p:cNvPr id="13" name="Shape 11"/>
          <p:cNvSpPr/>
          <p:nvPr/>
        </p:nvSpPr>
        <p:spPr>
          <a:xfrm>
            <a:off x="8138160" y="0"/>
            <a:ext cx="256032" cy="256032"/>
          </a:xfrm>
          <a:prstGeom prst="rect">
            <a:avLst/>
          </a:prstGeom>
          <a:solidFill>
            <a:srgbClr val="0B3B40">
              <a:alpha val="22000"/>
            </a:srgbClr>
          </a:solidFill>
          <a:ln/>
        </p:spPr>
      </p:sp>
      <p:sp>
        <p:nvSpPr>
          <p:cNvPr id="14" name="Shape 12"/>
          <p:cNvSpPr/>
          <p:nvPr/>
        </p:nvSpPr>
        <p:spPr>
          <a:xfrm>
            <a:off x="8412480" y="0"/>
            <a:ext cx="256032" cy="256032"/>
          </a:xfrm>
          <a:prstGeom prst="rect">
            <a:avLst/>
          </a:prstGeom>
          <a:solidFill>
            <a:srgbClr val="14A6B0">
              <a:alpha val="22000"/>
            </a:srgbClr>
          </a:solidFill>
          <a:ln/>
        </p:spPr>
      </p:sp>
      <p:sp>
        <p:nvSpPr>
          <p:cNvPr id="15" name="Shape 13"/>
          <p:cNvSpPr/>
          <p:nvPr/>
        </p:nvSpPr>
        <p:spPr>
          <a:xfrm>
            <a:off x="8686800" y="0"/>
            <a:ext cx="256032" cy="256032"/>
          </a:xfrm>
          <a:prstGeom prst="rect">
            <a:avLst/>
          </a:prstGeom>
          <a:solidFill>
            <a:srgbClr val="0B3B40">
              <a:alpha val="22000"/>
            </a:srgbClr>
          </a:solidFill>
          <a:ln/>
        </p:spPr>
      </p:sp>
      <p:sp>
        <p:nvSpPr>
          <p:cNvPr id="16" name="Shape 14"/>
          <p:cNvSpPr/>
          <p:nvPr/>
        </p:nvSpPr>
        <p:spPr>
          <a:xfrm>
            <a:off x="8961120" y="0"/>
            <a:ext cx="256032" cy="256032"/>
          </a:xfrm>
          <a:prstGeom prst="rect">
            <a:avLst/>
          </a:prstGeom>
          <a:solidFill>
            <a:srgbClr val="0E7C86">
              <a:alpha val="22000"/>
            </a:srgbClr>
          </a:solidFill>
          <a:ln/>
        </p:spPr>
      </p:sp>
      <p:sp>
        <p:nvSpPr>
          <p:cNvPr id="17" name="Shape 15"/>
          <p:cNvSpPr/>
          <p:nvPr/>
        </p:nvSpPr>
        <p:spPr>
          <a:xfrm>
            <a:off x="9235440" y="0"/>
            <a:ext cx="256032" cy="256032"/>
          </a:xfrm>
          <a:prstGeom prst="rect">
            <a:avLst/>
          </a:prstGeom>
          <a:solidFill>
            <a:srgbClr val="0B3B40">
              <a:alpha val="22000"/>
            </a:srgbClr>
          </a:solidFill>
          <a:ln/>
        </p:spPr>
      </p:sp>
      <p:sp>
        <p:nvSpPr>
          <p:cNvPr id="18" name="Shape 16"/>
          <p:cNvSpPr/>
          <p:nvPr/>
        </p:nvSpPr>
        <p:spPr>
          <a:xfrm>
            <a:off x="9509760" y="0"/>
            <a:ext cx="256032" cy="256032"/>
          </a:xfrm>
          <a:prstGeom prst="rect">
            <a:avLst/>
          </a:prstGeom>
          <a:solidFill>
            <a:srgbClr val="0B3B40">
              <a:alpha val="22000"/>
            </a:srgbClr>
          </a:solidFill>
          <a:ln/>
        </p:spPr>
      </p:sp>
      <p:sp>
        <p:nvSpPr>
          <p:cNvPr id="19" name="Shape 17"/>
          <p:cNvSpPr/>
          <p:nvPr/>
        </p:nvSpPr>
        <p:spPr>
          <a:xfrm>
            <a:off x="9784080" y="0"/>
            <a:ext cx="256032" cy="256032"/>
          </a:xfrm>
          <a:prstGeom prst="rect">
            <a:avLst/>
          </a:prstGeom>
          <a:solidFill>
            <a:srgbClr val="14A6B0">
              <a:alpha val="22000"/>
            </a:srgbClr>
          </a:solidFill>
          <a:ln/>
        </p:spPr>
      </p:sp>
      <p:sp>
        <p:nvSpPr>
          <p:cNvPr id="20" name="Shape 18"/>
          <p:cNvSpPr/>
          <p:nvPr/>
        </p:nvSpPr>
        <p:spPr>
          <a:xfrm>
            <a:off x="10058400" y="0"/>
            <a:ext cx="256032" cy="256032"/>
          </a:xfrm>
          <a:prstGeom prst="rect">
            <a:avLst/>
          </a:prstGeom>
          <a:solidFill>
            <a:srgbClr val="14A6B0">
              <a:alpha val="22000"/>
            </a:srgbClr>
          </a:solidFill>
          <a:ln/>
        </p:spPr>
      </p:sp>
      <p:sp>
        <p:nvSpPr>
          <p:cNvPr id="21" name="Shape 19"/>
          <p:cNvSpPr/>
          <p:nvPr/>
        </p:nvSpPr>
        <p:spPr>
          <a:xfrm>
            <a:off x="10332720" y="0"/>
            <a:ext cx="256032" cy="256032"/>
          </a:xfrm>
          <a:prstGeom prst="rect">
            <a:avLst/>
          </a:prstGeom>
          <a:solidFill>
            <a:srgbClr val="14A6B0">
              <a:alpha val="22000"/>
            </a:srgbClr>
          </a:solidFill>
          <a:ln/>
        </p:spPr>
      </p:sp>
      <p:sp>
        <p:nvSpPr>
          <p:cNvPr id="22" name="Shape 20"/>
          <p:cNvSpPr/>
          <p:nvPr/>
        </p:nvSpPr>
        <p:spPr>
          <a:xfrm>
            <a:off x="10607040" y="0"/>
            <a:ext cx="256032" cy="256032"/>
          </a:xfrm>
          <a:prstGeom prst="rect">
            <a:avLst/>
          </a:prstGeom>
          <a:solidFill>
            <a:srgbClr val="14A6B0">
              <a:alpha val="22000"/>
            </a:srgbClr>
          </a:solidFill>
          <a:ln/>
        </p:spPr>
      </p:sp>
      <p:sp>
        <p:nvSpPr>
          <p:cNvPr id="23" name="Shape 21"/>
          <p:cNvSpPr/>
          <p:nvPr/>
        </p:nvSpPr>
        <p:spPr>
          <a:xfrm>
            <a:off x="10881360" y="0"/>
            <a:ext cx="256032" cy="256032"/>
          </a:xfrm>
          <a:prstGeom prst="rect">
            <a:avLst/>
          </a:prstGeom>
          <a:solidFill>
            <a:srgbClr val="0B3B40">
              <a:alpha val="22000"/>
            </a:srgbClr>
          </a:solidFill>
          <a:ln/>
        </p:spPr>
      </p:sp>
      <p:sp>
        <p:nvSpPr>
          <p:cNvPr id="24" name="Shape 22"/>
          <p:cNvSpPr/>
          <p:nvPr/>
        </p:nvSpPr>
        <p:spPr>
          <a:xfrm>
            <a:off x="5120640" y="274320"/>
            <a:ext cx="256032" cy="256032"/>
          </a:xfrm>
          <a:prstGeom prst="rect">
            <a:avLst/>
          </a:prstGeom>
          <a:solidFill>
            <a:srgbClr val="0E7C86">
              <a:alpha val="22000"/>
            </a:srgbClr>
          </a:solidFill>
          <a:ln/>
        </p:spPr>
      </p:sp>
      <p:sp>
        <p:nvSpPr>
          <p:cNvPr id="25" name="Shape 23"/>
          <p:cNvSpPr/>
          <p:nvPr/>
        </p:nvSpPr>
        <p:spPr>
          <a:xfrm>
            <a:off x="5394960" y="274320"/>
            <a:ext cx="256032" cy="256032"/>
          </a:xfrm>
          <a:prstGeom prst="rect">
            <a:avLst/>
          </a:prstGeom>
          <a:solidFill>
            <a:srgbClr val="0E7C86">
              <a:alpha val="22000"/>
            </a:srgbClr>
          </a:solidFill>
          <a:ln/>
        </p:spPr>
      </p:sp>
      <p:sp>
        <p:nvSpPr>
          <p:cNvPr id="26" name="Shape 24"/>
          <p:cNvSpPr/>
          <p:nvPr/>
        </p:nvSpPr>
        <p:spPr>
          <a:xfrm>
            <a:off x="5669280" y="274320"/>
            <a:ext cx="256032" cy="256032"/>
          </a:xfrm>
          <a:prstGeom prst="rect">
            <a:avLst/>
          </a:prstGeom>
          <a:solidFill>
            <a:srgbClr val="0B3B40">
              <a:alpha val="22000"/>
            </a:srgbClr>
          </a:solidFill>
          <a:ln/>
        </p:spPr>
      </p:sp>
      <p:sp>
        <p:nvSpPr>
          <p:cNvPr id="27" name="Shape 25"/>
          <p:cNvSpPr/>
          <p:nvPr/>
        </p:nvSpPr>
        <p:spPr>
          <a:xfrm>
            <a:off x="5943600" y="274320"/>
            <a:ext cx="256032" cy="256032"/>
          </a:xfrm>
          <a:prstGeom prst="rect">
            <a:avLst/>
          </a:prstGeom>
          <a:solidFill>
            <a:srgbClr val="14A6B0">
              <a:alpha val="22000"/>
            </a:srgbClr>
          </a:solidFill>
          <a:ln/>
        </p:spPr>
      </p:sp>
      <p:sp>
        <p:nvSpPr>
          <p:cNvPr id="28" name="Shape 26"/>
          <p:cNvSpPr/>
          <p:nvPr/>
        </p:nvSpPr>
        <p:spPr>
          <a:xfrm>
            <a:off x="6217920" y="274320"/>
            <a:ext cx="256032" cy="256032"/>
          </a:xfrm>
          <a:prstGeom prst="rect">
            <a:avLst/>
          </a:prstGeom>
          <a:solidFill>
            <a:srgbClr val="0B3B40">
              <a:alpha val="22000"/>
            </a:srgbClr>
          </a:solidFill>
          <a:ln/>
        </p:spPr>
      </p:sp>
      <p:sp>
        <p:nvSpPr>
          <p:cNvPr id="29" name="Shape 27"/>
          <p:cNvSpPr/>
          <p:nvPr/>
        </p:nvSpPr>
        <p:spPr>
          <a:xfrm>
            <a:off x="6492240" y="274320"/>
            <a:ext cx="256032" cy="256032"/>
          </a:xfrm>
          <a:prstGeom prst="rect">
            <a:avLst/>
          </a:prstGeom>
          <a:solidFill>
            <a:srgbClr val="14A6B0">
              <a:alpha val="22000"/>
            </a:srgbClr>
          </a:solidFill>
          <a:ln/>
        </p:spPr>
      </p:sp>
      <p:sp>
        <p:nvSpPr>
          <p:cNvPr id="30" name="Shape 28"/>
          <p:cNvSpPr/>
          <p:nvPr/>
        </p:nvSpPr>
        <p:spPr>
          <a:xfrm>
            <a:off x="6766560" y="274320"/>
            <a:ext cx="256032" cy="256032"/>
          </a:xfrm>
          <a:prstGeom prst="rect">
            <a:avLst/>
          </a:prstGeom>
          <a:solidFill>
            <a:srgbClr val="0B3B40">
              <a:alpha val="22000"/>
            </a:srgbClr>
          </a:solidFill>
          <a:ln/>
        </p:spPr>
      </p:sp>
      <p:sp>
        <p:nvSpPr>
          <p:cNvPr id="31" name="Shape 29"/>
          <p:cNvSpPr/>
          <p:nvPr/>
        </p:nvSpPr>
        <p:spPr>
          <a:xfrm>
            <a:off x="7040880" y="274320"/>
            <a:ext cx="256032" cy="256032"/>
          </a:xfrm>
          <a:prstGeom prst="rect">
            <a:avLst/>
          </a:prstGeom>
          <a:solidFill>
            <a:srgbClr val="0B3B40">
              <a:alpha val="22000"/>
            </a:srgbClr>
          </a:solidFill>
          <a:ln/>
        </p:spPr>
      </p:sp>
      <p:sp>
        <p:nvSpPr>
          <p:cNvPr id="32" name="Shape 30"/>
          <p:cNvSpPr/>
          <p:nvPr/>
        </p:nvSpPr>
        <p:spPr>
          <a:xfrm>
            <a:off x="7315200" y="274320"/>
            <a:ext cx="256032" cy="256032"/>
          </a:xfrm>
          <a:prstGeom prst="rect">
            <a:avLst/>
          </a:prstGeom>
          <a:solidFill>
            <a:srgbClr val="14A6B0">
              <a:alpha val="22000"/>
            </a:srgbClr>
          </a:solidFill>
          <a:ln/>
        </p:spPr>
      </p:sp>
      <p:sp>
        <p:nvSpPr>
          <p:cNvPr id="33" name="Shape 31"/>
          <p:cNvSpPr/>
          <p:nvPr/>
        </p:nvSpPr>
        <p:spPr>
          <a:xfrm>
            <a:off x="7589520" y="274320"/>
            <a:ext cx="256032" cy="256032"/>
          </a:xfrm>
          <a:prstGeom prst="rect">
            <a:avLst/>
          </a:prstGeom>
          <a:solidFill>
            <a:srgbClr val="14A6B0">
              <a:alpha val="22000"/>
            </a:srgbClr>
          </a:solidFill>
          <a:ln/>
        </p:spPr>
      </p:sp>
      <p:sp>
        <p:nvSpPr>
          <p:cNvPr id="34" name="Shape 32"/>
          <p:cNvSpPr/>
          <p:nvPr/>
        </p:nvSpPr>
        <p:spPr>
          <a:xfrm>
            <a:off x="7863840" y="274320"/>
            <a:ext cx="256032" cy="256032"/>
          </a:xfrm>
          <a:prstGeom prst="rect">
            <a:avLst/>
          </a:prstGeom>
          <a:solidFill>
            <a:srgbClr val="14A6B0">
              <a:alpha val="22000"/>
            </a:srgbClr>
          </a:solidFill>
          <a:ln/>
        </p:spPr>
      </p:sp>
      <p:sp>
        <p:nvSpPr>
          <p:cNvPr id="35" name="Shape 33"/>
          <p:cNvSpPr/>
          <p:nvPr/>
        </p:nvSpPr>
        <p:spPr>
          <a:xfrm>
            <a:off x="8138160" y="274320"/>
            <a:ext cx="256032" cy="256032"/>
          </a:xfrm>
          <a:prstGeom prst="rect">
            <a:avLst/>
          </a:prstGeom>
          <a:solidFill>
            <a:srgbClr val="14A6B0">
              <a:alpha val="22000"/>
            </a:srgbClr>
          </a:solidFill>
          <a:ln/>
        </p:spPr>
      </p:sp>
      <p:sp>
        <p:nvSpPr>
          <p:cNvPr id="36" name="Shape 34"/>
          <p:cNvSpPr/>
          <p:nvPr/>
        </p:nvSpPr>
        <p:spPr>
          <a:xfrm>
            <a:off x="8412480" y="274320"/>
            <a:ext cx="256032" cy="256032"/>
          </a:xfrm>
          <a:prstGeom prst="rect">
            <a:avLst/>
          </a:prstGeom>
          <a:solidFill>
            <a:srgbClr val="14A6B0">
              <a:alpha val="22000"/>
            </a:srgbClr>
          </a:solidFill>
          <a:ln/>
        </p:spPr>
      </p:sp>
      <p:sp>
        <p:nvSpPr>
          <p:cNvPr id="37" name="Shape 35"/>
          <p:cNvSpPr/>
          <p:nvPr/>
        </p:nvSpPr>
        <p:spPr>
          <a:xfrm>
            <a:off x="8686800" y="274320"/>
            <a:ext cx="256032" cy="256032"/>
          </a:xfrm>
          <a:prstGeom prst="rect">
            <a:avLst/>
          </a:prstGeom>
          <a:solidFill>
            <a:srgbClr val="14A6B0">
              <a:alpha val="22000"/>
            </a:srgbClr>
          </a:solidFill>
          <a:ln/>
        </p:spPr>
      </p:sp>
      <p:sp>
        <p:nvSpPr>
          <p:cNvPr id="38" name="Shape 36"/>
          <p:cNvSpPr/>
          <p:nvPr/>
        </p:nvSpPr>
        <p:spPr>
          <a:xfrm>
            <a:off x="8961120" y="274320"/>
            <a:ext cx="256032" cy="256032"/>
          </a:xfrm>
          <a:prstGeom prst="rect">
            <a:avLst/>
          </a:prstGeom>
          <a:solidFill>
            <a:srgbClr val="0B3B40">
              <a:alpha val="22000"/>
            </a:srgbClr>
          </a:solidFill>
          <a:ln/>
        </p:spPr>
      </p:sp>
      <p:sp>
        <p:nvSpPr>
          <p:cNvPr id="39" name="Shape 37"/>
          <p:cNvSpPr/>
          <p:nvPr/>
        </p:nvSpPr>
        <p:spPr>
          <a:xfrm>
            <a:off x="9235440" y="274320"/>
            <a:ext cx="256032" cy="256032"/>
          </a:xfrm>
          <a:prstGeom prst="rect">
            <a:avLst/>
          </a:prstGeom>
          <a:solidFill>
            <a:srgbClr val="0E7C86">
              <a:alpha val="22000"/>
            </a:srgbClr>
          </a:solidFill>
          <a:ln/>
        </p:spPr>
      </p:sp>
      <p:sp>
        <p:nvSpPr>
          <p:cNvPr id="40" name="Shape 38"/>
          <p:cNvSpPr/>
          <p:nvPr/>
        </p:nvSpPr>
        <p:spPr>
          <a:xfrm>
            <a:off x="9509760" y="274320"/>
            <a:ext cx="256032" cy="256032"/>
          </a:xfrm>
          <a:prstGeom prst="rect">
            <a:avLst/>
          </a:prstGeom>
          <a:solidFill>
            <a:srgbClr val="0B3B40">
              <a:alpha val="22000"/>
            </a:srgbClr>
          </a:solidFill>
          <a:ln/>
        </p:spPr>
      </p:sp>
      <p:sp>
        <p:nvSpPr>
          <p:cNvPr id="41" name="Shape 39"/>
          <p:cNvSpPr/>
          <p:nvPr/>
        </p:nvSpPr>
        <p:spPr>
          <a:xfrm>
            <a:off x="9784080" y="274320"/>
            <a:ext cx="256032" cy="256032"/>
          </a:xfrm>
          <a:prstGeom prst="rect">
            <a:avLst/>
          </a:prstGeom>
          <a:solidFill>
            <a:srgbClr val="0E7C86">
              <a:alpha val="22000"/>
            </a:srgbClr>
          </a:solidFill>
          <a:ln/>
        </p:spPr>
      </p:sp>
      <p:sp>
        <p:nvSpPr>
          <p:cNvPr id="42" name="Shape 40"/>
          <p:cNvSpPr/>
          <p:nvPr/>
        </p:nvSpPr>
        <p:spPr>
          <a:xfrm>
            <a:off x="10058400" y="274320"/>
            <a:ext cx="256032" cy="256032"/>
          </a:xfrm>
          <a:prstGeom prst="rect">
            <a:avLst/>
          </a:prstGeom>
          <a:solidFill>
            <a:srgbClr val="0E7C86">
              <a:alpha val="22000"/>
            </a:srgbClr>
          </a:solidFill>
          <a:ln/>
        </p:spPr>
      </p:sp>
      <p:sp>
        <p:nvSpPr>
          <p:cNvPr id="43" name="Shape 41"/>
          <p:cNvSpPr/>
          <p:nvPr/>
        </p:nvSpPr>
        <p:spPr>
          <a:xfrm>
            <a:off x="10332720" y="274320"/>
            <a:ext cx="256032" cy="256032"/>
          </a:xfrm>
          <a:prstGeom prst="rect">
            <a:avLst/>
          </a:prstGeom>
          <a:solidFill>
            <a:srgbClr val="0B3B40">
              <a:alpha val="22000"/>
            </a:srgbClr>
          </a:solidFill>
          <a:ln/>
        </p:spPr>
      </p:sp>
      <p:sp>
        <p:nvSpPr>
          <p:cNvPr id="44" name="Shape 42"/>
          <p:cNvSpPr/>
          <p:nvPr/>
        </p:nvSpPr>
        <p:spPr>
          <a:xfrm>
            <a:off x="10607040" y="274320"/>
            <a:ext cx="256032" cy="256032"/>
          </a:xfrm>
          <a:prstGeom prst="rect">
            <a:avLst/>
          </a:prstGeom>
          <a:solidFill>
            <a:srgbClr val="14A6B0">
              <a:alpha val="22000"/>
            </a:srgbClr>
          </a:solidFill>
          <a:ln/>
        </p:spPr>
      </p:sp>
      <p:sp>
        <p:nvSpPr>
          <p:cNvPr id="45" name="Shape 43"/>
          <p:cNvSpPr/>
          <p:nvPr/>
        </p:nvSpPr>
        <p:spPr>
          <a:xfrm>
            <a:off x="10881360" y="274320"/>
            <a:ext cx="256032" cy="256032"/>
          </a:xfrm>
          <a:prstGeom prst="rect">
            <a:avLst/>
          </a:prstGeom>
          <a:solidFill>
            <a:srgbClr val="0B3B40">
              <a:alpha val="22000"/>
            </a:srgbClr>
          </a:solidFill>
          <a:ln/>
        </p:spPr>
      </p:sp>
      <p:sp>
        <p:nvSpPr>
          <p:cNvPr id="46" name="Shape 44"/>
          <p:cNvSpPr/>
          <p:nvPr/>
        </p:nvSpPr>
        <p:spPr>
          <a:xfrm>
            <a:off x="5120640" y="548640"/>
            <a:ext cx="256032" cy="256032"/>
          </a:xfrm>
          <a:prstGeom prst="rect">
            <a:avLst/>
          </a:prstGeom>
          <a:solidFill>
            <a:srgbClr val="14A6B0">
              <a:alpha val="22000"/>
            </a:srgbClr>
          </a:solidFill>
          <a:ln/>
        </p:spPr>
      </p:sp>
      <p:sp>
        <p:nvSpPr>
          <p:cNvPr id="47" name="Shape 45"/>
          <p:cNvSpPr/>
          <p:nvPr/>
        </p:nvSpPr>
        <p:spPr>
          <a:xfrm>
            <a:off x="5394960" y="548640"/>
            <a:ext cx="256032" cy="256032"/>
          </a:xfrm>
          <a:prstGeom prst="rect">
            <a:avLst/>
          </a:prstGeom>
          <a:solidFill>
            <a:srgbClr val="0E7C86">
              <a:alpha val="22000"/>
            </a:srgbClr>
          </a:solidFill>
          <a:ln/>
        </p:spPr>
      </p:sp>
      <p:sp>
        <p:nvSpPr>
          <p:cNvPr id="48" name="Shape 46"/>
          <p:cNvSpPr/>
          <p:nvPr/>
        </p:nvSpPr>
        <p:spPr>
          <a:xfrm>
            <a:off x="5669280" y="548640"/>
            <a:ext cx="256032" cy="256032"/>
          </a:xfrm>
          <a:prstGeom prst="rect">
            <a:avLst/>
          </a:prstGeom>
          <a:solidFill>
            <a:srgbClr val="0B3B40">
              <a:alpha val="22000"/>
            </a:srgbClr>
          </a:solidFill>
          <a:ln/>
        </p:spPr>
      </p:sp>
      <p:sp>
        <p:nvSpPr>
          <p:cNvPr id="49" name="Shape 47"/>
          <p:cNvSpPr/>
          <p:nvPr/>
        </p:nvSpPr>
        <p:spPr>
          <a:xfrm>
            <a:off x="5943600" y="548640"/>
            <a:ext cx="256032" cy="256032"/>
          </a:xfrm>
          <a:prstGeom prst="rect">
            <a:avLst/>
          </a:prstGeom>
          <a:solidFill>
            <a:srgbClr val="0E7C86">
              <a:alpha val="22000"/>
            </a:srgbClr>
          </a:solidFill>
          <a:ln/>
        </p:spPr>
      </p:sp>
      <p:sp>
        <p:nvSpPr>
          <p:cNvPr id="50" name="Shape 48"/>
          <p:cNvSpPr/>
          <p:nvPr/>
        </p:nvSpPr>
        <p:spPr>
          <a:xfrm>
            <a:off x="6217920" y="548640"/>
            <a:ext cx="256032" cy="256032"/>
          </a:xfrm>
          <a:prstGeom prst="rect">
            <a:avLst/>
          </a:prstGeom>
          <a:solidFill>
            <a:srgbClr val="0E7C86">
              <a:alpha val="22000"/>
            </a:srgbClr>
          </a:solidFill>
          <a:ln/>
        </p:spPr>
      </p:sp>
      <p:sp>
        <p:nvSpPr>
          <p:cNvPr id="51" name="Shape 49"/>
          <p:cNvSpPr/>
          <p:nvPr/>
        </p:nvSpPr>
        <p:spPr>
          <a:xfrm>
            <a:off x="6492240" y="548640"/>
            <a:ext cx="256032" cy="256032"/>
          </a:xfrm>
          <a:prstGeom prst="rect">
            <a:avLst/>
          </a:prstGeom>
          <a:solidFill>
            <a:srgbClr val="0E7C86">
              <a:alpha val="22000"/>
            </a:srgbClr>
          </a:solidFill>
          <a:ln/>
        </p:spPr>
      </p:sp>
      <p:sp>
        <p:nvSpPr>
          <p:cNvPr id="52" name="Shape 50"/>
          <p:cNvSpPr/>
          <p:nvPr/>
        </p:nvSpPr>
        <p:spPr>
          <a:xfrm>
            <a:off x="6766560" y="548640"/>
            <a:ext cx="256032" cy="256032"/>
          </a:xfrm>
          <a:prstGeom prst="rect">
            <a:avLst/>
          </a:prstGeom>
          <a:solidFill>
            <a:srgbClr val="0B3B40">
              <a:alpha val="22000"/>
            </a:srgbClr>
          </a:solidFill>
          <a:ln/>
        </p:spPr>
      </p:sp>
      <p:sp>
        <p:nvSpPr>
          <p:cNvPr id="53" name="Shape 51"/>
          <p:cNvSpPr/>
          <p:nvPr/>
        </p:nvSpPr>
        <p:spPr>
          <a:xfrm>
            <a:off x="7040880" y="548640"/>
            <a:ext cx="256032" cy="256032"/>
          </a:xfrm>
          <a:prstGeom prst="rect">
            <a:avLst/>
          </a:prstGeom>
          <a:solidFill>
            <a:srgbClr val="14A6B0">
              <a:alpha val="22000"/>
            </a:srgbClr>
          </a:solidFill>
          <a:ln/>
        </p:spPr>
      </p:sp>
      <p:sp>
        <p:nvSpPr>
          <p:cNvPr id="54" name="Shape 52"/>
          <p:cNvSpPr/>
          <p:nvPr/>
        </p:nvSpPr>
        <p:spPr>
          <a:xfrm>
            <a:off x="7315200" y="548640"/>
            <a:ext cx="256032" cy="256032"/>
          </a:xfrm>
          <a:prstGeom prst="rect">
            <a:avLst/>
          </a:prstGeom>
          <a:solidFill>
            <a:srgbClr val="0E7C86">
              <a:alpha val="22000"/>
            </a:srgbClr>
          </a:solidFill>
          <a:ln/>
        </p:spPr>
      </p:sp>
      <p:sp>
        <p:nvSpPr>
          <p:cNvPr id="55" name="Shape 53"/>
          <p:cNvSpPr/>
          <p:nvPr/>
        </p:nvSpPr>
        <p:spPr>
          <a:xfrm>
            <a:off x="7589520" y="548640"/>
            <a:ext cx="256032" cy="256032"/>
          </a:xfrm>
          <a:prstGeom prst="rect">
            <a:avLst/>
          </a:prstGeom>
          <a:solidFill>
            <a:srgbClr val="0E7C86">
              <a:alpha val="22000"/>
            </a:srgbClr>
          </a:solidFill>
          <a:ln/>
        </p:spPr>
      </p:sp>
      <p:sp>
        <p:nvSpPr>
          <p:cNvPr id="56" name="Shape 54"/>
          <p:cNvSpPr/>
          <p:nvPr/>
        </p:nvSpPr>
        <p:spPr>
          <a:xfrm>
            <a:off x="7863840" y="548640"/>
            <a:ext cx="256032" cy="256032"/>
          </a:xfrm>
          <a:prstGeom prst="rect">
            <a:avLst/>
          </a:prstGeom>
          <a:solidFill>
            <a:srgbClr val="14A6B0">
              <a:alpha val="22000"/>
            </a:srgbClr>
          </a:solidFill>
          <a:ln/>
        </p:spPr>
      </p:sp>
      <p:sp>
        <p:nvSpPr>
          <p:cNvPr id="57" name="Shape 55"/>
          <p:cNvSpPr/>
          <p:nvPr/>
        </p:nvSpPr>
        <p:spPr>
          <a:xfrm>
            <a:off x="8138160" y="548640"/>
            <a:ext cx="256032" cy="256032"/>
          </a:xfrm>
          <a:prstGeom prst="rect">
            <a:avLst/>
          </a:prstGeom>
          <a:solidFill>
            <a:srgbClr val="0E7C86">
              <a:alpha val="22000"/>
            </a:srgbClr>
          </a:solidFill>
          <a:ln/>
        </p:spPr>
      </p:sp>
      <p:sp>
        <p:nvSpPr>
          <p:cNvPr id="58" name="Shape 56"/>
          <p:cNvSpPr/>
          <p:nvPr/>
        </p:nvSpPr>
        <p:spPr>
          <a:xfrm>
            <a:off x="8412480" y="548640"/>
            <a:ext cx="256032" cy="256032"/>
          </a:xfrm>
          <a:prstGeom prst="rect">
            <a:avLst/>
          </a:prstGeom>
          <a:solidFill>
            <a:srgbClr val="0E7C86">
              <a:alpha val="22000"/>
            </a:srgbClr>
          </a:solidFill>
          <a:ln/>
        </p:spPr>
      </p:sp>
      <p:sp>
        <p:nvSpPr>
          <p:cNvPr id="59" name="Shape 57"/>
          <p:cNvSpPr/>
          <p:nvPr/>
        </p:nvSpPr>
        <p:spPr>
          <a:xfrm>
            <a:off x="8686800" y="548640"/>
            <a:ext cx="256032" cy="256032"/>
          </a:xfrm>
          <a:prstGeom prst="rect">
            <a:avLst/>
          </a:prstGeom>
          <a:solidFill>
            <a:srgbClr val="0E7C86">
              <a:alpha val="22000"/>
            </a:srgbClr>
          </a:solidFill>
          <a:ln/>
        </p:spPr>
      </p:sp>
      <p:sp>
        <p:nvSpPr>
          <p:cNvPr id="60" name="Shape 58"/>
          <p:cNvSpPr/>
          <p:nvPr/>
        </p:nvSpPr>
        <p:spPr>
          <a:xfrm>
            <a:off x="8961120" y="548640"/>
            <a:ext cx="256032" cy="256032"/>
          </a:xfrm>
          <a:prstGeom prst="rect">
            <a:avLst/>
          </a:prstGeom>
          <a:solidFill>
            <a:srgbClr val="0B3B40">
              <a:alpha val="22000"/>
            </a:srgbClr>
          </a:solidFill>
          <a:ln/>
        </p:spPr>
      </p:sp>
      <p:sp>
        <p:nvSpPr>
          <p:cNvPr id="61" name="Shape 59"/>
          <p:cNvSpPr/>
          <p:nvPr/>
        </p:nvSpPr>
        <p:spPr>
          <a:xfrm>
            <a:off x="9235440" y="548640"/>
            <a:ext cx="256032" cy="256032"/>
          </a:xfrm>
          <a:prstGeom prst="rect">
            <a:avLst/>
          </a:prstGeom>
          <a:solidFill>
            <a:srgbClr val="0B3B40">
              <a:alpha val="22000"/>
            </a:srgbClr>
          </a:solidFill>
          <a:ln/>
        </p:spPr>
      </p:sp>
      <p:sp>
        <p:nvSpPr>
          <p:cNvPr id="62" name="Shape 60"/>
          <p:cNvSpPr/>
          <p:nvPr/>
        </p:nvSpPr>
        <p:spPr>
          <a:xfrm>
            <a:off x="9509760" y="548640"/>
            <a:ext cx="256032" cy="256032"/>
          </a:xfrm>
          <a:prstGeom prst="rect">
            <a:avLst/>
          </a:prstGeom>
          <a:solidFill>
            <a:srgbClr val="0E7C86">
              <a:alpha val="22000"/>
            </a:srgbClr>
          </a:solidFill>
          <a:ln/>
        </p:spPr>
      </p:sp>
      <p:sp>
        <p:nvSpPr>
          <p:cNvPr id="63" name="Shape 61"/>
          <p:cNvSpPr/>
          <p:nvPr/>
        </p:nvSpPr>
        <p:spPr>
          <a:xfrm>
            <a:off x="9784080" y="548640"/>
            <a:ext cx="256032" cy="256032"/>
          </a:xfrm>
          <a:prstGeom prst="rect">
            <a:avLst/>
          </a:prstGeom>
          <a:solidFill>
            <a:srgbClr val="0E7C86">
              <a:alpha val="22000"/>
            </a:srgbClr>
          </a:solidFill>
          <a:ln/>
        </p:spPr>
      </p:sp>
      <p:sp>
        <p:nvSpPr>
          <p:cNvPr id="64" name="Shape 62"/>
          <p:cNvSpPr/>
          <p:nvPr/>
        </p:nvSpPr>
        <p:spPr>
          <a:xfrm>
            <a:off x="10058400" y="548640"/>
            <a:ext cx="256032" cy="256032"/>
          </a:xfrm>
          <a:prstGeom prst="rect">
            <a:avLst/>
          </a:prstGeom>
          <a:solidFill>
            <a:srgbClr val="0E7C86">
              <a:alpha val="22000"/>
            </a:srgbClr>
          </a:solidFill>
          <a:ln/>
        </p:spPr>
      </p:sp>
      <p:sp>
        <p:nvSpPr>
          <p:cNvPr id="65" name="Shape 63"/>
          <p:cNvSpPr/>
          <p:nvPr/>
        </p:nvSpPr>
        <p:spPr>
          <a:xfrm>
            <a:off x="10332720" y="548640"/>
            <a:ext cx="256032" cy="256032"/>
          </a:xfrm>
          <a:prstGeom prst="rect">
            <a:avLst/>
          </a:prstGeom>
          <a:solidFill>
            <a:srgbClr val="0B3B40">
              <a:alpha val="22000"/>
            </a:srgbClr>
          </a:solidFill>
          <a:ln/>
        </p:spPr>
      </p:sp>
      <p:sp>
        <p:nvSpPr>
          <p:cNvPr id="66" name="Shape 64"/>
          <p:cNvSpPr/>
          <p:nvPr/>
        </p:nvSpPr>
        <p:spPr>
          <a:xfrm>
            <a:off x="10607040" y="548640"/>
            <a:ext cx="256032" cy="256032"/>
          </a:xfrm>
          <a:prstGeom prst="rect">
            <a:avLst/>
          </a:prstGeom>
          <a:solidFill>
            <a:srgbClr val="0E7C86">
              <a:alpha val="22000"/>
            </a:srgbClr>
          </a:solidFill>
          <a:ln/>
        </p:spPr>
      </p:sp>
      <p:sp>
        <p:nvSpPr>
          <p:cNvPr id="67" name="Shape 65"/>
          <p:cNvSpPr/>
          <p:nvPr/>
        </p:nvSpPr>
        <p:spPr>
          <a:xfrm>
            <a:off x="10881360" y="548640"/>
            <a:ext cx="256032" cy="256032"/>
          </a:xfrm>
          <a:prstGeom prst="rect">
            <a:avLst/>
          </a:prstGeom>
          <a:solidFill>
            <a:srgbClr val="0B3B40">
              <a:alpha val="22000"/>
            </a:srgbClr>
          </a:solidFill>
          <a:ln/>
        </p:spPr>
      </p:sp>
      <p:sp>
        <p:nvSpPr>
          <p:cNvPr id="68" name="Shape 66"/>
          <p:cNvSpPr/>
          <p:nvPr/>
        </p:nvSpPr>
        <p:spPr>
          <a:xfrm>
            <a:off x="5120640" y="822960"/>
            <a:ext cx="256032" cy="256032"/>
          </a:xfrm>
          <a:prstGeom prst="rect">
            <a:avLst/>
          </a:prstGeom>
          <a:solidFill>
            <a:srgbClr val="14A6B0">
              <a:alpha val="22000"/>
            </a:srgbClr>
          </a:solidFill>
          <a:ln/>
        </p:spPr>
      </p:sp>
      <p:sp>
        <p:nvSpPr>
          <p:cNvPr id="69" name="Shape 67"/>
          <p:cNvSpPr/>
          <p:nvPr/>
        </p:nvSpPr>
        <p:spPr>
          <a:xfrm>
            <a:off x="5394960" y="822960"/>
            <a:ext cx="256032" cy="256032"/>
          </a:xfrm>
          <a:prstGeom prst="rect">
            <a:avLst/>
          </a:prstGeom>
          <a:solidFill>
            <a:srgbClr val="0B3B40">
              <a:alpha val="22000"/>
            </a:srgbClr>
          </a:solidFill>
          <a:ln/>
        </p:spPr>
      </p:sp>
      <p:sp>
        <p:nvSpPr>
          <p:cNvPr id="70" name="Shape 68"/>
          <p:cNvSpPr/>
          <p:nvPr/>
        </p:nvSpPr>
        <p:spPr>
          <a:xfrm>
            <a:off x="5669280" y="822960"/>
            <a:ext cx="256032" cy="256032"/>
          </a:xfrm>
          <a:prstGeom prst="rect">
            <a:avLst/>
          </a:prstGeom>
          <a:solidFill>
            <a:srgbClr val="0B3B40">
              <a:alpha val="22000"/>
            </a:srgbClr>
          </a:solidFill>
          <a:ln/>
        </p:spPr>
      </p:sp>
      <p:sp>
        <p:nvSpPr>
          <p:cNvPr id="71" name="Shape 69"/>
          <p:cNvSpPr/>
          <p:nvPr/>
        </p:nvSpPr>
        <p:spPr>
          <a:xfrm>
            <a:off x="5943600" y="822960"/>
            <a:ext cx="256032" cy="256032"/>
          </a:xfrm>
          <a:prstGeom prst="rect">
            <a:avLst/>
          </a:prstGeom>
          <a:solidFill>
            <a:srgbClr val="14A6B0">
              <a:alpha val="22000"/>
            </a:srgbClr>
          </a:solidFill>
          <a:ln/>
        </p:spPr>
      </p:sp>
      <p:sp>
        <p:nvSpPr>
          <p:cNvPr id="72" name="Shape 70"/>
          <p:cNvSpPr/>
          <p:nvPr/>
        </p:nvSpPr>
        <p:spPr>
          <a:xfrm>
            <a:off x="6217920" y="822960"/>
            <a:ext cx="256032" cy="256032"/>
          </a:xfrm>
          <a:prstGeom prst="rect">
            <a:avLst/>
          </a:prstGeom>
          <a:solidFill>
            <a:srgbClr val="0E7C86">
              <a:alpha val="22000"/>
            </a:srgbClr>
          </a:solidFill>
          <a:ln/>
        </p:spPr>
      </p:sp>
      <p:sp>
        <p:nvSpPr>
          <p:cNvPr id="73" name="Shape 71"/>
          <p:cNvSpPr/>
          <p:nvPr/>
        </p:nvSpPr>
        <p:spPr>
          <a:xfrm>
            <a:off x="6492240" y="822960"/>
            <a:ext cx="256032" cy="256032"/>
          </a:xfrm>
          <a:prstGeom prst="rect">
            <a:avLst/>
          </a:prstGeom>
          <a:solidFill>
            <a:srgbClr val="0E7C86">
              <a:alpha val="22000"/>
            </a:srgbClr>
          </a:solidFill>
          <a:ln/>
        </p:spPr>
      </p:sp>
      <p:sp>
        <p:nvSpPr>
          <p:cNvPr id="74" name="Shape 72"/>
          <p:cNvSpPr/>
          <p:nvPr/>
        </p:nvSpPr>
        <p:spPr>
          <a:xfrm>
            <a:off x="6766560" y="822960"/>
            <a:ext cx="256032" cy="256032"/>
          </a:xfrm>
          <a:prstGeom prst="rect">
            <a:avLst/>
          </a:prstGeom>
          <a:solidFill>
            <a:srgbClr val="14A6B0">
              <a:alpha val="22000"/>
            </a:srgbClr>
          </a:solidFill>
          <a:ln/>
        </p:spPr>
      </p:sp>
      <p:sp>
        <p:nvSpPr>
          <p:cNvPr id="75" name="Shape 73"/>
          <p:cNvSpPr/>
          <p:nvPr/>
        </p:nvSpPr>
        <p:spPr>
          <a:xfrm>
            <a:off x="7040880" y="822960"/>
            <a:ext cx="256032" cy="256032"/>
          </a:xfrm>
          <a:prstGeom prst="rect">
            <a:avLst/>
          </a:prstGeom>
          <a:solidFill>
            <a:srgbClr val="0B3B40">
              <a:alpha val="22000"/>
            </a:srgbClr>
          </a:solidFill>
          <a:ln/>
        </p:spPr>
      </p:sp>
      <p:sp>
        <p:nvSpPr>
          <p:cNvPr id="76" name="Shape 74"/>
          <p:cNvSpPr/>
          <p:nvPr/>
        </p:nvSpPr>
        <p:spPr>
          <a:xfrm>
            <a:off x="7315200" y="822960"/>
            <a:ext cx="256032" cy="256032"/>
          </a:xfrm>
          <a:prstGeom prst="rect">
            <a:avLst/>
          </a:prstGeom>
          <a:solidFill>
            <a:srgbClr val="0E7C86">
              <a:alpha val="22000"/>
            </a:srgbClr>
          </a:solidFill>
          <a:ln/>
        </p:spPr>
      </p:sp>
      <p:sp>
        <p:nvSpPr>
          <p:cNvPr id="77" name="Shape 75"/>
          <p:cNvSpPr/>
          <p:nvPr/>
        </p:nvSpPr>
        <p:spPr>
          <a:xfrm>
            <a:off x="7589520" y="822960"/>
            <a:ext cx="256032" cy="256032"/>
          </a:xfrm>
          <a:prstGeom prst="rect">
            <a:avLst/>
          </a:prstGeom>
          <a:solidFill>
            <a:srgbClr val="0E7C86">
              <a:alpha val="22000"/>
            </a:srgbClr>
          </a:solidFill>
          <a:ln/>
        </p:spPr>
      </p:sp>
      <p:sp>
        <p:nvSpPr>
          <p:cNvPr id="78" name="Shape 76"/>
          <p:cNvSpPr/>
          <p:nvPr/>
        </p:nvSpPr>
        <p:spPr>
          <a:xfrm>
            <a:off x="7863840" y="822960"/>
            <a:ext cx="256032" cy="256032"/>
          </a:xfrm>
          <a:prstGeom prst="rect">
            <a:avLst/>
          </a:prstGeom>
          <a:solidFill>
            <a:srgbClr val="0E7C86">
              <a:alpha val="22000"/>
            </a:srgbClr>
          </a:solidFill>
          <a:ln/>
        </p:spPr>
      </p:sp>
      <p:sp>
        <p:nvSpPr>
          <p:cNvPr id="79" name="Shape 77"/>
          <p:cNvSpPr/>
          <p:nvPr/>
        </p:nvSpPr>
        <p:spPr>
          <a:xfrm>
            <a:off x="8138160" y="822960"/>
            <a:ext cx="256032" cy="256032"/>
          </a:xfrm>
          <a:prstGeom prst="rect">
            <a:avLst/>
          </a:prstGeom>
          <a:solidFill>
            <a:srgbClr val="14A6B0">
              <a:alpha val="22000"/>
            </a:srgbClr>
          </a:solidFill>
          <a:ln/>
        </p:spPr>
      </p:sp>
      <p:sp>
        <p:nvSpPr>
          <p:cNvPr id="80" name="Shape 78"/>
          <p:cNvSpPr/>
          <p:nvPr/>
        </p:nvSpPr>
        <p:spPr>
          <a:xfrm>
            <a:off x="8412480" y="822960"/>
            <a:ext cx="256032" cy="256032"/>
          </a:xfrm>
          <a:prstGeom prst="rect">
            <a:avLst/>
          </a:prstGeom>
          <a:solidFill>
            <a:srgbClr val="0B3B40">
              <a:alpha val="22000"/>
            </a:srgbClr>
          </a:solidFill>
          <a:ln/>
        </p:spPr>
      </p:sp>
      <p:sp>
        <p:nvSpPr>
          <p:cNvPr id="81" name="Shape 79"/>
          <p:cNvSpPr/>
          <p:nvPr/>
        </p:nvSpPr>
        <p:spPr>
          <a:xfrm>
            <a:off x="8686800" y="822960"/>
            <a:ext cx="256032" cy="256032"/>
          </a:xfrm>
          <a:prstGeom prst="rect">
            <a:avLst/>
          </a:prstGeom>
          <a:solidFill>
            <a:srgbClr val="0B3B40">
              <a:alpha val="22000"/>
            </a:srgbClr>
          </a:solidFill>
          <a:ln/>
        </p:spPr>
      </p:sp>
      <p:sp>
        <p:nvSpPr>
          <p:cNvPr id="82" name="Shape 80"/>
          <p:cNvSpPr/>
          <p:nvPr/>
        </p:nvSpPr>
        <p:spPr>
          <a:xfrm>
            <a:off x="8961120" y="822960"/>
            <a:ext cx="256032" cy="256032"/>
          </a:xfrm>
          <a:prstGeom prst="rect">
            <a:avLst/>
          </a:prstGeom>
          <a:solidFill>
            <a:srgbClr val="0E7C86">
              <a:alpha val="22000"/>
            </a:srgbClr>
          </a:solidFill>
          <a:ln/>
        </p:spPr>
      </p:sp>
      <p:sp>
        <p:nvSpPr>
          <p:cNvPr id="83" name="Shape 81"/>
          <p:cNvSpPr/>
          <p:nvPr/>
        </p:nvSpPr>
        <p:spPr>
          <a:xfrm>
            <a:off x="9235440" y="822960"/>
            <a:ext cx="256032" cy="256032"/>
          </a:xfrm>
          <a:prstGeom prst="rect">
            <a:avLst/>
          </a:prstGeom>
          <a:solidFill>
            <a:srgbClr val="0B3B40">
              <a:alpha val="22000"/>
            </a:srgbClr>
          </a:solidFill>
          <a:ln/>
        </p:spPr>
      </p:sp>
      <p:sp>
        <p:nvSpPr>
          <p:cNvPr id="84" name="Shape 82"/>
          <p:cNvSpPr/>
          <p:nvPr/>
        </p:nvSpPr>
        <p:spPr>
          <a:xfrm>
            <a:off x="9509760" y="822960"/>
            <a:ext cx="256032" cy="256032"/>
          </a:xfrm>
          <a:prstGeom prst="rect">
            <a:avLst/>
          </a:prstGeom>
          <a:solidFill>
            <a:srgbClr val="0B3B40">
              <a:alpha val="22000"/>
            </a:srgbClr>
          </a:solidFill>
          <a:ln/>
        </p:spPr>
      </p:sp>
      <p:sp>
        <p:nvSpPr>
          <p:cNvPr id="85" name="Shape 83"/>
          <p:cNvSpPr/>
          <p:nvPr/>
        </p:nvSpPr>
        <p:spPr>
          <a:xfrm>
            <a:off x="9784080" y="822960"/>
            <a:ext cx="256032" cy="256032"/>
          </a:xfrm>
          <a:prstGeom prst="rect">
            <a:avLst/>
          </a:prstGeom>
          <a:solidFill>
            <a:srgbClr val="14A6B0">
              <a:alpha val="22000"/>
            </a:srgbClr>
          </a:solidFill>
          <a:ln/>
        </p:spPr>
      </p:sp>
      <p:sp>
        <p:nvSpPr>
          <p:cNvPr id="86" name="Shape 84"/>
          <p:cNvSpPr/>
          <p:nvPr/>
        </p:nvSpPr>
        <p:spPr>
          <a:xfrm>
            <a:off x="10058400" y="822960"/>
            <a:ext cx="256032" cy="256032"/>
          </a:xfrm>
          <a:prstGeom prst="rect">
            <a:avLst/>
          </a:prstGeom>
          <a:solidFill>
            <a:srgbClr val="14A6B0">
              <a:alpha val="22000"/>
            </a:srgbClr>
          </a:solidFill>
          <a:ln/>
        </p:spPr>
      </p:sp>
      <p:sp>
        <p:nvSpPr>
          <p:cNvPr id="87" name="Shape 85"/>
          <p:cNvSpPr/>
          <p:nvPr/>
        </p:nvSpPr>
        <p:spPr>
          <a:xfrm>
            <a:off x="10332720" y="822960"/>
            <a:ext cx="256032" cy="256032"/>
          </a:xfrm>
          <a:prstGeom prst="rect">
            <a:avLst/>
          </a:prstGeom>
          <a:solidFill>
            <a:srgbClr val="0E7C86">
              <a:alpha val="22000"/>
            </a:srgbClr>
          </a:solidFill>
          <a:ln/>
        </p:spPr>
      </p:sp>
      <p:sp>
        <p:nvSpPr>
          <p:cNvPr id="88" name="Shape 86"/>
          <p:cNvSpPr/>
          <p:nvPr/>
        </p:nvSpPr>
        <p:spPr>
          <a:xfrm>
            <a:off x="10607040" y="822960"/>
            <a:ext cx="256032" cy="256032"/>
          </a:xfrm>
          <a:prstGeom prst="rect">
            <a:avLst/>
          </a:prstGeom>
          <a:solidFill>
            <a:srgbClr val="0E7C86">
              <a:alpha val="22000"/>
            </a:srgbClr>
          </a:solidFill>
          <a:ln/>
        </p:spPr>
      </p:sp>
      <p:sp>
        <p:nvSpPr>
          <p:cNvPr id="89" name="Shape 87"/>
          <p:cNvSpPr/>
          <p:nvPr/>
        </p:nvSpPr>
        <p:spPr>
          <a:xfrm>
            <a:off x="10881360" y="822960"/>
            <a:ext cx="256032" cy="256032"/>
          </a:xfrm>
          <a:prstGeom prst="rect">
            <a:avLst/>
          </a:prstGeom>
          <a:solidFill>
            <a:srgbClr val="0E7C86">
              <a:alpha val="22000"/>
            </a:srgbClr>
          </a:solidFill>
          <a:ln/>
        </p:spPr>
      </p:sp>
      <p:sp>
        <p:nvSpPr>
          <p:cNvPr id="90" name="Shape 88"/>
          <p:cNvSpPr/>
          <p:nvPr/>
        </p:nvSpPr>
        <p:spPr>
          <a:xfrm>
            <a:off x="5120640" y="1097280"/>
            <a:ext cx="256032" cy="256032"/>
          </a:xfrm>
          <a:prstGeom prst="rect">
            <a:avLst/>
          </a:prstGeom>
          <a:solidFill>
            <a:srgbClr val="0B3B40">
              <a:alpha val="22000"/>
            </a:srgbClr>
          </a:solidFill>
          <a:ln/>
        </p:spPr>
      </p:sp>
      <p:sp>
        <p:nvSpPr>
          <p:cNvPr id="91" name="Shape 89"/>
          <p:cNvSpPr/>
          <p:nvPr/>
        </p:nvSpPr>
        <p:spPr>
          <a:xfrm>
            <a:off x="5394960" y="1097280"/>
            <a:ext cx="256032" cy="256032"/>
          </a:xfrm>
          <a:prstGeom prst="rect">
            <a:avLst/>
          </a:prstGeom>
          <a:solidFill>
            <a:srgbClr val="0B3B40">
              <a:alpha val="22000"/>
            </a:srgbClr>
          </a:solidFill>
          <a:ln/>
        </p:spPr>
      </p:sp>
      <p:sp>
        <p:nvSpPr>
          <p:cNvPr id="92" name="Shape 90"/>
          <p:cNvSpPr/>
          <p:nvPr/>
        </p:nvSpPr>
        <p:spPr>
          <a:xfrm>
            <a:off x="5669280" y="1097280"/>
            <a:ext cx="256032" cy="256032"/>
          </a:xfrm>
          <a:prstGeom prst="rect">
            <a:avLst/>
          </a:prstGeom>
          <a:solidFill>
            <a:srgbClr val="14A6B0">
              <a:alpha val="22000"/>
            </a:srgbClr>
          </a:solidFill>
          <a:ln/>
        </p:spPr>
      </p:sp>
      <p:sp>
        <p:nvSpPr>
          <p:cNvPr id="93" name="Shape 91"/>
          <p:cNvSpPr/>
          <p:nvPr/>
        </p:nvSpPr>
        <p:spPr>
          <a:xfrm>
            <a:off x="5943600" y="1097280"/>
            <a:ext cx="256032" cy="256032"/>
          </a:xfrm>
          <a:prstGeom prst="rect">
            <a:avLst/>
          </a:prstGeom>
          <a:solidFill>
            <a:srgbClr val="0B3B40">
              <a:alpha val="22000"/>
            </a:srgbClr>
          </a:solidFill>
          <a:ln/>
        </p:spPr>
      </p:sp>
      <p:sp>
        <p:nvSpPr>
          <p:cNvPr id="94" name="Shape 92"/>
          <p:cNvSpPr/>
          <p:nvPr/>
        </p:nvSpPr>
        <p:spPr>
          <a:xfrm>
            <a:off x="6217920" y="1097280"/>
            <a:ext cx="256032" cy="256032"/>
          </a:xfrm>
          <a:prstGeom prst="rect">
            <a:avLst/>
          </a:prstGeom>
          <a:solidFill>
            <a:srgbClr val="0E7C86">
              <a:alpha val="22000"/>
            </a:srgbClr>
          </a:solidFill>
          <a:ln/>
        </p:spPr>
      </p:sp>
      <p:sp>
        <p:nvSpPr>
          <p:cNvPr id="95" name="Shape 93"/>
          <p:cNvSpPr/>
          <p:nvPr/>
        </p:nvSpPr>
        <p:spPr>
          <a:xfrm>
            <a:off x="6492240" y="1097280"/>
            <a:ext cx="256032" cy="256032"/>
          </a:xfrm>
          <a:prstGeom prst="rect">
            <a:avLst/>
          </a:prstGeom>
          <a:solidFill>
            <a:srgbClr val="0B3B40">
              <a:alpha val="22000"/>
            </a:srgbClr>
          </a:solidFill>
          <a:ln/>
        </p:spPr>
      </p:sp>
      <p:sp>
        <p:nvSpPr>
          <p:cNvPr id="96" name="Shape 94"/>
          <p:cNvSpPr/>
          <p:nvPr/>
        </p:nvSpPr>
        <p:spPr>
          <a:xfrm>
            <a:off x="6766560" y="1097280"/>
            <a:ext cx="256032" cy="256032"/>
          </a:xfrm>
          <a:prstGeom prst="rect">
            <a:avLst/>
          </a:prstGeom>
          <a:solidFill>
            <a:srgbClr val="14A6B0">
              <a:alpha val="22000"/>
            </a:srgbClr>
          </a:solidFill>
          <a:ln/>
        </p:spPr>
      </p:sp>
      <p:sp>
        <p:nvSpPr>
          <p:cNvPr id="97" name="Shape 95"/>
          <p:cNvSpPr/>
          <p:nvPr/>
        </p:nvSpPr>
        <p:spPr>
          <a:xfrm>
            <a:off x="7040880" y="1097280"/>
            <a:ext cx="256032" cy="256032"/>
          </a:xfrm>
          <a:prstGeom prst="rect">
            <a:avLst/>
          </a:prstGeom>
          <a:solidFill>
            <a:srgbClr val="14A6B0">
              <a:alpha val="22000"/>
            </a:srgbClr>
          </a:solidFill>
          <a:ln/>
        </p:spPr>
      </p:sp>
      <p:sp>
        <p:nvSpPr>
          <p:cNvPr id="98" name="Shape 96"/>
          <p:cNvSpPr/>
          <p:nvPr/>
        </p:nvSpPr>
        <p:spPr>
          <a:xfrm>
            <a:off x="7315200" y="1097280"/>
            <a:ext cx="256032" cy="256032"/>
          </a:xfrm>
          <a:prstGeom prst="rect">
            <a:avLst/>
          </a:prstGeom>
          <a:solidFill>
            <a:srgbClr val="0E7C86">
              <a:alpha val="22000"/>
            </a:srgbClr>
          </a:solidFill>
          <a:ln/>
        </p:spPr>
      </p:sp>
      <p:sp>
        <p:nvSpPr>
          <p:cNvPr id="99" name="Shape 97"/>
          <p:cNvSpPr/>
          <p:nvPr/>
        </p:nvSpPr>
        <p:spPr>
          <a:xfrm>
            <a:off x="7589520" y="1097280"/>
            <a:ext cx="256032" cy="256032"/>
          </a:xfrm>
          <a:prstGeom prst="rect">
            <a:avLst/>
          </a:prstGeom>
          <a:solidFill>
            <a:srgbClr val="0B3B40">
              <a:alpha val="22000"/>
            </a:srgbClr>
          </a:solidFill>
          <a:ln/>
        </p:spPr>
      </p:sp>
      <p:sp>
        <p:nvSpPr>
          <p:cNvPr id="100" name="Shape 98"/>
          <p:cNvSpPr/>
          <p:nvPr/>
        </p:nvSpPr>
        <p:spPr>
          <a:xfrm>
            <a:off x="7863840" y="1097280"/>
            <a:ext cx="256032" cy="256032"/>
          </a:xfrm>
          <a:prstGeom prst="rect">
            <a:avLst/>
          </a:prstGeom>
          <a:solidFill>
            <a:srgbClr val="14A6B0">
              <a:alpha val="22000"/>
            </a:srgbClr>
          </a:solidFill>
          <a:ln/>
        </p:spPr>
      </p:sp>
      <p:sp>
        <p:nvSpPr>
          <p:cNvPr id="101" name="Shape 99"/>
          <p:cNvSpPr/>
          <p:nvPr/>
        </p:nvSpPr>
        <p:spPr>
          <a:xfrm>
            <a:off x="8138160" y="1097280"/>
            <a:ext cx="256032" cy="256032"/>
          </a:xfrm>
          <a:prstGeom prst="rect">
            <a:avLst/>
          </a:prstGeom>
          <a:solidFill>
            <a:srgbClr val="0B3B40">
              <a:alpha val="22000"/>
            </a:srgbClr>
          </a:solidFill>
          <a:ln/>
        </p:spPr>
      </p:sp>
      <p:sp>
        <p:nvSpPr>
          <p:cNvPr id="102" name="Shape 100"/>
          <p:cNvSpPr/>
          <p:nvPr/>
        </p:nvSpPr>
        <p:spPr>
          <a:xfrm>
            <a:off x="8412480" y="1097280"/>
            <a:ext cx="256032" cy="256032"/>
          </a:xfrm>
          <a:prstGeom prst="rect">
            <a:avLst/>
          </a:prstGeom>
          <a:solidFill>
            <a:srgbClr val="0B3B40">
              <a:alpha val="22000"/>
            </a:srgbClr>
          </a:solidFill>
          <a:ln/>
        </p:spPr>
      </p:sp>
      <p:sp>
        <p:nvSpPr>
          <p:cNvPr id="103" name="Shape 101"/>
          <p:cNvSpPr/>
          <p:nvPr/>
        </p:nvSpPr>
        <p:spPr>
          <a:xfrm>
            <a:off x="8686800" y="1097280"/>
            <a:ext cx="256032" cy="256032"/>
          </a:xfrm>
          <a:prstGeom prst="rect">
            <a:avLst/>
          </a:prstGeom>
          <a:solidFill>
            <a:srgbClr val="0E7C86">
              <a:alpha val="22000"/>
            </a:srgbClr>
          </a:solidFill>
          <a:ln/>
        </p:spPr>
      </p:sp>
      <p:sp>
        <p:nvSpPr>
          <p:cNvPr id="104" name="Shape 102"/>
          <p:cNvSpPr/>
          <p:nvPr/>
        </p:nvSpPr>
        <p:spPr>
          <a:xfrm>
            <a:off x="8961120" y="1097280"/>
            <a:ext cx="256032" cy="256032"/>
          </a:xfrm>
          <a:prstGeom prst="rect">
            <a:avLst/>
          </a:prstGeom>
          <a:solidFill>
            <a:srgbClr val="14A6B0">
              <a:alpha val="22000"/>
            </a:srgbClr>
          </a:solidFill>
          <a:ln/>
        </p:spPr>
      </p:sp>
      <p:sp>
        <p:nvSpPr>
          <p:cNvPr id="105" name="Shape 103"/>
          <p:cNvSpPr/>
          <p:nvPr/>
        </p:nvSpPr>
        <p:spPr>
          <a:xfrm>
            <a:off x="9235440" y="1097280"/>
            <a:ext cx="256032" cy="256032"/>
          </a:xfrm>
          <a:prstGeom prst="rect">
            <a:avLst/>
          </a:prstGeom>
          <a:solidFill>
            <a:srgbClr val="0E7C86">
              <a:alpha val="22000"/>
            </a:srgbClr>
          </a:solidFill>
          <a:ln/>
        </p:spPr>
      </p:sp>
      <p:sp>
        <p:nvSpPr>
          <p:cNvPr id="106" name="Shape 104"/>
          <p:cNvSpPr/>
          <p:nvPr/>
        </p:nvSpPr>
        <p:spPr>
          <a:xfrm>
            <a:off x="9509760" y="1097280"/>
            <a:ext cx="256032" cy="256032"/>
          </a:xfrm>
          <a:prstGeom prst="rect">
            <a:avLst/>
          </a:prstGeom>
          <a:solidFill>
            <a:srgbClr val="0B3B40">
              <a:alpha val="22000"/>
            </a:srgbClr>
          </a:solidFill>
          <a:ln/>
        </p:spPr>
      </p:sp>
      <p:sp>
        <p:nvSpPr>
          <p:cNvPr id="107" name="Shape 105"/>
          <p:cNvSpPr/>
          <p:nvPr/>
        </p:nvSpPr>
        <p:spPr>
          <a:xfrm>
            <a:off x="9784080" y="1097280"/>
            <a:ext cx="256032" cy="256032"/>
          </a:xfrm>
          <a:prstGeom prst="rect">
            <a:avLst/>
          </a:prstGeom>
          <a:solidFill>
            <a:srgbClr val="0E7C86">
              <a:alpha val="22000"/>
            </a:srgbClr>
          </a:solidFill>
          <a:ln/>
        </p:spPr>
      </p:sp>
      <p:sp>
        <p:nvSpPr>
          <p:cNvPr id="108" name="Shape 106"/>
          <p:cNvSpPr/>
          <p:nvPr/>
        </p:nvSpPr>
        <p:spPr>
          <a:xfrm>
            <a:off x="10058400" y="1097280"/>
            <a:ext cx="256032" cy="256032"/>
          </a:xfrm>
          <a:prstGeom prst="rect">
            <a:avLst/>
          </a:prstGeom>
          <a:solidFill>
            <a:srgbClr val="0B3B40">
              <a:alpha val="22000"/>
            </a:srgbClr>
          </a:solidFill>
          <a:ln/>
        </p:spPr>
      </p:sp>
      <p:sp>
        <p:nvSpPr>
          <p:cNvPr id="109" name="Shape 107"/>
          <p:cNvSpPr/>
          <p:nvPr/>
        </p:nvSpPr>
        <p:spPr>
          <a:xfrm>
            <a:off x="10332720" y="1097280"/>
            <a:ext cx="256032" cy="256032"/>
          </a:xfrm>
          <a:prstGeom prst="rect">
            <a:avLst/>
          </a:prstGeom>
          <a:solidFill>
            <a:srgbClr val="14A6B0">
              <a:alpha val="22000"/>
            </a:srgbClr>
          </a:solidFill>
          <a:ln/>
        </p:spPr>
      </p:sp>
      <p:sp>
        <p:nvSpPr>
          <p:cNvPr id="110" name="Shape 108"/>
          <p:cNvSpPr/>
          <p:nvPr/>
        </p:nvSpPr>
        <p:spPr>
          <a:xfrm>
            <a:off x="10607040" y="1097280"/>
            <a:ext cx="256032" cy="256032"/>
          </a:xfrm>
          <a:prstGeom prst="rect">
            <a:avLst/>
          </a:prstGeom>
          <a:solidFill>
            <a:srgbClr val="0B3B40">
              <a:alpha val="22000"/>
            </a:srgbClr>
          </a:solidFill>
          <a:ln/>
        </p:spPr>
      </p:sp>
      <p:sp>
        <p:nvSpPr>
          <p:cNvPr id="111" name="Shape 109"/>
          <p:cNvSpPr/>
          <p:nvPr/>
        </p:nvSpPr>
        <p:spPr>
          <a:xfrm>
            <a:off x="10881360" y="1097280"/>
            <a:ext cx="256032" cy="256032"/>
          </a:xfrm>
          <a:prstGeom prst="rect">
            <a:avLst/>
          </a:prstGeom>
          <a:solidFill>
            <a:srgbClr val="0E7C86">
              <a:alpha val="22000"/>
            </a:srgbClr>
          </a:solidFill>
          <a:ln/>
        </p:spPr>
      </p:sp>
      <p:sp>
        <p:nvSpPr>
          <p:cNvPr id="112" name="Shape 110"/>
          <p:cNvSpPr/>
          <p:nvPr/>
        </p:nvSpPr>
        <p:spPr>
          <a:xfrm>
            <a:off x="5120640" y="1371600"/>
            <a:ext cx="256032" cy="256032"/>
          </a:xfrm>
          <a:prstGeom prst="rect">
            <a:avLst/>
          </a:prstGeom>
          <a:solidFill>
            <a:srgbClr val="0E7C86">
              <a:alpha val="22000"/>
            </a:srgbClr>
          </a:solidFill>
          <a:ln/>
        </p:spPr>
      </p:sp>
      <p:sp>
        <p:nvSpPr>
          <p:cNvPr id="113" name="Shape 111"/>
          <p:cNvSpPr/>
          <p:nvPr/>
        </p:nvSpPr>
        <p:spPr>
          <a:xfrm>
            <a:off x="5394960" y="1371600"/>
            <a:ext cx="256032" cy="256032"/>
          </a:xfrm>
          <a:prstGeom prst="rect">
            <a:avLst/>
          </a:prstGeom>
          <a:solidFill>
            <a:srgbClr val="14A6B0">
              <a:alpha val="22000"/>
            </a:srgbClr>
          </a:solidFill>
          <a:ln/>
        </p:spPr>
      </p:sp>
      <p:sp>
        <p:nvSpPr>
          <p:cNvPr id="114" name="Shape 112"/>
          <p:cNvSpPr/>
          <p:nvPr/>
        </p:nvSpPr>
        <p:spPr>
          <a:xfrm>
            <a:off x="5669280" y="1371600"/>
            <a:ext cx="256032" cy="256032"/>
          </a:xfrm>
          <a:prstGeom prst="rect">
            <a:avLst/>
          </a:prstGeom>
          <a:solidFill>
            <a:srgbClr val="14A6B0">
              <a:alpha val="22000"/>
            </a:srgbClr>
          </a:solidFill>
          <a:ln/>
        </p:spPr>
      </p:sp>
      <p:sp>
        <p:nvSpPr>
          <p:cNvPr id="115" name="Shape 113"/>
          <p:cNvSpPr/>
          <p:nvPr/>
        </p:nvSpPr>
        <p:spPr>
          <a:xfrm>
            <a:off x="5943600" y="1371600"/>
            <a:ext cx="256032" cy="256032"/>
          </a:xfrm>
          <a:prstGeom prst="rect">
            <a:avLst/>
          </a:prstGeom>
          <a:solidFill>
            <a:srgbClr val="14A6B0">
              <a:alpha val="22000"/>
            </a:srgbClr>
          </a:solidFill>
          <a:ln/>
        </p:spPr>
      </p:sp>
      <p:sp>
        <p:nvSpPr>
          <p:cNvPr id="116" name="Shape 114"/>
          <p:cNvSpPr/>
          <p:nvPr/>
        </p:nvSpPr>
        <p:spPr>
          <a:xfrm>
            <a:off x="6217920" y="1371600"/>
            <a:ext cx="256032" cy="256032"/>
          </a:xfrm>
          <a:prstGeom prst="rect">
            <a:avLst/>
          </a:prstGeom>
          <a:solidFill>
            <a:srgbClr val="0B3B40">
              <a:alpha val="22000"/>
            </a:srgbClr>
          </a:solidFill>
          <a:ln/>
        </p:spPr>
      </p:sp>
      <p:sp>
        <p:nvSpPr>
          <p:cNvPr id="117" name="Shape 115"/>
          <p:cNvSpPr/>
          <p:nvPr/>
        </p:nvSpPr>
        <p:spPr>
          <a:xfrm>
            <a:off x="6492240" y="1371600"/>
            <a:ext cx="256032" cy="256032"/>
          </a:xfrm>
          <a:prstGeom prst="rect">
            <a:avLst/>
          </a:prstGeom>
          <a:solidFill>
            <a:srgbClr val="0B3B40">
              <a:alpha val="22000"/>
            </a:srgbClr>
          </a:solidFill>
          <a:ln/>
        </p:spPr>
      </p:sp>
      <p:sp>
        <p:nvSpPr>
          <p:cNvPr id="118" name="Shape 116"/>
          <p:cNvSpPr/>
          <p:nvPr/>
        </p:nvSpPr>
        <p:spPr>
          <a:xfrm>
            <a:off x="6766560" y="1371600"/>
            <a:ext cx="256032" cy="256032"/>
          </a:xfrm>
          <a:prstGeom prst="rect">
            <a:avLst/>
          </a:prstGeom>
          <a:solidFill>
            <a:srgbClr val="0E7C86">
              <a:alpha val="22000"/>
            </a:srgbClr>
          </a:solidFill>
          <a:ln/>
        </p:spPr>
      </p:sp>
      <p:sp>
        <p:nvSpPr>
          <p:cNvPr id="119" name="Shape 117"/>
          <p:cNvSpPr/>
          <p:nvPr/>
        </p:nvSpPr>
        <p:spPr>
          <a:xfrm>
            <a:off x="7040880" y="1371600"/>
            <a:ext cx="256032" cy="256032"/>
          </a:xfrm>
          <a:prstGeom prst="rect">
            <a:avLst/>
          </a:prstGeom>
          <a:solidFill>
            <a:srgbClr val="0E7C86">
              <a:alpha val="22000"/>
            </a:srgbClr>
          </a:solidFill>
          <a:ln/>
        </p:spPr>
      </p:sp>
      <p:sp>
        <p:nvSpPr>
          <p:cNvPr id="120" name="Shape 118"/>
          <p:cNvSpPr/>
          <p:nvPr/>
        </p:nvSpPr>
        <p:spPr>
          <a:xfrm>
            <a:off x="7315200" y="1371600"/>
            <a:ext cx="256032" cy="256032"/>
          </a:xfrm>
          <a:prstGeom prst="rect">
            <a:avLst/>
          </a:prstGeom>
          <a:solidFill>
            <a:srgbClr val="14A6B0">
              <a:alpha val="22000"/>
            </a:srgbClr>
          </a:solidFill>
          <a:ln/>
        </p:spPr>
      </p:sp>
      <p:sp>
        <p:nvSpPr>
          <p:cNvPr id="121" name="Shape 119"/>
          <p:cNvSpPr/>
          <p:nvPr/>
        </p:nvSpPr>
        <p:spPr>
          <a:xfrm>
            <a:off x="7589520" y="1371600"/>
            <a:ext cx="256032" cy="256032"/>
          </a:xfrm>
          <a:prstGeom prst="rect">
            <a:avLst/>
          </a:prstGeom>
          <a:solidFill>
            <a:srgbClr val="0E7C86">
              <a:alpha val="22000"/>
            </a:srgbClr>
          </a:solidFill>
          <a:ln/>
        </p:spPr>
      </p:sp>
      <p:sp>
        <p:nvSpPr>
          <p:cNvPr id="122" name="Shape 120"/>
          <p:cNvSpPr/>
          <p:nvPr/>
        </p:nvSpPr>
        <p:spPr>
          <a:xfrm>
            <a:off x="7863840" y="1371600"/>
            <a:ext cx="256032" cy="256032"/>
          </a:xfrm>
          <a:prstGeom prst="rect">
            <a:avLst/>
          </a:prstGeom>
          <a:solidFill>
            <a:srgbClr val="14A6B0">
              <a:alpha val="22000"/>
            </a:srgbClr>
          </a:solidFill>
          <a:ln/>
        </p:spPr>
      </p:sp>
      <p:sp>
        <p:nvSpPr>
          <p:cNvPr id="123" name="Shape 121"/>
          <p:cNvSpPr/>
          <p:nvPr/>
        </p:nvSpPr>
        <p:spPr>
          <a:xfrm>
            <a:off x="8138160" y="1371600"/>
            <a:ext cx="256032" cy="256032"/>
          </a:xfrm>
          <a:prstGeom prst="rect">
            <a:avLst/>
          </a:prstGeom>
          <a:solidFill>
            <a:srgbClr val="14A6B0">
              <a:alpha val="22000"/>
            </a:srgbClr>
          </a:solidFill>
          <a:ln/>
        </p:spPr>
      </p:sp>
      <p:sp>
        <p:nvSpPr>
          <p:cNvPr id="124" name="Shape 122"/>
          <p:cNvSpPr/>
          <p:nvPr/>
        </p:nvSpPr>
        <p:spPr>
          <a:xfrm>
            <a:off x="8412480" y="1371600"/>
            <a:ext cx="256032" cy="256032"/>
          </a:xfrm>
          <a:prstGeom prst="rect">
            <a:avLst/>
          </a:prstGeom>
          <a:solidFill>
            <a:srgbClr val="0E7C86">
              <a:alpha val="22000"/>
            </a:srgbClr>
          </a:solidFill>
          <a:ln/>
        </p:spPr>
      </p:sp>
      <p:sp>
        <p:nvSpPr>
          <p:cNvPr id="125" name="Shape 123"/>
          <p:cNvSpPr/>
          <p:nvPr/>
        </p:nvSpPr>
        <p:spPr>
          <a:xfrm>
            <a:off x="8686800" y="1371600"/>
            <a:ext cx="256032" cy="256032"/>
          </a:xfrm>
          <a:prstGeom prst="rect">
            <a:avLst/>
          </a:prstGeom>
          <a:solidFill>
            <a:srgbClr val="14A6B0">
              <a:alpha val="22000"/>
            </a:srgbClr>
          </a:solidFill>
          <a:ln/>
        </p:spPr>
      </p:sp>
      <p:sp>
        <p:nvSpPr>
          <p:cNvPr id="126" name="Shape 124"/>
          <p:cNvSpPr/>
          <p:nvPr/>
        </p:nvSpPr>
        <p:spPr>
          <a:xfrm>
            <a:off x="8961120" y="1371600"/>
            <a:ext cx="256032" cy="256032"/>
          </a:xfrm>
          <a:prstGeom prst="rect">
            <a:avLst/>
          </a:prstGeom>
          <a:solidFill>
            <a:srgbClr val="0E7C86">
              <a:alpha val="22000"/>
            </a:srgbClr>
          </a:solidFill>
          <a:ln/>
        </p:spPr>
      </p:sp>
      <p:sp>
        <p:nvSpPr>
          <p:cNvPr id="127" name="Shape 125"/>
          <p:cNvSpPr/>
          <p:nvPr/>
        </p:nvSpPr>
        <p:spPr>
          <a:xfrm>
            <a:off x="9235440" y="1371600"/>
            <a:ext cx="256032" cy="256032"/>
          </a:xfrm>
          <a:prstGeom prst="rect">
            <a:avLst/>
          </a:prstGeom>
          <a:solidFill>
            <a:srgbClr val="0E7C86">
              <a:alpha val="22000"/>
            </a:srgbClr>
          </a:solidFill>
          <a:ln/>
        </p:spPr>
      </p:sp>
      <p:sp>
        <p:nvSpPr>
          <p:cNvPr id="128" name="Shape 126"/>
          <p:cNvSpPr/>
          <p:nvPr/>
        </p:nvSpPr>
        <p:spPr>
          <a:xfrm>
            <a:off x="9509760" y="1371600"/>
            <a:ext cx="256032" cy="256032"/>
          </a:xfrm>
          <a:prstGeom prst="rect">
            <a:avLst/>
          </a:prstGeom>
          <a:solidFill>
            <a:srgbClr val="14A6B0">
              <a:alpha val="22000"/>
            </a:srgbClr>
          </a:solidFill>
          <a:ln/>
        </p:spPr>
      </p:sp>
      <p:sp>
        <p:nvSpPr>
          <p:cNvPr id="129" name="Shape 127"/>
          <p:cNvSpPr/>
          <p:nvPr/>
        </p:nvSpPr>
        <p:spPr>
          <a:xfrm>
            <a:off x="9784080" y="1371600"/>
            <a:ext cx="256032" cy="256032"/>
          </a:xfrm>
          <a:prstGeom prst="rect">
            <a:avLst/>
          </a:prstGeom>
          <a:solidFill>
            <a:srgbClr val="0E7C86">
              <a:alpha val="22000"/>
            </a:srgbClr>
          </a:solidFill>
          <a:ln/>
        </p:spPr>
      </p:sp>
      <p:sp>
        <p:nvSpPr>
          <p:cNvPr id="130" name="Shape 128"/>
          <p:cNvSpPr/>
          <p:nvPr/>
        </p:nvSpPr>
        <p:spPr>
          <a:xfrm>
            <a:off x="10058400" y="1371600"/>
            <a:ext cx="256032" cy="256032"/>
          </a:xfrm>
          <a:prstGeom prst="rect">
            <a:avLst/>
          </a:prstGeom>
          <a:solidFill>
            <a:srgbClr val="0E7C86">
              <a:alpha val="22000"/>
            </a:srgbClr>
          </a:solidFill>
          <a:ln/>
        </p:spPr>
      </p:sp>
      <p:sp>
        <p:nvSpPr>
          <p:cNvPr id="131" name="Shape 129"/>
          <p:cNvSpPr/>
          <p:nvPr/>
        </p:nvSpPr>
        <p:spPr>
          <a:xfrm>
            <a:off x="10332720" y="1371600"/>
            <a:ext cx="256032" cy="256032"/>
          </a:xfrm>
          <a:prstGeom prst="rect">
            <a:avLst/>
          </a:prstGeom>
          <a:solidFill>
            <a:srgbClr val="14A6B0">
              <a:alpha val="22000"/>
            </a:srgbClr>
          </a:solidFill>
          <a:ln/>
        </p:spPr>
      </p:sp>
      <p:sp>
        <p:nvSpPr>
          <p:cNvPr id="132" name="Shape 130"/>
          <p:cNvSpPr/>
          <p:nvPr/>
        </p:nvSpPr>
        <p:spPr>
          <a:xfrm>
            <a:off x="10607040" y="1371600"/>
            <a:ext cx="256032" cy="256032"/>
          </a:xfrm>
          <a:prstGeom prst="rect">
            <a:avLst/>
          </a:prstGeom>
          <a:solidFill>
            <a:srgbClr val="14A6B0">
              <a:alpha val="22000"/>
            </a:srgbClr>
          </a:solidFill>
          <a:ln/>
        </p:spPr>
      </p:sp>
      <p:sp>
        <p:nvSpPr>
          <p:cNvPr id="133" name="Shape 131"/>
          <p:cNvSpPr/>
          <p:nvPr/>
        </p:nvSpPr>
        <p:spPr>
          <a:xfrm>
            <a:off x="10881360" y="1371600"/>
            <a:ext cx="256032" cy="256032"/>
          </a:xfrm>
          <a:prstGeom prst="rect">
            <a:avLst/>
          </a:prstGeom>
          <a:solidFill>
            <a:srgbClr val="14A6B0">
              <a:alpha val="22000"/>
            </a:srgbClr>
          </a:solidFill>
          <a:ln/>
        </p:spPr>
      </p:sp>
      <p:sp>
        <p:nvSpPr>
          <p:cNvPr id="134" name="Shape 132"/>
          <p:cNvSpPr/>
          <p:nvPr/>
        </p:nvSpPr>
        <p:spPr>
          <a:xfrm>
            <a:off x="5120640" y="1645920"/>
            <a:ext cx="256032" cy="256032"/>
          </a:xfrm>
          <a:prstGeom prst="rect">
            <a:avLst/>
          </a:prstGeom>
          <a:solidFill>
            <a:srgbClr val="0B3B40">
              <a:alpha val="22000"/>
            </a:srgbClr>
          </a:solidFill>
          <a:ln/>
        </p:spPr>
      </p:sp>
      <p:sp>
        <p:nvSpPr>
          <p:cNvPr id="135" name="Shape 133"/>
          <p:cNvSpPr/>
          <p:nvPr/>
        </p:nvSpPr>
        <p:spPr>
          <a:xfrm>
            <a:off x="5394960" y="1645920"/>
            <a:ext cx="256032" cy="256032"/>
          </a:xfrm>
          <a:prstGeom prst="rect">
            <a:avLst/>
          </a:prstGeom>
          <a:solidFill>
            <a:srgbClr val="0B3B40">
              <a:alpha val="22000"/>
            </a:srgbClr>
          </a:solidFill>
          <a:ln/>
        </p:spPr>
      </p:sp>
      <p:sp>
        <p:nvSpPr>
          <p:cNvPr id="136" name="Shape 134"/>
          <p:cNvSpPr/>
          <p:nvPr/>
        </p:nvSpPr>
        <p:spPr>
          <a:xfrm>
            <a:off x="5669280" y="1645920"/>
            <a:ext cx="256032" cy="256032"/>
          </a:xfrm>
          <a:prstGeom prst="rect">
            <a:avLst/>
          </a:prstGeom>
          <a:solidFill>
            <a:srgbClr val="0E7C86">
              <a:alpha val="22000"/>
            </a:srgbClr>
          </a:solidFill>
          <a:ln/>
        </p:spPr>
      </p:sp>
      <p:sp>
        <p:nvSpPr>
          <p:cNvPr id="137" name="Shape 135"/>
          <p:cNvSpPr/>
          <p:nvPr/>
        </p:nvSpPr>
        <p:spPr>
          <a:xfrm>
            <a:off x="5943600" y="1645920"/>
            <a:ext cx="256032" cy="256032"/>
          </a:xfrm>
          <a:prstGeom prst="rect">
            <a:avLst/>
          </a:prstGeom>
          <a:solidFill>
            <a:srgbClr val="0B3B40">
              <a:alpha val="22000"/>
            </a:srgbClr>
          </a:solidFill>
          <a:ln/>
        </p:spPr>
      </p:sp>
      <p:sp>
        <p:nvSpPr>
          <p:cNvPr id="138" name="Shape 136"/>
          <p:cNvSpPr/>
          <p:nvPr/>
        </p:nvSpPr>
        <p:spPr>
          <a:xfrm>
            <a:off x="6217920" y="1645920"/>
            <a:ext cx="256032" cy="256032"/>
          </a:xfrm>
          <a:prstGeom prst="rect">
            <a:avLst/>
          </a:prstGeom>
          <a:solidFill>
            <a:srgbClr val="0B3B40">
              <a:alpha val="22000"/>
            </a:srgbClr>
          </a:solidFill>
          <a:ln/>
        </p:spPr>
      </p:sp>
      <p:sp>
        <p:nvSpPr>
          <p:cNvPr id="139" name="Shape 137"/>
          <p:cNvSpPr/>
          <p:nvPr/>
        </p:nvSpPr>
        <p:spPr>
          <a:xfrm>
            <a:off x="6492240" y="1645920"/>
            <a:ext cx="256032" cy="256032"/>
          </a:xfrm>
          <a:prstGeom prst="rect">
            <a:avLst/>
          </a:prstGeom>
          <a:solidFill>
            <a:srgbClr val="14A6B0">
              <a:alpha val="22000"/>
            </a:srgbClr>
          </a:solidFill>
          <a:ln/>
        </p:spPr>
      </p:sp>
      <p:sp>
        <p:nvSpPr>
          <p:cNvPr id="140" name="Shape 138"/>
          <p:cNvSpPr/>
          <p:nvPr/>
        </p:nvSpPr>
        <p:spPr>
          <a:xfrm>
            <a:off x="6766560" y="1645920"/>
            <a:ext cx="256032" cy="256032"/>
          </a:xfrm>
          <a:prstGeom prst="rect">
            <a:avLst/>
          </a:prstGeom>
          <a:solidFill>
            <a:srgbClr val="14A6B0">
              <a:alpha val="22000"/>
            </a:srgbClr>
          </a:solidFill>
          <a:ln/>
        </p:spPr>
      </p:sp>
      <p:sp>
        <p:nvSpPr>
          <p:cNvPr id="141" name="Shape 139"/>
          <p:cNvSpPr/>
          <p:nvPr/>
        </p:nvSpPr>
        <p:spPr>
          <a:xfrm>
            <a:off x="7040880" y="1645920"/>
            <a:ext cx="256032" cy="256032"/>
          </a:xfrm>
          <a:prstGeom prst="rect">
            <a:avLst/>
          </a:prstGeom>
          <a:solidFill>
            <a:srgbClr val="0B3B40">
              <a:alpha val="22000"/>
            </a:srgbClr>
          </a:solidFill>
          <a:ln/>
        </p:spPr>
      </p:sp>
      <p:sp>
        <p:nvSpPr>
          <p:cNvPr id="142" name="Shape 140"/>
          <p:cNvSpPr/>
          <p:nvPr/>
        </p:nvSpPr>
        <p:spPr>
          <a:xfrm>
            <a:off x="7315200" y="1645920"/>
            <a:ext cx="256032" cy="256032"/>
          </a:xfrm>
          <a:prstGeom prst="rect">
            <a:avLst/>
          </a:prstGeom>
          <a:solidFill>
            <a:srgbClr val="0E7C86">
              <a:alpha val="22000"/>
            </a:srgbClr>
          </a:solidFill>
          <a:ln/>
        </p:spPr>
      </p:sp>
      <p:sp>
        <p:nvSpPr>
          <p:cNvPr id="143" name="Shape 141"/>
          <p:cNvSpPr/>
          <p:nvPr/>
        </p:nvSpPr>
        <p:spPr>
          <a:xfrm>
            <a:off x="7589520" y="1645920"/>
            <a:ext cx="256032" cy="256032"/>
          </a:xfrm>
          <a:prstGeom prst="rect">
            <a:avLst/>
          </a:prstGeom>
          <a:solidFill>
            <a:srgbClr val="0B3B40">
              <a:alpha val="22000"/>
            </a:srgbClr>
          </a:solidFill>
          <a:ln/>
        </p:spPr>
      </p:sp>
      <p:sp>
        <p:nvSpPr>
          <p:cNvPr id="144" name="Shape 142"/>
          <p:cNvSpPr/>
          <p:nvPr/>
        </p:nvSpPr>
        <p:spPr>
          <a:xfrm>
            <a:off x="7863840" y="1645920"/>
            <a:ext cx="256032" cy="256032"/>
          </a:xfrm>
          <a:prstGeom prst="rect">
            <a:avLst/>
          </a:prstGeom>
          <a:solidFill>
            <a:srgbClr val="0B3B40">
              <a:alpha val="22000"/>
            </a:srgbClr>
          </a:solidFill>
          <a:ln/>
        </p:spPr>
      </p:sp>
      <p:sp>
        <p:nvSpPr>
          <p:cNvPr id="145" name="Shape 143"/>
          <p:cNvSpPr/>
          <p:nvPr/>
        </p:nvSpPr>
        <p:spPr>
          <a:xfrm>
            <a:off x="8138160" y="1645920"/>
            <a:ext cx="256032" cy="256032"/>
          </a:xfrm>
          <a:prstGeom prst="rect">
            <a:avLst/>
          </a:prstGeom>
          <a:solidFill>
            <a:srgbClr val="0E7C86">
              <a:alpha val="22000"/>
            </a:srgbClr>
          </a:solidFill>
          <a:ln/>
        </p:spPr>
      </p:sp>
      <p:sp>
        <p:nvSpPr>
          <p:cNvPr id="146" name="Shape 144"/>
          <p:cNvSpPr/>
          <p:nvPr/>
        </p:nvSpPr>
        <p:spPr>
          <a:xfrm>
            <a:off x="8412480" y="1645920"/>
            <a:ext cx="256032" cy="256032"/>
          </a:xfrm>
          <a:prstGeom prst="rect">
            <a:avLst/>
          </a:prstGeom>
          <a:solidFill>
            <a:srgbClr val="0E7C86">
              <a:alpha val="22000"/>
            </a:srgbClr>
          </a:solidFill>
          <a:ln/>
        </p:spPr>
      </p:sp>
      <p:sp>
        <p:nvSpPr>
          <p:cNvPr id="147" name="Shape 145"/>
          <p:cNvSpPr/>
          <p:nvPr/>
        </p:nvSpPr>
        <p:spPr>
          <a:xfrm>
            <a:off x="8686800" y="1645920"/>
            <a:ext cx="256032" cy="256032"/>
          </a:xfrm>
          <a:prstGeom prst="rect">
            <a:avLst/>
          </a:prstGeom>
          <a:solidFill>
            <a:srgbClr val="14A6B0">
              <a:alpha val="22000"/>
            </a:srgbClr>
          </a:solidFill>
          <a:ln/>
        </p:spPr>
      </p:sp>
      <p:sp>
        <p:nvSpPr>
          <p:cNvPr id="148" name="Shape 146"/>
          <p:cNvSpPr/>
          <p:nvPr/>
        </p:nvSpPr>
        <p:spPr>
          <a:xfrm>
            <a:off x="8961120" y="1645920"/>
            <a:ext cx="256032" cy="256032"/>
          </a:xfrm>
          <a:prstGeom prst="rect">
            <a:avLst/>
          </a:prstGeom>
          <a:solidFill>
            <a:srgbClr val="14A6B0">
              <a:alpha val="22000"/>
            </a:srgbClr>
          </a:solidFill>
          <a:ln/>
        </p:spPr>
      </p:sp>
      <p:sp>
        <p:nvSpPr>
          <p:cNvPr id="149" name="Shape 147"/>
          <p:cNvSpPr/>
          <p:nvPr/>
        </p:nvSpPr>
        <p:spPr>
          <a:xfrm>
            <a:off x="9235440" y="1645920"/>
            <a:ext cx="256032" cy="256032"/>
          </a:xfrm>
          <a:prstGeom prst="rect">
            <a:avLst/>
          </a:prstGeom>
          <a:solidFill>
            <a:srgbClr val="0B3B40">
              <a:alpha val="22000"/>
            </a:srgbClr>
          </a:solidFill>
          <a:ln/>
        </p:spPr>
      </p:sp>
      <p:sp>
        <p:nvSpPr>
          <p:cNvPr id="150" name="Shape 148"/>
          <p:cNvSpPr/>
          <p:nvPr/>
        </p:nvSpPr>
        <p:spPr>
          <a:xfrm>
            <a:off x="9509760" y="1645920"/>
            <a:ext cx="256032" cy="256032"/>
          </a:xfrm>
          <a:prstGeom prst="rect">
            <a:avLst/>
          </a:prstGeom>
          <a:solidFill>
            <a:srgbClr val="14A6B0">
              <a:alpha val="22000"/>
            </a:srgbClr>
          </a:solidFill>
          <a:ln/>
        </p:spPr>
      </p:sp>
      <p:sp>
        <p:nvSpPr>
          <p:cNvPr id="151" name="Shape 149"/>
          <p:cNvSpPr/>
          <p:nvPr/>
        </p:nvSpPr>
        <p:spPr>
          <a:xfrm>
            <a:off x="9784080" y="1645920"/>
            <a:ext cx="256032" cy="256032"/>
          </a:xfrm>
          <a:prstGeom prst="rect">
            <a:avLst/>
          </a:prstGeom>
          <a:solidFill>
            <a:srgbClr val="0B3B40">
              <a:alpha val="22000"/>
            </a:srgbClr>
          </a:solidFill>
          <a:ln/>
        </p:spPr>
      </p:sp>
      <p:sp>
        <p:nvSpPr>
          <p:cNvPr id="152" name="Shape 150"/>
          <p:cNvSpPr/>
          <p:nvPr/>
        </p:nvSpPr>
        <p:spPr>
          <a:xfrm>
            <a:off x="10058400" y="1645920"/>
            <a:ext cx="256032" cy="256032"/>
          </a:xfrm>
          <a:prstGeom prst="rect">
            <a:avLst/>
          </a:prstGeom>
          <a:solidFill>
            <a:srgbClr val="14A6B0">
              <a:alpha val="22000"/>
            </a:srgbClr>
          </a:solidFill>
          <a:ln/>
        </p:spPr>
      </p:sp>
      <p:sp>
        <p:nvSpPr>
          <p:cNvPr id="153" name="Shape 151"/>
          <p:cNvSpPr/>
          <p:nvPr/>
        </p:nvSpPr>
        <p:spPr>
          <a:xfrm>
            <a:off x="10332720" y="1645920"/>
            <a:ext cx="256032" cy="256032"/>
          </a:xfrm>
          <a:prstGeom prst="rect">
            <a:avLst/>
          </a:prstGeom>
          <a:solidFill>
            <a:srgbClr val="0E7C86">
              <a:alpha val="22000"/>
            </a:srgbClr>
          </a:solidFill>
          <a:ln/>
        </p:spPr>
      </p:sp>
      <p:sp>
        <p:nvSpPr>
          <p:cNvPr id="154" name="Shape 152"/>
          <p:cNvSpPr/>
          <p:nvPr/>
        </p:nvSpPr>
        <p:spPr>
          <a:xfrm>
            <a:off x="10607040" y="1645920"/>
            <a:ext cx="256032" cy="256032"/>
          </a:xfrm>
          <a:prstGeom prst="rect">
            <a:avLst/>
          </a:prstGeom>
          <a:solidFill>
            <a:srgbClr val="0B3B40">
              <a:alpha val="22000"/>
            </a:srgbClr>
          </a:solidFill>
          <a:ln/>
        </p:spPr>
      </p:sp>
      <p:sp>
        <p:nvSpPr>
          <p:cNvPr id="155" name="Shape 153"/>
          <p:cNvSpPr/>
          <p:nvPr/>
        </p:nvSpPr>
        <p:spPr>
          <a:xfrm>
            <a:off x="10881360" y="1645920"/>
            <a:ext cx="256032" cy="256032"/>
          </a:xfrm>
          <a:prstGeom prst="rect">
            <a:avLst/>
          </a:prstGeom>
          <a:solidFill>
            <a:srgbClr val="14A6B0">
              <a:alpha val="22000"/>
            </a:srgbClr>
          </a:solidFill>
          <a:ln/>
        </p:spPr>
      </p:sp>
      <p:sp>
        <p:nvSpPr>
          <p:cNvPr id="156" name="Shape 154"/>
          <p:cNvSpPr/>
          <p:nvPr/>
        </p:nvSpPr>
        <p:spPr>
          <a:xfrm>
            <a:off x="5120640" y="1920240"/>
            <a:ext cx="256032" cy="256032"/>
          </a:xfrm>
          <a:prstGeom prst="rect">
            <a:avLst/>
          </a:prstGeom>
          <a:solidFill>
            <a:srgbClr val="0B3B40">
              <a:alpha val="22000"/>
            </a:srgbClr>
          </a:solidFill>
          <a:ln/>
        </p:spPr>
      </p:sp>
      <p:sp>
        <p:nvSpPr>
          <p:cNvPr id="157" name="Shape 155"/>
          <p:cNvSpPr/>
          <p:nvPr/>
        </p:nvSpPr>
        <p:spPr>
          <a:xfrm>
            <a:off x="5394960" y="1920240"/>
            <a:ext cx="256032" cy="256032"/>
          </a:xfrm>
          <a:prstGeom prst="rect">
            <a:avLst/>
          </a:prstGeom>
          <a:solidFill>
            <a:srgbClr val="14A6B0">
              <a:alpha val="22000"/>
            </a:srgbClr>
          </a:solidFill>
          <a:ln/>
        </p:spPr>
      </p:sp>
      <p:sp>
        <p:nvSpPr>
          <p:cNvPr id="158" name="Shape 156"/>
          <p:cNvSpPr/>
          <p:nvPr/>
        </p:nvSpPr>
        <p:spPr>
          <a:xfrm>
            <a:off x="5669280" y="1920240"/>
            <a:ext cx="256032" cy="256032"/>
          </a:xfrm>
          <a:prstGeom prst="rect">
            <a:avLst/>
          </a:prstGeom>
          <a:solidFill>
            <a:srgbClr val="0E7C86">
              <a:alpha val="22000"/>
            </a:srgbClr>
          </a:solidFill>
          <a:ln/>
        </p:spPr>
      </p:sp>
      <p:sp>
        <p:nvSpPr>
          <p:cNvPr id="159" name="Shape 157"/>
          <p:cNvSpPr/>
          <p:nvPr/>
        </p:nvSpPr>
        <p:spPr>
          <a:xfrm>
            <a:off x="5943600" y="1920240"/>
            <a:ext cx="256032" cy="256032"/>
          </a:xfrm>
          <a:prstGeom prst="rect">
            <a:avLst/>
          </a:prstGeom>
          <a:solidFill>
            <a:srgbClr val="0B3B40">
              <a:alpha val="22000"/>
            </a:srgbClr>
          </a:solidFill>
          <a:ln/>
        </p:spPr>
      </p:sp>
      <p:sp>
        <p:nvSpPr>
          <p:cNvPr id="160" name="Shape 158"/>
          <p:cNvSpPr/>
          <p:nvPr/>
        </p:nvSpPr>
        <p:spPr>
          <a:xfrm>
            <a:off x="6217920" y="1920240"/>
            <a:ext cx="256032" cy="256032"/>
          </a:xfrm>
          <a:prstGeom prst="rect">
            <a:avLst/>
          </a:prstGeom>
          <a:solidFill>
            <a:srgbClr val="0E7C86">
              <a:alpha val="22000"/>
            </a:srgbClr>
          </a:solidFill>
          <a:ln/>
        </p:spPr>
      </p:sp>
      <p:sp>
        <p:nvSpPr>
          <p:cNvPr id="161" name="Shape 159"/>
          <p:cNvSpPr/>
          <p:nvPr/>
        </p:nvSpPr>
        <p:spPr>
          <a:xfrm>
            <a:off x="6492240" y="1920240"/>
            <a:ext cx="256032" cy="256032"/>
          </a:xfrm>
          <a:prstGeom prst="rect">
            <a:avLst/>
          </a:prstGeom>
          <a:solidFill>
            <a:srgbClr val="0E7C86">
              <a:alpha val="22000"/>
            </a:srgbClr>
          </a:solidFill>
          <a:ln/>
        </p:spPr>
      </p:sp>
      <p:sp>
        <p:nvSpPr>
          <p:cNvPr id="162" name="Shape 160"/>
          <p:cNvSpPr/>
          <p:nvPr/>
        </p:nvSpPr>
        <p:spPr>
          <a:xfrm>
            <a:off x="6766560" y="1920240"/>
            <a:ext cx="256032" cy="256032"/>
          </a:xfrm>
          <a:prstGeom prst="rect">
            <a:avLst/>
          </a:prstGeom>
          <a:solidFill>
            <a:srgbClr val="0E7C86">
              <a:alpha val="22000"/>
            </a:srgbClr>
          </a:solidFill>
          <a:ln/>
        </p:spPr>
      </p:sp>
      <p:sp>
        <p:nvSpPr>
          <p:cNvPr id="163" name="Shape 161"/>
          <p:cNvSpPr/>
          <p:nvPr/>
        </p:nvSpPr>
        <p:spPr>
          <a:xfrm>
            <a:off x="7040880" y="1920240"/>
            <a:ext cx="256032" cy="256032"/>
          </a:xfrm>
          <a:prstGeom prst="rect">
            <a:avLst/>
          </a:prstGeom>
          <a:solidFill>
            <a:srgbClr val="14A6B0">
              <a:alpha val="22000"/>
            </a:srgbClr>
          </a:solidFill>
          <a:ln/>
        </p:spPr>
      </p:sp>
      <p:sp>
        <p:nvSpPr>
          <p:cNvPr id="164" name="Shape 162"/>
          <p:cNvSpPr/>
          <p:nvPr/>
        </p:nvSpPr>
        <p:spPr>
          <a:xfrm>
            <a:off x="7315200" y="1920240"/>
            <a:ext cx="256032" cy="256032"/>
          </a:xfrm>
          <a:prstGeom prst="rect">
            <a:avLst/>
          </a:prstGeom>
          <a:solidFill>
            <a:srgbClr val="0E7C86">
              <a:alpha val="22000"/>
            </a:srgbClr>
          </a:solidFill>
          <a:ln/>
        </p:spPr>
      </p:sp>
      <p:sp>
        <p:nvSpPr>
          <p:cNvPr id="165" name="Shape 163"/>
          <p:cNvSpPr/>
          <p:nvPr/>
        </p:nvSpPr>
        <p:spPr>
          <a:xfrm>
            <a:off x="7589520" y="1920240"/>
            <a:ext cx="256032" cy="256032"/>
          </a:xfrm>
          <a:prstGeom prst="rect">
            <a:avLst/>
          </a:prstGeom>
          <a:solidFill>
            <a:srgbClr val="14A6B0">
              <a:alpha val="22000"/>
            </a:srgbClr>
          </a:solidFill>
          <a:ln/>
        </p:spPr>
      </p:sp>
      <p:sp>
        <p:nvSpPr>
          <p:cNvPr id="166" name="Shape 164"/>
          <p:cNvSpPr/>
          <p:nvPr/>
        </p:nvSpPr>
        <p:spPr>
          <a:xfrm>
            <a:off x="7863840" y="1920240"/>
            <a:ext cx="256032" cy="256032"/>
          </a:xfrm>
          <a:prstGeom prst="rect">
            <a:avLst/>
          </a:prstGeom>
          <a:solidFill>
            <a:srgbClr val="0B3B40">
              <a:alpha val="22000"/>
            </a:srgbClr>
          </a:solidFill>
          <a:ln/>
        </p:spPr>
      </p:sp>
      <p:sp>
        <p:nvSpPr>
          <p:cNvPr id="167" name="Shape 165"/>
          <p:cNvSpPr/>
          <p:nvPr/>
        </p:nvSpPr>
        <p:spPr>
          <a:xfrm>
            <a:off x="8138160" y="1920240"/>
            <a:ext cx="256032" cy="256032"/>
          </a:xfrm>
          <a:prstGeom prst="rect">
            <a:avLst/>
          </a:prstGeom>
          <a:solidFill>
            <a:srgbClr val="0E7C86">
              <a:alpha val="22000"/>
            </a:srgbClr>
          </a:solidFill>
          <a:ln/>
        </p:spPr>
      </p:sp>
      <p:sp>
        <p:nvSpPr>
          <p:cNvPr id="168" name="Shape 166"/>
          <p:cNvSpPr/>
          <p:nvPr/>
        </p:nvSpPr>
        <p:spPr>
          <a:xfrm>
            <a:off x="8412480" y="1920240"/>
            <a:ext cx="256032" cy="256032"/>
          </a:xfrm>
          <a:prstGeom prst="rect">
            <a:avLst/>
          </a:prstGeom>
          <a:solidFill>
            <a:srgbClr val="0E7C86">
              <a:alpha val="22000"/>
            </a:srgbClr>
          </a:solidFill>
          <a:ln/>
        </p:spPr>
      </p:sp>
      <p:sp>
        <p:nvSpPr>
          <p:cNvPr id="169" name="Shape 167"/>
          <p:cNvSpPr/>
          <p:nvPr/>
        </p:nvSpPr>
        <p:spPr>
          <a:xfrm>
            <a:off x="8686800" y="1920240"/>
            <a:ext cx="256032" cy="256032"/>
          </a:xfrm>
          <a:prstGeom prst="rect">
            <a:avLst/>
          </a:prstGeom>
          <a:solidFill>
            <a:srgbClr val="0B3B40">
              <a:alpha val="22000"/>
            </a:srgbClr>
          </a:solidFill>
          <a:ln/>
        </p:spPr>
      </p:sp>
      <p:sp>
        <p:nvSpPr>
          <p:cNvPr id="170" name="Shape 168"/>
          <p:cNvSpPr/>
          <p:nvPr/>
        </p:nvSpPr>
        <p:spPr>
          <a:xfrm>
            <a:off x="8961120" y="1920240"/>
            <a:ext cx="256032" cy="256032"/>
          </a:xfrm>
          <a:prstGeom prst="rect">
            <a:avLst/>
          </a:prstGeom>
          <a:solidFill>
            <a:srgbClr val="0E7C86">
              <a:alpha val="22000"/>
            </a:srgbClr>
          </a:solidFill>
          <a:ln/>
        </p:spPr>
      </p:sp>
      <p:sp>
        <p:nvSpPr>
          <p:cNvPr id="171" name="Shape 169"/>
          <p:cNvSpPr/>
          <p:nvPr/>
        </p:nvSpPr>
        <p:spPr>
          <a:xfrm>
            <a:off x="9235440" y="1920240"/>
            <a:ext cx="256032" cy="256032"/>
          </a:xfrm>
          <a:prstGeom prst="rect">
            <a:avLst/>
          </a:prstGeom>
          <a:solidFill>
            <a:srgbClr val="14A6B0">
              <a:alpha val="22000"/>
            </a:srgbClr>
          </a:solidFill>
          <a:ln/>
        </p:spPr>
      </p:sp>
      <p:sp>
        <p:nvSpPr>
          <p:cNvPr id="172" name="Shape 170"/>
          <p:cNvSpPr/>
          <p:nvPr/>
        </p:nvSpPr>
        <p:spPr>
          <a:xfrm>
            <a:off x="9509760" y="1920240"/>
            <a:ext cx="256032" cy="256032"/>
          </a:xfrm>
          <a:prstGeom prst="rect">
            <a:avLst/>
          </a:prstGeom>
          <a:solidFill>
            <a:srgbClr val="0E7C86">
              <a:alpha val="22000"/>
            </a:srgbClr>
          </a:solidFill>
          <a:ln/>
        </p:spPr>
      </p:sp>
      <p:sp>
        <p:nvSpPr>
          <p:cNvPr id="173" name="Shape 171"/>
          <p:cNvSpPr/>
          <p:nvPr/>
        </p:nvSpPr>
        <p:spPr>
          <a:xfrm>
            <a:off x="9784080" y="1920240"/>
            <a:ext cx="256032" cy="256032"/>
          </a:xfrm>
          <a:prstGeom prst="rect">
            <a:avLst/>
          </a:prstGeom>
          <a:solidFill>
            <a:srgbClr val="0B3B40">
              <a:alpha val="22000"/>
            </a:srgbClr>
          </a:solidFill>
          <a:ln/>
        </p:spPr>
      </p:sp>
      <p:sp>
        <p:nvSpPr>
          <p:cNvPr id="174" name="Shape 172"/>
          <p:cNvSpPr/>
          <p:nvPr/>
        </p:nvSpPr>
        <p:spPr>
          <a:xfrm>
            <a:off x="10058400" y="1920240"/>
            <a:ext cx="256032" cy="256032"/>
          </a:xfrm>
          <a:prstGeom prst="rect">
            <a:avLst/>
          </a:prstGeom>
          <a:solidFill>
            <a:srgbClr val="14A6B0">
              <a:alpha val="22000"/>
            </a:srgbClr>
          </a:solidFill>
          <a:ln/>
        </p:spPr>
      </p:sp>
      <p:sp>
        <p:nvSpPr>
          <p:cNvPr id="175" name="Shape 173"/>
          <p:cNvSpPr/>
          <p:nvPr/>
        </p:nvSpPr>
        <p:spPr>
          <a:xfrm>
            <a:off x="10332720" y="1920240"/>
            <a:ext cx="256032" cy="256032"/>
          </a:xfrm>
          <a:prstGeom prst="rect">
            <a:avLst/>
          </a:prstGeom>
          <a:solidFill>
            <a:srgbClr val="0E7C86">
              <a:alpha val="22000"/>
            </a:srgbClr>
          </a:solidFill>
          <a:ln/>
        </p:spPr>
      </p:sp>
      <p:sp>
        <p:nvSpPr>
          <p:cNvPr id="176" name="Shape 174"/>
          <p:cNvSpPr/>
          <p:nvPr/>
        </p:nvSpPr>
        <p:spPr>
          <a:xfrm>
            <a:off x="10607040" y="1920240"/>
            <a:ext cx="256032" cy="256032"/>
          </a:xfrm>
          <a:prstGeom prst="rect">
            <a:avLst/>
          </a:prstGeom>
          <a:solidFill>
            <a:srgbClr val="0E7C86">
              <a:alpha val="22000"/>
            </a:srgbClr>
          </a:solidFill>
          <a:ln/>
        </p:spPr>
      </p:sp>
      <p:sp>
        <p:nvSpPr>
          <p:cNvPr id="177" name="Shape 175"/>
          <p:cNvSpPr/>
          <p:nvPr/>
        </p:nvSpPr>
        <p:spPr>
          <a:xfrm>
            <a:off x="10881360" y="1920240"/>
            <a:ext cx="256032" cy="256032"/>
          </a:xfrm>
          <a:prstGeom prst="rect">
            <a:avLst/>
          </a:prstGeom>
          <a:solidFill>
            <a:srgbClr val="14A6B0">
              <a:alpha val="22000"/>
            </a:srgbClr>
          </a:solidFill>
          <a:ln/>
        </p:spPr>
      </p:sp>
      <p:sp>
        <p:nvSpPr>
          <p:cNvPr id="178" name="Shape 176"/>
          <p:cNvSpPr/>
          <p:nvPr/>
        </p:nvSpPr>
        <p:spPr>
          <a:xfrm>
            <a:off x="5120640" y="2194560"/>
            <a:ext cx="256032" cy="256032"/>
          </a:xfrm>
          <a:prstGeom prst="rect">
            <a:avLst/>
          </a:prstGeom>
          <a:solidFill>
            <a:srgbClr val="14A6B0">
              <a:alpha val="22000"/>
            </a:srgbClr>
          </a:solidFill>
          <a:ln/>
        </p:spPr>
      </p:sp>
      <p:sp>
        <p:nvSpPr>
          <p:cNvPr id="179" name="Shape 177"/>
          <p:cNvSpPr/>
          <p:nvPr/>
        </p:nvSpPr>
        <p:spPr>
          <a:xfrm>
            <a:off x="5394960" y="2194560"/>
            <a:ext cx="256032" cy="256032"/>
          </a:xfrm>
          <a:prstGeom prst="rect">
            <a:avLst/>
          </a:prstGeom>
          <a:solidFill>
            <a:srgbClr val="0B3B40">
              <a:alpha val="22000"/>
            </a:srgbClr>
          </a:solidFill>
          <a:ln/>
        </p:spPr>
      </p:sp>
      <p:sp>
        <p:nvSpPr>
          <p:cNvPr id="180" name="Shape 178"/>
          <p:cNvSpPr/>
          <p:nvPr/>
        </p:nvSpPr>
        <p:spPr>
          <a:xfrm>
            <a:off x="5669280" y="2194560"/>
            <a:ext cx="256032" cy="256032"/>
          </a:xfrm>
          <a:prstGeom prst="rect">
            <a:avLst/>
          </a:prstGeom>
          <a:solidFill>
            <a:srgbClr val="14A6B0">
              <a:alpha val="22000"/>
            </a:srgbClr>
          </a:solidFill>
          <a:ln/>
        </p:spPr>
      </p:sp>
      <p:sp>
        <p:nvSpPr>
          <p:cNvPr id="181" name="Shape 179"/>
          <p:cNvSpPr/>
          <p:nvPr/>
        </p:nvSpPr>
        <p:spPr>
          <a:xfrm>
            <a:off x="5943600" y="2194560"/>
            <a:ext cx="256032" cy="256032"/>
          </a:xfrm>
          <a:prstGeom prst="rect">
            <a:avLst/>
          </a:prstGeom>
          <a:solidFill>
            <a:srgbClr val="0B3B40">
              <a:alpha val="22000"/>
            </a:srgbClr>
          </a:solidFill>
          <a:ln/>
        </p:spPr>
      </p:sp>
      <p:sp>
        <p:nvSpPr>
          <p:cNvPr id="182" name="Shape 180"/>
          <p:cNvSpPr/>
          <p:nvPr/>
        </p:nvSpPr>
        <p:spPr>
          <a:xfrm>
            <a:off x="6217920" y="2194560"/>
            <a:ext cx="256032" cy="256032"/>
          </a:xfrm>
          <a:prstGeom prst="rect">
            <a:avLst/>
          </a:prstGeom>
          <a:solidFill>
            <a:srgbClr val="0B3B40">
              <a:alpha val="22000"/>
            </a:srgbClr>
          </a:solidFill>
          <a:ln/>
        </p:spPr>
      </p:sp>
      <p:sp>
        <p:nvSpPr>
          <p:cNvPr id="183" name="Shape 181"/>
          <p:cNvSpPr/>
          <p:nvPr/>
        </p:nvSpPr>
        <p:spPr>
          <a:xfrm>
            <a:off x="6492240" y="2194560"/>
            <a:ext cx="256032" cy="256032"/>
          </a:xfrm>
          <a:prstGeom prst="rect">
            <a:avLst/>
          </a:prstGeom>
          <a:solidFill>
            <a:srgbClr val="0B3B40">
              <a:alpha val="22000"/>
            </a:srgbClr>
          </a:solidFill>
          <a:ln/>
        </p:spPr>
      </p:sp>
      <p:sp>
        <p:nvSpPr>
          <p:cNvPr id="184" name="Shape 182"/>
          <p:cNvSpPr/>
          <p:nvPr/>
        </p:nvSpPr>
        <p:spPr>
          <a:xfrm>
            <a:off x="6766560" y="2194560"/>
            <a:ext cx="256032" cy="256032"/>
          </a:xfrm>
          <a:prstGeom prst="rect">
            <a:avLst/>
          </a:prstGeom>
          <a:solidFill>
            <a:srgbClr val="0B3B40">
              <a:alpha val="22000"/>
            </a:srgbClr>
          </a:solidFill>
          <a:ln/>
        </p:spPr>
      </p:sp>
      <p:sp>
        <p:nvSpPr>
          <p:cNvPr id="185" name="Shape 183"/>
          <p:cNvSpPr/>
          <p:nvPr/>
        </p:nvSpPr>
        <p:spPr>
          <a:xfrm>
            <a:off x="7040880" y="2194560"/>
            <a:ext cx="256032" cy="256032"/>
          </a:xfrm>
          <a:prstGeom prst="rect">
            <a:avLst/>
          </a:prstGeom>
          <a:solidFill>
            <a:srgbClr val="14A6B0">
              <a:alpha val="22000"/>
            </a:srgbClr>
          </a:solidFill>
          <a:ln/>
        </p:spPr>
      </p:sp>
      <p:sp>
        <p:nvSpPr>
          <p:cNvPr id="186" name="Shape 184"/>
          <p:cNvSpPr/>
          <p:nvPr/>
        </p:nvSpPr>
        <p:spPr>
          <a:xfrm>
            <a:off x="7315200" y="2194560"/>
            <a:ext cx="256032" cy="256032"/>
          </a:xfrm>
          <a:prstGeom prst="rect">
            <a:avLst/>
          </a:prstGeom>
          <a:solidFill>
            <a:srgbClr val="14A6B0">
              <a:alpha val="22000"/>
            </a:srgbClr>
          </a:solidFill>
          <a:ln/>
        </p:spPr>
      </p:sp>
      <p:sp>
        <p:nvSpPr>
          <p:cNvPr id="187" name="Shape 185"/>
          <p:cNvSpPr/>
          <p:nvPr/>
        </p:nvSpPr>
        <p:spPr>
          <a:xfrm>
            <a:off x="7589520" y="2194560"/>
            <a:ext cx="256032" cy="256032"/>
          </a:xfrm>
          <a:prstGeom prst="rect">
            <a:avLst/>
          </a:prstGeom>
          <a:solidFill>
            <a:srgbClr val="0E7C86">
              <a:alpha val="22000"/>
            </a:srgbClr>
          </a:solidFill>
          <a:ln/>
        </p:spPr>
      </p:sp>
      <p:sp>
        <p:nvSpPr>
          <p:cNvPr id="188" name="Shape 186"/>
          <p:cNvSpPr/>
          <p:nvPr/>
        </p:nvSpPr>
        <p:spPr>
          <a:xfrm>
            <a:off x="7863840" y="2194560"/>
            <a:ext cx="256032" cy="256032"/>
          </a:xfrm>
          <a:prstGeom prst="rect">
            <a:avLst/>
          </a:prstGeom>
          <a:solidFill>
            <a:srgbClr val="0B3B40">
              <a:alpha val="22000"/>
            </a:srgbClr>
          </a:solidFill>
          <a:ln/>
        </p:spPr>
      </p:sp>
      <p:sp>
        <p:nvSpPr>
          <p:cNvPr id="189" name="Shape 187"/>
          <p:cNvSpPr/>
          <p:nvPr/>
        </p:nvSpPr>
        <p:spPr>
          <a:xfrm>
            <a:off x="8138160" y="2194560"/>
            <a:ext cx="256032" cy="256032"/>
          </a:xfrm>
          <a:prstGeom prst="rect">
            <a:avLst/>
          </a:prstGeom>
          <a:solidFill>
            <a:srgbClr val="0E7C86">
              <a:alpha val="22000"/>
            </a:srgbClr>
          </a:solidFill>
          <a:ln/>
        </p:spPr>
      </p:sp>
      <p:sp>
        <p:nvSpPr>
          <p:cNvPr id="190" name="Shape 188"/>
          <p:cNvSpPr/>
          <p:nvPr/>
        </p:nvSpPr>
        <p:spPr>
          <a:xfrm>
            <a:off x="8412480" y="2194560"/>
            <a:ext cx="256032" cy="256032"/>
          </a:xfrm>
          <a:prstGeom prst="rect">
            <a:avLst/>
          </a:prstGeom>
          <a:solidFill>
            <a:srgbClr val="14A6B0">
              <a:alpha val="22000"/>
            </a:srgbClr>
          </a:solidFill>
          <a:ln/>
        </p:spPr>
      </p:sp>
      <p:sp>
        <p:nvSpPr>
          <p:cNvPr id="191" name="Shape 189"/>
          <p:cNvSpPr/>
          <p:nvPr/>
        </p:nvSpPr>
        <p:spPr>
          <a:xfrm>
            <a:off x="8686800" y="2194560"/>
            <a:ext cx="256032" cy="256032"/>
          </a:xfrm>
          <a:prstGeom prst="rect">
            <a:avLst/>
          </a:prstGeom>
          <a:solidFill>
            <a:srgbClr val="0E7C86">
              <a:alpha val="22000"/>
            </a:srgbClr>
          </a:solidFill>
          <a:ln/>
        </p:spPr>
      </p:sp>
      <p:sp>
        <p:nvSpPr>
          <p:cNvPr id="192" name="Shape 190"/>
          <p:cNvSpPr/>
          <p:nvPr/>
        </p:nvSpPr>
        <p:spPr>
          <a:xfrm>
            <a:off x="8961120" y="2194560"/>
            <a:ext cx="256032" cy="256032"/>
          </a:xfrm>
          <a:prstGeom prst="rect">
            <a:avLst/>
          </a:prstGeom>
          <a:solidFill>
            <a:srgbClr val="0B3B40">
              <a:alpha val="22000"/>
            </a:srgbClr>
          </a:solidFill>
          <a:ln/>
        </p:spPr>
      </p:sp>
      <p:sp>
        <p:nvSpPr>
          <p:cNvPr id="193" name="Shape 191"/>
          <p:cNvSpPr/>
          <p:nvPr/>
        </p:nvSpPr>
        <p:spPr>
          <a:xfrm>
            <a:off x="9235440" y="2194560"/>
            <a:ext cx="256032" cy="256032"/>
          </a:xfrm>
          <a:prstGeom prst="rect">
            <a:avLst/>
          </a:prstGeom>
          <a:solidFill>
            <a:srgbClr val="0B3B40">
              <a:alpha val="22000"/>
            </a:srgbClr>
          </a:solidFill>
          <a:ln/>
        </p:spPr>
      </p:sp>
      <p:sp>
        <p:nvSpPr>
          <p:cNvPr id="194" name="Shape 192"/>
          <p:cNvSpPr/>
          <p:nvPr/>
        </p:nvSpPr>
        <p:spPr>
          <a:xfrm>
            <a:off x="9509760" y="2194560"/>
            <a:ext cx="256032" cy="256032"/>
          </a:xfrm>
          <a:prstGeom prst="rect">
            <a:avLst/>
          </a:prstGeom>
          <a:solidFill>
            <a:srgbClr val="0B3B40">
              <a:alpha val="22000"/>
            </a:srgbClr>
          </a:solidFill>
          <a:ln/>
        </p:spPr>
      </p:sp>
      <p:sp>
        <p:nvSpPr>
          <p:cNvPr id="195" name="Shape 193"/>
          <p:cNvSpPr/>
          <p:nvPr/>
        </p:nvSpPr>
        <p:spPr>
          <a:xfrm>
            <a:off x="9784080" y="2194560"/>
            <a:ext cx="256032" cy="256032"/>
          </a:xfrm>
          <a:prstGeom prst="rect">
            <a:avLst/>
          </a:prstGeom>
          <a:solidFill>
            <a:srgbClr val="0E7C86">
              <a:alpha val="22000"/>
            </a:srgbClr>
          </a:solidFill>
          <a:ln/>
        </p:spPr>
      </p:sp>
      <p:sp>
        <p:nvSpPr>
          <p:cNvPr id="196" name="Shape 194"/>
          <p:cNvSpPr/>
          <p:nvPr/>
        </p:nvSpPr>
        <p:spPr>
          <a:xfrm>
            <a:off x="10058400" y="2194560"/>
            <a:ext cx="256032" cy="256032"/>
          </a:xfrm>
          <a:prstGeom prst="rect">
            <a:avLst/>
          </a:prstGeom>
          <a:solidFill>
            <a:srgbClr val="0E7C86">
              <a:alpha val="22000"/>
            </a:srgbClr>
          </a:solidFill>
          <a:ln/>
        </p:spPr>
      </p:sp>
      <p:sp>
        <p:nvSpPr>
          <p:cNvPr id="197" name="Shape 195"/>
          <p:cNvSpPr/>
          <p:nvPr/>
        </p:nvSpPr>
        <p:spPr>
          <a:xfrm>
            <a:off x="10332720" y="2194560"/>
            <a:ext cx="256032" cy="256032"/>
          </a:xfrm>
          <a:prstGeom prst="rect">
            <a:avLst/>
          </a:prstGeom>
          <a:solidFill>
            <a:srgbClr val="0B3B40">
              <a:alpha val="22000"/>
            </a:srgbClr>
          </a:solidFill>
          <a:ln/>
        </p:spPr>
      </p:sp>
      <p:sp>
        <p:nvSpPr>
          <p:cNvPr id="198" name="Shape 196"/>
          <p:cNvSpPr/>
          <p:nvPr/>
        </p:nvSpPr>
        <p:spPr>
          <a:xfrm>
            <a:off x="10607040" y="2194560"/>
            <a:ext cx="256032" cy="256032"/>
          </a:xfrm>
          <a:prstGeom prst="rect">
            <a:avLst/>
          </a:prstGeom>
          <a:solidFill>
            <a:srgbClr val="0E7C86">
              <a:alpha val="22000"/>
            </a:srgbClr>
          </a:solidFill>
          <a:ln/>
        </p:spPr>
      </p:sp>
      <p:sp>
        <p:nvSpPr>
          <p:cNvPr id="199" name="Shape 197"/>
          <p:cNvSpPr/>
          <p:nvPr/>
        </p:nvSpPr>
        <p:spPr>
          <a:xfrm>
            <a:off x="10881360" y="2194560"/>
            <a:ext cx="256032" cy="256032"/>
          </a:xfrm>
          <a:prstGeom prst="rect">
            <a:avLst/>
          </a:prstGeom>
          <a:solidFill>
            <a:srgbClr val="0B3B40">
              <a:alpha val="22000"/>
            </a:srgbClr>
          </a:solidFill>
          <a:ln/>
        </p:spPr>
      </p:sp>
      <p:sp>
        <p:nvSpPr>
          <p:cNvPr id="200" name="Text 198"/>
          <p:cNvSpPr/>
          <p:nvPr/>
        </p:nvSpPr>
        <p:spPr>
          <a:xfrm>
            <a:off x="640080" y="1371600"/>
            <a:ext cx="7315200" cy="365760"/>
          </a:xfrm>
          <a:prstGeom prst="rect">
            <a:avLst/>
          </a:prstGeom>
          <a:noFill/>
          <a:ln/>
        </p:spPr>
        <p:txBody>
          <a:bodyPr wrap="square" lIns="0" tIns="0" rIns="0" bIns="0" rtlCol="0" anchor="ctr"/>
          <a:lstStyle/>
          <a:p>
            <a:pPr marL="0" indent="0">
              <a:buNone/>
            </a:pPr>
            <a:r>
              <a:rPr lang="en-US" sz="1500" b="1" kern="0" spc="300" dirty="0">
                <a:solidFill>
                  <a:srgbClr val="14A6B0"/>
                </a:solidFill>
                <a:latin typeface="Calibri" pitchFamily="34" charset="0"/>
                <a:ea typeface="Calibri" pitchFamily="34" charset="-122"/>
                <a:cs typeface="Calibri" pitchFamily="34" charset="-120"/>
              </a:rPr>
              <a:t>LECTURE 1</a:t>
            </a:r>
            <a:endParaRPr lang="en-US" sz="1500" dirty="0"/>
          </a:p>
        </p:txBody>
      </p:sp>
      <p:sp>
        <p:nvSpPr>
          <p:cNvPr id="201" name="Text 199"/>
          <p:cNvSpPr/>
          <p:nvPr/>
        </p:nvSpPr>
        <p:spPr>
          <a:xfrm>
            <a:off x="640080" y="1828800"/>
            <a:ext cx="8412480" cy="173736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From Biological Question</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to Machine Learning Problem</a:t>
            </a:r>
            <a:endParaRPr lang="en-US" sz="4000" dirty="0"/>
          </a:p>
        </p:txBody>
      </p:sp>
      <p:sp>
        <p:nvSpPr>
          <p:cNvPr id="202" name="Text 200"/>
          <p:cNvSpPr/>
          <p:nvPr/>
        </p:nvSpPr>
        <p:spPr>
          <a:xfrm>
            <a:off x="640080" y="3703320"/>
            <a:ext cx="8778240" cy="365760"/>
          </a:xfrm>
          <a:prstGeom prst="rect">
            <a:avLst/>
          </a:prstGeom>
          <a:noFill/>
          <a:ln/>
        </p:spPr>
        <p:txBody>
          <a:bodyPr wrap="square" lIns="0" tIns="0" rIns="0" bIns="0" rtlCol="0" anchor="ctr"/>
          <a:lstStyle/>
          <a:p>
            <a:pPr marL="0" indent="0">
              <a:buNone/>
            </a:pPr>
            <a:r>
              <a:rPr lang="en-US" sz="1700" dirty="0">
                <a:solidFill>
                  <a:srgbClr val="DCEDEE"/>
                </a:solidFill>
                <a:latin typeface="Calibri" pitchFamily="34" charset="0"/>
                <a:ea typeface="Calibri" pitchFamily="34" charset="-122"/>
                <a:cs typeface="Calibri" pitchFamily="34" charset="-120"/>
              </a:rPr>
              <a:t>Practical Machine Learning for Transcriptomics in Cancer Research</a:t>
            </a:r>
            <a:endParaRPr lang="en-US" sz="1700" dirty="0"/>
          </a:p>
        </p:txBody>
      </p:sp>
      <p:sp>
        <p:nvSpPr>
          <p:cNvPr id="203" name="Text 201"/>
          <p:cNvSpPr/>
          <p:nvPr/>
        </p:nvSpPr>
        <p:spPr>
          <a:xfrm>
            <a:off x="640080" y="4343400"/>
            <a:ext cx="9601200" cy="457200"/>
          </a:xfrm>
          <a:prstGeom prst="rect">
            <a:avLst/>
          </a:prstGeom>
          <a:noFill/>
          <a:ln/>
        </p:spPr>
        <p:txBody>
          <a:bodyPr wrap="square" lIns="0" tIns="0" rIns="0" bIns="0" rtlCol="0" anchor="ctr"/>
          <a:lstStyle/>
          <a:p>
            <a:pPr marL="0" indent="0">
              <a:buNone/>
            </a:pPr>
            <a:r>
              <a:rPr lang="en-US" sz="1800" i="1" dirty="0">
                <a:solidFill>
                  <a:srgbClr val="14A6B0"/>
                </a:solidFill>
                <a:latin typeface="Cambria" pitchFamily="34" charset="0"/>
                <a:ea typeface="Cambria" pitchFamily="34" charset="-122"/>
                <a:cs typeface="Cambria" pitchFamily="34" charset="-120"/>
              </a:rPr>
              <a:t>“Can a tumour’s transcriptome tell us who will recur — and who is safe?”</a:t>
            </a:r>
            <a:endParaRPr lang="en-US" sz="1800" dirty="0"/>
          </a:p>
        </p:txBody>
      </p:sp>
      <p:sp>
        <p:nvSpPr>
          <p:cNvPr id="204" name="Text 202"/>
          <p:cNvSpPr/>
          <p:nvPr/>
        </p:nvSpPr>
        <p:spPr>
          <a:xfrm>
            <a:off x="640080" y="5852160"/>
            <a:ext cx="7315200" cy="274320"/>
          </a:xfrm>
          <a:prstGeom prst="rect">
            <a:avLst/>
          </a:prstGeom>
          <a:noFill/>
          <a:ln/>
        </p:spPr>
        <p:txBody>
          <a:bodyPr wrap="square" lIns="0" tIns="0" rIns="0" bIns="0" rtlCol="0" anchor="ctr"/>
          <a:lstStyle/>
          <a:p>
            <a:pPr marL="0" indent="0">
              <a:buNone/>
            </a:pPr>
            <a:r>
              <a:rPr lang="en-US" sz="1200" dirty="0" err="1">
                <a:solidFill>
                  <a:srgbClr val="DCEDEE"/>
                </a:solidFill>
                <a:latin typeface="Calibri" pitchFamily="34" charset="0"/>
                <a:ea typeface="Calibri" pitchFamily="34" charset="-122"/>
                <a:cs typeface="Calibri" pitchFamily="34" charset="-120"/>
              </a:rPr>
              <a:t>Yinxiu</a:t>
            </a:r>
            <a:r>
              <a:rPr lang="en-US" sz="1200" dirty="0">
                <a:solidFill>
                  <a:srgbClr val="DCEDEE"/>
                </a:solidFill>
                <a:latin typeface="Calibri" pitchFamily="34" charset="0"/>
                <a:ea typeface="Calibri" pitchFamily="34" charset="-122"/>
                <a:cs typeface="Calibri" pitchFamily="34" charset="-120"/>
              </a:rPr>
              <a:t> Zhan · UNIMI/IEO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ORIENTATION</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Where this lecture sits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2</a:t>
            </a:r>
            <a:endParaRPr lang="en-US" sz="900" dirty="0"/>
          </a:p>
        </p:txBody>
      </p:sp>
      <p:sp>
        <p:nvSpPr>
          <p:cNvPr id="7" name="Text 4"/>
          <p:cNvSpPr/>
          <p:nvPr/>
        </p:nvSpPr>
        <p:spPr>
          <a:xfrm>
            <a:off x="548640" y="1828800"/>
            <a:ext cx="5212080" cy="4023360"/>
          </a:xfrm>
          <a:prstGeom prst="rect">
            <a:avLst/>
          </a:prstGeom>
          <a:noFill/>
          <a:ln/>
        </p:spPr>
        <p:txBody>
          <a:bodyPr wrap="square" lIns="0" tIns="0" rIns="0" bIns="0" rtlCol="0" anchor="t"/>
          <a:lstStyle/>
          <a:p>
            <a:pPr marL="203200" indent="-203200">
              <a:spcAft>
                <a:spcPts val="1600"/>
              </a:spcAft>
              <a:buSzPct val="100000"/>
              <a:buChar char="•"/>
            </a:pPr>
            <a:r>
              <a:rPr lang="en-US" sz="1700" dirty="0">
                <a:solidFill>
                  <a:srgbClr val="12262B"/>
                </a:solidFill>
                <a:latin typeface="Calibri" pitchFamily="34" charset="0"/>
                <a:ea typeface="Calibri" pitchFamily="34" charset="-122"/>
                <a:cs typeface="Calibri" pitchFamily="34" charset="-120"/>
              </a:rPr>
              <a:t>This is Section 1 of the course. Today is about thinking, not modelling.</a:t>
            </a:r>
            <a:endParaRPr lang="en-US" sz="1700" dirty="0"/>
          </a:p>
          <a:p>
            <a:pPr marL="203200" indent="-203200">
              <a:spcAft>
                <a:spcPts val="1600"/>
              </a:spcAft>
              <a:buSzPct val="100000"/>
              <a:buChar char="•"/>
            </a:pPr>
            <a:r>
              <a:rPr lang="en-US" sz="1700" dirty="0">
                <a:solidFill>
                  <a:srgbClr val="12262B"/>
                </a:solidFill>
                <a:latin typeface="Calibri" pitchFamily="34" charset="0"/>
                <a:ea typeface="Calibri" pitchFamily="34" charset="-122"/>
                <a:cs typeface="Calibri" pitchFamily="34" charset="-120"/>
              </a:rPr>
              <a:t>We will not touch logistic regression, random forests, or neural nets today.</a:t>
            </a:r>
            <a:endParaRPr lang="en-US" sz="1700" dirty="0"/>
          </a:p>
          <a:p>
            <a:pPr marL="203200" indent="-203200">
              <a:spcAft>
                <a:spcPts val="1600"/>
              </a:spcAft>
              <a:buSzPct val="100000"/>
              <a:buChar char="•"/>
            </a:pPr>
            <a:r>
              <a:rPr lang="en-US" sz="1700" dirty="0">
                <a:solidFill>
                  <a:srgbClr val="12262B"/>
                </a:solidFill>
                <a:latin typeface="Calibri" pitchFamily="34" charset="0"/>
                <a:ea typeface="Calibri" pitchFamily="34" charset="-122"/>
                <a:cs typeface="Calibri" pitchFamily="34" charset="-120"/>
              </a:rPr>
              <a:t>The promise: by the end you can take a vague clinical question, state it as a well-posed prediction problem, and spot the traps that sink most biomarker studies.</a:t>
            </a:r>
            <a:endParaRPr lang="en-US" sz="1700" dirty="0"/>
          </a:p>
        </p:txBody>
      </p:sp>
      <p:sp>
        <p:nvSpPr>
          <p:cNvPr id="8" name="Shape 5"/>
          <p:cNvSpPr/>
          <p:nvPr/>
        </p:nvSpPr>
        <p:spPr>
          <a:xfrm>
            <a:off x="6309360" y="1783080"/>
            <a:ext cx="5303520" cy="768096"/>
          </a:xfrm>
          <a:prstGeom prst="roundRect">
            <a:avLst>
              <a:gd name="adj" fmla="val 9524"/>
            </a:avLst>
          </a:prstGeom>
          <a:solidFill>
            <a:srgbClr val="0E7C86"/>
          </a:solidFill>
          <a:ln/>
          <a:effectLst>
            <a:outerShdw blurRad="88900" dist="38100" dir="5400000" algn="bl" rotWithShape="0">
              <a:srgbClr val="000000">
                <a:alpha val="12000"/>
              </a:srgbClr>
            </a:outerShdw>
          </a:effectLst>
        </p:spPr>
      </p:sp>
      <p:sp>
        <p:nvSpPr>
          <p:cNvPr id="9" name="Shape 6"/>
          <p:cNvSpPr/>
          <p:nvPr/>
        </p:nvSpPr>
        <p:spPr>
          <a:xfrm>
            <a:off x="6510528" y="1984248"/>
            <a:ext cx="365760" cy="365760"/>
          </a:xfrm>
          <a:prstGeom prst="ellipse">
            <a:avLst/>
          </a:prstGeom>
          <a:solidFill>
            <a:srgbClr val="FFFFFF"/>
          </a:solidFill>
          <a:ln/>
        </p:spPr>
      </p:sp>
      <p:sp>
        <p:nvSpPr>
          <p:cNvPr id="10" name="Text 7"/>
          <p:cNvSpPr/>
          <p:nvPr/>
        </p:nvSpPr>
        <p:spPr>
          <a:xfrm>
            <a:off x="6510528" y="1984248"/>
            <a:ext cx="365760" cy="365760"/>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1</a:t>
            </a:r>
            <a:endParaRPr lang="en-US" sz="1500" dirty="0"/>
          </a:p>
        </p:txBody>
      </p:sp>
      <p:sp>
        <p:nvSpPr>
          <p:cNvPr id="11" name="Text 8"/>
          <p:cNvSpPr/>
          <p:nvPr/>
        </p:nvSpPr>
        <p:spPr>
          <a:xfrm>
            <a:off x="7040880" y="1783080"/>
            <a:ext cx="4389120" cy="7680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Biological question → ML problem</a:t>
            </a:r>
            <a:endParaRPr lang="en-US" sz="1400" dirty="0"/>
          </a:p>
        </p:txBody>
      </p:sp>
      <p:sp>
        <p:nvSpPr>
          <p:cNvPr id="12" name="Shape 9"/>
          <p:cNvSpPr/>
          <p:nvPr/>
        </p:nvSpPr>
        <p:spPr>
          <a:xfrm>
            <a:off x="6309360" y="2715768"/>
            <a:ext cx="5303520" cy="768096"/>
          </a:xfrm>
          <a:prstGeom prst="roundRect">
            <a:avLst>
              <a:gd name="adj" fmla="val 9524"/>
            </a:avLst>
          </a:prstGeom>
          <a:solidFill>
            <a:srgbClr val="FFFFFF"/>
          </a:solidFill>
          <a:ln/>
          <a:effectLst>
            <a:outerShdw blurRad="88900" dist="38100" dir="5400000" algn="bl" rotWithShape="0">
              <a:srgbClr val="000000">
                <a:alpha val="12000"/>
              </a:srgbClr>
            </a:outerShdw>
          </a:effectLst>
        </p:spPr>
      </p:sp>
      <p:sp>
        <p:nvSpPr>
          <p:cNvPr id="13" name="Shape 10"/>
          <p:cNvSpPr/>
          <p:nvPr/>
        </p:nvSpPr>
        <p:spPr>
          <a:xfrm>
            <a:off x="6309360" y="2715768"/>
            <a:ext cx="5303520" cy="768096"/>
          </a:xfrm>
          <a:prstGeom prst="roundRect">
            <a:avLst>
              <a:gd name="adj" fmla="val 9524"/>
            </a:avLst>
          </a:prstGeom>
          <a:solidFill>
            <a:srgbClr val="FFFFFF"/>
          </a:solidFill>
          <a:ln w="12700">
            <a:solidFill>
              <a:srgbClr val="C9D7D9"/>
            </a:solidFill>
            <a:prstDash val="solid"/>
          </a:ln>
        </p:spPr>
      </p:sp>
      <p:sp>
        <p:nvSpPr>
          <p:cNvPr id="14" name="Shape 11"/>
          <p:cNvSpPr/>
          <p:nvPr/>
        </p:nvSpPr>
        <p:spPr>
          <a:xfrm>
            <a:off x="6510528" y="2916936"/>
            <a:ext cx="365760" cy="365760"/>
          </a:xfrm>
          <a:prstGeom prst="ellipse">
            <a:avLst/>
          </a:prstGeom>
          <a:solidFill>
            <a:srgbClr val="DCEDEE"/>
          </a:solidFill>
          <a:ln/>
        </p:spPr>
      </p:sp>
      <p:sp>
        <p:nvSpPr>
          <p:cNvPr id="15" name="Text 12"/>
          <p:cNvSpPr/>
          <p:nvPr/>
        </p:nvSpPr>
        <p:spPr>
          <a:xfrm>
            <a:off x="6510528" y="2916936"/>
            <a:ext cx="365760" cy="365760"/>
          </a:xfrm>
          <a:prstGeom prst="rect">
            <a:avLst/>
          </a:prstGeom>
          <a:noFill/>
          <a:ln/>
        </p:spPr>
        <p:txBody>
          <a:bodyPr wrap="square" lIns="0" tIns="0" rIns="0" bIns="0" rtlCol="0" anchor="ctr"/>
          <a:lstStyle/>
          <a:p>
            <a:pPr marL="0" indent="0" algn="ctr">
              <a:buNone/>
            </a:pPr>
            <a:r>
              <a:rPr lang="en-US" sz="1500" b="1" dirty="0">
                <a:solidFill>
                  <a:srgbClr val="5B6B70"/>
                </a:solidFill>
                <a:latin typeface="Cambria" pitchFamily="34" charset="0"/>
                <a:ea typeface="Cambria" pitchFamily="34" charset="-122"/>
                <a:cs typeface="Cambria" pitchFamily="34" charset="-120"/>
              </a:rPr>
              <a:t>2</a:t>
            </a:r>
            <a:endParaRPr lang="en-US" sz="1500" dirty="0"/>
          </a:p>
        </p:txBody>
      </p:sp>
      <p:sp>
        <p:nvSpPr>
          <p:cNvPr id="16" name="Text 13"/>
          <p:cNvSpPr/>
          <p:nvPr/>
        </p:nvSpPr>
        <p:spPr>
          <a:xfrm>
            <a:off x="7040880" y="2715768"/>
            <a:ext cx="4389120" cy="768096"/>
          </a:xfrm>
          <a:prstGeom prst="rect">
            <a:avLst/>
          </a:prstGeom>
          <a:noFill/>
          <a:ln/>
        </p:spPr>
        <p:txBody>
          <a:bodyPr wrap="square" lIns="0" tIns="0" rIns="0" bIns="0" rtlCol="0" anchor="ctr"/>
          <a:lstStyle/>
          <a:p>
            <a:pPr marL="0" indent="0">
              <a:buNone/>
            </a:pPr>
            <a:r>
              <a:rPr lang="en-US" sz="1400" dirty="0">
                <a:solidFill>
                  <a:srgbClr val="5B6B70"/>
                </a:solidFill>
                <a:latin typeface="Calibri" pitchFamily="34" charset="0"/>
                <a:ea typeface="Calibri" pitchFamily="34" charset="-122"/>
                <a:cs typeface="Calibri" pitchFamily="34" charset="-120"/>
              </a:rPr>
              <a:t>Building the first model</a:t>
            </a:r>
            <a:endParaRPr lang="en-US" sz="1400" dirty="0"/>
          </a:p>
        </p:txBody>
      </p:sp>
      <p:sp>
        <p:nvSpPr>
          <p:cNvPr id="17" name="Shape 14"/>
          <p:cNvSpPr/>
          <p:nvPr/>
        </p:nvSpPr>
        <p:spPr>
          <a:xfrm>
            <a:off x="6309360" y="3648456"/>
            <a:ext cx="5303520" cy="768096"/>
          </a:xfrm>
          <a:prstGeom prst="roundRect">
            <a:avLst>
              <a:gd name="adj" fmla="val 9524"/>
            </a:avLst>
          </a:prstGeom>
          <a:solidFill>
            <a:srgbClr val="FFFFFF"/>
          </a:solidFill>
          <a:ln/>
          <a:effectLst>
            <a:outerShdw blurRad="88900" dist="38100" dir="5400000" algn="bl" rotWithShape="0">
              <a:srgbClr val="000000">
                <a:alpha val="12000"/>
              </a:srgbClr>
            </a:outerShdw>
          </a:effectLst>
        </p:spPr>
      </p:sp>
      <p:sp>
        <p:nvSpPr>
          <p:cNvPr id="18" name="Shape 15"/>
          <p:cNvSpPr/>
          <p:nvPr/>
        </p:nvSpPr>
        <p:spPr>
          <a:xfrm>
            <a:off x="6309360" y="3648456"/>
            <a:ext cx="5303520" cy="768096"/>
          </a:xfrm>
          <a:prstGeom prst="roundRect">
            <a:avLst>
              <a:gd name="adj" fmla="val 9524"/>
            </a:avLst>
          </a:prstGeom>
          <a:solidFill>
            <a:srgbClr val="FFFFFF"/>
          </a:solidFill>
          <a:ln w="12700">
            <a:solidFill>
              <a:srgbClr val="C9D7D9"/>
            </a:solidFill>
            <a:prstDash val="solid"/>
          </a:ln>
        </p:spPr>
      </p:sp>
      <p:sp>
        <p:nvSpPr>
          <p:cNvPr id="19" name="Shape 16"/>
          <p:cNvSpPr/>
          <p:nvPr/>
        </p:nvSpPr>
        <p:spPr>
          <a:xfrm>
            <a:off x="6510528" y="3849624"/>
            <a:ext cx="365760" cy="365760"/>
          </a:xfrm>
          <a:prstGeom prst="ellipse">
            <a:avLst/>
          </a:prstGeom>
          <a:solidFill>
            <a:srgbClr val="DCEDEE"/>
          </a:solidFill>
          <a:ln/>
        </p:spPr>
      </p:sp>
      <p:sp>
        <p:nvSpPr>
          <p:cNvPr id="20" name="Text 17"/>
          <p:cNvSpPr/>
          <p:nvPr/>
        </p:nvSpPr>
        <p:spPr>
          <a:xfrm>
            <a:off x="6510528" y="3849624"/>
            <a:ext cx="365760" cy="365760"/>
          </a:xfrm>
          <a:prstGeom prst="rect">
            <a:avLst/>
          </a:prstGeom>
          <a:noFill/>
          <a:ln/>
        </p:spPr>
        <p:txBody>
          <a:bodyPr wrap="square" lIns="0" tIns="0" rIns="0" bIns="0" rtlCol="0" anchor="ctr"/>
          <a:lstStyle/>
          <a:p>
            <a:pPr marL="0" indent="0" algn="ctr">
              <a:buNone/>
            </a:pPr>
            <a:r>
              <a:rPr lang="en-US" sz="1500" b="1" dirty="0">
                <a:solidFill>
                  <a:srgbClr val="5B6B70"/>
                </a:solidFill>
                <a:latin typeface="Cambria" pitchFamily="34" charset="0"/>
                <a:ea typeface="Cambria" pitchFamily="34" charset="-122"/>
                <a:cs typeface="Cambria" pitchFamily="34" charset="-120"/>
              </a:rPr>
              <a:t>3</a:t>
            </a:r>
            <a:endParaRPr lang="en-US" sz="1500" dirty="0"/>
          </a:p>
        </p:txBody>
      </p:sp>
      <p:sp>
        <p:nvSpPr>
          <p:cNvPr id="21" name="Text 18"/>
          <p:cNvSpPr/>
          <p:nvPr/>
        </p:nvSpPr>
        <p:spPr>
          <a:xfrm>
            <a:off x="7040880" y="3648456"/>
            <a:ext cx="4389120" cy="768096"/>
          </a:xfrm>
          <a:prstGeom prst="rect">
            <a:avLst/>
          </a:prstGeom>
          <a:noFill/>
          <a:ln/>
        </p:spPr>
        <p:txBody>
          <a:bodyPr wrap="square" lIns="0" tIns="0" rIns="0" bIns="0" rtlCol="0" anchor="ctr"/>
          <a:lstStyle/>
          <a:p>
            <a:pPr marL="0" indent="0">
              <a:buNone/>
            </a:pPr>
            <a:r>
              <a:rPr lang="en-US" sz="1400" dirty="0">
                <a:solidFill>
                  <a:srgbClr val="5B6B70"/>
                </a:solidFill>
                <a:latin typeface="Calibri" pitchFamily="34" charset="0"/>
                <a:ea typeface="Calibri" pitchFamily="34" charset="-122"/>
                <a:cs typeface="Calibri" pitchFamily="34" charset="-120"/>
              </a:rPr>
              <a:t>Feature engineering &amp; representation</a:t>
            </a:r>
            <a:endParaRPr lang="en-US" sz="1400" dirty="0"/>
          </a:p>
        </p:txBody>
      </p:sp>
      <p:sp>
        <p:nvSpPr>
          <p:cNvPr id="22" name="Shape 19"/>
          <p:cNvSpPr/>
          <p:nvPr/>
        </p:nvSpPr>
        <p:spPr>
          <a:xfrm>
            <a:off x="6309360" y="4581144"/>
            <a:ext cx="5303520" cy="768096"/>
          </a:xfrm>
          <a:prstGeom prst="roundRect">
            <a:avLst>
              <a:gd name="adj" fmla="val 9524"/>
            </a:avLst>
          </a:prstGeom>
          <a:solidFill>
            <a:srgbClr val="FFFFFF"/>
          </a:solidFill>
          <a:ln/>
          <a:effectLst>
            <a:outerShdw blurRad="88900" dist="38100" dir="5400000" algn="bl" rotWithShape="0">
              <a:srgbClr val="000000">
                <a:alpha val="12000"/>
              </a:srgbClr>
            </a:outerShdw>
          </a:effectLst>
        </p:spPr>
      </p:sp>
      <p:sp>
        <p:nvSpPr>
          <p:cNvPr id="23" name="Shape 20"/>
          <p:cNvSpPr/>
          <p:nvPr/>
        </p:nvSpPr>
        <p:spPr>
          <a:xfrm>
            <a:off x="6309360" y="4581144"/>
            <a:ext cx="5303520" cy="768096"/>
          </a:xfrm>
          <a:prstGeom prst="roundRect">
            <a:avLst>
              <a:gd name="adj" fmla="val 9524"/>
            </a:avLst>
          </a:prstGeom>
          <a:solidFill>
            <a:srgbClr val="FFFFFF"/>
          </a:solidFill>
          <a:ln w="12700">
            <a:solidFill>
              <a:srgbClr val="C9D7D9"/>
            </a:solidFill>
            <a:prstDash val="solid"/>
          </a:ln>
        </p:spPr>
      </p:sp>
      <p:sp>
        <p:nvSpPr>
          <p:cNvPr id="24" name="Shape 21"/>
          <p:cNvSpPr/>
          <p:nvPr/>
        </p:nvSpPr>
        <p:spPr>
          <a:xfrm>
            <a:off x="6510528" y="4782312"/>
            <a:ext cx="365760" cy="365760"/>
          </a:xfrm>
          <a:prstGeom prst="ellipse">
            <a:avLst/>
          </a:prstGeom>
          <a:solidFill>
            <a:srgbClr val="DCEDEE"/>
          </a:solidFill>
          <a:ln/>
        </p:spPr>
      </p:sp>
      <p:sp>
        <p:nvSpPr>
          <p:cNvPr id="25" name="Text 22"/>
          <p:cNvSpPr/>
          <p:nvPr/>
        </p:nvSpPr>
        <p:spPr>
          <a:xfrm>
            <a:off x="6510528" y="4782312"/>
            <a:ext cx="365760" cy="365760"/>
          </a:xfrm>
          <a:prstGeom prst="rect">
            <a:avLst/>
          </a:prstGeom>
          <a:noFill/>
          <a:ln/>
        </p:spPr>
        <p:txBody>
          <a:bodyPr wrap="square" lIns="0" tIns="0" rIns="0" bIns="0" rtlCol="0" anchor="ctr"/>
          <a:lstStyle/>
          <a:p>
            <a:pPr marL="0" indent="0" algn="ctr">
              <a:buNone/>
            </a:pPr>
            <a:r>
              <a:rPr lang="en-US" sz="1500" b="1" dirty="0">
                <a:solidFill>
                  <a:srgbClr val="5B6B70"/>
                </a:solidFill>
                <a:latin typeface="Cambria" pitchFamily="34" charset="0"/>
                <a:ea typeface="Cambria" pitchFamily="34" charset="-122"/>
                <a:cs typeface="Cambria" pitchFamily="34" charset="-120"/>
              </a:rPr>
              <a:t>4</a:t>
            </a:r>
            <a:endParaRPr lang="en-US" sz="1500" dirty="0"/>
          </a:p>
        </p:txBody>
      </p:sp>
      <p:sp>
        <p:nvSpPr>
          <p:cNvPr id="26" name="Text 23"/>
          <p:cNvSpPr/>
          <p:nvPr/>
        </p:nvSpPr>
        <p:spPr>
          <a:xfrm>
            <a:off x="7040880" y="4581144"/>
            <a:ext cx="4389120" cy="768096"/>
          </a:xfrm>
          <a:prstGeom prst="rect">
            <a:avLst/>
          </a:prstGeom>
          <a:noFill/>
          <a:ln/>
        </p:spPr>
        <p:txBody>
          <a:bodyPr wrap="square" lIns="0" tIns="0" rIns="0" bIns="0" rtlCol="0" anchor="ctr"/>
          <a:lstStyle/>
          <a:p>
            <a:pPr marL="0" indent="0">
              <a:buNone/>
            </a:pPr>
            <a:r>
              <a:rPr lang="en-US" sz="1400" dirty="0">
                <a:solidFill>
                  <a:srgbClr val="5B6B70"/>
                </a:solidFill>
                <a:latin typeface="Calibri" pitchFamily="34" charset="0"/>
                <a:ea typeface="Calibri" pitchFamily="34" charset="-122"/>
                <a:cs typeface="Calibri" pitchFamily="34" charset="-120"/>
              </a:rPr>
              <a:t>Improving &amp; validating models</a:t>
            </a:r>
            <a:endParaRPr lang="en-US" sz="1400" dirty="0"/>
          </a:p>
        </p:txBody>
      </p:sp>
      <p:sp>
        <p:nvSpPr>
          <p:cNvPr id="27" name="Shape 24"/>
          <p:cNvSpPr/>
          <p:nvPr/>
        </p:nvSpPr>
        <p:spPr>
          <a:xfrm>
            <a:off x="6309360" y="5513832"/>
            <a:ext cx="5303520" cy="768096"/>
          </a:xfrm>
          <a:prstGeom prst="roundRect">
            <a:avLst>
              <a:gd name="adj" fmla="val 9524"/>
            </a:avLst>
          </a:prstGeom>
          <a:solidFill>
            <a:srgbClr val="FFFFFF"/>
          </a:solidFill>
          <a:ln/>
          <a:effectLst>
            <a:outerShdw blurRad="88900" dist="38100" dir="5400000" algn="bl" rotWithShape="0">
              <a:srgbClr val="000000">
                <a:alpha val="12000"/>
              </a:srgbClr>
            </a:outerShdw>
          </a:effectLst>
        </p:spPr>
      </p:sp>
      <p:sp>
        <p:nvSpPr>
          <p:cNvPr id="28" name="Shape 25"/>
          <p:cNvSpPr/>
          <p:nvPr/>
        </p:nvSpPr>
        <p:spPr>
          <a:xfrm>
            <a:off x="6309360" y="5513832"/>
            <a:ext cx="5303520" cy="768096"/>
          </a:xfrm>
          <a:prstGeom prst="roundRect">
            <a:avLst>
              <a:gd name="adj" fmla="val 9524"/>
            </a:avLst>
          </a:prstGeom>
          <a:solidFill>
            <a:srgbClr val="FFFFFF"/>
          </a:solidFill>
          <a:ln w="12700">
            <a:solidFill>
              <a:srgbClr val="C9D7D9"/>
            </a:solidFill>
            <a:prstDash val="solid"/>
          </a:ln>
        </p:spPr>
      </p:sp>
      <p:sp>
        <p:nvSpPr>
          <p:cNvPr id="29" name="Shape 26"/>
          <p:cNvSpPr/>
          <p:nvPr/>
        </p:nvSpPr>
        <p:spPr>
          <a:xfrm>
            <a:off x="6510528" y="5715000"/>
            <a:ext cx="365760" cy="365760"/>
          </a:xfrm>
          <a:prstGeom prst="ellipse">
            <a:avLst/>
          </a:prstGeom>
          <a:solidFill>
            <a:srgbClr val="DCEDEE"/>
          </a:solidFill>
          <a:ln/>
        </p:spPr>
      </p:sp>
      <p:sp>
        <p:nvSpPr>
          <p:cNvPr id="30" name="Text 27"/>
          <p:cNvSpPr/>
          <p:nvPr/>
        </p:nvSpPr>
        <p:spPr>
          <a:xfrm>
            <a:off x="6510528" y="5715000"/>
            <a:ext cx="365760" cy="365760"/>
          </a:xfrm>
          <a:prstGeom prst="rect">
            <a:avLst/>
          </a:prstGeom>
          <a:noFill/>
          <a:ln/>
        </p:spPr>
        <p:txBody>
          <a:bodyPr wrap="square" lIns="0" tIns="0" rIns="0" bIns="0" rtlCol="0" anchor="ctr"/>
          <a:lstStyle/>
          <a:p>
            <a:pPr marL="0" indent="0" algn="ctr">
              <a:buNone/>
            </a:pPr>
            <a:r>
              <a:rPr lang="en-US" sz="1500" b="1" dirty="0">
                <a:solidFill>
                  <a:srgbClr val="5B6B70"/>
                </a:solidFill>
                <a:latin typeface="Cambria" pitchFamily="34" charset="0"/>
                <a:ea typeface="Cambria" pitchFamily="34" charset="-122"/>
                <a:cs typeface="Cambria" pitchFamily="34" charset="-120"/>
              </a:rPr>
              <a:t>5</a:t>
            </a:r>
            <a:endParaRPr lang="en-US" sz="1500" dirty="0"/>
          </a:p>
        </p:txBody>
      </p:sp>
      <p:sp>
        <p:nvSpPr>
          <p:cNvPr id="31" name="Text 28"/>
          <p:cNvSpPr/>
          <p:nvPr/>
        </p:nvSpPr>
        <p:spPr>
          <a:xfrm>
            <a:off x="7040880" y="5513832"/>
            <a:ext cx="4389120" cy="768096"/>
          </a:xfrm>
          <a:prstGeom prst="rect">
            <a:avLst/>
          </a:prstGeom>
          <a:noFill/>
          <a:ln/>
        </p:spPr>
        <p:txBody>
          <a:bodyPr wrap="square" lIns="0" tIns="0" rIns="0" bIns="0" rtlCol="0" anchor="ctr"/>
          <a:lstStyle/>
          <a:p>
            <a:pPr marL="0" indent="0">
              <a:buNone/>
            </a:pPr>
            <a:r>
              <a:rPr lang="en-US" sz="1400" dirty="0">
                <a:solidFill>
                  <a:srgbClr val="5B6B70"/>
                </a:solidFill>
                <a:latin typeface="Calibri" pitchFamily="34" charset="0"/>
                <a:ea typeface="Calibri" pitchFamily="34" charset="-122"/>
                <a:cs typeface="Calibri" pitchFamily="34" charset="-120"/>
              </a:rPr>
              <a:t>Research-grade ML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Learning objectives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874520"/>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8" name="Shape 5"/>
          <p:cNvSpPr/>
          <p:nvPr/>
        </p:nvSpPr>
        <p:spPr>
          <a:xfrm>
            <a:off x="548640" y="1874520"/>
            <a:ext cx="5486400" cy="658368"/>
          </a:xfrm>
          <a:prstGeom prst="roundRect">
            <a:avLst>
              <a:gd name="adj" fmla="val 8333"/>
            </a:avLst>
          </a:prstGeom>
          <a:solidFill>
            <a:srgbClr val="FFFFFF"/>
          </a:solidFill>
          <a:ln w="12700">
            <a:solidFill>
              <a:srgbClr val="C9D7D9"/>
            </a:solidFill>
            <a:prstDash val="solid"/>
          </a:ln>
        </p:spPr>
      </p:sp>
      <p:sp>
        <p:nvSpPr>
          <p:cNvPr id="9" name="Shape 6"/>
          <p:cNvSpPr/>
          <p:nvPr/>
        </p:nvSpPr>
        <p:spPr>
          <a:xfrm>
            <a:off x="731520" y="2039112"/>
            <a:ext cx="329184" cy="329184"/>
          </a:xfrm>
          <a:prstGeom prst="ellipse">
            <a:avLst/>
          </a:prstGeom>
          <a:solidFill>
            <a:srgbClr val="DCEDEE"/>
          </a:solidFill>
          <a:ln/>
        </p:spPr>
      </p:sp>
      <p:sp>
        <p:nvSpPr>
          <p:cNvPr id="10" name="Text 7"/>
          <p:cNvSpPr/>
          <p:nvPr/>
        </p:nvSpPr>
        <p:spPr>
          <a:xfrm>
            <a:off x="731520" y="2039112"/>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11" name="Text 8"/>
          <p:cNvSpPr/>
          <p:nvPr/>
        </p:nvSpPr>
        <p:spPr>
          <a:xfrm>
            <a:off x="1207008" y="1874520"/>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Describe the clinical prediction problem</a:t>
            </a:r>
            <a:endParaRPr lang="en-US" sz="1350" dirty="0"/>
          </a:p>
        </p:txBody>
      </p:sp>
      <p:sp>
        <p:nvSpPr>
          <p:cNvPr id="12" name="Shape 9"/>
          <p:cNvSpPr/>
          <p:nvPr/>
        </p:nvSpPr>
        <p:spPr>
          <a:xfrm>
            <a:off x="548640" y="2679192"/>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13" name="Shape 10"/>
          <p:cNvSpPr/>
          <p:nvPr/>
        </p:nvSpPr>
        <p:spPr>
          <a:xfrm>
            <a:off x="548640" y="2679192"/>
            <a:ext cx="5486400" cy="658368"/>
          </a:xfrm>
          <a:prstGeom prst="roundRect">
            <a:avLst>
              <a:gd name="adj" fmla="val 8333"/>
            </a:avLst>
          </a:prstGeom>
          <a:solidFill>
            <a:srgbClr val="FFFFFF"/>
          </a:solidFill>
          <a:ln w="12700">
            <a:solidFill>
              <a:srgbClr val="C9D7D9"/>
            </a:solidFill>
            <a:prstDash val="solid"/>
          </a:ln>
        </p:spPr>
      </p:sp>
      <p:sp>
        <p:nvSpPr>
          <p:cNvPr id="14" name="Shape 11"/>
          <p:cNvSpPr/>
          <p:nvPr/>
        </p:nvSpPr>
        <p:spPr>
          <a:xfrm>
            <a:off x="731520" y="2843784"/>
            <a:ext cx="329184" cy="329184"/>
          </a:xfrm>
          <a:prstGeom prst="ellipse">
            <a:avLst/>
          </a:prstGeom>
          <a:solidFill>
            <a:srgbClr val="DCEDEE"/>
          </a:solidFill>
          <a:ln/>
        </p:spPr>
      </p:sp>
      <p:sp>
        <p:nvSpPr>
          <p:cNvPr id="15" name="Text 12"/>
          <p:cNvSpPr/>
          <p:nvPr/>
        </p:nvSpPr>
        <p:spPr>
          <a:xfrm>
            <a:off x="731520" y="2843784"/>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207008" y="2679192"/>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Explain how transcriptomic data are represented for ML</a:t>
            </a:r>
            <a:endParaRPr lang="en-US" sz="1350" dirty="0"/>
          </a:p>
        </p:txBody>
      </p:sp>
      <p:sp>
        <p:nvSpPr>
          <p:cNvPr id="17" name="Shape 14"/>
          <p:cNvSpPr/>
          <p:nvPr/>
        </p:nvSpPr>
        <p:spPr>
          <a:xfrm>
            <a:off x="548640" y="3483864"/>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18" name="Shape 15"/>
          <p:cNvSpPr/>
          <p:nvPr/>
        </p:nvSpPr>
        <p:spPr>
          <a:xfrm>
            <a:off x="548640" y="3483864"/>
            <a:ext cx="5486400" cy="658368"/>
          </a:xfrm>
          <a:prstGeom prst="roundRect">
            <a:avLst>
              <a:gd name="adj" fmla="val 8333"/>
            </a:avLst>
          </a:prstGeom>
          <a:solidFill>
            <a:srgbClr val="FFFFFF"/>
          </a:solidFill>
          <a:ln w="12700">
            <a:solidFill>
              <a:srgbClr val="C9D7D9"/>
            </a:solidFill>
            <a:prstDash val="solid"/>
          </a:ln>
        </p:spPr>
      </p:sp>
      <p:sp>
        <p:nvSpPr>
          <p:cNvPr id="19" name="Shape 16"/>
          <p:cNvSpPr/>
          <p:nvPr/>
        </p:nvSpPr>
        <p:spPr>
          <a:xfrm>
            <a:off x="731520" y="3648456"/>
            <a:ext cx="329184" cy="329184"/>
          </a:xfrm>
          <a:prstGeom prst="ellipse">
            <a:avLst/>
          </a:prstGeom>
          <a:solidFill>
            <a:srgbClr val="DCEDEE"/>
          </a:solidFill>
          <a:ln/>
        </p:spPr>
      </p:sp>
      <p:sp>
        <p:nvSpPr>
          <p:cNvPr id="20" name="Text 17"/>
          <p:cNvSpPr/>
          <p:nvPr/>
        </p:nvSpPr>
        <p:spPr>
          <a:xfrm>
            <a:off x="731520" y="3648456"/>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21" name="Text 18"/>
          <p:cNvSpPr/>
          <p:nvPr/>
        </p:nvSpPr>
        <p:spPr>
          <a:xfrm>
            <a:off x="1207008" y="3483864"/>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Identify features and labels</a:t>
            </a:r>
            <a:endParaRPr lang="en-US" sz="1350" dirty="0"/>
          </a:p>
        </p:txBody>
      </p:sp>
      <p:sp>
        <p:nvSpPr>
          <p:cNvPr id="22" name="Shape 19"/>
          <p:cNvSpPr/>
          <p:nvPr/>
        </p:nvSpPr>
        <p:spPr>
          <a:xfrm>
            <a:off x="548640" y="4288536"/>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23" name="Shape 20"/>
          <p:cNvSpPr/>
          <p:nvPr/>
        </p:nvSpPr>
        <p:spPr>
          <a:xfrm>
            <a:off x="548640" y="4288536"/>
            <a:ext cx="5486400" cy="658368"/>
          </a:xfrm>
          <a:prstGeom prst="roundRect">
            <a:avLst>
              <a:gd name="adj" fmla="val 8333"/>
            </a:avLst>
          </a:prstGeom>
          <a:solidFill>
            <a:srgbClr val="FFFFFF"/>
          </a:solidFill>
          <a:ln w="12700">
            <a:solidFill>
              <a:srgbClr val="C9D7D9"/>
            </a:solidFill>
            <a:prstDash val="solid"/>
          </a:ln>
        </p:spPr>
      </p:sp>
      <p:sp>
        <p:nvSpPr>
          <p:cNvPr id="24" name="Shape 21"/>
          <p:cNvSpPr/>
          <p:nvPr/>
        </p:nvSpPr>
        <p:spPr>
          <a:xfrm>
            <a:off x="731520" y="4453128"/>
            <a:ext cx="329184" cy="329184"/>
          </a:xfrm>
          <a:prstGeom prst="ellipse">
            <a:avLst/>
          </a:prstGeom>
          <a:solidFill>
            <a:srgbClr val="DCEDEE"/>
          </a:solidFill>
          <a:ln/>
        </p:spPr>
      </p:sp>
      <p:sp>
        <p:nvSpPr>
          <p:cNvPr id="25" name="Text 22"/>
          <p:cNvSpPr/>
          <p:nvPr/>
        </p:nvSpPr>
        <p:spPr>
          <a:xfrm>
            <a:off x="731520" y="4453128"/>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26" name="Text 23"/>
          <p:cNvSpPr/>
          <p:nvPr/>
        </p:nvSpPr>
        <p:spPr>
          <a:xfrm>
            <a:off x="1207008" y="4288536"/>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Understand why transcriptomic data are hard (p ≫ n, batch, leakage)</a:t>
            </a:r>
            <a:endParaRPr lang="en-US" sz="1350" dirty="0"/>
          </a:p>
        </p:txBody>
      </p:sp>
      <p:sp>
        <p:nvSpPr>
          <p:cNvPr id="27" name="Shape 24"/>
          <p:cNvSpPr/>
          <p:nvPr/>
        </p:nvSpPr>
        <p:spPr>
          <a:xfrm>
            <a:off x="6309360" y="1874520"/>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28" name="Shape 25"/>
          <p:cNvSpPr/>
          <p:nvPr/>
        </p:nvSpPr>
        <p:spPr>
          <a:xfrm>
            <a:off x="6309360" y="1874520"/>
            <a:ext cx="5486400" cy="658368"/>
          </a:xfrm>
          <a:prstGeom prst="roundRect">
            <a:avLst>
              <a:gd name="adj" fmla="val 8333"/>
            </a:avLst>
          </a:prstGeom>
          <a:solidFill>
            <a:srgbClr val="FFFFFF"/>
          </a:solidFill>
          <a:ln w="12700">
            <a:solidFill>
              <a:srgbClr val="C9D7D9"/>
            </a:solidFill>
            <a:prstDash val="solid"/>
          </a:ln>
        </p:spPr>
      </p:sp>
      <p:sp>
        <p:nvSpPr>
          <p:cNvPr id="29" name="Shape 26"/>
          <p:cNvSpPr/>
          <p:nvPr/>
        </p:nvSpPr>
        <p:spPr>
          <a:xfrm>
            <a:off x="6492240" y="2039112"/>
            <a:ext cx="329184" cy="329184"/>
          </a:xfrm>
          <a:prstGeom prst="ellipse">
            <a:avLst/>
          </a:prstGeom>
          <a:solidFill>
            <a:srgbClr val="DCEDEE"/>
          </a:solidFill>
          <a:ln/>
        </p:spPr>
      </p:sp>
      <p:sp>
        <p:nvSpPr>
          <p:cNvPr id="30" name="Text 27"/>
          <p:cNvSpPr/>
          <p:nvPr/>
        </p:nvSpPr>
        <p:spPr>
          <a:xfrm>
            <a:off x="6492240" y="2039112"/>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31" name="Text 28"/>
          <p:cNvSpPr/>
          <p:nvPr/>
        </p:nvSpPr>
        <p:spPr>
          <a:xfrm>
            <a:off x="6967728" y="1874520"/>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Explain the curse of dimensionality intuitively</a:t>
            </a:r>
            <a:endParaRPr lang="en-US" sz="1350" dirty="0"/>
          </a:p>
        </p:txBody>
      </p:sp>
      <p:sp>
        <p:nvSpPr>
          <p:cNvPr id="32" name="Shape 29"/>
          <p:cNvSpPr/>
          <p:nvPr/>
        </p:nvSpPr>
        <p:spPr>
          <a:xfrm>
            <a:off x="6309360" y="2679192"/>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33" name="Shape 30"/>
          <p:cNvSpPr/>
          <p:nvPr/>
        </p:nvSpPr>
        <p:spPr>
          <a:xfrm>
            <a:off x="6309360" y="2679192"/>
            <a:ext cx="5486400" cy="658368"/>
          </a:xfrm>
          <a:prstGeom prst="roundRect">
            <a:avLst>
              <a:gd name="adj" fmla="val 8333"/>
            </a:avLst>
          </a:prstGeom>
          <a:solidFill>
            <a:srgbClr val="FFFFFF"/>
          </a:solidFill>
          <a:ln w="12700">
            <a:solidFill>
              <a:srgbClr val="C9D7D9"/>
            </a:solidFill>
            <a:prstDash val="solid"/>
          </a:ln>
        </p:spPr>
      </p:sp>
      <p:sp>
        <p:nvSpPr>
          <p:cNvPr id="34" name="Shape 31"/>
          <p:cNvSpPr/>
          <p:nvPr/>
        </p:nvSpPr>
        <p:spPr>
          <a:xfrm>
            <a:off x="6492240" y="2843784"/>
            <a:ext cx="329184" cy="329184"/>
          </a:xfrm>
          <a:prstGeom prst="ellipse">
            <a:avLst/>
          </a:prstGeom>
          <a:solidFill>
            <a:srgbClr val="DCEDEE"/>
          </a:solidFill>
          <a:ln/>
        </p:spPr>
      </p:sp>
      <p:sp>
        <p:nvSpPr>
          <p:cNvPr id="35" name="Text 32"/>
          <p:cNvSpPr/>
          <p:nvPr/>
        </p:nvSpPr>
        <p:spPr>
          <a:xfrm>
            <a:off x="6492240" y="2843784"/>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36" name="Text 33"/>
          <p:cNvSpPr/>
          <p:nvPr/>
        </p:nvSpPr>
        <p:spPr>
          <a:xfrm>
            <a:off x="6967728" y="2679192"/>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Explain why many published biomarkers fail validation</a:t>
            </a:r>
            <a:endParaRPr lang="en-US" sz="1350" dirty="0"/>
          </a:p>
        </p:txBody>
      </p:sp>
      <p:sp>
        <p:nvSpPr>
          <p:cNvPr id="37" name="Shape 34"/>
          <p:cNvSpPr/>
          <p:nvPr/>
        </p:nvSpPr>
        <p:spPr>
          <a:xfrm>
            <a:off x="6309360" y="3483864"/>
            <a:ext cx="5486400" cy="658368"/>
          </a:xfrm>
          <a:prstGeom prst="roundRect">
            <a:avLst>
              <a:gd name="adj" fmla="val 11111"/>
            </a:avLst>
          </a:prstGeom>
          <a:solidFill>
            <a:srgbClr val="FFFFFF"/>
          </a:solidFill>
          <a:ln/>
          <a:effectLst>
            <a:outerShdw blurRad="88900" dist="38100" dir="5400000" algn="bl" rotWithShape="0">
              <a:srgbClr val="000000">
                <a:alpha val="12000"/>
              </a:srgbClr>
            </a:outerShdw>
          </a:effectLst>
        </p:spPr>
      </p:sp>
      <p:sp>
        <p:nvSpPr>
          <p:cNvPr id="38" name="Shape 35"/>
          <p:cNvSpPr/>
          <p:nvPr/>
        </p:nvSpPr>
        <p:spPr>
          <a:xfrm>
            <a:off x="6309360" y="3483864"/>
            <a:ext cx="5486400" cy="658368"/>
          </a:xfrm>
          <a:prstGeom prst="roundRect">
            <a:avLst>
              <a:gd name="adj" fmla="val 8333"/>
            </a:avLst>
          </a:prstGeom>
          <a:solidFill>
            <a:srgbClr val="FFFFFF"/>
          </a:solidFill>
          <a:ln w="12700">
            <a:solidFill>
              <a:srgbClr val="C9D7D9"/>
            </a:solidFill>
            <a:prstDash val="solid"/>
          </a:ln>
        </p:spPr>
      </p:sp>
      <p:sp>
        <p:nvSpPr>
          <p:cNvPr id="39" name="Shape 36"/>
          <p:cNvSpPr/>
          <p:nvPr/>
        </p:nvSpPr>
        <p:spPr>
          <a:xfrm>
            <a:off x="6492240" y="3648456"/>
            <a:ext cx="329184" cy="329184"/>
          </a:xfrm>
          <a:prstGeom prst="ellipse">
            <a:avLst/>
          </a:prstGeom>
          <a:solidFill>
            <a:srgbClr val="DCEDEE"/>
          </a:solidFill>
          <a:ln/>
        </p:spPr>
      </p:sp>
      <p:sp>
        <p:nvSpPr>
          <p:cNvPr id="40" name="Text 37"/>
          <p:cNvSpPr/>
          <p:nvPr/>
        </p:nvSpPr>
        <p:spPr>
          <a:xfrm>
            <a:off x="6492240" y="3648456"/>
            <a:ext cx="329184" cy="329184"/>
          </a:xfrm>
          <a:prstGeom prst="rect">
            <a:avLst/>
          </a:prstGeom>
          <a:noFill/>
          <a:ln/>
        </p:spPr>
        <p:txBody>
          <a:bodyPr wrap="square" lIns="0" tIns="0" rIns="0" bIns="0" rtlCol="0" anchor="ctr"/>
          <a:lstStyle/>
          <a:p>
            <a:pPr marL="0" indent="0" algn="ctr">
              <a:buNone/>
            </a:pPr>
            <a:r>
              <a:rPr lang="en-US" sz="1400" dirty="0">
                <a:solidFill>
                  <a:srgbClr val="0E7C86"/>
                </a:solidFill>
                <a:latin typeface="Calibri" pitchFamily="34" charset="0"/>
                <a:ea typeface="Calibri" pitchFamily="34" charset="-122"/>
                <a:cs typeface="Calibri" pitchFamily="34" charset="-120"/>
              </a:rPr>
              <a:t>□</a:t>
            </a:r>
            <a:endParaRPr lang="en-US" sz="1400" dirty="0"/>
          </a:p>
        </p:txBody>
      </p:sp>
      <p:sp>
        <p:nvSpPr>
          <p:cNvPr id="41" name="Text 38"/>
          <p:cNvSpPr/>
          <p:nvPr/>
        </p:nvSpPr>
        <p:spPr>
          <a:xfrm>
            <a:off x="6967728" y="3483864"/>
            <a:ext cx="4663440" cy="658368"/>
          </a:xfrm>
          <a:prstGeom prst="rect">
            <a:avLst/>
          </a:prstGeom>
          <a:noFill/>
          <a:ln/>
        </p:spPr>
        <p:txBody>
          <a:bodyPr wrap="square" lIns="0" tIns="0" rIns="0" bIns="0" rtlCol="0" anchor="ctr"/>
          <a:lstStyle/>
          <a:p>
            <a:pPr marL="0" indent="0">
              <a:buNone/>
            </a:pPr>
            <a:r>
              <a:rPr lang="en-US" sz="1350" dirty="0">
                <a:solidFill>
                  <a:srgbClr val="12262B"/>
                </a:solidFill>
                <a:latin typeface="Calibri" pitchFamily="34" charset="0"/>
                <a:ea typeface="Calibri" pitchFamily="34" charset="-122"/>
                <a:cs typeface="Calibri" pitchFamily="34" charset="-120"/>
              </a:rPr>
              <a:t>Design a defensible train / validation / test split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THE CLINICAL SETTING</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Who needs more therapy — and who is harmed by it?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4</a:t>
            </a:r>
            <a:endParaRPr lang="en-US" sz="900" dirty="0"/>
          </a:p>
        </p:txBody>
      </p:sp>
      <p:sp>
        <p:nvSpPr>
          <p:cNvPr id="7" name="Text 4"/>
          <p:cNvSpPr/>
          <p:nvPr/>
        </p:nvSpPr>
        <p:spPr>
          <a:xfrm>
            <a:off x="548640" y="1828800"/>
            <a:ext cx="5577840" cy="420624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HR+/HER2− early breast cancer: the most common subtype (~70% of cases).</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Generally good prognosis, but heterogeneous — some tumours need chemotherapy, many do not.</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Central tension: overtreatment (toxicity, cost, harm to patients who would have done well) vs undertreatment (missed recurrences).</a:t>
            </a:r>
            <a:endParaRPr lang="en-US" sz="1600" dirty="0"/>
          </a:p>
          <a:p>
            <a:pPr marL="203200" indent="-203200">
              <a:spcAft>
                <a:spcPts val="1400"/>
              </a:spcAft>
              <a:buSzPct val="100000"/>
              <a:buChar char="•"/>
            </a:pPr>
            <a:r>
              <a:rPr lang="en-US" sz="1600" b="1" dirty="0">
                <a:solidFill>
                  <a:srgbClr val="0E7C86"/>
                </a:solidFill>
                <a:latin typeface="Calibri" pitchFamily="34" charset="0"/>
                <a:ea typeface="Calibri" pitchFamily="34" charset="-122"/>
                <a:cs typeface="Calibri" pitchFamily="34" charset="-120"/>
              </a:rPr>
              <a:t>The unmet need: a tool that identifies who actually benefits from added therapy.</a:t>
            </a:r>
            <a:endParaRPr lang="en-US" sz="1600" dirty="0"/>
          </a:p>
        </p:txBody>
      </p:sp>
      <p:sp>
        <p:nvSpPr>
          <p:cNvPr id="8" name="Shape 5"/>
          <p:cNvSpPr/>
          <p:nvPr/>
        </p:nvSpPr>
        <p:spPr>
          <a:xfrm>
            <a:off x="6583680" y="1828800"/>
            <a:ext cx="5029200" cy="4114800"/>
          </a:xfrm>
          <a:prstGeom prst="roundRect">
            <a:avLst>
              <a:gd name="adj" fmla="val 1778"/>
            </a:avLst>
          </a:prstGeom>
          <a:solidFill>
            <a:srgbClr val="FFFFFF"/>
          </a:solidFill>
          <a:ln/>
          <a:effectLst>
            <a:outerShdw blurRad="88900" dist="38100" dir="5400000" algn="bl" rotWithShape="0">
              <a:srgbClr val="000000">
                <a:alpha val="12000"/>
              </a:srgbClr>
            </a:outerShdw>
          </a:effectLst>
        </p:spPr>
      </p:sp>
      <p:sp>
        <p:nvSpPr>
          <p:cNvPr id="9" name="Shape 6"/>
          <p:cNvSpPr/>
          <p:nvPr/>
        </p:nvSpPr>
        <p:spPr>
          <a:xfrm>
            <a:off x="6583680" y="1828800"/>
            <a:ext cx="5029200" cy="4114800"/>
          </a:xfrm>
          <a:prstGeom prst="roundRect">
            <a:avLst>
              <a:gd name="adj" fmla="val 1778"/>
            </a:avLst>
          </a:prstGeom>
          <a:solidFill>
            <a:srgbClr val="FFFFFF"/>
          </a:solidFill>
          <a:ln w="12700">
            <a:solidFill>
              <a:srgbClr val="C9D7D9"/>
            </a:solidFill>
            <a:prstDash val="solid"/>
          </a:ln>
        </p:spPr>
      </p:sp>
      <p:sp>
        <p:nvSpPr>
          <p:cNvPr id="10" name="Shape 7"/>
          <p:cNvSpPr/>
          <p:nvPr/>
        </p:nvSpPr>
        <p:spPr>
          <a:xfrm>
            <a:off x="8595360" y="2057400"/>
            <a:ext cx="1005840" cy="1005840"/>
          </a:xfrm>
          <a:prstGeom prst="ellipse">
            <a:avLst/>
          </a:prstGeom>
          <a:solidFill>
            <a:srgbClr val="0B3B40"/>
          </a:solidFill>
          <a:ln/>
        </p:spPr>
      </p:sp>
      <p:sp>
        <p:nvSpPr>
          <p:cNvPr id="11" name="Text 8"/>
          <p:cNvSpPr/>
          <p:nvPr/>
        </p:nvSpPr>
        <p:spPr>
          <a:xfrm>
            <a:off x="8595360" y="2057400"/>
            <a:ext cx="1005840" cy="10058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Patient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population</a:t>
            </a:r>
            <a:endParaRPr lang="en-US" sz="1000" dirty="0"/>
          </a:p>
        </p:txBody>
      </p:sp>
      <p:sp>
        <p:nvSpPr>
          <p:cNvPr id="12" name="Shape 9"/>
          <p:cNvSpPr/>
          <p:nvPr/>
        </p:nvSpPr>
        <p:spPr>
          <a:xfrm flipH="1">
            <a:off x="7818120" y="3154680"/>
            <a:ext cx="914400" cy="640080"/>
          </a:xfrm>
          <a:prstGeom prst="line">
            <a:avLst/>
          </a:prstGeom>
          <a:noFill/>
          <a:ln w="19050">
            <a:solidFill>
              <a:srgbClr val="5B6B70"/>
            </a:solidFill>
            <a:prstDash val="solid"/>
            <a:tailEnd type="triangle"/>
          </a:ln>
        </p:spPr>
      </p:sp>
      <p:sp>
        <p:nvSpPr>
          <p:cNvPr id="13" name="Shape 10"/>
          <p:cNvSpPr/>
          <p:nvPr/>
        </p:nvSpPr>
        <p:spPr>
          <a:xfrm>
            <a:off x="9464040" y="3154680"/>
            <a:ext cx="914400" cy="640080"/>
          </a:xfrm>
          <a:prstGeom prst="line">
            <a:avLst/>
          </a:prstGeom>
          <a:noFill/>
          <a:ln w="19050">
            <a:solidFill>
              <a:srgbClr val="5B6B70"/>
            </a:solidFill>
            <a:prstDash val="solid"/>
            <a:tailEnd type="triangle"/>
          </a:ln>
        </p:spPr>
      </p:sp>
      <p:sp>
        <p:nvSpPr>
          <p:cNvPr id="14" name="Shape 11"/>
          <p:cNvSpPr/>
          <p:nvPr/>
        </p:nvSpPr>
        <p:spPr>
          <a:xfrm>
            <a:off x="6903720" y="3886200"/>
            <a:ext cx="2103120" cy="1554480"/>
          </a:xfrm>
          <a:prstGeom prst="roundRect">
            <a:avLst>
              <a:gd name="adj" fmla="val 4706"/>
            </a:avLst>
          </a:prstGeom>
          <a:solidFill>
            <a:srgbClr val="DCEEE4"/>
          </a:solidFill>
          <a:ln/>
          <a:effectLst>
            <a:outerShdw blurRad="88900" dist="38100" dir="5400000" algn="bl" rotWithShape="0">
              <a:srgbClr val="000000">
                <a:alpha val="12000"/>
              </a:srgbClr>
            </a:outerShdw>
          </a:effectLst>
        </p:spPr>
      </p:sp>
      <p:sp>
        <p:nvSpPr>
          <p:cNvPr id="15" name="Text 12"/>
          <p:cNvSpPr/>
          <p:nvPr/>
        </p:nvSpPr>
        <p:spPr>
          <a:xfrm>
            <a:off x="6903720" y="4023360"/>
            <a:ext cx="2103120" cy="365760"/>
          </a:xfrm>
          <a:prstGeom prst="rect">
            <a:avLst/>
          </a:prstGeom>
          <a:noFill/>
          <a:ln/>
        </p:spPr>
        <p:txBody>
          <a:bodyPr wrap="square" lIns="0" tIns="0" rIns="0" bIns="0" rtlCol="0" anchor="ctr"/>
          <a:lstStyle/>
          <a:p>
            <a:pPr marL="0" indent="0" algn="ctr">
              <a:buNone/>
            </a:pPr>
            <a:r>
              <a:rPr lang="en-US" sz="1300" b="1" dirty="0">
                <a:solidFill>
                  <a:srgbClr val="2E7D57"/>
                </a:solidFill>
                <a:latin typeface="Calibri" pitchFamily="34" charset="0"/>
                <a:ea typeface="Calibri" pitchFamily="34" charset="-122"/>
                <a:cs typeface="Calibri" pitchFamily="34" charset="-120"/>
              </a:rPr>
              <a:t>Spared chemo</a:t>
            </a:r>
            <a:endParaRPr lang="en-US" sz="1300" dirty="0"/>
          </a:p>
        </p:txBody>
      </p:sp>
      <p:sp>
        <p:nvSpPr>
          <p:cNvPr id="16" name="Text 13"/>
          <p:cNvSpPr/>
          <p:nvPr/>
        </p:nvSpPr>
        <p:spPr>
          <a:xfrm>
            <a:off x="6903720" y="4407408"/>
            <a:ext cx="2103120" cy="960120"/>
          </a:xfrm>
          <a:prstGeom prst="rect">
            <a:avLst/>
          </a:prstGeom>
          <a:noFill/>
          <a:ln/>
        </p:spPr>
        <p:txBody>
          <a:bodyPr wrap="square" lIns="0" tIns="0" rIns="0" bIns="0" rtlCol="0" anchor="t"/>
          <a:lstStyle/>
          <a:p>
            <a:pPr marL="0" indent="0" algn="ctr">
              <a:buNone/>
            </a:pPr>
            <a:r>
              <a:rPr lang="en-US" sz="1100" dirty="0">
                <a:solidFill>
                  <a:srgbClr val="5B6B70"/>
                </a:solidFill>
                <a:latin typeface="Calibri" pitchFamily="34" charset="0"/>
                <a:ea typeface="Calibri" pitchFamily="34" charset="-122"/>
                <a:cs typeface="Calibri" pitchFamily="34" charset="-120"/>
              </a:rPr>
              <a:t>Overtreatment</a:t>
            </a:r>
            <a:endParaRPr lang="en-US" sz="1100" dirty="0"/>
          </a:p>
          <a:p>
            <a:pPr marL="0" indent="0" algn="ctr">
              <a:buNone/>
            </a:pPr>
            <a:r>
              <a:rPr lang="en-US" sz="1100" dirty="0">
                <a:solidFill>
                  <a:srgbClr val="5B6B70"/>
                </a:solidFill>
                <a:latin typeface="Calibri" pitchFamily="34" charset="0"/>
                <a:ea typeface="Calibri" pitchFamily="34" charset="-122"/>
                <a:cs typeface="Calibri" pitchFamily="34" charset="-120"/>
              </a:rPr>
              <a:t>means needless</a:t>
            </a:r>
            <a:endParaRPr lang="en-US" sz="1100" dirty="0"/>
          </a:p>
          <a:p>
            <a:pPr marL="0" indent="0" algn="ctr">
              <a:buNone/>
            </a:pPr>
            <a:r>
              <a:rPr lang="en-US" sz="1100" dirty="0">
                <a:solidFill>
                  <a:srgbClr val="5B6B70"/>
                </a:solidFill>
                <a:latin typeface="Calibri" pitchFamily="34" charset="0"/>
                <a:ea typeface="Calibri" pitchFamily="34" charset="-122"/>
                <a:cs typeface="Calibri" pitchFamily="34" charset="-120"/>
              </a:rPr>
              <a:t>toxicity &amp; cost</a:t>
            </a:r>
            <a:endParaRPr lang="en-US" sz="1100" dirty="0"/>
          </a:p>
        </p:txBody>
      </p:sp>
      <p:sp>
        <p:nvSpPr>
          <p:cNvPr id="17" name="Shape 14"/>
          <p:cNvSpPr/>
          <p:nvPr/>
        </p:nvSpPr>
        <p:spPr>
          <a:xfrm>
            <a:off x="9189720" y="3886200"/>
            <a:ext cx="2103120" cy="1554480"/>
          </a:xfrm>
          <a:prstGeom prst="roundRect">
            <a:avLst>
              <a:gd name="adj" fmla="val 4706"/>
            </a:avLst>
          </a:prstGeom>
          <a:solidFill>
            <a:srgbClr val="F6E9D8"/>
          </a:solidFill>
          <a:ln/>
          <a:effectLst>
            <a:outerShdw blurRad="88900" dist="38100" dir="5400000" algn="bl" rotWithShape="0">
              <a:srgbClr val="000000">
                <a:alpha val="12000"/>
              </a:srgbClr>
            </a:outerShdw>
          </a:effectLst>
        </p:spPr>
      </p:sp>
      <p:sp>
        <p:nvSpPr>
          <p:cNvPr id="18" name="Text 15"/>
          <p:cNvSpPr/>
          <p:nvPr/>
        </p:nvSpPr>
        <p:spPr>
          <a:xfrm>
            <a:off x="9189720" y="4023360"/>
            <a:ext cx="2103120" cy="365760"/>
          </a:xfrm>
          <a:prstGeom prst="rect">
            <a:avLst/>
          </a:prstGeom>
          <a:noFill/>
          <a:ln/>
        </p:spPr>
        <p:txBody>
          <a:bodyPr wrap="square" lIns="0" tIns="0" rIns="0" bIns="0" rtlCol="0" anchor="ctr"/>
          <a:lstStyle/>
          <a:p>
            <a:pPr marL="0" indent="0" algn="ctr">
              <a:buNone/>
            </a:pPr>
            <a:r>
              <a:rPr lang="en-US" sz="1300" b="1" dirty="0">
                <a:solidFill>
                  <a:srgbClr val="C2772B"/>
                </a:solidFill>
                <a:latin typeface="Calibri" pitchFamily="34" charset="0"/>
                <a:ea typeface="Calibri" pitchFamily="34" charset="-122"/>
                <a:cs typeface="Calibri" pitchFamily="34" charset="-120"/>
              </a:rPr>
              <a:t>Benefits from chemo</a:t>
            </a:r>
            <a:endParaRPr lang="en-US" sz="1300" dirty="0"/>
          </a:p>
        </p:txBody>
      </p:sp>
      <p:sp>
        <p:nvSpPr>
          <p:cNvPr id="19" name="Text 16"/>
          <p:cNvSpPr/>
          <p:nvPr/>
        </p:nvSpPr>
        <p:spPr>
          <a:xfrm>
            <a:off x="9189720" y="4407408"/>
            <a:ext cx="2103120" cy="960120"/>
          </a:xfrm>
          <a:prstGeom prst="rect">
            <a:avLst/>
          </a:prstGeom>
          <a:noFill/>
          <a:ln/>
        </p:spPr>
        <p:txBody>
          <a:bodyPr wrap="square" lIns="0" tIns="0" rIns="0" bIns="0" rtlCol="0" anchor="t"/>
          <a:lstStyle/>
          <a:p>
            <a:pPr marL="0" indent="0" algn="ctr">
              <a:buNone/>
            </a:pPr>
            <a:r>
              <a:rPr lang="en-US" sz="1100" dirty="0">
                <a:solidFill>
                  <a:srgbClr val="5B6B70"/>
                </a:solidFill>
                <a:latin typeface="Calibri" pitchFamily="34" charset="0"/>
                <a:ea typeface="Calibri" pitchFamily="34" charset="-122"/>
                <a:cs typeface="Calibri" pitchFamily="34" charset="-120"/>
              </a:rPr>
              <a:t>Undertreatment</a:t>
            </a:r>
            <a:endParaRPr lang="en-US" sz="1100" dirty="0"/>
          </a:p>
          <a:p>
            <a:pPr marL="0" indent="0" algn="ctr">
              <a:buNone/>
            </a:pPr>
            <a:r>
              <a:rPr lang="en-US" sz="1100" dirty="0">
                <a:solidFill>
                  <a:srgbClr val="5B6B70"/>
                </a:solidFill>
                <a:latin typeface="Calibri" pitchFamily="34" charset="0"/>
                <a:ea typeface="Calibri" pitchFamily="34" charset="-122"/>
                <a:cs typeface="Calibri" pitchFamily="34" charset="-120"/>
              </a:rPr>
              <a:t>means missed</a:t>
            </a:r>
            <a:endParaRPr lang="en-US" sz="1100" dirty="0"/>
          </a:p>
          <a:p>
            <a:pPr marL="0" indent="0" algn="ctr">
              <a:buNone/>
            </a:pPr>
            <a:r>
              <a:rPr lang="en-US" sz="1100" dirty="0">
                <a:solidFill>
                  <a:srgbClr val="5B6B70"/>
                </a:solidFill>
                <a:latin typeface="Calibri" pitchFamily="34" charset="0"/>
                <a:ea typeface="Calibri" pitchFamily="34" charset="-122"/>
                <a:cs typeface="Calibri" pitchFamily="34" charset="-120"/>
              </a:rPr>
              <a:t>recurrences</a:t>
            </a:r>
            <a:endParaRPr lang="en-US" sz="1100" dirty="0"/>
          </a:p>
        </p:txBody>
      </p:sp>
      <p:sp>
        <p:nvSpPr>
          <p:cNvPr id="20" name="Text 17"/>
          <p:cNvSpPr/>
          <p:nvPr/>
        </p:nvSpPr>
        <p:spPr>
          <a:xfrm>
            <a:off x="6583680" y="5596128"/>
            <a:ext cx="5029200" cy="274320"/>
          </a:xfrm>
          <a:prstGeom prst="rect">
            <a:avLst/>
          </a:prstGeom>
          <a:noFill/>
          <a:ln/>
        </p:spPr>
        <p:txBody>
          <a:bodyPr wrap="square" lIns="0" tIns="0" rIns="0" bIns="0" rtlCol="0" anchor="ctr"/>
          <a:lstStyle/>
          <a:p>
            <a:pPr marL="0" indent="0" algn="ctr">
              <a:buNone/>
            </a:pPr>
            <a:r>
              <a:rPr lang="en-US" sz="1100" i="1" dirty="0">
                <a:solidFill>
                  <a:srgbClr val="12262B"/>
                </a:solidFill>
                <a:latin typeface="Calibri" pitchFamily="34" charset="0"/>
                <a:ea typeface="Calibri" pitchFamily="34" charset="-122"/>
                <a:cs typeface="Calibri" pitchFamily="34" charset="-120"/>
              </a:rPr>
              <a:t>We cannot see this split with the naked eye.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FRAMING</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The biological question is not yet an ML problem</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5</a:t>
            </a:r>
            <a:endParaRPr lang="en-US" sz="900" dirty="0"/>
          </a:p>
        </p:txBody>
      </p:sp>
      <p:sp>
        <p:nvSpPr>
          <p:cNvPr id="7" name="Text 4"/>
          <p:cNvSpPr/>
          <p:nvPr/>
        </p:nvSpPr>
        <p:spPr>
          <a:xfrm>
            <a:off x="548640" y="1828800"/>
            <a:ext cx="5669280" cy="420624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Clinician’s words: “Will this patient’s tumour respond to treatment?”</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This is not yet a machine learning problem — it is underspecified.</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To make it ML-shaped, commit to four things: what we measure (input), what we predict (output), when we measure it, and on whom.</a:t>
            </a:r>
            <a:endParaRPr lang="en-US" sz="1600" dirty="0"/>
          </a:p>
          <a:p>
            <a:pPr marL="203200" indent="-203200">
              <a:spcAft>
                <a:spcPts val="1400"/>
              </a:spcAft>
              <a:buSzPct val="100000"/>
              <a:buChar char="•"/>
            </a:pPr>
            <a:r>
              <a:rPr lang="en-US" sz="1600" b="1" dirty="0">
                <a:solidFill>
                  <a:srgbClr val="0E7C86"/>
                </a:solidFill>
                <a:latin typeface="Calibri" pitchFamily="34" charset="0"/>
                <a:ea typeface="Calibri" pitchFamily="34" charset="-122"/>
                <a:cs typeface="Calibri" pitchFamily="34" charset="-120"/>
              </a:rPr>
              <a:t>Most of the scientific judgement — and the danger — lives in this translation step, not the model.</a:t>
            </a:r>
            <a:endParaRPr lang="en-US" sz="1600" dirty="0"/>
          </a:p>
        </p:txBody>
      </p:sp>
      <p:sp>
        <p:nvSpPr>
          <p:cNvPr id="8" name="Shape 5"/>
          <p:cNvSpPr/>
          <p:nvPr/>
        </p:nvSpPr>
        <p:spPr>
          <a:xfrm>
            <a:off x="6675120" y="1874520"/>
            <a:ext cx="4937760" cy="713232"/>
          </a:xfrm>
          <a:prstGeom prst="roundRect">
            <a:avLst>
              <a:gd name="adj" fmla="val 7692"/>
            </a:avLst>
          </a:prstGeom>
          <a:solidFill>
            <a:srgbClr val="DCEDEE"/>
          </a:solidFill>
          <a:ln/>
          <a:effectLst>
            <a:outerShdw blurRad="88900" dist="38100" dir="5400000" algn="bl" rotWithShape="0">
              <a:srgbClr val="000000">
                <a:alpha val="12000"/>
              </a:srgbClr>
            </a:outerShdw>
          </a:effectLst>
        </p:spPr>
      </p:sp>
      <p:sp>
        <p:nvSpPr>
          <p:cNvPr id="9" name="Text 6"/>
          <p:cNvSpPr/>
          <p:nvPr/>
        </p:nvSpPr>
        <p:spPr>
          <a:xfrm>
            <a:off x="6675120" y="1874520"/>
            <a:ext cx="4937760" cy="713232"/>
          </a:xfrm>
          <a:prstGeom prst="rect">
            <a:avLst/>
          </a:prstGeom>
          <a:noFill/>
          <a:ln/>
        </p:spPr>
        <p:txBody>
          <a:bodyPr wrap="square" lIns="0" tIns="0" rIns="0" bIns="0" rtlCol="0" anchor="ctr"/>
          <a:lstStyle/>
          <a:p>
            <a:pPr marL="0" indent="0" algn="ctr">
              <a:buNone/>
            </a:pPr>
            <a:r>
              <a:rPr lang="en-US" sz="1250" b="1" dirty="0">
                <a:solidFill>
                  <a:srgbClr val="12262B"/>
                </a:solidFill>
                <a:latin typeface="Calibri" pitchFamily="34" charset="0"/>
                <a:ea typeface="Calibri" pitchFamily="34" charset="-122"/>
                <a:cs typeface="Calibri" pitchFamily="34" charset="-120"/>
              </a:rPr>
              <a:t>Vague clinical question</a:t>
            </a:r>
            <a:endParaRPr lang="en-US" sz="1250" dirty="0"/>
          </a:p>
        </p:txBody>
      </p:sp>
      <p:sp>
        <p:nvSpPr>
          <p:cNvPr id="10" name="Shape 7"/>
          <p:cNvSpPr/>
          <p:nvPr/>
        </p:nvSpPr>
        <p:spPr>
          <a:xfrm>
            <a:off x="7119518" y="2715768"/>
            <a:ext cx="4048963" cy="713232"/>
          </a:xfrm>
          <a:prstGeom prst="roundRect">
            <a:avLst>
              <a:gd name="adj" fmla="val 7692"/>
            </a:avLst>
          </a:prstGeom>
          <a:solidFill>
            <a:srgbClr val="DCEDEE"/>
          </a:solidFill>
          <a:ln/>
          <a:effectLst>
            <a:outerShdw blurRad="88900" dist="38100" dir="5400000" algn="bl" rotWithShape="0">
              <a:srgbClr val="000000">
                <a:alpha val="12000"/>
              </a:srgbClr>
            </a:outerShdw>
          </a:effectLst>
        </p:spPr>
      </p:sp>
      <p:sp>
        <p:nvSpPr>
          <p:cNvPr id="11" name="Text 8"/>
          <p:cNvSpPr/>
          <p:nvPr/>
        </p:nvSpPr>
        <p:spPr>
          <a:xfrm>
            <a:off x="7119518" y="2715768"/>
            <a:ext cx="4048963" cy="713232"/>
          </a:xfrm>
          <a:prstGeom prst="rect">
            <a:avLst/>
          </a:prstGeom>
          <a:noFill/>
          <a:ln/>
        </p:spPr>
        <p:txBody>
          <a:bodyPr wrap="square" lIns="0" tIns="0" rIns="0" bIns="0" rtlCol="0" anchor="ctr"/>
          <a:lstStyle/>
          <a:p>
            <a:pPr marL="0" indent="0" algn="ctr">
              <a:buNone/>
            </a:pPr>
            <a:r>
              <a:rPr lang="en-US" sz="1250" b="1" dirty="0">
                <a:solidFill>
                  <a:srgbClr val="12262B"/>
                </a:solidFill>
                <a:latin typeface="Calibri" pitchFamily="34" charset="0"/>
                <a:ea typeface="Calibri" pitchFamily="34" charset="-122"/>
                <a:cs typeface="Calibri" pitchFamily="34" charset="-120"/>
              </a:rPr>
              <a:t>+ define the input</a:t>
            </a:r>
            <a:endParaRPr lang="en-US" sz="1250" dirty="0"/>
          </a:p>
        </p:txBody>
      </p:sp>
      <p:sp>
        <p:nvSpPr>
          <p:cNvPr id="12" name="Shape 9"/>
          <p:cNvSpPr/>
          <p:nvPr/>
        </p:nvSpPr>
        <p:spPr>
          <a:xfrm>
            <a:off x="7563917" y="3557016"/>
            <a:ext cx="3160166" cy="713232"/>
          </a:xfrm>
          <a:prstGeom prst="roundRect">
            <a:avLst>
              <a:gd name="adj" fmla="val 7692"/>
            </a:avLst>
          </a:prstGeom>
          <a:solidFill>
            <a:srgbClr val="14A6B0"/>
          </a:solidFill>
          <a:ln/>
          <a:effectLst>
            <a:outerShdw blurRad="88900" dist="38100" dir="5400000" algn="bl" rotWithShape="0">
              <a:srgbClr val="000000">
                <a:alpha val="12000"/>
              </a:srgbClr>
            </a:outerShdw>
          </a:effectLst>
        </p:spPr>
      </p:sp>
      <p:sp>
        <p:nvSpPr>
          <p:cNvPr id="13" name="Text 10"/>
          <p:cNvSpPr/>
          <p:nvPr/>
        </p:nvSpPr>
        <p:spPr>
          <a:xfrm>
            <a:off x="7563917" y="3557016"/>
            <a:ext cx="3160166" cy="71323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define the output (label)</a:t>
            </a:r>
            <a:endParaRPr lang="en-US" sz="1250" dirty="0"/>
          </a:p>
        </p:txBody>
      </p:sp>
      <p:sp>
        <p:nvSpPr>
          <p:cNvPr id="14" name="Shape 11"/>
          <p:cNvSpPr/>
          <p:nvPr/>
        </p:nvSpPr>
        <p:spPr>
          <a:xfrm>
            <a:off x="8008315" y="4398264"/>
            <a:ext cx="2271370" cy="713232"/>
          </a:xfrm>
          <a:prstGeom prst="roundRect">
            <a:avLst>
              <a:gd name="adj" fmla="val 7692"/>
            </a:avLst>
          </a:prstGeom>
          <a:solidFill>
            <a:srgbClr val="0E7C86"/>
          </a:solidFill>
          <a:ln/>
          <a:effectLst>
            <a:outerShdw blurRad="88900" dist="38100" dir="5400000" algn="bl" rotWithShape="0">
              <a:srgbClr val="000000">
                <a:alpha val="12000"/>
              </a:srgbClr>
            </a:outerShdw>
          </a:effectLst>
        </p:spPr>
      </p:sp>
      <p:sp>
        <p:nvSpPr>
          <p:cNvPr id="15" name="Text 12"/>
          <p:cNvSpPr/>
          <p:nvPr/>
        </p:nvSpPr>
        <p:spPr>
          <a:xfrm>
            <a:off x="8008315" y="4398264"/>
            <a:ext cx="2271370" cy="71323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when &amp; on whom</a:t>
            </a:r>
            <a:endParaRPr lang="en-US" sz="1250" dirty="0"/>
          </a:p>
        </p:txBody>
      </p:sp>
      <p:sp>
        <p:nvSpPr>
          <p:cNvPr id="16" name="Shape 13"/>
          <p:cNvSpPr/>
          <p:nvPr/>
        </p:nvSpPr>
        <p:spPr>
          <a:xfrm>
            <a:off x="8403336" y="5239512"/>
            <a:ext cx="1481328" cy="713232"/>
          </a:xfrm>
          <a:prstGeom prst="roundRect">
            <a:avLst>
              <a:gd name="adj" fmla="val 7692"/>
            </a:avLst>
          </a:prstGeom>
          <a:solidFill>
            <a:srgbClr val="0B3B40"/>
          </a:solidFill>
          <a:ln/>
          <a:effectLst>
            <a:outerShdw blurRad="88900" dist="38100" dir="5400000" algn="bl" rotWithShape="0">
              <a:srgbClr val="000000">
                <a:alpha val="12000"/>
              </a:srgbClr>
            </a:outerShdw>
          </a:effectLst>
        </p:spPr>
      </p:sp>
      <p:sp>
        <p:nvSpPr>
          <p:cNvPr id="17" name="Text 14"/>
          <p:cNvSpPr/>
          <p:nvPr/>
        </p:nvSpPr>
        <p:spPr>
          <a:xfrm>
            <a:off x="8403336" y="5239512"/>
            <a:ext cx="1481328" cy="71323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Well-posed prediction task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THE LABEL</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Defining the prediction target is a scientific choice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858000" cy="2377440"/>
        </p:xfrm>
        <a:graphic>
          <a:graphicData uri="http://schemas.openxmlformats.org/drawingml/2006/table">
            <a:tbl>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Endpoint</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0B3B40"/>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When available</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0B3B40"/>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Caveat in HR+/HER2−</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0B3B40"/>
                    </a:solidFill>
                  </a:tcPr>
                </a:tc>
                <a:extLst>
                  <a:ext uri="{0D108BD9-81ED-4DB2-BD59-A6C34878D82A}">
                    <a16:rowId xmlns:a16="http://schemas.microsoft.com/office/drawing/2014/main" val="10000"/>
                  </a:ext>
                </a:extLst>
              </a:tr>
              <a:tr h="640080">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pCR (neoadjuvant)</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Early (at surgery)</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Rare in luminal; weak surrogate for survival</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RCB class</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Early (at surgery)</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Graded, but same surrogacy concern</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l">
                        <a:buNone/>
                      </a:pPr>
                      <a:r>
                        <a:rPr lang="en-US" sz="1250" b="1" dirty="0">
                          <a:solidFill>
                            <a:srgbClr val="12262B"/>
                          </a:solidFill>
                          <a:latin typeface="Calibri" pitchFamily="34" charset="0"/>
                          <a:ea typeface="Calibri" pitchFamily="34" charset="-122"/>
                          <a:cs typeface="Calibri" pitchFamily="34" charset="-120"/>
                        </a:rPr>
                        <a:t>Relapse / DMFS</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DCEDEE"/>
                    </a:solidFill>
                  </a:tcPr>
                </a:tc>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Years of follow-up</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DCEDEE"/>
                    </a:solidFill>
                  </a:tcPr>
                </a:tc>
                <a:tc>
                  <a:txBody>
                    <a:bodyPr/>
                    <a:lstStyle/>
                    <a:p>
                      <a:pPr marL="0" indent="0" algn="l">
                        <a:buNone/>
                      </a:pPr>
                      <a:r>
                        <a:rPr lang="en-US" sz="1250" dirty="0">
                          <a:solidFill>
                            <a:srgbClr val="12262B"/>
                          </a:solidFill>
                          <a:latin typeface="Calibri" pitchFamily="34" charset="0"/>
                          <a:ea typeface="Calibri" pitchFamily="34" charset="-122"/>
                          <a:cs typeface="Calibri" pitchFamily="34" charset="-120"/>
                        </a:rPr>
                        <a:t>Closest to what patients care about</a:t>
                      </a:r>
                      <a:endParaRPr lang="en-US" sz="1250" dirty="0">
                        <a:latin typeface="Calibri" charset="0"/>
                        <a:ea typeface="Calibri" charset="0"/>
                        <a:cs typeface="Calibri" charset="0"/>
                      </a:endParaRPr>
                    </a:p>
                  </a:txBody>
                  <a:tcPr marL="76200" marR="76200" marT="76200" marB="76200" anchor="ctr">
                    <a:lnL w="12700" cap="flat" cmpd="sng" algn="ctr">
                      <a:solidFill>
                        <a:srgbClr val="C9D7D9"/>
                      </a:solidFill>
                      <a:prstDash val="solid"/>
                      <a:round/>
                      <a:headEnd type="none" w="med" len="med"/>
                      <a:tailEnd type="none" w="med" len="med"/>
                    </a:lnL>
                    <a:lnR w="12700" cap="flat" cmpd="sng" algn="ctr">
                      <a:solidFill>
                        <a:srgbClr val="C9D7D9"/>
                      </a:solidFill>
                      <a:prstDash val="solid"/>
                      <a:round/>
                      <a:headEnd type="none" w="med" len="med"/>
                      <a:tailEnd type="none" w="med" len="med"/>
                    </a:lnR>
                    <a:lnT w="12700" cap="flat" cmpd="sng" algn="ctr">
                      <a:solidFill>
                        <a:srgbClr val="C9D7D9"/>
                      </a:solidFill>
                      <a:prstDash val="solid"/>
                      <a:round/>
                      <a:headEnd type="none" w="med" len="med"/>
                      <a:tailEnd type="none" w="med" len="med"/>
                    </a:lnT>
                    <a:lnB w="12700" cap="flat" cmpd="sng" algn="ctr">
                      <a:solidFill>
                        <a:srgbClr val="C9D7D9"/>
                      </a:solidFill>
                      <a:prstDash val="solid"/>
                      <a:round/>
                      <a:headEnd type="none" w="med" len="med"/>
                      <a:tailEnd type="none" w="med" len="med"/>
                    </a:lnB>
                    <a:solidFill>
                      <a:srgbClr val="DCEDEE"/>
                    </a:solidFill>
                  </a:tcPr>
                </a:tc>
                <a:extLst>
                  <a:ext uri="{0D108BD9-81ED-4DB2-BD59-A6C34878D82A}">
                    <a16:rowId xmlns:a16="http://schemas.microsoft.com/office/drawing/2014/main" val="10003"/>
                  </a:ext>
                </a:extLst>
              </a:tr>
            </a:tbl>
          </a:graphicData>
        </a:graphic>
      </p:graphicFrame>
      <p:sp>
        <p:nvSpPr>
          <p:cNvPr id="8" name="Text 4"/>
          <p:cNvSpPr/>
          <p:nvPr/>
        </p:nvSpPr>
        <p:spPr>
          <a:xfrm>
            <a:off x="548640" y="4297680"/>
            <a:ext cx="6858000" cy="320040"/>
          </a:xfrm>
          <a:prstGeom prst="rect">
            <a:avLst/>
          </a:prstGeom>
          <a:noFill/>
          <a:ln/>
        </p:spPr>
        <p:txBody>
          <a:bodyPr wrap="square" lIns="0" tIns="0" rIns="0" bIns="0" rtlCol="0" anchor="ctr"/>
          <a:lstStyle/>
          <a:p>
            <a:pPr marL="0" indent="0">
              <a:buNone/>
            </a:pPr>
            <a:r>
              <a:rPr lang="en-US" sz="1200" i="1" dirty="0">
                <a:solidFill>
                  <a:srgbClr val="0E7C86"/>
                </a:solidFill>
                <a:latin typeface="Calibri" pitchFamily="34" charset="0"/>
                <a:ea typeface="Calibri" pitchFamily="34" charset="-122"/>
                <a:cs typeface="Calibri" pitchFamily="34" charset="-120"/>
              </a:rPr>
              <a:t>→ relapse / DMFS is “what our data supports.”</a:t>
            </a:r>
            <a:endParaRPr lang="en-US" sz="1200" dirty="0"/>
          </a:p>
        </p:txBody>
      </p:sp>
      <p:sp>
        <p:nvSpPr>
          <p:cNvPr id="9" name="Shape 5"/>
          <p:cNvSpPr/>
          <p:nvPr/>
        </p:nvSpPr>
        <p:spPr>
          <a:xfrm>
            <a:off x="7726680" y="1783080"/>
            <a:ext cx="3886200" cy="1783080"/>
          </a:xfrm>
          <a:prstGeom prst="roundRect">
            <a:avLst>
              <a:gd name="adj" fmla="val 4103"/>
            </a:avLst>
          </a:prstGeom>
          <a:solidFill>
            <a:srgbClr val="DCEDEE"/>
          </a:solidFill>
          <a:ln/>
          <a:effectLst>
            <a:outerShdw blurRad="88900" dist="38100" dir="5400000" algn="bl" rotWithShape="0">
              <a:srgbClr val="000000">
                <a:alpha val="12000"/>
              </a:srgbClr>
            </a:outerShdw>
          </a:effectLst>
        </p:spPr>
      </p:sp>
      <p:sp>
        <p:nvSpPr>
          <p:cNvPr id="10" name="Text 6"/>
          <p:cNvSpPr/>
          <p:nvPr/>
        </p:nvSpPr>
        <p:spPr>
          <a:xfrm>
            <a:off x="7955280" y="1920240"/>
            <a:ext cx="3429000" cy="320040"/>
          </a:xfrm>
          <a:prstGeom prst="rect">
            <a:avLst/>
          </a:prstGeom>
          <a:noFill/>
          <a:ln/>
        </p:spPr>
        <p:txBody>
          <a:bodyPr wrap="square" lIns="0" tIns="0" rIns="0" bIns="0" rtlCol="0" anchor="ctr"/>
          <a:lstStyle/>
          <a:p>
            <a:pPr marL="0" indent="0">
              <a:buNone/>
            </a:pPr>
            <a:r>
              <a:rPr lang="en-US" sz="1400" b="1" dirty="0">
                <a:solidFill>
                  <a:srgbClr val="0E7C86"/>
                </a:solidFill>
                <a:latin typeface="Cambria" pitchFamily="34" charset="0"/>
                <a:ea typeface="Cambria" pitchFamily="34" charset="-122"/>
                <a:cs typeface="Cambria" pitchFamily="34" charset="-120"/>
              </a:rPr>
              <a:t>Our running case study</a:t>
            </a:r>
            <a:endParaRPr lang="en-US" sz="1400" dirty="0"/>
          </a:p>
        </p:txBody>
      </p:sp>
      <p:sp>
        <p:nvSpPr>
          <p:cNvPr id="11" name="Text 7"/>
          <p:cNvSpPr/>
          <p:nvPr/>
        </p:nvSpPr>
        <p:spPr>
          <a:xfrm>
            <a:off x="7955280" y="2286000"/>
            <a:ext cx="3429000" cy="1188720"/>
          </a:xfrm>
          <a:prstGeom prst="rect">
            <a:avLst/>
          </a:prstGeom>
          <a:noFill/>
          <a:ln/>
        </p:spPr>
        <p:txBody>
          <a:bodyPr wrap="square" lIns="0" tIns="0" rIns="0" bIns="0" rtlCol="0" anchor="t"/>
          <a:lstStyle/>
          <a:p>
            <a:pPr marL="0" indent="0">
              <a:buNone/>
            </a:pPr>
            <a:r>
              <a:rPr lang="en-US" sz="1150" dirty="0">
                <a:solidFill>
                  <a:srgbClr val="12262B"/>
                </a:solidFill>
                <a:latin typeface="Calibri" pitchFamily="34" charset="0"/>
                <a:ea typeface="Calibri" pitchFamily="34" charset="-122"/>
                <a:cs typeface="Calibri" pitchFamily="34" charset="-120"/>
              </a:rPr>
              <a:t>METABRIC is not neoadjuvant and has no pCR. The practical predicts relapse / recurrence from long-term survival data — the endpoint family used by the published HR+/HER2− model we follow.</a:t>
            </a:r>
            <a:endParaRPr lang="en-US" sz="1150" dirty="0"/>
          </a:p>
        </p:txBody>
      </p:sp>
      <p:sp>
        <p:nvSpPr>
          <p:cNvPr id="12" name="Shape 8"/>
          <p:cNvSpPr/>
          <p:nvPr/>
        </p:nvSpPr>
        <p:spPr>
          <a:xfrm>
            <a:off x="7726680" y="3749040"/>
            <a:ext cx="3886200" cy="2148840"/>
          </a:xfrm>
          <a:prstGeom prst="roundRect">
            <a:avLst>
              <a:gd name="adj" fmla="val 3404"/>
            </a:avLst>
          </a:prstGeom>
          <a:solidFill>
            <a:srgbClr val="F6E9D8"/>
          </a:solidFill>
          <a:ln/>
          <a:effectLst>
            <a:outerShdw blurRad="88900" dist="38100" dir="5400000" algn="bl" rotWithShape="0">
              <a:srgbClr val="000000">
                <a:alpha val="12000"/>
              </a:srgbClr>
            </a:outerShdw>
          </a:effectLst>
        </p:spPr>
      </p:sp>
      <p:sp>
        <p:nvSpPr>
          <p:cNvPr id="13" name="Text 9"/>
          <p:cNvSpPr/>
          <p:nvPr/>
        </p:nvSpPr>
        <p:spPr>
          <a:xfrm>
            <a:off x="7955280" y="3886200"/>
            <a:ext cx="3429000" cy="320040"/>
          </a:xfrm>
          <a:prstGeom prst="rect">
            <a:avLst/>
          </a:prstGeom>
          <a:noFill/>
          <a:ln/>
        </p:spPr>
        <p:txBody>
          <a:bodyPr wrap="square" lIns="0" tIns="0" rIns="0" bIns="0" rtlCol="0" anchor="ctr"/>
          <a:lstStyle/>
          <a:p>
            <a:pPr marL="0" indent="0">
              <a:buNone/>
            </a:pPr>
            <a:r>
              <a:rPr lang="en-US" sz="1400" b="1" dirty="0">
                <a:solidFill>
                  <a:srgbClr val="C2772B"/>
                </a:solidFill>
                <a:latin typeface="Cambria" pitchFamily="34" charset="0"/>
                <a:ea typeface="Cambria" pitchFamily="34" charset="-122"/>
                <a:cs typeface="Cambria" pitchFamily="34" charset="-120"/>
              </a:rPr>
              <a:t>A choice we make on purpose</a:t>
            </a:r>
            <a:endParaRPr lang="en-US" sz="1400" dirty="0"/>
          </a:p>
        </p:txBody>
      </p:sp>
      <p:sp>
        <p:nvSpPr>
          <p:cNvPr id="14" name="Text 10"/>
          <p:cNvSpPr/>
          <p:nvPr/>
        </p:nvSpPr>
        <p:spPr>
          <a:xfrm>
            <a:off x="7955280" y="4224528"/>
            <a:ext cx="3429000" cy="1554480"/>
          </a:xfrm>
          <a:prstGeom prst="rect">
            <a:avLst/>
          </a:prstGeom>
          <a:noFill/>
          <a:ln/>
        </p:spPr>
        <p:txBody>
          <a:bodyPr wrap="square" lIns="0" tIns="0" rIns="0" bIns="0" rtlCol="0" anchor="t"/>
          <a:lstStyle/>
          <a:p>
            <a:pPr marL="0" indent="0">
              <a:buNone/>
            </a:pPr>
            <a:r>
              <a:rPr lang="en-US" sz="1150" dirty="0">
                <a:solidFill>
                  <a:srgbClr val="12262B"/>
                </a:solidFill>
                <a:latin typeface="Calibri" pitchFamily="34" charset="0"/>
                <a:ea typeface="Calibri" pitchFamily="34" charset="-122"/>
                <a:cs typeface="Calibri" pitchFamily="34" charset="-120"/>
              </a:rPr>
              <a:t>Relapse is time-to-event. We collapse it to a binary label (relapsed vs not, by a fixed horizon) to keep modelling simple. That discards information — an 11-month and a 110-month relapse get the same label, and censored patients become awkward. We return to the cost in Section 5.</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PROVENANCE</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Where the data come from</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48640" y="1828800"/>
            <a:ext cx="1993392" cy="914400"/>
          </a:xfrm>
          <a:prstGeom prst="roundRect">
            <a:avLst>
              <a:gd name="adj" fmla="val 8000"/>
            </a:avLst>
          </a:prstGeom>
          <a:solidFill>
            <a:srgbClr val="FFFFFF"/>
          </a:solidFill>
          <a:ln w="12700">
            <a:solidFill>
              <a:srgbClr val="C9D7D9"/>
            </a:solidFill>
            <a:prstDash val="solid"/>
          </a:ln>
          <a:effectLst>
            <a:outerShdw blurRad="88900" dist="38100" dir="5400000" algn="bl" rotWithShape="0">
              <a:srgbClr val="000000">
                <a:alpha val="12000"/>
              </a:srgbClr>
            </a:outerShdw>
          </a:effectLst>
        </p:spPr>
      </p:sp>
      <p:sp>
        <p:nvSpPr>
          <p:cNvPr id="8" name="Text 5"/>
          <p:cNvSpPr/>
          <p:nvPr/>
        </p:nvSpPr>
        <p:spPr>
          <a:xfrm>
            <a:off x="621792" y="1828800"/>
            <a:ext cx="1847088" cy="914400"/>
          </a:xfrm>
          <a:prstGeom prst="rect">
            <a:avLst/>
          </a:prstGeom>
          <a:noFill/>
          <a:ln/>
        </p:spPr>
        <p:txBody>
          <a:bodyPr wrap="square" lIns="0" tIns="0" rIns="0" bIns="0" rtlCol="0" anchor="ctr"/>
          <a:lstStyle/>
          <a:p>
            <a:pPr marL="0" indent="0" algn="ctr">
              <a:buNone/>
            </a:pPr>
            <a:r>
              <a:rPr lang="en-US" sz="1200" dirty="0">
                <a:solidFill>
                  <a:srgbClr val="12262B"/>
                </a:solidFill>
                <a:latin typeface="Calibri" pitchFamily="34" charset="0"/>
                <a:ea typeface="Calibri" pitchFamily="34" charset="-122"/>
                <a:cs typeface="Calibri" pitchFamily="34" charset="-120"/>
              </a:rPr>
              <a:t>Tumour biopsy</a:t>
            </a:r>
            <a:endParaRPr lang="en-US" sz="1200" dirty="0"/>
          </a:p>
        </p:txBody>
      </p:sp>
      <p:sp>
        <p:nvSpPr>
          <p:cNvPr id="9" name="Shape 6"/>
          <p:cNvSpPr/>
          <p:nvPr/>
        </p:nvSpPr>
        <p:spPr>
          <a:xfrm>
            <a:off x="2560320" y="2286000"/>
            <a:ext cx="219456" cy="0"/>
          </a:xfrm>
          <a:prstGeom prst="line">
            <a:avLst/>
          </a:prstGeom>
          <a:noFill/>
          <a:ln w="19050">
            <a:solidFill>
              <a:srgbClr val="5B6B70"/>
            </a:solidFill>
            <a:prstDash val="solid"/>
            <a:tailEnd type="triangle"/>
          </a:ln>
        </p:spPr>
      </p:sp>
      <p:sp>
        <p:nvSpPr>
          <p:cNvPr id="10" name="Shape 7"/>
          <p:cNvSpPr/>
          <p:nvPr/>
        </p:nvSpPr>
        <p:spPr>
          <a:xfrm>
            <a:off x="2798064" y="1828800"/>
            <a:ext cx="1993392" cy="914400"/>
          </a:xfrm>
          <a:prstGeom prst="roundRect">
            <a:avLst>
              <a:gd name="adj" fmla="val 8000"/>
            </a:avLst>
          </a:prstGeom>
          <a:solidFill>
            <a:srgbClr val="FFFFFF"/>
          </a:solidFill>
          <a:ln w="12700">
            <a:solidFill>
              <a:srgbClr val="C9D7D9"/>
            </a:solidFill>
            <a:prstDash val="solid"/>
          </a:ln>
          <a:effectLst>
            <a:outerShdw blurRad="88900" dist="38100" dir="5400000" algn="bl" rotWithShape="0">
              <a:srgbClr val="000000">
                <a:alpha val="12000"/>
              </a:srgbClr>
            </a:outerShdw>
          </a:effectLst>
        </p:spPr>
      </p:sp>
      <p:sp>
        <p:nvSpPr>
          <p:cNvPr id="11" name="Text 8"/>
          <p:cNvSpPr/>
          <p:nvPr/>
        </p:nvSpPr>
        <p:spPr>
          <a:xfrm>
            <a:off x="2871216" y="1828800"/>
            <a:ext cx="1847088" cy="914400"/>
          </a:xfrm>
          <a:prstGeom prst="rect">
            <a:avLst/>
          </a:prstGeom>
          <a:noFill/>
          <a:ln/>
        </p:spPr>
        <p:txBody>
          <a:bodyPr wrap="square" lIns="0" tIns="0" rIns="0" bIns="0" rtlCol="0" anchor="ctr"/>
          <a:lstStyle/>
          <a:p>
            <a:pPr marL="0" indent="0" algn="ctr">
              <a:buNone/>
            </a:pPr>
            <a:r>
              <a:rPr lang="en-US" sz="1200" dirty="0">
                <a:solidFill>
                  <a:srgbClr val="12262B"/>
                </a:solidFill>
                <a:latin typeface="Calibri" pitchFamily="34" charset="0"/>
                <a:ea typeface="Calibri" pitchFamily="34" charset="-122"/>
                <a:cs typeface="Calibri" pitchFamily="34" charset="-120"/>
              </a:rPr>
              <a:t>RNA extraction</a:t>
            </a:r>
            <a:endParaRPr lang="en-US" sz="1200" dirty="0"/>
          </a:p>
        </p:txBody>
      </p:sp>
      <p:sp>
        <p:nvSpPr>
          <p:cNvPr id="12" name="Shape 9"/>
          <p:cNvSpPr/>
          <p:nvPr/>
        </p:nvSpPr>
        <p:spPr>
          <a:xfrm>
            <a:off x="4809744" y="2286000"/>
            <a:ext cx="219456" cy="0"/>
          </a:xfrm>
          <a:prstGeom prst="line">
            <a:avLst/>
          </a:prstGeom>
          <a:noFill/>
          <a:ln w="19050">
            <a:solidFill>
              <a:srgbClr val="5B6B70"/>
            </a:solidFill>
            <a:prstDash val="solid"/>
            <a:tailEnd type="triangle"/>
          </a:ln>
        </p:spPr>
      </p:sp>
      <p:sp>
        <p:nvSpPr>
          <p:cNvPr id="13" name="Shape 10"/>
          <p:cNvSpPr/>
          <p:nvPr/>
        </p:nvSpPr>
        <p:spPr>
          <a:xfrm>
            <a:off x="5047488" y="1828800"/>
            <a:ext cx="1993392" cy="914400"/>
          </a:xfrm>
          <a:prstGeom prst="roundRect">
            <a:avLst>
              <a:gd name="adj" fmla="val 8000"/>
            </a:avLst>
          </a:prstGeom>
          <a:solidFill>
            <a:srgbClr val="FFFFFF"/>
          </a:solidFill>
          <a:ln w="12700">
            <a:solidFill>
              <a:srgbClr val="C9D7D9"/>
            </a:solidFill>
            <a:prstDash val="solid"/>
          </a:ln>
          <a:effectLst>
            <a:outerShdw blurRad="88900" dist="38100" dir="5400000" algn="bl" rotWithShape="0">
              <a:srgbClr val="000000">
                <a:alpha val="12000"/>
              </a:srgbClr>
            </a:outerShdw>
          </a:effectLst>
        </p:spPr>
      </p:sp>
      <p:sp>
        <p:nvSpPr>
          <p:cNvPr id="14" name="Text 11"/>
          <p:cNvSpPr/>
          <p:nvPr/>
        </p:nvSpPr>
        <p:spPr>
          <a:xfrm>
            <a:off x="5120640" y="1828800"/>
            <a:ext cx="1847088" cy="914400"/>
          </a:xfrm>
          <a:prstGeom prst="rect">
            <a:avLst/>
          </a:prstGeom>
          <a:noFill/>
          <a:ln/>
        </p:spPr>
        <p:txBody>
          <a:bodyPr wrap="square" lIns="0" tIns="0" rIns="0" bIns="0" rtlCol="0" anchor="ctr"/>
          <a:lstStyle/>
          <a:p>
            <a:pPr marL="0" indent="0" algn="ctr">
              <a:buNone/>
            </a:pPr>
            <a:r>
              <a:rPr lang="en-US" sz="1200" dirty="0">
                <a:solidFill>
                  <a:srgbClr val="12262B"/>
                </a:solidFill>
                <a:latin typeface="Calibri" pitchFamily="34" charset="0"/>
                <a:ea typeface="Calibri" pitchFamily="34" charset="-122"/>
                <a:cs typeface="Calibri" pitchFamily="34" charset="-120"/>
              </a:rPr>
              <a:t>Microarray hybridisation</a:t>
            </a:r>
            <a:endParaRPr lang="en-US" sz="1200" dirty="0"/>
          </a:p>
        </p:txBody>
      </p:sp>
      <p:sp>
        <p:nvSpPr>
          <p:cNvPr id="15" name="Shape 12"/>
          <p:cNvSpPr/>
          <p:nvPr/>
        </p:nvSpPr>
        <p:spPr>
          <a:xfrm>
            <a:off x="7059168" y="2286000"/>
            <a:ext cx="219456" cy="0"/>
          </a:xfrm>
          <a:prstGeom prst="line">
            <a:avLst/>
          </a:prstGeom>
          <a:noFill/>
          <a:ln w="19050">
            <a:solidFill>
              <a:srgbClr val="5B6B70"/>
            </a:solidFill>
            <a:prstDash val="solid"/>
            <a:tailEnd type="triangle"/>
          </a:ln>
        </p:spPr>
      </p:sp>
      <p:sp>
        <p:nvSpPr>
          <p:cNvPr id="16" name="Shape 13"/>
          <p:cNvSpPr/>
          <p:nvPr/>
        </p:nvSpPr>
        <p:spPr>
          <a:xfrm>
            <a:off x="7296912" y="1828800"/>
            <a:ext cx="1993392" cy="914400"/>
          </a:xfrm>
          <a:prstGeom prst="roundRect">
            <a:avLst>
              <a:gd name="adj" fmla="val 8000"/>
            </a:avLst>
          </a:prstGeom>
          <a:solidFill>
            <a:srgbClr val="FFFFFF"/>
          </a:solidFill>
          <a:ln w="12700">
            <a:solidFill>
              <a:srgbClr val="C9D7D9"/>
            </a:solidFill>
            <a:prstDash val="solid"/>
          </a:ln>
          <a:effectLst>
            <a:outerShdw blurRad="88900" dist="38100" dir="5400000" algn="bl" rotWithShape="0">
              <a:srgbClr val="000000">
                <a:alpha val="12000"/>
              </a:srgbClr>
            </a:outerShdw>
          </a:effectLst>
        </p:spPr>
      </p:sp>
      <p:sp>
        <p:nvSpPr>
          <p:cNvPr id="17" name="Text 14"/>
          <p:cNvSpPr/>
          <p:nvPr/>
        </p:nvSpPr>
        <p:spPr>
          <a:xfrm>
            <a:off x="7370064" y="1828800"/>
            <a:ext cx="1847088" cy="914400"/>
          </a:xfrm>
          <a:prstGeom prst="rect">
            <a:avLst/>
          </a:prstGeom>
          <a:noFill/>
          <a:ln/>
        </p:spPr>
        <p:txBody>
          <a:bodyPr wrap="square" lIns="0" tIns="0" rIns="0" bIns="0" rtlCol="0" anchor="ctr"/>
          <a:lstStyle/>
          <a:p>
            <a:pPr marL="0" indent="0" algn="ctr">
              <a:buNone/>
            </a:pPr>
            <a:r>
              <a:rPr lang="en-US" sz="1200" dirty="0">
                <a:solidFill>
                  <a:srgbClr val="12262B"/>
                </a:solidFill>
                <a:latin typeface="Calibri" pitchFamily="34" charset="0"/>
                <a:ea typeface="Calibri" pitchFamily="34" charset="-122"/>
                <a:cs typeface="Calibri" pitchFamily="34" charset="-120"/>
              </a:rPr>
              <a:t>Scanned intensities</a:t>
            </a:r>
            <a:endParaRPr lang="en-US" sz="1200" dirty="0"/>
          </a:p>
        </p:txBody>
      </p:sp>
      <p:sp>
        <p:nvSpPr>
          <p:cNvPr id="18" name="Shape 15"/>
          <p:cNvSpPr/>
          <p:nvPr/>
        </p:nvSpPr>
        <p:spPr>
          <a:xfrm>
            <a:off x="9308592" y="2286000"/>
            <a:ext cx="219456" cy="0"/>
          </a:xfrm>
          <a:prstGeom prst="line">
            <a:avLst/>
          </a:prstGeom>
          <a:noFill/>
          <a:ln w="19050">
            <a:solidFill>
              <a:srgbClr val="5B6B70"/>
            </a:solidFill>
            <a:prstDash val="solid"/>
            <a:tailEnd type="triangle"/>
          </a:ln>
        </p:spPr>
      </p:sp>
      <p:sp>
        <p:nvSpPr>
          <p:cNvPr id="19" name="Shape 16"/>
          <p:cNvSpPr/>
          <p:nvPr/>
        </p:nvSpPr>
        <p:spPr>
          <a:xfrm>
            <a:off x="9546336" y="1828800"/>
            <a:ext cx="1993392" cy="914400"/>
          </a:xfrm>
          <a:prstGeom prst="roundRect">
            <a:avLst>
              <a:gd name="adj" fmla="val 8000"/>
            </a:avLst>
          </a:prstGeom>
          <a:solidFill>
            <a:srgbClr val="0E7C86"/>
          </a:solidFill>
          <a:ln w="12700">
            <a:solidFill>
              <a:srgbClr val="0E7C86"/>
            </a:solidFill>
            <a:prstDash val="solid"/>
          </a:ln>
          <a:effectLst>
            <a:outerShdw blurRad="88900" dist="38100" dir="5400000" algn="bl" rotWithShape="0">
              <a:srgbClr val="000000">
                <a:alpha val="12000"/>
              </a:srgbClr>
            </a:outerShdw>
          </a:effectLst>
        </p:spPr>
      </p:sp>
      <p:sp>
        <p:nvSpPr>
          <p:cNvPr id="20" name="Text 17"/>
          <p:cNvSpPr/>
          <p:nvPr/>
        </p:nvSpPr>
        <p:spPr>
          <a:xfrm>
            <a:off x="9619488" y="1828800"/>
            <a:ext cx="1847088"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Expression matrix</a:t>
            </a:r>
            <a:endParaRPr lang="en-US" sz="1200" dirty="0"/>
          </a:p>
        </p:txBody>
      </p:sp>
      <p:sp>
        <p:nvSpPr>
          <p:cNvPr id="21" name="Text 18"/>
          <p:cNvSpPr/>
          <p:nvPr/>
        </p:nvSpPr>
        <p:spPr>
          <a:xfrm>
            <a:off x="548640" y="2907792"/>
            <a:ext cx="11064240" cy="365760"/>
          </a:xfrm>
          <a:prstGeom prst="rect">
            <a:avLst/>
          </a:prstGeom>
          <a:noFill/>
          <a:ln/>
        </p:spPr>
        <p:txBody>
          <a:bodyPr wrap="square" lIns="0" tIns="0" rIns="0" bIns="0" rtlCol="0" anchor="ctr"/>
          <a:lstStyle/>
          <a:p>
            <a:pPr marL="0" indent="0" algn="ctr">
              <a:buNone/>
            </a:pPr>
            <a:r>
              <a:rPr lang="en-US" sz="1150" i="1" dirty="0">
                <a:solidFill>
                  <a:srgbClr val="5B6B70"/>
                </a:solidFill>
                <a:latin typeface="Calibri" pitchFamily="34" charset="0"/>
                <a:ea typeface="Calibri" pitchFamily="34" charset="-122"/>
                <a:cs typeface="Calibri" pitchFamily="34" charset="-120"/>
              </a:rPr>
              <a:t>each arrow adds choices &amp; artefacts: tumour content · RNA degradation · reagent lot · scanner · normalisation</a:t>
            </a:r>
            <a:endParaRPr lang="en-US" sz="1150" dirty="0"/>
          </a:p>
        </p:txBody>
      </p:sp>
      <p:sp>
        <p:nvSpPr>
          <p:cNvPr id="22" name="Text 19"/>
          <p:cNvSpPr/>
          <p:nvPr/>
        </p:nvSpPr>
        <p:spPr>
          <a:xfrm>
            <a:off x="548640" y="3749040"/>
            <a:ext cx="5669280" cy="228600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12262B"/>
                </a:solidFill>
                <a:latin typeface="Calibri" pitchFamily="34" charset="0"/>
                <a:ea typeface="Calibri" pitchFamily="34" charset="-122"/>
                <a:cs typeface="Calibri" pitchFamily="34" charset="-120"/>
              </a:rPr>
              <a:t>Microarrays (Affymetrix, Illumina): probes for tens of thousands of transcripts; intensity ∝ abundance.</a:t>
            </a:r>
            <a:endParaRPr lang="en-US" sz="1500" dirty="0"/>
          </a:p>
          <a:p>
            <a:pPr marL="203200" indent="-203200">
              <a:spcAft>
                <a:spcPts val="1200"/>
              </a:spcAft>
              <a:buSzPct val="100000"/>
              <a:buChar char="•"/>
            </a:pPr>
            <a:r>
              <a:rPr lang="en-US" sz="1500" dirty="0">
                <a:solidFill>
                  <a:srgbClr val="12262B"/>
                </a:solidFill>
                <a:latin typeface="Calibri" pitchFamily="34" charset="0"/>
                <a:ea typeface="Calibri" pitchFamily="34" charset="-122"/>
                <a:cs typeface="Calibri" pitchFamily="34" charset="-120"/>
              </a:rPr>
              <a:t>Landmark cohorts live in GEO / ArrayExpress and curated portals.</a:t>
            </a:r>
            <a:endParaRPr lang="en-US" sz="1500" dirty="0"/>
          </a:p>
          <a:p>
            <a:pPr marL="203200" indent="-203200">
              <a:spcAft>
                <a:spcPts val="1200"/>
              </a:spcAft>
              <a:buSzPct val="100000"/>
              <a:buChar char="•"/>
            </a:pPr>
            <a:r>
              <a:rPr lang="en-US" sz="1500" dirty="0">
                <a:solidFill>
                  <a:srgbClr val="12262B"/>
                </a:solidFill>
                <a:latin typeface="Calibri" pitchFamily="34" charset="0"/>
                <a:ea typeface="Calibri" pitchFamily="34" charset="-122"/>
                <a:cs typeface="Calibri" pitchFamily="34" charset="-120"/>
              </a:rPr>
              <a:t>Each step injects potential artefacts — normalisation, platform, batch. Two cohorts on two platforms is exactly where batch effects are born.</a:t>
            </a:r>
            <a:endParaRPr lang="en-US" sz="1500" dirty="0"/>
          </a:p>
        </p:txBody>
      </p:sp>
      <p:sp>
        <p:nvSpPr>
          <p:cNvPr id="23" name="Shape 20"/>
          <p:cNvSpPr/>
          <p:nvPr/>
        </p:nvSpPr>
        <p:spPr>
          <a:xfrm>
            <a:off x="6583680" y="3749040"/>
            <a:ext cx="5029200" cy="960120"/>
          </a:xfrm>
          <a:prstGeom prst="roundRect">
            <a:avLst>
              <a:gd name="adj" fmla="val 7619"/>
            </a:avLst>
          </a:prstGeom>
          <a:solidFill>
            <a:srgbClr val="DCEDEE"/>
          </a:solidFill>
          <a:ln/>
          <a:effectLst>
            <a:outerShdw blurRad="88900" dist="38100" dir="5400000" algn="bl" rotWithShape="0">
              <a:srgbClr val="000000">
                <a:alpha val="12000"/>
              </a:srgbClr>
            </a:outerShdw>
          </a:effectLst>
        </p:spPr>
      </p:sp>
      <p:sp>
        <p:nvSpPr>
          <p:cNvPr id="24" name="Text 21"/>
          <p:cNvSpPr/>
          <p:nvPr/>
        </p:nvSpPr>
        <p:spPr>
          <a:xfrm>
            <a:off x="6812280" y="3822192"/>
            <a:ext cx="4572000" cy="82296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METABRIC  </a:t>
            </a:r>
            <a:r>
              <a:rPr lang="en-US" sz="1200" dirty="0">
                <a:solidFill>
                  <a:srgbClr val="12262B"/>
                </a:solidFill>
                <a:latin typeface="Calibri" pitchFamily="34" charset="0"/>
                <a:ea typeface="Calibri" pitchFamily="34" charset="-122"/>
                <a:cs typeface="Calibri" pitchFamily="34" charset="-120"/>
              </a:rPr>
              <a:t>~1,900 tumours · Illumina HT-12 · via cBioPortal (Pereira 2016). Development cohort of the model we follow.</a:t>
            </a:r>
            <a:endParaRPr lang="en-US" sz="1200" dirty="0"/>
          </a:p>
        </p:txBody>
      </p:sp>
      <p:sp>
        <p:nvSpPr>
          <p:cNvPr id="25" name="Shape 22"/>
          <p:cNvSpPr/>
          <p:nvPr/>
        </p:nvSpPr>
        <p:spPr>
          <a:xfrm>
            <a:off x="6583680" y="4864608"/>
            <a:ext cx="5029200" cy="960120"/>
          </a:xfrm>
          <a:prstGeom prst="roundRect">
            <a:avLst>
              <a:gd name="adj" fmla="val 7619"/>
            </a:avLst>
          </a:prstGeom>
          <a:solidFill>
            <a:srgbClr val="FFFFFF"/>
          </a:solidFill>
          <a:ln/>
          <a:effectLst>
            <a:outerShdw blurRad="88900" dist="38100" dir="5400000" algn="bl" rotWithShape="0">
              <a:srgbClr val="000000">
                <a:alpha val="12000"/>
              </a:srgbClr>
            </a:outerShdw>
          </a:effectLst>
        </p:spPr>
      </p:sp>
      <p:sp>
        <p:nvSpPr>
          <p:cNvPr id="26" name="Shape 23"/>
          <p:cNvSpPr/>
          <p:nvPr/>
        </p:nvSpPr>
        <p:spPr>
          <a:xfrm>
            <a:off x="6583680" y="4864608"/>
            <a:ext cx="5029200" cy="960120"/>
          </a:xfrm>
          <a:prstGeom prst="roundRect">
            <a:avLst>
              <a:gd name="adj" fmla="val 7619"/>
            </a:avLst>
          </a:prstGeom>
          <a:solidFill>
            <a:srgbClr val="FFFFFF"/>
          </a:solidFill>
          <a:ln w="12700">
            <a:solidFill>
              <a:srgbClr val="C9D7D9"/>
            </a:solidFill>
            <a:prstDash val="solid"/>
          </a:ln>
        </p:spPr>
      </p:sp>
      <p:sp>
        <p:nvSpPr>
          <p:cNvPr id="27" name="Text 24"/>
          <p:cNvSpPr/>
          <p:nvPr/>
        </p:nvSpPr>
        <p:spPr>
          <a:xfrm>
            <a:off x="6812280" y="4937760"/>
            <a:ext cx="4572000" cy="822960"/>
          </a:xfrm>
          <a:prstGeom prst="rect">
            <a:avLst/>
          </a:prstGeom>
          <a:noFill/>
          <a:ln/>
        </p:spPr>
        <p:txBody>
          <a:bodyPr wrap="square" lIns="0" tIns="0" rIns="0" bIns="0" rtlCol="0" anchor="ctr"/>
          <a:lstStyle/>
          <a:p>
            <a:pPr marL="0" indent="0">
              <a:buNone/>
            </a:pPr>
            <a:r>
              <a:rPr lang="en-US" sz="1200" b="1" dirty="0">
                <a:solidFill>
                  <a:srgbClr val="C2772B"/>
                </a:solidFill>
                <a:latin typeface="Calibri" pitchFamily="34" charset="0"/>
                <a:ea typeface="Calibri" pitchFamily="34" charset="-122"/>
                <a:cs typeface="Calibri" pitchFamily="34" charset="-120"/>
              </a:rPr>
              <a:t>GSE6532 (Loi et al.)  </a:t>
            </a:r>
            <a:r>
              <a:rPr lang="en-US" sz="1200" dirty="0">
                <a:solidFill>
                  <a:srgbClr val="12262B"/>
                </a:solidFill>
                <a:latin typeface="Calibri" pitchFamily="34" charset="0"/>
                <a:ea typeface="Calibri" pitchFamily="34" charset="-122"/>
                <a:cs typeface="Calibri" pitchFamily="34" charset="-120"/>
              </a:rPr>
              <a:t>Affymetrix series, combined in so a real cross-platform batch effect appears in the practical.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THE DATA OBJECT</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The transcriptomic data matrix</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8</a:t>
            </a:r>
            <a:endParaRPr lang="en-US" sz="900" dirty="0"/>
          </a:p>
        </p:txBody>
      </p:sp>
      <p:sp>
        <p:nvSpPr>
          <p:cNvPr id="7" name="Text 4"/>
          <p:cNvSpPr/>
          <p:nvPr/>
        </p:nvSpPr>
        <p:spPr>
          <a:xfrm>
            <a:off x="548640" y="1828800"/>
            <a:ext cx="4937760" cy="4023360"/>
          </a:xfrm>
          <a:prstGeom prst="rect">
            <a:avLst/>
          </a:prstGeom>
          <a:noFill/>
          <a:ln/>
        </p:spPr>
        <p:txBody>
          <a:bodyPr wrap="square" lIns="0" tIns="0" rIns="0" bIns="0" rtlCol="0" anchor="t"/>
          <a:lstStyle/>
          <a:p>
            <a:pPr marL="203200" indent="-203200">
              <a:spcAft>
                <a:spcPts val="1400"/>
              </a:spcAft>
              <a:buSzPct val="100000"/>
              <a:buChar char="•"/>
            </a:pPr>
            <a:r>
              <a:rPr lang="en-US" sz="1600" b="1" dirty="0">
                <a:solidFill>
                  <a:srgbClr val="12262B"/>
                </a:solidFill>
                <a:latin typeface="Calibri" pitchFamily="34" charset="0"/>
                <a:ea typeface="Calibri" pitchFamily="34" charset="-122"/>
                <a:cs typeface="Calibri" pitchFamily="34" charset="-120"/>
              </a:rPr>
              <a:t>The central object: an expression matrix.</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Rows = samples (patients/tumours), columns = genes/probes — or the transpose. State your convention explicitly.</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A typical study: ~100–500 samples × ~20,000 genes.</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This shape is the source of nearly every difficulty in the rest of the course.</a:t>
            </a:r>
            <a:endParaRPr lang="en-US" sz="1600" dirty="0"/>
          </a:p>
        </p:txBody>
      </p:sp>
      <p:sp>
        <p:nvSpPr>
          <p:cNvPr id="8" name="Shape 5"/>
          <p:cNvSpPr/>
          <p:nvPr/>
        </p:nvSpPr>
        <p:spPr>
          <a:xfrm>
            <a:off x="5852160" y="2194560"/>
            <a:ext cx="196596" cy="246888"/>
          </a:xfrm>
          <a:prstGeom prst="rect">
            <a:avLst/>
          </a:prstGeom>
          <a:solidFill>
            <a:srgbClr val="0E7C86"/>
          </a:solidFill>
          <a:ln/>
        </p:spPr>
      </p:sp>
      <p:sp>
        <p:nvSpPr>
          <p:cNvPr id="9" name="Shape 6"/>
          <p:cNvSpPr/>
          <p:nvPr/>
        </p:nvSpPr>
        <p:spPr>
          <a:xfrm>
            <a:off x="6067044" y="2194560"/>
            <a:ext cx="196596" cy="246888"/>
          </a:xfrm>
          <a:prstGeom prst="rect">
            <a:avLst/>
          </a:prstGeom>
          <a:solidFill>
            <a:srgbClr val="0E7C86"/>
          </a:solidFill>
          <a:ln/>
        </p:spPr>
      </p:sp>
      <p:sp>
        <p:nvSpPr>
          <p:cNvPr id="10" name="Shape 7"/>
          <p:cNvSpPr/>
          <p:nvPr/>
        </p:nvSpPr>
        <p:spPr>
          <a:xfrm>
            <a:off x="6281928" y="2194560"/>
            <a:ext cx="196596" cy="246888"/>
          </a:xfrm>
          <a:prstGeom prst="rect">
            <a:avLst/>
          </a:prstGeom>
          <a:solidFill>
            <a:srgbClr val="14A6B0"/>
          </a:solidFill>
          <a:ln/>
        </p:spPr>
      </p:sp>
      <p:sp>
        <p:nvSpPr>
          <p:cNvPr id="11" name="Shape 8"/>
          <p:cNvSpPr/>
          <p:nvPr/>
        </p:nvSpPr>
        <p:spPr>
          <a:xfrm>
            <a:off x="6496812" y="2194560"/>
            <a:ext cx="196596" cy="246888"/>
          </a:xfrm>
          <a:prstGeom prst="rect">
            <a:avLst/>
          </a:prstGeom>
          <a:solidFill>
            <a:srgbClr val="14A6B0"/>
          </a:solidFill>
          <a:ln/>
        </p:spPr>
      </p:sp>
      <p:sp>
        <p:nvSpPr>
          <p:cNvPr id="12" name="Shape 9"/>
          <p:cNvSpPr/>
          <p:nvPr/>
        </p:nvSpPr>
        <p:spPr>
          <a:xfrm>
            <a:off x="6711696" y="2194560"/>
            <a:ext cx="196596" cy="246888"/>
          </a:xfrm>
          <a:prstGeom prst="rect">
            <a:avLst/>
          </a:prstGeom>
          <a:solidFill>
            <a:srgbClr val="14A6B0"/>
          </a:solidFill>
          <a:ln/>
        </p:spPr>
      </p:sp>
      <p:sp>
        <p:nvSpPr>
          <p:cNvPr id="13" name="Shape 10"/>
          <p:cNvSpPr/>
          <p:nvPr/>
        </p:nvSpPr>
        <p:spPr>
          <a:xfrm>
            <a:off x="6926580" y="2194560"/>
            <a:ext cx="196596" cy="246888"/>
          </a:xfrm>
          <a:prstGeom prst="rect">
            <a:avLst/>
          </a:prstGeom>
          <a:solidFill>
            <a:srgbClr val="14A6B0"/>
          </a:solidFill>
          <a:ln/>
        </p:spPr>
      </p:sp>
      <p:sp>
        <p:nvSpPr>
          <p:cNvPr id="14" name="Shape 11"/>
          <p:cNvSpPr/>
          <p:nvPr/>
        </p:nvSpPr>
        <p:spPr>
          <a:xfrm>
            <a:off x="7141464" y="2194560"/>
            <a:ext cx="196596" cy="246888"/>
          </a:xfrm>
          <a:prstGeom prst="rect">
            <a:avLst/>
          </a:prstGeom>
          <a:solidFill>
            <a:srgbClr val="0E7C86"/>
          </a:solidFill>
          <a:ln/>
        </p:spPr>
      </p:sp>
      <p:sp>
        <p:nvSpPr>
          <p:cNvPr id="15" name="Shape 12"/>
          <p:cNvSpPr/>
          <p:nvPr/>
        </p:nvSpPr>
        <p:spPr>
          <a:xfrm>
            <a:off x="7356348" y="2194560"/>
            <a:ext cx="196596" cy="246888"/>
          </a:xfrm>
          <a:prstGeom prst="rect">
            <a:avLst/>
          </a:prstGeom>
          <a:solidFill>
            <a:srgbClr val="DCEDEE"/>
          </a:solidFill>
          <a:ln/>
        </p:spPr>
      </p:sp>
      <p:sp>
        <p:nvSpPr>
          <p:cNvPr id="16" name="Shape 13"/>
          <p:cNvSpPr/>
          <p:nvPr/>
        </p:nvSpPr>
        <p:spPr>
          <a:xfrm>
            <a:off x="7571232" y="2194560"/>
            <a:ext cx="196596" cy="246888"/>
          </a:xfrm>
          <a:prstGeom prst="rect">
            <a:avLst/>
          </a:prstGeom>
          <a:solidFill>
            <a:srgbClr val="DCEDEE"/>
          </a:solidFill>
          <a:ln/>
        </p:spPr>
      </p:sp>
      <p:sp>
        <p:nvSpPr>
          <p:cNvPr id="17" name="Shape 14"/>
          <p:cNvSpPr/>
          <p:nvPr/>
        </p:nvSpPr>
        <p:spPr>
          <a:xfrm>
            <a:off x="7786116" y="2194560"/>
            <a:ext cx="196596" cy="246888"/>
          </a:xfrm>
          <a:prstGeom prst="rect">
            <a:avLst/>
          </a:prstGeom>
          <a:solidFill>
            <a:srgbClr val="DCEDEE"/>
          </a:solidFill>
          <a:ln/>
        </p:spPr>
      </p:sp>
      <p:sp>
        <p:nvSpPr>
          <p:cNvPr id="18" name="Shape 15"/>
          <p:cNvSpPr/>
          <p:nvPr/>
        </p:nvSpPr>
        <p:spPr>
          <a:xfrm>
            <a:off x="8001000" y="2194560"/>
            <a:ext cx="196596" cy="246888"/>
          </a:xfrm>
          <a:prstGeom prst="rect">
            <a:avLst/>
          </a:prstGeom>
          <a:solidFill>
            <a:srgbClr val="DCEDEE"/>
          </a:solidFill>
          <a:ln/>
        </p:spPr>
      </p:sp>
      <p:sp>
        <p:nvSpPr>
          <p:cNvPr id="19" name="Shape 16"/>
          <p:cNvSpPr/>
          <p:nvPr/>
        </p:nvSpPr>
        <p:spPr>
          <a:xfrm>
            <a:off x="8215884" y="2194560"/>
            <a:ext cx="196596" cy="246888"/>
          </a:xfrm>
          <a:prstGeom prst="rect">
            <a:avLst/>
          </a:prstGeom>
          <a:solidFill>
            <a:srgbClr val="14A6B0"/>
          </a:solidFill>
          <a:ln/>
        </p:spPr>
      </p:sp>
      <p:sp>
        <p:nvSpPr>
          <p:cNvPr id="20" name="Shape 17"/>
          <p:cNvSpPr/>
          <p:nvPr/>
        </p:nvSpPr>
        <p:spPr>
          <a:xfrm>
            <a:off x="8430768" y="2194560"/>
            <a:ext cx="196596" cy="246888"/>
          </a:xfrm>
          <a:prstGeom prst="rect">
            <a:avLst/>
          </a:prstGeom>
          <a:solidFill>
            <a:srgbClr val="14A6B0"/>
          </a:solidFill>
          <a:ln/>
        </p:spPr>
      </p:sp>
      <p:sp>
        <p:nvSpPr>
          <p:cNvPr id="21" name="Shape 18"/>
          <p:cNvSpPr/>
          <p:nvPr/>
        </p:nvSpPr>
        <p:spPr>
          <a:xfrm>
            <a:off x="8645652" y="2194560"/>
            <a:ext cx="196596" cy="246888"/>
          </a:xfrm>
          <a:prstGeom prst="rect">
            <a:avLst/>
          </a:prstGeom>
          <a:solidFill>
            <a:srgbClr val="14A6B0"/>
          </a:solidFill>
          <a:ln/>
        </p:spPr>
      </p:sp>
      <p:sp>
        <p:nvSpPr>
          <p:cNvPr id="22" name="Shape 19"/>
          <p:cNvSpPr/>
          <p:nvPr/>
        </p:nvSpPr>
        <p:spPr>
          <a:xfrm>
            <a:off x="8860536" y="2194560"/>
            <a:ext cx="196596" cy="246888"/>
          </a:xfrm>
          <a:prstGeom prst="rect">
            <a:avLst/>
          </a:prstGeom>
          <a:solidFill>
            <a:srgbClr val="DCEDEE"/>
          </a:solidFill>
          <a:ln/>
        </p:spPr>
      </p:sp>
      <p:sp>
        <p:nvSpPr>
          <p:cNvPr id="23" name="Shape 20"/>
          <p:cNvSpPr/>
          <p:nvPr/>
        </p:nvSpPr>
        <p:spPr>
          <a:xfrm>
            <a:off x="9075420" y="2194560"/>
            <a:ext cx="196596" cy="246888"/>
          </a:xfrm>
          <a:prstGeom prst="rect">
            <a:avLst/>
          </a:prstGeom>
          <a:solidFill>
            <a:srgbClr val="DCEDEE"/>
          </a:solidFill>
          <a:ln/>
        </p:spPr>
      </p:sp>
      <p:sp>
        <p:nvSpPr>
          <p:cNvPr id="24" name="Shape 21"/>
          <p:cNvSpPr/>
          <p:nvPr/>
        </p:nvSpPr>
        <p:spPr>
          <a:xfrm>
            <a:off x="9290304" y="2194560"/>
            <a:ext cx="196596" cy="246888"/>
          </a:xfrm>
          <a:prstGeom prst="rect">
            <a:avLst/>
          </a:prstGeom>
          <a:solidFill>
            <a:srgbClr val="DCEDEE"/>
          </a:solidFill>
          <a:ln/>
        </p:spPr>
      </p:sp>
      <p:sp>
        <p:nvSpPr>
          <p:cNvPr id="25" name="Shape 22"/>
          <p:cNvSpPr/>
          <p:nvPr/>
        </p:nvSpPr>
        <p:spPr>
          <a:xfrm>
            <a:off x="9505188" y="2194560"/>
            <a:ext cx="196596" cy="246888"/>
          </a:xfrm>
          <a:prstGeom prst="rect">
            <a:avLst/>
          </a:prstGeom>
          <a:solidFill>
            <a:srgbClr val="14A6B0"/>
          </a:solidFill>
          <a:ln/>
        </p:spPr>
      </p:sp>
      <p:sp>
        <p:nvSpPr>
          <p:cNvPr id="26" name="Shape 23"/>
          <p:cNvSpPr/>
          <p:nvPr/>
        </p:nvSpPr>
        <p:spPr>
          <a:xfrm>
            <a:off x="9720072" y="2194560"/>
            <a:ext cx="196596" cy="246888"/>
          </a:xfrm>
          <a:prstGeom prst="rect">
            <a:avLst/>
          </a:prstGeom>
          <a:solidFill>
            <a:srgbClr val="14A6B0"/>
          </a:solidFill>
          <a:ln/>
        </p:spPr>
      </p:sp>
      <p:sp>
        <p:nvSpPr>
          <p:cNvPr id="27" name="Shape 24"/>
          <p:cNvSpPr/>
          <p:nvPr/>
        </p:nvSpPr>
        <p:spPr>
          <a:xfrm>
            <a:off x="9934956" y="2194560"/>
            <a:ext cx="196596" cy="246888"/>
          </a:xfrm>
          <a:prstGeom prst="rect">
            <a:avLst/>
          </a:prstGeom>
          <a:solidFill>
            <a:srgbClr val="14A6B0"/>
          </a:solidFill>
          <a:ln/>
        </p:spPr>
      </p:sp>
      <p:sp>
        <p:nvSpPr>
          <p:cNvPr id="28" name="Shape 25"/>
          <p:cNvSpPr/>
          <p:nvPr/>
        </p:nvSpPr>
        <p:spPr>
          <a:xfrm>
            <a:off x="10149840" y="2194560"/>
            <a:ext cx="196596" cy="246888"/>
          </a:xfrm>
          <a:prstGeom prst="rect">
            <a:avLst/>
          </a:prstGeom>
          <a:solidFill>
            <a:srgbClr val="0E7C86"/>
          </a:solidFill>
          <a:ln/>
        </p:spPr>
      </p:sp>
      <p:sp>
        <p:nvSpPr>
          <p:cNvPr id="29" name="Shape 26"/>
          <p:cNvSpPr/>
          <p:nvPr/>
        </p:nvSpPr>
        <p:spPr>
          <a:xfrm>
            <a:off x="10364724" y="2194560"/>
            <a:ext cx="196596" cy="246888"/>
          </a:xfrm>
          <a:prstGeom prst="rect">
            <a:avLst/>
          </a:prstGeom>
          <a:solidFill>
            <a:srgbClr val="DCEDEE"/>
          </a:solidFill>
          <a:ln/>
        </p:spPr>
      </p:sp>
      <p:sp>
        <p:nvSpPr>
          <p:cNvPr id="30" name="Shape 27"/>
          <p:cNvSpPr/>
          <p:nvPr/>
        </p:nvSpPr>
        <p:spPr>
          <a:xfrm>
            <a:off x="10579608" y="2194560"/>
            <a:ext cx="196596" cy="246888"/>
          </a:xfrm>
          <a:prstGeom prst="rect">
            <a:avLst/>
          </a:prstGeom>
          <a:solidFill>
            <a:srgbClr val="14A6B0"/>
          </a:solidFill>
          <a:ln/>
        </p:spPr>
      </p:sp>
      <p:sp>
        <p:nvSpPr>
          <p:cNvPr id="31" name="Shape 28"/>
          <p:cNvSpPr/>
          <p:nvPr/>
        </p:nvSpPr>
        <p:spPr>
          <a:xfrm>
            <a:off x="10794492" y="2194560"/>
            <a:ext cx="196596" cy="246888"/>
          </a:xfrm>
          <a:prstGeom prst="rect">
            <a:avLst/>
          </a:prstGeom>
          <a:solidFill>
            <a:srgbClr val="DCEDEE"/>
          </a:solidFill>
          <a:ln/>
        </p:spPr>
      </p:sp>
      <p:sp>
        <p:nvSpPr>
          <p:cNvPr id="32" name="Shape 29"/>
          <p:cNvSpPr/>
          <p:nvPr/>
        </p:nvSpPr>
        <p:spPr>
          <a:xfrm>
            <a:off x="11009376" y="2194560"/>
            <a:ext cx="196596" cy="246888"/>
          </a:xfrm>
          <a:prstGeom prst="rect">
            <a:avLst/>
          </a:prstGeom>
          <a:solidFill>
            <a:srgbClr val="14A6B0"/>
          </a:solidFill>
          <a:ln/>
        </p:spPr>
      </p:sp>
      <p:sp>
        <p:nvSpPr>
          <p:cNvPr id="33" name="Shape 30"/>
          <p:cNvSpPr/>
          <p:nvPr/>
        </p:nvSpPr>
        <p:spPr>
          <a:xfrm>
            <a:off x="11224260" y="2194560"/>
            <a:ext cx="196596" cy="246888"/>
          </a:xfrm>
          <a:prstGeom prst="rect">
            <a:avLst/>
          </a:prstGeom>
          <a:solidFill>
            <a:srgbClr val="14A6B0"/>
          </a:solidFill>
          <a:ln/>
        </p:spPr>
      </p:sp>
      <p:sp>
        <p:nvSpPr>
          <p:cNvPr id="34" name="Shape 31"/>
          <p:cNvSpPr/>
          <p:nvPr/>
        </p:nvSpPr>
        <p:spPr>
          <a:xfrm>
            <a:off x="5852160" y="2468880"/>
            <a:ext cx="196596" cy="246888"/>
          </a:xfrm>
          <a:prstGeom prst="rect">
            <a:avLst/>
          </a:prstGeom>
          <a:solidFill>
            <a:srgbClr val="14A6B0"/>
          </a:solidFill>
          <a:ln/>
        </p:spPr>
      </p:sp>
      <p:sp>
        <p:nvSpPr>
          <p:cNvPr id="35" name="Shape 32"/>
          <p:cNvSpPr/>
          <p:nvPr/>
        </p:nvSpPr>
        <p:spPr>
          <a:xfrm>
            <a:off x="6067044" y="2468880"/>
            <a:ext cx="196596" cy="246888"/>
          </a:xfrm>
          <a:prstGeom prst="rect">
            <a:avLst/>
          </a:prstGeom>
          <a:solidFill>
            <a:srgbClr val="DCEDEE"/>
          </a:solidFill>
          <a:ln/>
        </p:spPr>
      </p:sp>
      <p:sp>
        <p:nvSpPr>
          <p:cNvPr id="36" name="Shape 33"/>
          <p:cNvSpPr/>
          <p:nvPr/>
        </p:nvSpPr>
        <p:spPr>
          <a:xfrm>
            <a:off x="6281928" y="2468880"/>
            <a:ext cx="196596" cy="246888"/>
          </a:xfrm>
          <a:prstGeom prst="rect">
            <a:avLst/>
          </a:prstGeom>
          <a:solidFill>
            <a:srgbClr val="DCEDEE"/>
          </a:solidFill>
          <a:ln/>
        </p:spPr>
      </p:sp>
      <p:sp>
        <p:nvSpPr>
          <p:cNvPr id="37" name="Shape 34"/>
          <p:cNvSpPr/>
          <p:nvPr/>
        </p:nvSpPr>
        <p:spPr>
          <a:xfrm>
            <a:off x="6496812" y="2468880"/>
            <a:ext cx="196596" cy="246888"/>
          </a:xfrm>
          <a:prstGeom prst="rect">
            <a:avLst/>
          </a:prstGeom>
          <a:solidFill>
            <a:srgbClr val="0E7C86"/>
          </a:solidFill>
          <a:ln/>
        </p:spPr>
      </p:sp>
      <p:sp>
        <p:nvSpPr>
          <p:cNvPr id="38" name="Shape 35"/>
          <p:cNvSpPr/>
          <p:nvPr/>
        </p:nvSpPr>
        <p:spPr>
          <a:xfrm>
            <a:off x="6711696" y="2468880"/>
            <a:ext cx="196596" cy="246888"/>
          </a:xfrm>
          <a:prstGeom prst="rect">
            <a:avLst/>
          </a:prstGeom>
          <a:solidFill>
            <a:srgbClr val="DCEDEE"/>
          </a:solidFill>
          <a:ln/>
        </p:spPr>
      </p:sp>
      <p:sp>
        <p:nvSpPr>
          <p:cNvPr id="39" name="Shape 36"/>
          <p:cNvSpPr/>
          <p:nvPr/>
        </p:nvSpPr>
        <p:spPr>
          <a:xfrm>
            <a:off x="6926580" y="2468880"/>
            <a:ext cx="196596" cy="246888"/>
          </a:xfrm>
          <a:prstGeom prst="rect">
            <a:avLst/>
          </a:prstGeom>
          <a:solidFill>
            <a:srgbClr val="DCEDEE"/>
          </a:solidFill>
          <a:ln/>
        </p:spPr>
      </p:sp>
      <p:sp>
        <p:nvSpPr>
          <p:cNvPr id="40" name="Shape 37"/>
          <p:cNvSpPr/>
          <p:nvPr/>
        </p:nvSpPr>
        <p:spPr>
          <a:xfrm>
            <a:off x="7141464" y="2468880"/>
            <a:ext cx="196596" cy="246888"/>
          </a:xfrm>
          <a:prstGeom prst="rect">
            <a:avLst/>
          </a:prstGeom>
          <a:solidFill>
            <a:srgbClr val="0E7C86"/>
          </a:solidFill>
          <a:ln/>
        </p:spPr>
      </p:sp>
      <p:sp>
        <p:nvSpPr>
          <p:cNvPr id="41" name="Shape 38"/>
          <p:cNvSpPr/>
          <p:nvPr/>
        </p:nvSpPr>
        <p:spPr>
          <a:xfrm>
            <a:off x="7356348" y="2468880"/>
            <a:ext cx="196596" cy="246888"/>
          </a:xfrm>
          <a:prstGeom prst="rect">
            <a:avLst/>
          </a:prstGeom>
          <a:solidFill>
            <a:srgbClr val="14A6B0"/>
          </a:solidFill>
          <a:ln/>
        </p:spPr>
      </p:sp>
      <p:sp>
        <p:nvSpPr>
          <p:cNvPr id="42" name="Shape 39"/>
          <p:cNvSpPr/>
          <p:nvPr/>
        </p:nvSpPr>
        <p:spPr>
          <a:xfrm>
            <a:off x="7571232" y="2468880"/>
            <a:ext cx="196596" cy="246888"/>
          </a:xfrm>
          <a:prstGeom prst="rect">
            <a:avLst/>
          </a:prstGeom>
          <a:solidFill>
            <a:srgbClr val="DCEDEE"/>
          </a:solidFill>
          <a:ln/>
        </p:spPr>
      </p:sp>
      <p:sp>
        <p:nvSpPr>
          <p:cNvPr id="43" name="Shape 40"/>
          <p:cNvSpPr/>
          <p:nvPr/>
        </p:nvSpPr>
        <p:spPr>
          <a:xfrm>
            <a:off x="7786116" y="2468880"/>
            <a:ext cx="196596" cy="246888"/>
          </a:xfrm>
          <a:prstGeom prst="rect">
            <a:avLst/>
          </a:prstGeom>
          <a:solidFill>
            <a:srgbClr val="0E7C86"/>
          </a:solidFill>
          <a:ln/>
        </p:spPr>
      </p:sp>
      <p:sp>
        <p:nvSpPr>
          <p:cNvPr id="44" name="Shape 41"/>
          <p:cNvSpPr/>
          <p:nvPr/>
        </p:nvSpPr>
        <p:spPr>
          <a:xfrm>
            <a:off x="8001000" y="2468880"/>
            <a:ext cx="196596" cy="246888"/>
          </a:xfrm>
          <a:prstGeom prst="rect">
            <a:avLst/>
          </a:prstGeom>
          <a:solidFill>
            <a:srgbClr val="DCEDEE"/>
          </a:solidFill>
          <a:ln/>
        </p:spPr>
      </p:sp>
      <p:sp>
        <p:nvSpPr>
          <p:cNvPr id="45" name="Shape 42"/>
          <p:cNvSpPr/>
          <p:nvPr/>
        </p:nvSpPr>
        <p:spPr>
          <a:xfrm>
            <a:off x="8215884" y="2468880"/>
            <a:ext cx="196596" cy="246888"/>
          </a:xfrm>
          <a:prstGeom prst="rect">
            <a:avLst/>
          </a:prstGeom>
          <a:solidFill>
            <a:srgbClr val="0E7C86"/>
          </a:solidFill>
          <a:ln/>
        </p:spPr>
      </p:sp>
      <p:sp>
        <p:nvSpPr>
          <p:cNvPr id="46" name="Shape 43"/>
          <p:cNvSpPr/>
          <p:nvPr/>
        </p:nvSpPr>
        <p:spPr>
          <a:xfrm>
            <a:off x="8430768" y="2468880"/>
            <a:ext cx="196596" cy="246888"/>
          </a:xfrm>
          <a:prstGeom prst="rect">
            <a:avLst/>
          </a:prstGeom>
          <a:solidFill>
            <a:srgbClr val="0E7C86"/>
          </a:solidFill>
          <a:ln/>
        </p:spPr>
      </p:sp>
      <p:sp>
        <p:nvSpPr>
          <p:cNvPr id="47" name="Shape 44"/>
          <p:cNvSpPr/>
          <p:nvPr/>
        </p:nvSpPr>
        <p:spPr>
          <a:xfrm>
            <a:off x="8645652" y="2468880"/>
            <a:ext cx="196596" cy="246888"/>
          </a:xfrm>
          <a:prstGeom prst="rect">
            <a:avLst/>
          </a:prstGeom>
          <a:solidFill>
            <a:srgbClr val="0E7C86"/>
          </a:solidFill>
          <a:ln/>
        </p:spPr>
      </p:sp>
      <p:sp>
        <p:nvSpPr>
          <p:cNvPr id="48" name="Shape 45"/>
          <p:cNvSpPr/>
          <p:nvPr/>
        </p:nvSpPr>
        <p:spPr>
          <a:xfrm>
            <a:off x="8860536" y="2468880"/>
            <a:ext cx="196596" cy="246888"/>
          </a:xfrm>
          <a:prstGeom prst="rect">
            <a:avLst/>
          </a:prstGeom>
          <a:solidFill>
            <a:srgbClr val="14A6B0"/>
          </a:solidFill>
          <a:ln/>
        </p:spPr>
      </p:sp>
      <p:sp>
        <p:nvSpPr>
          <p:cNvPr id="49" name="Shape 46"/>
          <p:cNvSpPr/>
          <p:nvPr/>
        </p:nvSpPr>
        <p:spPr>
          <a:xfrm>
            <a:off x="9075420" y="2468880"/>
            <a:ext cx="196596" cy="246888"/>
          </a:xfrm>
          <a:prstGeom prst="rect">
            <a:avLst/>
          </a:prstGeom>
          <a:solidFill>
            <a:srgbClr val="14A6B0"/>
          </a:solidFill>
          <a:ln/>
        </p:spPr>
      </p:sp>
      <p:sp>
        <p:nvSpPr>
          <p:cNvPr id="50" name="Shape 47"/>
          <p:cNvSpPr/>
          <p:nvPr/>
        </p:nvSpPr>
        <p:spPr>
          <a:xfrm>
            <a:off x="9290304" y="2468880"/>
            <a:ext cx="196596" cy="246888"/>
          </a:xfrm>
          <a:prstGeom prst="rect">
            <a:avLst/>
          </a:prstGeom>
          <a:solidFill>
            <a:srgbClr val="14A6B0"/>
          </a:solidFill>
          <a:ln/>
        </p:spPr>
      </p:sp>
      <p:sp>
        <p:nvSpPr>
          <p:cNvPr id="51" name="Shape 48"/>
          <p:cNvSpPr/>
          <p:nvPr/>
        </p:nvSpPr>
        <p:spPr>
          <a:xfrm>
            <a:off x="9505188" y="2468880"/>
            <a:ext cx="196596" cy="246888"/>
          </a:xfrm>
          <a:prstGeom prst="rect">
            <a:avLst/>
          </a:prstGeom>
          <a:solidFill>
            <a:srgbClr val="DCEDEE"/>
          </a:solidFill>
          <a:ln/>
        </p:spPr>
      </p:sp>
      <p:sp>
        <p:nvSpPr>
          <p:cNvPr id="52" name="Shape 49"/>
          <p:cNvSpPr/>
          <p:nvPr/>
        </p:nvSpPr>
        <p:spPr>
          <a:xfrm>
            <a:off x="9720072" y="2468880"/>
            <a:ext cx="196596" cy="246888"/>
          </a:xfrm>
          <a:prstGeom prst="rect">
            <a:avLst/>
          </a:prstGeom>
          <a:solidFill>
            <a:srgbClr val="14A6B0"/>
          </a:solidFill>
          <a:ln/>
        </p:spPr>
      </p:sp>
      <p:sp>
        <p:nvSpPr>
          <p:cNvPr id="53" name="Shape 50"/>
          <p:cNvSpPr/>
          <p:nvPr/>
        </p:nvSpPr>
        <p:spPr>
          <a:xfrm>
            <a:off x="9934956" y="2468880"/>
            <a:ext cx="196596" cy="246888"/>
          </a:xfrm>
          <a:prstGeom prst="rect">
            <a:avLst/>
          </a:prstGeom>
          <a:solidFill>
            <a:srgbClr val="0E7C86"/>
          </a:solidFill>
          <a:ln/>
        </p:spPr>
      </p:sp>
      <p:sp>
        <p:nvSpPr>
          <p:cNvPr id="54" name="Shape 51"/>
          <p:cNvSpPr/>
          <p:nvPr/>
        </p:nvSpPr>
        <p:spPr>
          <a:xfrm>
            <a:off x="10149840" y="2468880"/>
            <a:ext cx="196596" cy="246888"/>
          </a:xfrm>
          <a:prstGeom prst="rect">
            <a:avLst/>
          </a:prstGeom>
          <a:solidFill>
            <a:srgbClr val="14A6B0"/>
          </a:solidFill>
          <a:ln/>
        </p:spPr>
      </p:sp>
      <p:sp>
        <p:nvSpPr>
          <p:cNvPr id="55" name="Shape 52"/>
          <p:cNvSpPr/>
          <p:nvPr/>
        </p:nvSpPr>
        <p:spPr>
          <a:xfrm>
            <a:off x="10364724" y="2468880"/>
            <a:ext cx="196596" cy="246888"/>
          </a:xfrm>
          <a:prstGeom prst="rect">
            <a:avLst/>
          </a:prstGeom>
          <a:solidFill>
            <a:srgbClr val="DCEDEE"/>
          </a:solidFill>
          <a:ln/>
        </p:spPr>
      </p:sp>
      <p:sp>
        <p:nvSpPr>
          <p:cNvPr id="56" name="Shape 53"/>
          <p:cNvSpPr/>
          <p:nvPr/>
        </p:nvSpPr>
        <p:spPr>
          <a:xfrm>
            <a:off x="10579608" y="2468880"/>
            <a:ext cx="196596" cy="246888"/>
          </a:xfrm>
          <a:prstGeom prst="rect">
            <a:avLst/>
          </a:prstGeom>
          <a:solidFill>
            <a:srgbClr val="14A6B0"/>
          </a:solidFill>
          <a:ln/>
        </p:spPr>
      </p:sp>
      <p:sp>
        <p:nvSpPr>
          <p:cNvPr id="57" name="Shape 54"/>
          <p:cNvSpPr/>
          <p:nvPr/>
        </p:nvSpPr>
        <p:spPr>
          <a:xfrm>
            <a:off x="10794492" y="2468880"/>
            <a:ext cx="196596" cy="246888"/>
          </a:xfrm>
          <a:prstGeom prst="rect">
            <a:avLst/>
          </a:prstGeom>
          <a:solidFill>
            <a:srgbClr val="DCEDEE"/>
          </a:solidFill>
          <a:ln/>
        </p:spPr>
      </p:sp>
      <p:sp>
        <p:nvSpPr>
          <p:cNvPr id="58" name="Shape 55"/>
          <p:cNvSpPr/>
          <p:nvPr/>
        </p:nvSpPr>
        <p:spPr>
          <a:xfrm>
            <a:off x="11009376" y="2468880"/>
            <a:ext cx="196596" cy="246888"/>
          </a:xfrm>
          <a:prstGeom prst="rect">
            <a:avLst/>
          </a:prstGeom>
          <a:solidFill>
            <a:srgbClr val="DCEDEE"/>
          </a:solidFill>
          <a:ln/>
        </p:spPr>
      </p:sp>
      <p:sp>
        <p:nvSpPr>
          <p:cNvPr id="59" name="Shape 56"/>
          <p:cNvSpPr/>
          <p:nvPr/>
        </p:nvSpPr>
        <p:spPr>
          <a:xfrm>
            <a:off x="11224260" y="2468880"/>
            <a:ext cx="196596" cy="246888"/>
          </a:xfrm>
          <a:prstGeom prst="rect">
            <a:avLst/>
          </a:prstGeom>
          <a:solidFill>
            <a:srgbClr val="0E7C86"/>
          </a:solidFill>
          <a:ln/>
        </p:spPr>
      </p:sp>
      <p:sp>
        <p:nvSpPr>
          <p:cNvPr id="60" name="Shape 57"/>
          <p:cNvSpPr/>
          <p:nvPr/>
        </p:nvSpPr>
        <p:spPr>
          <a:xfrm>
            <a:off x="5852160" y="2743200"/>
            <a:ext cx="196596" cy="246888"/>
          </a:xfrm>
          <a:prstGeom prst="rect">
            <a:avLst/>
          </a:prstGeom>
          <a:solidFill>
            <a:srgbClr val="DCEDEE"/>
          </a:solidFill>
          <a:ln/>
        </p:spPr>
      </p:sp>
      <p:sp>
        <p:nvSpPr>
          <p:cNvPr id="61" name="Shape 58"/>
          <p:cNvSpPr/>
          <p:nvPr/>
        </p:nvSpPr>
        <p:spPr>
          <a:xfrm>
            <a:off x="6067044" y="2743200"/>
            <a:ext cx="196596" cy="246888"/>
          </a:xfrm>
          <a:prstGeom prst="rect">
            <a:avLst/>
          </a:prstGeom>
          <a:solidFill>
            <a:srgbClr val="DCEDEE"/>
          </a:solidFill>
          <a:ln/>
        </p:spPr>
      </p:sp>
      <p:sp>
        <p:nvSpPr>
          <p:cNvPr id="62" name="Shape 59"/>
          <p:cNvSpPr/>
          <p:nvPr/>
        </p:nvSpPr>
        <p:spPr>
          <a:xfrm>
            <a:off x="6281928" y="2743200"/>
            <a:ext cx="196596" cy="246888"/>
          </a:xfrm>
          <a:prstGeom prst="rect">
            <a:avLst/>
          </a:prstGeom>
          <a:solidFill>
            <a:srgbClr val="14A6B0"/>
          </a:solidFill>
          <a:ln/>
        </p:spPr>
      </p:sp>
      <p:sp>
        <p:nvSpPr>
          <p:cNvPr id="63" name="Shape 60"/>
          <p:cNvSpPr/>
          <p:nvPr/>
        </p:nvSpPr>
        <p:spPr>
          <a:xfrm>
            <a:off x="6496812" y="2743200"/>
            <a:ext cx="196596" cy="246888"/>
          </a:xfrm>
          <a:prstGeom prst="rect">
            <a:avLst/>
          </a:prstGeom>
          <a:solidFill>
            <a:srgbClr val="DCEDEE"/>
          </a:solidFill>
          <a:ln/>
        </p:spPr>
      </p:sp>
      <p:sp>
        <p:nvSpPr>
          <p:cNvPr id="64" name="Shape 61"/>
          <p:cNvSpPr/>
          <p:nvPr/>
        </p:nvSpPr>
        <p:spPr>
          <a:xfrm>
            <a:off x="6711696" y="2743200"/>
            <a:ext cx="196596" cy="246888"/>
          </a:xfrm>
          <a:prstGeom prst="rect">
            <a:avLst/>
          </a:prstGeom>
          <a:solidFill>
            <a:srgbClr val="DCEDEE"/>
          </a:solidFill>
          <a:ln/>
        </p:spPr>
      </p:sp>
      <p:sp>
        <p:nvSpPr>
          <p:cNvPr id="65" name="Shape 62"/>
          <p:cNvSpPr/>
          <p:nvPr/>
        </p:nvSpPr>
        <p:spPr>
          <a:xfrm>
            <a:off x="6926580" y="2743200"/>
            <a:ext cx="196596" cy="246888"/>
          </a:xfrm>
          <a:prstGeom prst="rect">
            <a:avLst/>
          </a:prstGeom>
          <a:solidFill>
            <a:srgbClr val="0E7C86"/>
          </a:solidFill>
          <a:ln/>
        </p:spPr>
      </p:sp>
      <p:sp>
        <p:nvSpPr>
          <p:cNvPr id="66" name="Shape 63"/>
          <p:cNvSpPr/>
          <p:nvPr/>
        </p:nvSpPr>
        <p:spPr>
          <a:xfrm>
            <a:off x="7141464" y="2743200"/>
            <a:ext cx="196596" cy="246888"/>
          </a:xfrm>
          <a:prstGeom prst="rect">
            <a:avLst/>
          </a:prstGeom>
          <a:solidFill>
            <a:srgbClr val="14A6B0"/>
          </a:solidFill>
          <a:ln/>
        </p:spPr>
      </p:sp>
      <p:sp>
        <p:nvSpPr>
          <p:cNvPr id="67" name="Shape 64"/>
          <p:cNvSpPr/>
          <p:nvPr/>
        </p:nvSpPr>
        <p:spPr>
          <a:xfrm>
            <a:off x="7356348" y="2743200"/>
            <a:ext cx="196596" cy="246888"/>
          </a:xfrm>
          <a:prstGeom prst="rect">
            <a:avLst/>
          </a:prstGeom>
          <a:solidFill>
            <a:srgbClr val="0E7C86"/>
          </a:solidFill>
          <a:ln/>
        </p:spPr>
      </p:sp>
      <p:sp>
        <p:nvSpPr>
          <p:cNvPr id="68" name="Shape 65"/>
          <p:cNvSpPr/>
          <p:nvPr/>
        </p:nvSpPr>
        <p:spPr>
          <a:xfrm>
            <a:off x="7571232" y="2743200"/>
            <a:ext cx="196596" cy="246888"/>
          </a:xfrm>
          <a:prstGeom prst="rect">
            <a:avLst/>
          </a:prstGeom>
          <a:solidFill>
            <a:srgbClr val="14A6B0"/>
          </a:solidFill>
          <a:ln/>
        </p:spPr>
      </p:sp>
      <p:sp>
        <p:nvSpPr>
          <p:cNvPr id="69" name="Shape 66"/>
          <p:cNvSpPr/>
          <p:nvPr/>
        </p:nvSpPr>
        <p:spPr>
          <a:xfrm>
            <a:off x="7786116" y="2743200"/>
            <a:ext cx="196596" cy="246888"/>
          </a:xfrm>
          <a:prstGeom prst="rect">
            <a:avLst/>
          </a:prstGeom>
          <a:solidFill>
            <a:srgbClr val="0E7C86"/>
          </a:solidFill>
          <a:ln/>
        </p:spPr>
      </p:sp>
      <p:sp>
        <p:nvSpPr>
          <p:cNvPr id="70" name="Shape 67"/>
          <p:cNvSpPr/>
          <p:nvPr/>
        </p:nvSpPr>
        <p:spPr>
          <a:xfrm>
            <a:off x="8001000" y="2743200"/>
            <a:ext cx="196596" cy="246888"/>
          </a:xfrm>
          <a:prstGeom prst="rect">
            <a:avLst/>
          </a:prstGeom>
          <a:solidFill>
            <a:srgbClr val="0E7C86"/>
          </a:solidFill>
          <a:ln/>
        </p:spPr>
      </p:sp>
      <p:sp>
        <p:nvSpPr>
          <p:cNvPr id="71" name="Shape 68"/>
          <p:cNvSpPr/>
          <p:nvPr/>
        </p:nvSpPr>
        <p:spPr>
          <a:xfrm>
            <a:off x="8215884" y="2743200"/>
            <a:ext cx="196596" cy="246888"/>
          </a:xfrm>
          <a:prstGeom prst="rect">
            <a:avLst/>
          </a:prstGeom>
          <a:solidFill>
            <a:srgbClr val="DCEDEE"/>
          </a:solidFill>
          <a:ln/>
        </p:spPr>
      </p:sp>
      <p:sp>
        <p:nvSpPr>
          <p:cNvPr id="72" name="Shape 69"/>
          <p:cNvSpPr/>
          <p:nvPr/>
        </p:nvSpPr>
        <p:spPr>
          <a:xfrm>
            <a:off x="8430768" y="2743200"/>
            <a:ext cx="196596" cy="246888"/>
          </a:xfrm>
          <a:prstGeom prst="rect">
            <a:avLst/>
          </a:prstGeom>
          <a:solidFill>
            <a:srgbClr val="DCEDEE"/>
          </a:solidFill>
          <a:ln/>
        </p:spPr>
      </p:sp>
      <p:sp>
        <p:nvSpPr>
          <p:cNvPr id="73" name="Shape 70"/>
          <p:cNvSpPr/>
          <p:nvPr/>
        </p:nvSpPr>
        <p:spPr>
          <a:xfrm>
            <a:off x="8645652" y="2743200"/>
            <a:ext cx="196596" cy="246888"/>
          </a:xfrm>
          <a:prstGeom prst="rect">
            <a:avLst/>
          </a:prstGeom>
          <a:solidFill>
            <a:srgbClr val="DCEDEE"/>
          </a:solidFill>
          <a:ln/>
        </p:spPr>
      </p:sp>
      <p:sp>
        <p:nvSpPr>
          <p:cNvPr id="74" name="Shape 71"/>
          <p:cNvSpPr/>
          <p:nvPr/>
        </p:nvSpPr>
        <p:spPr>
          <a:xfrm>
            <a:off x="8860536" y="2743200"/>
            <a:ext cx="196596" cy="246888"/>
          </a:xfrm>
          <a:prstGeom prst="rect">
            <a:avLst/>
          </a:prstGeom>
          <a:solidFill>
            <a:srgbClr val="14A6B0"/>
          </a:solidFill>
          <a:ln/>
        </p:spPr>
      </p:sp>
      <p:sp>
        <p:nvSpPr>
          <p:cNvPr id="75" name="Shape 72"/>
          <p:cNvSpPr/>
          <p:nvPr/>
        </p:nvSpPr>
        <p:spPr>
          <a:xfrm>
            <a:off x="9075420" y="2743200"/>
            <a:ext cx="196596" cy="246888"/>
          </a:xfrm>
          <a:prstGeom prst="rect">
            <a:avLst/>
          </a:prstGeom>
          <a:solidFill>
            <a:srgbClr val="14A6B0"/>
          </a:solidFill>
          <a:ln/>
        </p:spPr>
      </p:sp>
      <p:sp>
        <p:nvSpPr>
          <p:cNvPr id="76" name="Shape 73"/>
          <p:cNvSpPr/>
          <p:nvPr/>
        </p:nvSpPr>
        <p:spPr>
          <a:xfrm>
            <a:off x="9290304" y="2743200"/>
            <a:ext cx="196596" cy="246888"/>
          </a:xfrm>
          <a:prstGeom prst="rect">
            <a:avLst/>
          </a:prstGeom>
          <a:solidFill>
            <a:srgbClr val="DCEDEE"/>
          </a:solidFill>
          <a:ln/>
        </p:spPr>
      </p:sp>
      <p:sp>
        <p:nvSpPr>
          <p:cNvPr id="77" name="Shape 74"/>
          <p:cNvSpPr/>
          <p:nvPr/>
        </p:nvSpPr>
        <p:spPr>
          <a:xfrm>
            <a:off x="9505188" y="2743200"/>
            <a:ext cx="196596" cy="246888"/>
          </a:xfrm>
          <a:prstGeom prst="rect">
            <a:avLst/>
          </a:prstGeom>
          <a:solidFill>
            <a:srgbClr val="14A6B0"/>
          </a:solidFill>
          <a:ln/>
        </p:spPr>
      </p:sp>
      <p:sp>
        <p:nvSpPr>
          <p:cNvPr id="78" name="Shape 75"/>
          <p:cNvSpPr/>
          <p:nvPr/>
        </p:nvSpPr>
        <p:spPr>
          <a:xfrm>
            <a:off x="9720072" y="2743200"/>
            <a:ext cx="196596" cy="246888"/>
          </a:xfrm>
          <a:prstGeom prst="rect">
            <a:avLst/>
          </a:prstGeom>
          <a:solidFill>
            <a:srgbClr val="DCEDEE"/>
          </a:solidFill>
          <a:ln/>
        </p:spPr>
      </p:sp>
      <p:sp>
        <p:nvSpPr>
          <p:cNvPr id="79" name="Shape 76"/>
          <p:cNvSpPr/>
          <p:nvPr/>
        </p:nvSpPr>
        <p:spPr>
          <a:xfrm>
            <a:off x="9934956" y="2743200"/>
            <a:ext cx="196596" cy="246888"/>
          </a:xfrm>
          <a:prstGeom prst="rect">
            <a:avLst/>
          </a:prstGeom>
          <a:solidFill>
            <a:srgbClr val="0E7C86"/>
          </a:solidFill>
          <a:ln/>
        </p:spPr>
      </p:sp>
      <p:sp>
        <p:nvSpPr>
          <p:cNvPr id="80" name="Shape 77"/>
          <p:cNvSpPr/>
          <p:nvPr/>
        </p:nvSpPr>
        <p:spPr>
          <a:xfrm>
            <a:off x="10149840" y="2743200"/>
            <a:ext cx="196596" cy="246888"/>
          </a:xfrm>
          <a:prstGeom prst="rect">
            <a:avLst/>
          </a:prstGeom>
          <a:solidFill>
            <a:srgbClr val="DCEDEE"/>
          </a:solidFill>
          <a:ln/>
        </p:spPr>
      </p:sp>
      <p:sp>
        <p:nvSpPr>
          <p:cNvPr id="81" name="Shape 78"/>
          <p:cNvSpPr/>
          <p:nvPr/>
        </p:nvSpPr>
        <p:spPr>
          <a:xfrm>
            <a:off x="10364724" y="2743200"/>
            <a:ext cx="196596" cy="246888"/>
          </a:xfrm>
          <a:prstGeom prst="rect">
            <a:avLst/>
          </a:prstGeom>
          <a:solidFill>
            <a:srgbClr val="DCEDEE"/>
          </a:solidFill>
          <a:ln/>
        </p:spPr>
      </p:sp>
      <p:sp>
        <p:nvSpPr>
          <p:cNvPr id="82" name="Shape 79"/>
          <p:cNvSpPr/>
          <p:nvPr/>
        </p:nvSpPr>
        <p:spPr>
          <a:xfrm>
            <a:off x="10579608" y="2743200"/>
            <a:ext cx="196596" cy="246888"/>
          </a:xfrm>
          <a:prstGeom prst="rect">
            <a:avLst/>
          </a:prstGeom>
          <a:solidFill>
            <a:srgbClr val="DCEDEE"/>
          </a:solidFill>
          <a:ln/>
        </p:spPr>
      </p:sp>
      <p:sp>
        <p:nvSpPr>
          <p:cNvPr id="83" name="Shape 80"/>
          <p:cNvSpPr/>
          <p:nvPr/>
        </p:nvSpPr>
        <p:spPr>
          <a:xfrm>
            <a:off x="10794492" y="2743200"/>
            <a:ext cx="196596" cy="246888"/>
          </a:xfrm>
          <a:prstGeom prst="rect">
            <a:avLst/>
          </a:prstGeom>
          <a:solidFill>
            <a:srgbClr val="DCEDEE"/>
          </a:solidFill>
          <a:ln/>
        </p:spPr>
      </p:sp>
      <p:sp>
        <p:nvSpPr>
          <p:cNvPr id="84" name="Shape 81"/>
          <p:cNvSpPr/>
          <p:nvPr/>
        </p:nvSpPr>
        <p:spPr>
          <a:xfrm>
            <a:off x="11009376" y="2743200"/>
            <a:ext cx="196596" cy="246888"/>
          </a:xfrm>
          <a:prstGeom prst="rect">
            <a:avLst/>
          </a:prstGeom>
          <a:solidFill>
            <a:srgbClr val="0E7C86"/>
          </a:solidFill>
          <a:ln/>
        </p:spPr>
      </p:sp>
      <p:sp>
        <p:nvSpPr>
          <p:cNvPr id="85" name="Shape 82"/>
          <p:cNvSpPr/>
          <p:nvPr/>
        </p:nvSpPr>
        <p:spPr>
          <a:xfrm>
            <a:off x="11224260" y="2743200"/>
            <a:ext cx="196596" cy="246888"/>
          </a:xfrm>
          <a:prstGeom prst="rect">
            <a:avLst/>
          </a:prstGeom>
          <a:solidFill>
            <a:srgbClr val="14A6B0"/>
          </a:solidFill>
          <a:ln/>
        </p:spPr>
      </p:sp>
      <p:sp>
        <p:nvSpPr>
          <p:cNvPr id="86" name="Shape 83"/>
          <p:cNvSpPr/>
          <p:nvPr/>
        </p:nvSpPr>
        <p:spPr>
          <a:xfrm>
            <a:off x="5852160" y="3017520"/>
            <a:ext cx="196596" cy="246888"/>
          </a:xfrm>
          <a:prstGeom prst="rect">
            <a:avLst/>
          </a:prstGeom>
          <a:solidFill>
            <a:srgbClr val="0E7C86"/>
          </a:solidFill>
          <a:ln/>
        </p:spPr>
      </p:sp>
      <p:sp>
        <p:nvSpPr>
          <p:cNvPr id="87" name="Shape 84"/>
          <p:cNvSpPr/>
          <p:nvPr/>
        </p:nvSpPr>
        <p:spPr>
          <a:xfrm>
            <a:off x="6067044" y="3017520"/>
            <a:ext cx="196596" cy="246888"/>
          </a:xfrm>
          <a:prstGeom prst="rect">
            <a:avLst/>
          </a:prstGeom>
          <a:solidFill>
            <a:srgbClr val="DCEDEE"/>
          </a:solidFill>
          <a:ln/>
        </p:spPr>
      </p:sp>
      <p:sp>
        <p:nvSpPr>
          <p:cNvPr id="88" name="Shape 85"/>
          <p:cNvSpPr/>
          <p:nvPr/>
        </p:nvSpPr>
        <p:spPr>
          <a:xfrm>
            <a:off x="6281928" y="3017520"/>
            <a:ext cx="196596" cy="246888"/>
          </a:xfrm>
          <a:prstGeom prst="rect">
            <a:avLst/>
          </a:prstGeom>
          <a:solidFill>
            <a:srgbClr val="DCEDEE"/>
          </a:solidFill>
          <a:ln/>
        </p:spPr>
      </p:sp>
      <p:sp>
        <p:nvSpPr>
          <p:cNvPr id="89" name="Shape 86"/>
          <p:cNvSpPr/>
          <p:nvPr/>
        </p:nvSpPr>
        <p:spPr>
          <a:xfrm>
            <a:off x="6496812" y="3017520"/>
            <a:ext cx="196596" cy="246888"/>
          </a:xfrm>
          <a:prstGeom prst="rect">
            <a:avLst/>
          </a:prstGeom>
          <a:solidFill>
            <a:srgbClr val="0E7C86"/>
          </a:solidFill>
          <a:ln/>
        </p:spPr>
      </p:sp>
      <p:sp>
        <p:nvSpPr>
          <p:cNvPr id="90" name="Shape 87"/>
          <p:cNvSpPr/>
          <p:nvPr/>
        </p:nvSpPr>
        <p:spPr>
          <a:xfrm>
            <a:off x="6711696" y="3017520"/>
            <a:ext cx="196596" cy="246888"/>
          </a:xfrm>
          <a:prstGeom prst="rect">
            <a:avLst/>
          </a:prstGeom>
          <a:solidFill>
            <a:srgbClr val="0E7C86"/>
          </a:solidFill>
          <a:ln/>
        </p:spPr>
      </p:sp>
      <p:sp>
        <p:nvSpPr>
          <p:cNvPr id="91" name="Shape 88"/>
          <p:cNvSpPr/>
          <p:nvPr/>
        </p:nvSpPr>
        <p:spPr>
          <a:xfrm>
            <a:off x="6926580" y="3017520"/>
            <a:ext cx="196596" cy="246888"/>
          </a:xfrm>
          <a:prstGeom prst="rect">
            <a:avLst/>
          </a:prstGeom>
          <a:solidFill>
            <a:srgbClr val="DCEDEE"/>
          </a:solidFill>
          <a:ln/>
        </p:spPr>
      </p:sp>
      <p:sp>
        <p:nvSpPr>
          <p:cNvPr id="92" name="Shape 89"/>
          <p:cNvSpPr/>
          <p:nvPr/>
        </p:nvSpPr>
        <p:spPr>
          <a:xfrm>
            <a:off x="7141464" y="3017520"/>
            <a:ext cx="196596" cy="246888"/>
          </a:xfrm>
          <a:prstGeom prst="rect">
            <a:avLst/>
          </a:prstGeom>
          <a:solidFill>
            <a:srgbClr val="14A6B0"/>
          </a:solidFill>
          <a:ln/>
        </p:spPr>
      </p:sp>
      <p:sp>
        <p:nvSpPr>
          <p:cNvPr id="93" name="Shape 90"/>
          <p:cNvSpPr/>
          <p:nvPr/>
        </p:nvSpPr>
        <p:spPr>
          <a:xfrm>
            <a:off x="7356348" y="3017520"/>
            <a:ext cx="196596" cy="246888"/>
          </a:xfrm>
          <a:prstGeom prst="rect">
            <a:avLst/>
          </a:prstGeom>
          <a:solidFill>
            <a:srgbClr val="0E7C86"/>
          </a:solidFill>
          <a:ln/>
        </p:spPr>
      </p:sp>
      <p:sp>
        <p:nvSpPr>
          <p:cNvPr id="94" name="Shape 91"/>
          <p:cNvSpPr/>
          <p:nvPr/>
        </p:nvSpPr>
        <p:spPr>
          <a:xfrm>
            <a:off x="7571232" y="3017520"/>
            <a:ext cx="196596" cy="246888"/>
          </a:xfrm>
          <a:prstGeom prst="rect">
            <a:avLst/>
          </a:prstGeom>
          <a:solidFill>
            <a:srgbClr val="14A6B0"/>
          </a:solidFill>
          <a:ln/>
        </p:spPr>
      </p:sp>
      <p:sp>
        <p:nvSpPr>
          <p:cNvPr id="95" name="Shape 92"/>
          <p:cNvSpPr/>
          <p:nvPr/>
        </p:nvSpPr>
        <p:spPr>
          <a:xfrm>
            <a:off x="7786116" y="3017520"/>
            <a:ext cx="196596" cy="246888"/>
          </a:xfrm>
          <a:prstGeom prst="rect">
            <a:avLst/>
          </a:prstGeom>
          <a:solidFill>
            <a:srgbClr val="DCEDEE"/>
          </a:solidFill>
          <a:ln/>
        </p:spPr>
      </p:sp>
      <p:sp>
        <p:nvSpPr>
          <p:cNvPr id="96" name="Shape 93"/>
          <p:cNvSpPr/>
          <p:nvPr/>
        </p:nvSpPr>
        <p:spPr>
          <a:xfrm>
            <a:off x="8001000" y="3017520"/>
            <a:ext cx="196596" cy="246888"/>
          </a:xfrm>
          <a:prstGeom prst="rect">
            <a:avLst/>
          </a:prstGeom>
          <a:solidFill>
            <a:srgbClr val="14A6B0"/>
          </a:solidFill>
          <a:ln/>
        </p:spPr>
      </p:sp>
      <p:sp>
        <p:nvSpPr>
          <p:cNvPr id="97" name="Shape 94"/>
          <p:cNvSpPr/>
          <p:nvPr/>
        </p:nvSpPr>
        <p:spPr>
          <a:xfrm>
            <a:off x="8215884" y="3017520"/>
            <a:ext cx="196596" cy="246888"/>
          </a:xfrm>
          <a:prstGeom prst="rect">
            <a:avLst/>
          </a:prstGeom>
          <a:solidFill>
            <a:srgbClr val="0E7C86"/>
          </a:solidFill>
          <a:ln/>
        </p:spPr>
      </p:sp>
      <p:sp>
        <p:nvSpPr>
          <p:cNvPr id="98" name="Shape 95"/>
          <p:cNvSpPr/>
          <p:nvPr/>
        </p:nvSpPr>
        <p:spPr>
          <a:xfrm>
            <a:off x="8430768" y="3017520"/>
            <a:ext cx="196596" cy="246888"/>
          </a:xfrm>
          <a:prstGeom prst="rect">
            <a:avLst/>
          </a:prstGeom>
          <a:solidFill>
            <a:srgbClr val="14A6B0"/>
          </a:solidFill>
          <a:ln/>
        </p:spPr>
      </p:sp>
      <p:sp>
        <p:nvSpPr>
          <p:cNvPr id="99" name="Shape 96"/>
          <p:cNvSpPr/>
          <p:nvPr/>
        </p:nvSpPr>
        <p:spPr>
          <a:xfrm>
            <a:off x="8645652" y="3017520"/>
            <a:ext cx="196596" cy="246888"/>
          </a:xfrm>
          <a:prstGeom prst="rect">
            <a:avLst/>
          </a:prstGeom>
          <a:solidFill>
            <a:srgbClr val="0E7C86"/>
          </a:solidFill>
          <a:ln/>
        </p:spPr>
      </p:sp>
      <p:sp>
        <p:nvSpPr>
          <p:cNvPr id="100" name="Shape 97"/>
          <p:cNvSpPr/>
          <p:nvPr/>
        </p:nvSpPr>
        <p:spPr>
          <a:xfrm>
            <a:off x="8860536" y="3017520"/>
            <a:ext cx="196596" cy="246888"/>
          </a:xfrm>
          <a:prstGeom prst="rect">
            <a:avLst/>
          </a:prstGeom>
          <a:solidFill>
            <a:srgbClr val="0E7C86"/>
          </a:solidFill>
          <a:ln/>
        </p:spPr>
      </p:sp>
      <p:sp>
        <p:nvSpPr>
          <p:cNvPr id="101" name="Shape 98"/>
          <p:cNvSpPr/>
          <p:nvPr/>
        </p:nvSpPr>
        <p:spPr>
          <a:xfrm>
            <a:off x="9075420" y="3017520"/>
            <a:ext cx="196596" cy="246888"/>
          </a:xfrm>
          <a:prstGeom prst="rect">
            <a:avLst/>
          </a:prstGeom>
          <a:solidFill>
            <a:srgbClr val="0E7C86"/>
          </a:solidFill>
          <a:ln/>
        </p:spPr>
      </p:sp>
      <p:sp>
        <p:nvSpPr>
          <p:cNvPr id="102" name="Shape 99"/>
          <p:cNvSpPr/>
          <p:nvPr/>
        </p:nvSpPr>
        <p:spPr>
          <a:xfrm>
            <a:off x="9290304" y="3017520"/>
            <a:ext cx="196596" cy="246888"/>
          </a:xfrm>
          <a:prstGeom prst="rect">
            <a:avLst/>
          </a:prstGeom>
          <a:solidFill>
            <a:srgbClr val="DCEDEE"/>
          </a:solidFill>
          <a:ln/>
        </p:spPr>
      </p:sp>
      <p:sp>
        <p:nvSpPr>
          <p:cNvPr id="103" name="Shape 100"/>
          <p:cNvSpPr/>
          <p:nvPr/>
        </p:nvSpPr>
        <p:spPr>
          <a:xfrm>
            <a:off x="9505188" y="3017520"/>
            <a:ext cx="196596" cy="246888"/>
          </a:xfrm>
          <a:prstGeom prst="rect">
            <a:avLst/>
          </a:prstGeom>
          <a:solidFill>
            <a:srgbClr val="DCEDEE"/>
          </a:solidFill>
          <a:ln/>
        </p:spPr>
      </p:sp>
      <p:sp>
        <p:nvSpPr>
          <p:cNvPr id="104" name="Shape 101"/>
          <p:cNvSpPr/>
          <p:nvPr/>
        </p:nvSpPr>
        <p:spPr>
          <a:xfrm>
            <a:off x="9720072" y="3017520"/>
            <a:ext cx="196596" cy="246888"/>
          </a:xfrm>
          <a:prstGeom prst="rect">
            <a:avLst/>
          </a:prstGeom>
          <a:solidFill>
            <a:srgbClr val="DCEDEE"/>
          </a:solidFill>
          <a:ln/>
        </p:spPr>
      </p:sp>
      <p:sp>
        <p:nvSpPr>
          <p:cNvPr id="105" name="Shape 102"/>
          <p:cNvSpPr/>
          <p:nvPr/>
        </p:nvSpPr>
        <p:spPr>
          <a:xfrm>
            <a:off x="9934956" y="3017520"/>
            <a:ext cx="196596" cy="246888"/>
          </a:xfrm>
          <a:prstGeom prst="rect">
            <a:avLst/>
          </a:prstGeom>
          <a:solidFill>
            <a:srgbClr val="0E7C86"/>
          </a:solidFill>
          <a:ln/>
        </p:spPr>
      </p:sp>
      <p:sp>
        <p:nvSpPr>
          <p:cNvPr id="106" name="Shape 103"/>
          <p:cNvSpPr/>
          <p:nvPr/>
        </p:nvSpPr>
        <p:spPr>
          <a:xfrm>
            <a:off x="10149840" y="3017520"/>
            <a:ext cx="196596" cy="246888"/>
          </a:xfrm>
          <a:prstGeom prst="rect">
            <a:avLst/>
          </a:prstGeom>
          <a:solidFill>
            <a:srgbClr val="DCEDEE"/>
          </a:solidFill>
          <a:ln/>
        </p:spPr>
      </p:sp>
      <p:sp>
        <p:nvSpPr>
          <p:cNvPr id="107" name="Shape 104"/>
          <p:cNvSpPr/>
          <p:nvPr/>
        </p:nvSpPr>
        <p:spPr>
          <a:xfrm>
            <a:off x="10364724" y="3017520"/>
            <a:ext cx="196596" cy="246888"/>
          </a:xfrm>
          <a:prstGeom prst="rect">
            <a:avLst/>
          </a:prstGeom>
          <a:solidFill>
            <a:srgbClr val="14A6B0"/>
          </a:solidFill>
          <a:ln/>
        </p:spPr>
      </p:sp>
      <p:sp>
        <p:nvSpPr>
          <p:cNvPr id="108" name="Shape 105"/>
          <p:cNvSpPr/>
          <p:nvPr/>
        </p:nvSpPr>
        <p:spPr>
          <a:xfrm>
            <a:off x="10579608" y="3017520"/>
            <a:ext cx="196596" cy="246888"/>
          </a:xfrm>
          <a:prstGeom prst="rect">
            <a:avLst/>
          </a:prstGeom>
          <a:solidFill>
            <a:srgbClr val="14A6B0"/>
          </a:solidFill>
          <a:ln/>
        </p:spPr>
      </p:sp>
      <p:sp>
        <p:nvSpPr>
          <p:cNvPr id="109" name="Shape 106"/>
          <p:cNvSpPr/>
          <p:nvPr/>
        </p:nvSpPr>
        <p:spPr>
          <a:xfrm>
            <a:off x="10794492" y="3017520"/>
            <a:ext cx="196596" cy="246888"/>
          </a:xfrm>
          <a:prstGeom prst="rect">
            <a:avLst/>
          </a:prstGeom>
          <a:solidFill>
            <a:srgbClr val="0E7C86"/>
          </a:solidFill>
          <a:ln/>
        </p:spPr>
      </p:sp>
      <p:sp>
        <p:nvSpPr>
          <p:cNvPr id="110" name="Shape 107"/>
          <p:cNvSpPr/>
          <p:nvPr/>
        </p:nvSpPr>
        <p:spPr>
          <a:xfrm>
            <a:off x="11009376" y="3017520"/>
            <a:ext cx="196596" cy="246888"/>
          </a:xfrm>
          <a:prstGeom prst="rect">
            <a:avLst/>
          </a:prstGeom>
          <a:solidFill>
            <a:srgbClr val="DCEDEE"/>
          </a:solidFill>
          <a:ln/>
        </p:spPr>
      </p:sp>
      <p:sp>
        <p:nvSpPr>
          <p:cNvPr id="111" name="Shape 108"/>
          <p:cNvSpPr/>
          <p:nvPr/>
        </p:nvSpPr>
        <p:spPr>
          <a:xfrm>
            <a:off x="11224260" y="3017520"/>
            <a:ext cx="196596" cy="246888"/>
          </a:xfrm>
          <a:prstGeom prst="rect">
            <a:avLst/>
          </a:prstGeom>
          <a:solidFill>
            <a:srgbClr val="14A6B0"/>
          </a:solidFill>
          <a:ln/>
        </p:spPr>
      </p:sp>
      <p:sp>
        <p:nvSpPr>
          <p:cNvPr id="112" name="Shape 109"/>
          <p:cNvSpPr/>
          <p:nvPr/>
        </p:nvSpPr>
        <p:spPr>
          <a:xfrm>
            <a:off x="5852160" y="3291840"/>
            <a:ext cx="196596" cy="246888"/>
          </a:xfrm>
          <a:prstGeom prst="rect">
            <a:avLst/>
          </a:prstGeom>
          <a:solidFill>
            <a:srgbClr val="0E7C86"/>
          </a:solidFill>
          <a:ln/>
        </p:spPr>
      </p:sp>
      <p:sp>
        <p:nvSpPr>
          <p:cNvPr id="113" name="Shape 110"/>
          <p:cNvSpPr/>
          <p:nvPr/>
        </p:nvSpPr>
        <p:spPr>
          <a:xfrm>
            <a:off x="6067044" y="3291840"/>
            <a:ext cx="196596" cy="246888"/>
          </a:xfrm>
          <a:prstGeom prst="rect">
            <a:avLst/>
          </a:prstGeom>
          <a:solidFill>
            <a:srgbClr val="0E7C86"/>
          </a:solidFill>
          <a:ln/>
        </p:spPr>
      </p:sp>
      <p:sp>
        <p:nvSpPr>
          <p:cNvPr id="114" name="Shape 111"/>
          <p:cNvSpPr/>
          <p:nvPr/>
        </p:nvSpPr>
        <p:spPr>
          <a:xfrm>
            <a:off x="6281928" y="3291840"/>
            <a:ext cx="196596" cy="246888"/>
          </a:xfrm>
          <a:prstGeom prst="rect">
            <a:avLst/>
          </a:prstGeom>
          <a:solidFill>
            <a:srgbClr val="DCEDEE"/>
          </a:solidFill>
          <a:ln/>
        </p:spPr>
      </p:sp>
      <p:sp>
        <p:nvSpPr>
          <p:cNvPr id="115" name="Shape 112"/>
          <p:cNvSpPr/>
          <p:nvPr/>
        </p:nvSpPr>
        <p:spPr>
          <a:xfrm>
            <a:off x="6496812" y="3291840"/>
            <a:ext cx="196596" cy="246888"/>
          </a:xfrm>
          <a:prstGeom prst="rect">
            <a:avLst/>
          </a:prstGeom>
          <a:solidFill>
            <a:srgbClr val="DCEDEE"/>
          </a:solidFill>
          <a:ln/>
        </p:spPr>
      </p:sp>
      <p:sp>
        <p:nvSpPr>
          <p:cNvPr id="116" name="Shape 113"/>
          <p:cNvSpPr/>
          <p:nvPr/>
        </p:nvSpPr>
        <p:spPr>
          <a:xfrm>
            <a:off x="6711696" y="3291840"/>
            <a:ext cx="196596" cy="246888"/>
          </a:xfrm>
          <a:prstGeom prst="rect">
            <a:avLst/>
          </a:prstGeom>
          <a:solidFill>
            <a:srgbClr val="14A6B0"/>
          </a:solidFill>
          <a:ln/>
        </p:spPr>
      </p:sp>
      <p:sp>
        <p:nvSpPr>
          <p:cNvPr id="117" name="Shape 114"/>
          <p:cNvSpPr/>
          <p:nvPr/>
        </p:nvSpPr>
        <p:spPr>
          <a:xfrm>
            <a:off x="6926580" y="3291840"/>
            <a:ext cx="196596" cy="246888"/>
          </a:xfrm>
          <a:prstGeom prst="rect">
            <a:avLst/>
          </a:prstGeom>
          <a:solidFill>
            <a:srgbClr val="14A6B0"/>
          </a:solidFill>
          <a:ln/>
        </p:spPr>
      </p:sp>
      <p:sp>
        <p:nvSpPr>
          <p:cNvPr id="118" name="Shape 115"/>
          <p:cNvSpPr/>
          <p:nvPr/>
        </p:nvSpPr>
        <p:spPr>
          <a:xfrm>
            <a:off x="7141464" y="3291840"/>
            <a:ext cx="196596" cy="246888"/>
          </a:xfrm>
          <a:prstGeom prst="rect">
            <a:avLst/>
          </a:prstGeom>
          <a:solidFill>
            <a:srgbClr val="0E7C86"/>
          </a:solidFill>
          <a:ln/>
        </p:spPr>
      </p:sp>
      <p:sp>
        <p:nvSpPr>
          <p:cNvPr id="119" name="Shape 116"/>
          <p:cNvSpPr/>
          <p:nvPr/>
        </p:nvSpPr>
        <p:spPr>
          <a:xfrm>
            <a:off x="7356348" y="3291840"/>
            <a:ext cx="196596" cy="246888"/>
          </a:xfrm>
          <a:prstGeom prst="rect">
            <a:avLst/>
          </a:prstGeom>
          <a:solidFill>
            <a:srgbClr val="14A6B0"/>
          </a:solidFill>
          <a:ln/>
        </p:spPr>
      </p:sp>
      <p:sp>
        <p:nvSpPr>
          <p:cNvPr id="120" name="Shape 117"/>
          <p:cNvSpPr/>
          <p:nvPr/>
        </p:nvSpPr>
        <p:spPr>
          <a:xfrm>
            <a:off x="7571232" y="3291840"/>
            <a:ext cx="196596" cy="246888"/>
          </a:xfrm>
          <a:prstGeom prst="rect">
            <a:avLst/>
          </a:prstGeom>
          <a:solidFill>
            <a:srgbClr val="0E7C86"/>
          </a:solidFill>
          <a:ln/>
        </p:spPr>
      </p:sp>
      <p:sp>
        <p:nvSpPr>
          <p:cNvPr id="121" name="Shape 118"/>
          <p:cNvSpPr/>
          <p:nvPr/>
        </p:nvSpPr>
        <p:spPr>
          <a:xfrm>
            <a:off x="7786116" y="3291840"/>
            <a:ext cx="196596" cy="246888"/>
          </a:xfrm>
          <a:prstGeom prst="rect">
            <a:avLst/>
          </a:prstGeom>
          <a:solidFill>
            <a:srgbClr val="14A6B0"/>
          </a:solidFill>
          <a:ln/>
        </p:spPr>
      </p:sp>
      <p:sp>
        <p:nvSpPr>
          <p:cNvPr id="122" name="Shape 119"/>
          <p:cNvSpPr/>
          <p:nvPr/>
        </p:nvSpPr>
        <p:spPr>
          <a:xfrm>
            <a:off x="8001000" y="3291840"/>
            <a:ext cx="196596" cy="246888"/>
          </a:xfrm>
          <a:prstGeom prst="rect">
            <a:avLst/>
          </a:prstGeom>
          <a:solidFill>
            <a:srgbClr val="DCEDEE"/>
          </a:solidFill>
          <a:ln/>
        </p:spPr>
      </p:sp>
      <p:sp>
        <p:nvSpPr>
          <p:cNvPr id="123" name="Shape 120"/>
          <p:cNvSpPr/>
          <p:nvPr/>
        </p:nvSpPr>
        <p:spPr>
          <a:xfrm>
            <a:off x="8215884" y="3291840"/>
            <a:ext cx="196596" cy="246888"/>
          </a:xfrm>
          <a:prstGeom prst="rect">
            <a:avLst/>
          </a:prstGeom>
          <a:solidFill>
            <a:srgbClr val="DCEDEE"/>
          </a:solidFill>
          <a:ln/>
        </p:spPr>
      </p:sp>
      <p:sp>
        <p:nvSpPr>
          <p:cNvPr id="124" name="Shape 121"/>
          <p:cNvSpPr/>
          <p:nvPr/>
        </p:nvSpPr>
        <p:spPr>
          <a:xfrm>
            <a:off x="8430768" y="3291840"/>
            <a:ext cx="196596" cy="246888"/>
          </a:xfrm>
          <a:prstGeom prst="rect">
            <a:avLst/>
          </a:prstGeom>
          <a:solidFill>
            <a:srgbClr val="0E7C86"/>
          </a:solidFill>
          <a:ln/>
        </p:spPr>
      </p:sp>
      <p:sp>
        <p:nvSpPr>
          <p:cNvPr id="125" name="Shape 122"/>
          <p:cNvSpPr/>
          <p:nvPr/>
        </p:nvSpPr>
        <p:spPr>
          <a:xfrm>
            <a:off x="8645652" y="3291840"/>
            <a:ext cx="196596" cy="246888"/>
          </a:xfrm>
          <a:prstGeom prst="rect">
            <a:avLst/>
          </a:prstGeom>
          <a:solidFill>
            <a:srgbClr val="DCEDEE"/>
          </a:solidFill>
          <a:ln/>
        </p:spPr>
      </p:sp>
      <p:sp>
        <p:nvSpPr>
          <p:cNvPr id="126" name="Shape 123"/>
          <p:cNvSpPr/>
          <p:nvPr/>
        </p:nvSpPr>
        <p:spPr>
          <a:xfrm>
            <a:off x="8860536" y="3291840"/>
            <a:ext cx="196596" cy="246888"/>
          </a:xfrm>
          <a:prstGeom prst="rect">
            <a:avLst/>
          </a:prstGeom>
          <a:solidFill>
            <a:srgbClr val="14A6B0"/>
          </a:solidFill>
          <a:ln/>
        </p:spPr>
      </p:sp>
      <p:sp>
        <p:nvSpPr>
          <p:cNvPr id="127" name="Shape 124"/>
          <p:cNvSpPr/>
          <p:nvPr/>
        </p:nvSpPr>
        <p:spPr>
          <a:xfrm>
            <a:off x="9075420" y="3291840"/>
            <a:ext cx="196596" cy="246888"/>
          </a:xfrm>
          <a:prstGeom prst="rect">
            <a:avLst/>
          </a:prstGeom>
          <a:solidFill>
            <a:srgbClr val="DCEDEE"/>
          </a:solidFill>
          <a:ln/>
        </p:spPr>
      </p:sp>
      <p:sp>
        <p:nvSpPr>
          <p:cNvPr id="128" name="Shape 125"/>
          <p:cNvSpPr/>
          <p:nvPr/>
        </p:nvSpPr>
        <p:spPr>
          <a:xfrm>
            <a:off x="9290304" y="3291840"/>
            <a:ext cx="196596" cy="246888"/>
          </a:xfrm>
          <a:prstGeom prst="rect">
            <a:avLst/>
          </a:prstGeom>
          <a:solidFill>
            <a:srgbClr val="14A6B0"/>
          </a:solidFill>
          <a:ln/>
        </p:spPr>
      </p:sp>
      <p:sp>
        <p:nvSpPr>
          <p:cNvPr id="129" name="Shape 126"/>
          <p:cNvSpPr/>
          <p:nvPr/>
        </p:nvSpPr>
        <p:spPr>
          <a:xfrm>
            <a:off x="9505188" y="3291840"/>
            <a:ext cx="196596" cy="246888"/>
          </a:xfrm>
          <a:prstGeom prst="rect">
            <a:avLst/>
          </a:prstGeom>
          <a:solidFill>
            <a:srgbClr val="0E7C86"/>
          </a:solidFill>
          <a:ln/>
        </p:spPr>
      </p:sp>
      <p:sp>
        <p:nvSpPr>
          <p:cNvPr id="130" name="Shape 127"/>
          <p:cNvSpPr/>
          <p:nvPr/>
        </p:nvSpPr>
        <p:spPr>
          <a:xfrm>
            <a:off x="9720072" y="3291840"/>
            <a:ext cx="196596" cy="246888"/>
          </a:xfrm>
          <a:prstGeom prst="rect">
            <a:avLst/>
          </a:prstGeom>
          <a:solidFill>
            <a:srgbClr val="DCEDEE"/>
          </a:solidFill>
          <a:ln/>
        </p:spPr>
      </p:sp>
      <p:sp>
        <p:nvSpPr>
          <p:cNvPr id="131" name="Shape 128"/>
          <p:cNvSpPr/>
          <p:nvPr/>
        </p:nvSpPr>
        <p:spPr>
          <a:xfrm>
            <a:off x="9934956" y="3291840"/>
            <a:ext cx="196596" cy="246888"/>
          </a:xfrm>
          <a:prstGeom prst="rect">
            <a:avLst/>
          </a:prstGeom>
          <a:solidFill>
            <a:srgbClr val="DCEDEE"/>
          </a:solidFill>
          <a:ln/>
        </p:spPr>
      </p:sp>
      <p:sp>
        <p:nvSpPr>
          <p:cNvPr id="132" name="Shape 129"/>
          <p:cNvSpPr/>
          <p:nvPr/>
        </p:nvSpPr>
        <p:spPr>
          <a:xfrm>
            <a:off x="10149840" y="3291840"/>
            <a:ext cx="196596" cy="246888"/>
          </a:xfrm>
          <a:prstGeom prst="rect">
            <a:avLst/>
          </a:prstGeom>
          <a:solidFill>
            <a:srgbClr val="0E7C86"/>
          </a:solidFill>
          <a:ln/>
        </p:spPr>
      </p:sp>
      <p:sp>
        <p:nvSpPr>
          <p:cNvPr id="133" name="Shape 130"/>
          <p:cNvSpPr/>
          <p:nvPr/>
        </p:nvSpPr>
        <p:spPr>
          <a:xfrm>
            <a:off x="10364724" y="3291840"/>
            <a:ext cx="196596" cy="246888"/>
          </a:xfrm>
          <a:prstGeom prst="rect">
            <a:avLst/>
          </a:prstGeom>
          <a:solidFill>
            <a:srgbClr val="0E7C86"/>
          </a:solidFill>
          <a:ln/>
        </p:spPr>
      </p:sp>
      <p:sp>
        <p:nvSpPr>
          <p:cNvPr id="134" name="Shape 131"/>
          <p:cNvSpPr/>
          <p:nvPr/>
        </p:nvSpPr>
        <p:spPr>
          <a:xfrm>
            <a:off x="10579608" y="3291840"/>
            <a:ext cx="196596" cy="246888"/>
          </a:xfrm>
          <a:prstGeom prst="rect">
            <a:avLst/>
          </a:prstGeom>
          <a:solidFill>
            <a:srgbClr val="14A6B0"/>
          </a:solidFill>
          <a:ln/>
        </p:spPr>
      </p:sp>
      <p:sp>
        <p:nvSpPr>
          <p:cNvPr id="135" name="Shape 132"/>
          <p:cNvSpPr/>
          <p:nvPr/>
        </p:nvSpPr>
        <p:spPr>
          <a:xfrm>
            <a:off x="10794492" y="3291840"/>
            <a:ext cx="196596" cy="246888"/>
          </a:xfrm>
          <a:prstGeom prst="rect">
            <a:avLst/>
          </a:prstGeom>
          <a:solidFill>
            <a:srgbClr val="DCEDEE"/>
          </a:solidFill>
          <a:ln/>
        </p:spPr>
      </p:sp>
      <p:sp>
        <p:nvSpPr>
          <p:cNvPr id="136" name="Shape 133"/>
          <p:cNvSpPr/>
          <p:nvPr/>
        </p:nvSpPr>
        <p:spPr>
          <a:xfrm>
            <a:off x="11009376" y="3291840"/>
            <a:ext cx="196596" cy="246888"/>
          </a:xfrm>
          <a:prstGeom prst="rect">
            <a:avLst/>
          </a:prstGeom>
          <a:solidFill>
            <a:srgbClr val="14A6B0"/>
          </a:solidFill>
          <a:ln/>
        </p:spPr>
      </p:sp>
      <p:sp>
        <p:nvSpPr>
          <p:cNvPr id="137" name="Shape 134"/>
          <p:cNvSpPr/>
          <p:nvPr/>
        </p:nvSpPr>
        <p:spPr>
          <a:xfrm>
            <a:off x="11224260" y="3291840"/>
            <a:ext cx="196596" cy="246888"/>
          </a:xfrm>
          <a:prstGeom prst="rect">
            <a:avLst/>
          </a:prstGeom>
          <a:solidFill>
            <a:srgbClr val="14A6B0"/>
          </a:solidFill>
          <a:ln/>
        </p:spPr>
      </p:sp>
      <p:sp>
        <p:nvSpPr>
          <p:cNvPr id="138" name="Shape 135"/>
          <p:cNvSpPr/>
          <p:nvPr/>
        </p:nvSpPr>
        <p:spPr>
          <a:xfrm>
            <a:off x="5852160" y="3566160"/>
            <a:ext cx="196596" cy="246888"/>
          </a:xfrm>
          <a:prstGeom prst="rect">
            <a:avLst/>
          </a:prstGeom>
          <a:solidFill>
            <a:srgbClr val="0E7C86"/>
          </a:solidFill>
          <a:ln/>
        </p:spPr>
      </p:sp>
      <p:sp>
        <p:nvSpPr>
          <p:cNvPr id="139" name="Shape 136"/>
          <p:cNvSpPr/>
          <p:nvPr/>
        </p:nvSpPr>
        <p:spPr>
          <a:xfrm>
            <a:off x="6067044" y="3566160"/>
            <a:ext cx="196596" cy="246888"/>
          </a:xfrm>
          <a:prstGeom prst="rect">
            <a:avLst/>
          </a:prstGeom>
          <a:solidFill>
            <a:srgbClr val="0E7C86"/>
          </a:solidFill>
          <a:ln/>
        </p:spPr>
      </p:sp>
      <p:sp>
        <p:nvSpPr>
          <p:cNvPr id="140" name="Shape 137"/>
          <p:cNvSpPr/>
          <p:nvPr/>
        </p:nvSpPr>
        <p:spPr>
          <a:xfrm>
            <a:off x="6281928" y="3566160"/>
            <a:ext cx="196596" cy="246888"/>
          </a:xfrm>
          <a:prstGeom prst="rect">
            <a:avLst/>
          </a:prstGeom>
          <a:solidFill>
            <a:srgbClr val="0E7C86"/>
          </a:solidFill>
          <a:ln/>
        </p:spPr>
      </p:sp>
      <p:sp>
        <p:nvSpPr>
          <p:cNvPr id="141" name="Shape 138"/>
          <p:cNvSpPr/>
          <p:nvPr/>
        </p:nvSpPr>
        <p:spPr>
          <a:xfrm>
            <a:off x="6496812" y="3566160"/>
            <a:ext cx="196596" cy="246888"/>
          </a:xfrm>
          <a:prstGeom prst="rect">
            <a:avLst/>
          </a:prstGeom>
          <a:solidFill>
            <a:srgbClr val="0E7C86"/>
          </a:solidFill>
          <a:ln/>
        </p:spPr>
      </p:sp>
      <p:sp>
        <p:nvSpPr>
          <p:cNvPr id="142" name="Shape 139"/>
          <p:cNvSpPr/>
          <p:nvPr/>
        </p:nvSpPr>
        <p:spPr>
          <a:xfrm>
            <a:off x="6711696" y="3566160"/>
            <a:ext cx="196596" cy="246888"/>
          </a:xfrm>
          <a:prstGeom prst="rect">
            <a:avLst/>
          </a:prstGeom>
          <a:solidFill>
            <a:srgbClr val="0E7C86"/>
          </a:solidFill>
          <a:ln/>
        </p:spPr>
      </p:sp>
      <p:sp>
        <p:nvSpPr>
          <p:cNvPr id="143" name="Shape 140"/>
          <p:cNvSpPr/>
          <p:nvPr/>
        </p:nvSpPr>
        <p:spPr>
          <a:xfrm>
            <a:off x="6926580" y="3566160"/>
            <a:ext cx="196596" cy="246888"/>
          </a:xfrm>
          <a:prstGeom prst="rect">
            <a:avLst/>
          </a:prstGeom>
          <a:solidFill>
            <a:srgbClr val="DCEDEE"/>
          </a:solidFill>
          <a:ln/>
        </p:spPr>
      </p:sp>
      <p:sp>
        <p:nvSpPr>
          <p:cNvPr id="144" name="Shape 141"/>
          <p:cNvSpPr/>
          <p:nvPr/>
        </p:nvSpPr>
        <p:spPr>
          <a:xfrm>
            <a:off x="7141464" y="3566160"/>
            <a:ext cx="196596" cy="246888"/>
          </a:xfrm>
          <a:prstGeom prst="rect">
            <a:avLst/>
          </a:prstGeom>
          <a:solidFill>
            <a:srgbClr val="DCEDEE"/>
          </a:solidFill>
          <a:ln/>
        </p:spPr>
      </p:sp>
      <p:sp>
        <p:nvSpPr>
          <p:cNvPr id="145" name="Shape 142"/>
          <p:cNvSpPr/>
          <p:nvPr/>
        </p:nvSpPr>
        <p:spPr>
          <a:xfrm>
            <a:off x="7356348" y="3566160"/>
            <a:ext cx="196596" cy="246888"/>
          </a:xfrm>
          <a:prstGeom prst="rect">
            <a:avLst/>
          </a:prstGeom>
          <a:solidFill>
            <a:srgbClr val="DCEDEE"/>
          </a:solidFill>
          <a:ln/>
        </p:spPr>
      </p:sp>
      <p:sp>
        <p:nvSpPr>
          <p:cNvPr id="146" name="Shape 143"/>
          <p:cNvSpPr/>
          <p:nvPr/>
        </p:nvSpPr>
        <p:spPr>
          <a:xfrm>
            <a:off x="7571232" y="3566160"/>
            <a:ext cx="196596" cy="246888"/>
          </a:xfrm>
          <a:prstGeom prst="rect">
            <a:avLst/>
          </a:prstGeom>
          <a:solidFill>
            <a:srgbClr val="DCEDEE"/>
          </a:solidFill>
          <a:ln/>
        </p:spPr>
      </p:sp>
      <p:sp>
        <p:nvSpPr>
          <p:cNvPr id="147" name="Shape 144"/>
          <p:cNvSpPr/>
          <p:nvPr/>
        </p:nvSpPr>
        <p:spPr>
          <a:xfrm>
            <a:off x="7786116" y="3566160"/>
            <a:ext cx="196596" cy="246888"/>
          </a:xfrm>
          <a:prstGeom prst="rect">
            <a:avLst/>
          </a:prstGeom>
          <a:solidFill>
            <a:srgbClr val="14A6B0"/>
          </a:solidFill>
          <a:ln/>
        </p:spPr>
      </p:sp>
      <p:sp>
        <p:nvSpPr>
          <p:cNvPr id="148" name="Shape 145"/>
          <p:cNvSpPr/>
          <p:nvPr/>
        </p:nvSpPr>
        <p:spPr>
          <a:xfrm>
            <a:off x="8001000" y="3566160"/>
            <a:ext cx="196596" cy="246888"/>
          </a:xfrm>
          <a:prstGeom prst="rect">
            <a:avLst/>
          </a:prstGeom>
          <a:solidFill>
            <a:srgbClr val="0E7C86"/>
          </a:solidFill>
          <a:ln/>
        </p:spPr>
      </p:sp>
      <p:sp>
        <p:nvSpPr>
          <p:cNvPr id="149" name="Shape 146"/>
          <p:cNvSpPr/>
          <p:nvPr/>
        </p:nvSpPr>
        <p:spPr>
          <a:xfrm>
            <a:off x="8215884" y="3566160"/>
            <a:ext cx="196596" cy="246888"/>
          </a:xfrm>
          <a:prstGeom prst="rect">
            <a:avLst/>
          </a:prstGeom>
          <a:solidFill>
            <a:srgbClr val="DCEDEE"/>
          </a:solidFill>
          <a:ln/>
        </p:spPr>
      </p:sp>
      <p:sp>
        <p:nvSpPr>
          <p:cNvPr id="150" name="Shape 147"/>
          <p:cNvSpPr/>
          <p:nvPr/>
        </p:nvSpPr>
        <p:spPr>
          <a:xfrm>
            <a:off x="8430768" y="3566160"/>
            <a:ext cx="196596" cy="246888"/>
          </a:xfrm>
          <a:prstGeom prst="rect">
            <a:avLst/>
          </a:prstGeom>
          <a:solidFill>
            <a:srgbClr val="14A6B0"/>
          </a:solidFill>
          <a:ln/>
        </p:spPr>
      </p:sp>
      <p:sp>
        <p:nvSpPr>
          <p:cNvPr id="151" name="Shape 148"/>
          <p:cNvSpPr/>
          <p:nvPr/>
        </p:nvSpPr>
        <p:spPr>
          <a:xfrm>
            <a:off x="8645652" y="3566160"/>
            <a:ext cx="196596" cy="246888"/>
          </a:xfrm>
          <a:prstGeom prst="rect">
            <a:avLst/>
          </a:prstGeom>
          <a:solidFill>
            <a:srgbClr val="DCEDEE"/>
          </a:solidFill>
          <a:ln/>
        </p:spPr>
      </p:sp>
      <p:sp>
        <p:nvSpPr>
          <p:cNvPr id="152" name="Shape 149"/>
          <p:cNvSpPr/>
          <p:nvPr/>
        </p:nvSpPr>
        <p:spPr>
          <a:xfrm>
            <a:off x="8860536" y="3566160"/>
            <a:ext cx="196596" cy="246888"/>
          </a:xfrm>
          <a:prstGeom prst="rect">
            <a:avLst/>
          </a:prstGeom>
          <a:solidFill>
            <a:srgbClr val="14A6B0"/>
          </a:solidFill>
          <a:ln/>
        </p:spPr>
      </p:sp>
      <p:sp>
        <p:nvSpPr>
          <p:cNvPr id="153" name="Shape 150"/>
          <p:cNvSpPr/>
          <p:nvPr/>
        </p:nvSpPr>
        <p:spPr>
          <a:xfrm>
            <a:off x="9075420" y="3566160"/>
            <a:ext cx="196596" cy="246888"/>
          </a:xfrm>
          <a:prstGeom prst="rect">
            <a:avLst/>
          </a:prstGeom>
          <a:solidFill>
            <a:srgbClr val="14A6B0"/>
          </a:solidFill>
          <a:ln/>
        </p:spPr>
      </p:sp>
      <p:sp>
        <p:nvSpPr>
          <p:cNvPr id="154" name="Shape 151"/>
          <p:cNvSpPr/>
          <p:nvPr/>
        </p:nvSpPr>
        <p:spPr>
          <a:xfrm>
            <a:off x="9290304" y="3566160"/>
            <a:ext cx="196596" cy="246888"/>
          </a:xfrm>
          <a:prstGeom prst="rect">
            <a:avLst/>
          </a:prstGeom>
          <a:solidFill>
            <a:srgbClr val="DCEDEE"/>
          </a:solidFill>
          <a:ln/>
        </p:spPr>
      </p:sp>
      <p:sp>
        <p:nvSpPr>
          <p:cNvPr id="155" name="Shape 152"/>
          <p:cNvSpPr/>
          <p:nvPr/>
        </p:nvSpPr>
        <p:spPr>
          <a:xfrm>
            <a:off x="9505188" y="3566160"/>
            <a:ext cx="196596" cy="246888"/>
          </a:xfrm>
          <a:prstGeom prst="rect">
            <a:avLst/>
          </a:prstGeom>
          <a:solidFill>
            <a:srgbClr val="DCEDEE"/>
          </a:solidFill>
          <a:ln/>
        </p:spPr>
      </p:sp>
      <p:sp>
        <p:nvSpPr>
          <p:cNvPr id="156" name="Shape 153"/>
          <p:cNvSpPr/>
          <p:nvPr/>
        </p:nvSpPr>
        <p:spPr>
          <a:xfrm>
            <a:off x="9720072" y="3566160"/>
            <a:ext cx="196596" cy="246888"/>
          </a:xfrm>
          <a:prstGeom prst="rect">
            <a:avLst/>
          </a:prstGeom>
          <a:solidFill>
            <a:srgbClr val="0E7C86"/>
          </a:solidFill>
          <a:ln/>
        </p:spPr>
      </p:sp>
      <p:sp>
        <p:nvSpPr>
          <p:cNvPr id="157" name="Shape 154"/>
          <p:cNvSpPr/>
          <p:nvPr/>
        </p:nvSpPr>
        <p:spPr>
          <a:xfrm>
            <a:off x="9934956" y="3566160"/>
            <a:ext cx="196596" cy="246888"/>
          </a:xfrm>
          <a:prstGeom prst="rect">
            <a:avLst/>
          </a:prstGeom>
          <a:solidFill>
            <a:srgbClr val="14A6B0"/>
          </a:solidFill>
          <a:ln/>
        </p:spPr>
      </p:sp>
      <p:sp>
        <p:nvSpPr>
          <p:cNvPr id="158" name="Shape 155"/>
          <p:cNvSpPr/>
          <p:nvPr/>
        </p:nvSpPr>
        <p:spPr>
          <a:xfrm>
            <a:off x="10149840" y="3566160"/>
            <a:ext cx="196596" cy="246888"/>
          </a:xfrm>
          <a:prstGeom prst="rect">
            <a:avLst/>
          </a:prstGeom>
          <a:solidFill>
            <a:srgbClr val="0E7C86"/>
          </a:solidFill>
          <a:ln/>
        </p:spPr>
      </p:sp>
      <p:sp>
        <p:nvSpPr>
          <p:cNvPr id="159" name="Shape 156"/>
          <p:cNvSpPr/>
          <p:nvPr/>
        </p:nvSpPr>
        <p:spPr>
          <a:xfrm>
            <a:off x="10364724" y="3566160"/>
            <a:ext cx="196596" cy="246888"/>
          </a:xfrm>
          <a:prstGeom prst="rect">
            <a:avLst/>
          </a:prstGeom>
          <a:solidFill>
            <a:srgbClr val="DCEDEE"/>
          </a:solidFill>
          <a:ln/>
        </p:spPr>
      </p:sp>
      <p:sp>
        <p:nvSpPr>
          <p:cNvPr id="160" name="Shape 157"/>
          <p:cNvSpPr/>
          <p:nvPr/>
        </p:nvSpPr>
        <p:spPr>
          <a:xfrm>
            <a:off x="10579608" y="3566160"/>
            <a:ext cx="196596" cy="246888"/>
          </a:xfrm>
          <a:prstGeom prst="rect">
            <a:avLst/>
          </a:prstGeom>
          <a:solidFill>
            <a:srgbClr val="14A6B0"/>
          </a:solidFill>
          <a:ln/>
        </p:spPr>
      </p:sp>
      <p:sp>
        <p:nvSpPr>
          <p:cNvPr id="161" name="Shape 158"/>
          <p:cNvSpPr/>
          <p:nvPr/>
        </p:nvSpPr>
        <p:spPr>
          <a:xfrm>
            <a:off x="10794492" y="3566160"/>
            <a:ext cx="196596" cy="246888"/>
          </a:xfrm>
          <a:prstGeom prst="rect">
            <a:avLst/>
          </a:prstGeom>
          <a:solidFill>
            <a:srgbClr val="14A6B0"/>
          </a:solidFill>
          <a:ln/>
        </p:spPr>
      </p:sp>
      <p:sp>
        <p:nvSpPr>
          <p:cNvPr id="162" name="Shape 159"/>
          <p:cNvSpPr/>
          <p:nvPr/>
        </p:nvSpPr>
        <p:spPr>
          <a:xfrm>
            <a:off x="11009376" y="3566160"/>
            <a:ext cx="196596" cy="246888"/>
          </a:xfrm>
          <a:prstGeom prst="rect">
            <a:avLst/>
          </a:prstGeom>
          <a:solidFill>
            <a:srgbClr val="DCEDEE"/>
          </a:solidFill>
          <a:ln/>
        </p:spPr>
      </p:sp>
      <p:sp>
        <p:nvSpPr>
          <p:cNvPr id="163" name="Shape 160"/>
          <p:cNvSpPr/>
          <p:nvPr/>
        </p:nvSpPr>
        <p:spPr>
          <a:xfrm>
            <a:off x="11224260" y="3566160"/>
            <a:ext cx="196596" cy="246888"/>
          </a:xfrm>
          <a:prstGeom prst="rect">
            <a:avLst/>
          </a:prstGeom>
          <a:solidFill>
            <a:srgbClr val="DCEDEE"/>
          </a:solidFill>
          <a:ln/>
        </p:spPr>
      </p:sp>
      <p:sp>
        <p:nvSpPr>
          <p:cNvPr id="164" name="Shape 161"/>
          <p:cNvSpPr/>
          <p:nvPr/>
        </p:nvSpPr>
        <p:spPr>
          <a:xfrm>
            <a:off x="5852160" y="3840480"/>
            <a:ext cx="196596" cy="246888"/>
          </a:xfrm>
          <a:prstGeom prst="rect">
            <a:avLst/>
          </a:prstGeom>
          <a:solidFill>
            <a:srgbClr val="DCEDEE"/>
          </a:solidFill>
          <a:ln/>
        </p:spPr>
      </p:sp>
      <p:sp>
        <p:nvSpPr>
          <p:cNvPr id="165" name="Shape 162"/>
          <p:cNvSpPr/>
          <p:nvPr/>
        </p:nvSpPr>
        <p:spPr>
          <a:xfrm>
            <a:off x="6067044" y="3840480"/>
            <a:ext cx="196596" cy="246888"/>
          </a:xfrm>
          <a:prstGeom prst="rect">
            <a:avLst/>
          </a:prstGeom>
          <a:solidFill>
            <a:srgbClr val="DCEDEE"/>
          </a:solidFill>
          <a:ln/>
        </p:spPr>
      </p:sp>
      <p:sp>
        <p:nvSpPr>
          <p:cNvPr id="166" name="Shape 163"/>
          <p:cNvSpPr/>
          <p:nvPr/>
        </p:nvSpPr>
        <p:spPr>
          <a:xfrm>
            <a:off x="6281928" y="3840480"/>
            <a:ext cx="196596" cy="246888"/>
          </a:xfrm>
          <a:prstGeom prst="rect">
            <a:avLst/>
          </a:prstGeom>
          <a:solidFill>
            <a:srgbClr val="0E7C86"/>
          </a:solidFill>
          <a:ln/>
        </p:spPr>
      </p:sp>
      <p:sp>
        <p:nvSpPr>
          <p:cNvPr id="167" name="Shape 164"/>
          <p:cNvSpPr/>
          <p:nvPr/>
        </p:nvSpPr>
        <p:spPr>
          <a:xfrm>
            <a:off x="6496812" y="3840480"/>
            <a:ext cx="196596" cy="246888"/>
          </a:xfrm>
          <a:prstGeom prst="rect">
            <a:avLst/>
          </a:prstGeom>
          <a:solidFill>
            <a:srgbClr val="DCEDEE"/>
          </a:solidFill>
          <a:ln/>
        </p:spPr>
      </p:sp>
      <p:sp>
        <p:nvSpPr>
          <p:cNvPr id="168" name="Shape 165"/>
          <p:cNvSpPr/>
          <p:nvPr/>
        </p:nvSpPr>
        <p:spPr>
          <a:xfrm>
            <a:off x="6711696" y="3840480"/>
            <a:ext cx="196596" cy="246888"/>
          </a:xfrm>
          <a:prstGeom prst="rect">
            <a:avLst/>
          </a:prstGeom>
          <a:solidFill>
            <a:srgbClr val="14A6B0"/>
          </a:solidFill>
          <a:ln/>
        </p:spPr>
      </p:sp>
      <p:sp>
        <p:nvSpPr>
          <p:cNvPr id="169" name="Shape 166"/>
          <p:cNvSpPr/>
          <p:nvPr/>
        </p:nvSpPr>
        <p:spPr>
          <a:xfrm>
            <a:off x="6926580" y="3840480"/>
            <a:ext cx="196596" cy="246888"/>
          </a:xfrm>
          <a:prstGeom prst="rect">
            <a:avLst/>
          </a:prstGeom>
          <a:solidFill>
            <a:srgbClr val="DCEDEE"/>
          </a:solidFill>
          <a:ln/>
        </p:spPr>
      </p:sp>
      <p:sp>
        <p:nvSpPr>
          <p:cNvPr id="170" name="Shape 167"/>
          <p:cNvSpPr/>
          <p:nvPr/>
        </p:nvSpPr>
        <p:spPr>
          <a:xfrm>
            <a:off x="7141464" y="3840480"/>
            <a:ext cx="196596" cy="246888"/>
          </a:xfrm>
          <a:prstGeom prst="rect">
            <a:avLst/>
          </a:prstGeom>
          <a:solidFill>
            <a:srgbClr val="DCEDEE"/>
          </a:solidFill>
          <a:ln/>
        </p:spPr>
      </p:sp>
      <p:sp>
        <p:nvSpPr>
          <p:cNvPr id="171" name="Shape 168"/>
          <p:cNvSpPr/>
          <p:nvPr/>
        </p:nvSpPr>
        <p:spPr>
          <a:xfrm>
            <a:off x="7356348" y="3840480"/>
            <a:ext cx="196596" cy="246888"/>
          </a:xfrm>
          <a:prstGeom prst="rect">
            <a:avLst/>
          </a:prstGeom>
          <a:solidFill>
            <a:srgbClr val="DCEDEE"/>
          </a:solidFill>
          <a:ln/>
        </p:spPr>
      </p:sp>
      <p:sp>
        <p:nvSpPr>
          <p:cNvPr id="172" name="Shape 169"/>
          <p:cNvSpPr/>
          <p:nvPr/>
        </p:nvSpPr>
        <p:spPr>
          <a:xfrm>
            <a:off x="7571232" y="3840480"/>
            <a:ext cx="196596" cy="246888"/>
          </a:xfrm>
          <a:prstGeom prst="rect">
            <a:avLst/>
          </a:prstGeom>
          <a:solidFill>
            <a:srgbClr val="DCEDEE"/>
          </a:solidFill>
          <a:ln/>
        </p:spPr>
      </p:sp>
      <p:sp>
        <p:nvSpPr>
          <p:cNvPr id="173" name="Shape 170"/>
          <p:cNvSpPr/>
          <p:nvPr/>
        </p:nvSpPr>
        <p:spPr>
          <a:xfrm>
            <a:off x="7786116" y="3840480"/>
            <a:ext cx="196596" cy="246888"/>
          </a:xfrm>
          <a:prstGeom prst="rect">
            <a:avLst/>
          </a:prstGeom>
          <a:solidFill>
            <a:srgbClr val="DCEDEE"/>
          </a:solidFill>
          <a:ln/>
        </p:spPr>
      </p:sp>
      <p:sp>
        <p:nvSpPr>
          <p:cNvPr id="174" name="Shape 171"/>
          <p:cNvSpPr/>
          <p:nvPr/>
        </p:nvSpPr>
        <p:spPr>
          <a:xfrm>
            <a:off x="8001000" y="3840480"/>
            <a:ext cx="196596" cy="246888"/>
          </a:xfrm>
          <a:prstGeom prst="rect">
            <a:avLst/>
          </a:prstGeom>
          <a:solidFill>
            <a:srgbClr val="14A6B0"/>
          </a:solidFill>
          <a:ln/>
        </p:spPr>
      </p:sp>
      <p:sp>
        <p:nvSpPr>
          <p:cNvPr id="175" name="Shape 172"/>
          <p:cNvSpPr/>
          <p:nvPr/>
        </p:nvSpPr>
        <p:spPr>
          <a:xfrm>
            <a:off x="8215884" y="3840480"/>
            <a:ext cx="196596" cy="246888"/>
          </a:xfrm>
          <a:prstGeom prst="rect">
            <a:avLst/>
          </a:prstGeom>
          <a:solidFill>
            <a:srgbClr val="DCEDEE"/>
          </a:solidFill>
          <a:ln/>
        </p:spPr>
      </p:sp>
      <p:sp>
        <p:nvSpPr>
          <p:cNvPr id="176" name="Shape 173"/>
          <p:cNvSpPr/>
          <p:nvPr/>
        </p:nvSpPr>
        <p:spPr>
          <a:xfrm>
            <a:off x="8430768" y="3840480"/>
            <a:ext cx="196596" cy="246888"/>
          </a:xfrm>
          <a:prstGeom prst="rect">
            <a:avLst/>
          </a:prstGeom>
          <a:solidFill>
            <a:srgbClr val="14A6B0"/>
          </a:solidFill>
          <a:ln/>
        </p:spPr>
      </p:sp>
      <p:sp>
        <p:nvSpPr>
          <p:cNvPr id="177" name="Shape 174"/>
          <p:cNvSpPr/>
          <p:nvPr/>
        </p:nvSpPr>
        <p:spPr>
          <a:xfrm>
            <a:off x="8645652" y="3840480"/>
            <a:ext cx="196596" cy="246888"/>
          </a:xfrm>
          <a:prstGeom prst="rect">
            <a:avLst/>
          </a:prstGeom>
          <a:solidFill>
            <a:srgbClr val="DCEDEE"/>
          </a:solidFill>
          <a:ln/>
        </p:spPr>
      </p:sp>
      <p:sp>
        <p:nvSpPr>
          <p:cNvPr id="178" name="Shape 175"/>
          <p:cNvSpPr/>
          <p:nvPr/>
        </p:nvSpPr>
        <p:spPr>
          <a:xfrm>
            <a:off x="8860536" y="3840480"/>
            <a:ext cx="196596" cy="246888"/>
          </a:xfrm>
          <a:prstGeom prst="rect">
            <a:avLst/>
          </a:prstGeom>
          <a:solidFill>
            <a:srgbClr val="14A6B0"/>
          </a:solidFill>
          <a:ln/>
        </p:spPr>
      </p:sp>
      <p:sp>
        <p:nvSpPr>
          <p:cNvPr id="179" name="Shape 176"/>
          <p:cNvSpPr/>
          <p:nvPr/>
        </p:nvSpPr>
        <p:spPr>
          <a:xfrm>
            <a:off x="9075420" y="3840480"/>
            <a:ext cx="196596" cy="246888"/>
          </a:xfrm>
          <a:prstGeom prst="rect">
            <a:avLst/>
          </a:prstGeom>
          <a:solidFill>
            <a:srgbClr val="DCEDEE"/>
          </a:solidFill>
          <a:ln/>
        </p:spPr>
      </p:sp>
      <p:sp>
        <p:nvSpPr>
          <p:cNvPr id="180" name="Shape 177"/>
          <p:cNvSpPr/>
          <p:nvPr/>
        </p:nvSpPr>
        <p:spPr>
          <a:xfrm>
            <a:off x="9290304" y="3840480"/>
            <a:ext cx="196596" cy="246888"/>
          </a:xfrm>
          <a:prstGeom prst="rect">
            <a:avLst/>
          </a:prstGeom>
          <a:solidFill>
            <a:srgbClr val="14A6B0"/>
          </a:solidFill>
          <a:ln/>
        </p:spPr>
      </p:sp>
      <p:sp>
        <p:nvSpPr>
          <p:cNvPr id="181" name="Shape 178"/>
          <p:cNvSpPr/>
          <p:nvPr/>
        </p:nvSpPr>
        <p:spPr>
          <a:xfrm>
            <a:off x="9505188" y="3840480"/>
            <a:ext cx="196596" cy="246888"/>
          </a:xfrm>
          <a:prstGeom prst="rect">
            <a:avLst/>
          </a:prstGeom>
          <a:solidFill>
            <a:srgbClr val="DCEDEE"/>
          </a:solidFill>
          <a:ln/>
        </p:spPr>
      </p:sp>
      <p:sp>
        <p:nvSpPr>
          <p:cNvPr id="182" name="Shape 179"/>
          <p:cNvSpPr/>
          <p:nvPr/>
        </p:nvSpPr>
        <p:spPr>
          <a:xfrm>
            <a:off x="9720072" y="3840480"/>
            <a:ext cx="196596" cy="246888"/>
          </a:xfrm>
          <a:prstGeom prst="rect">
            <a:avLst/>
          </a:prstGeom>
          <a:solidFill>
            <a:srgbClr val="DCEDEE"/>
          </a:solidFill>
          <a:ln/>
        </p:spPr>
      </p:sp>
      <p:sp>
        <p:nvSpPr>
          <p:cNvPr id="183" name="Shape 180"/>
          <p:cNvSpPr/>
          <p:nvPr/>
        </p:nvSpPr>
        <p:spPr>
          <a:xfrm>
            <a:off x="9934956" y="3840480"/>
            <a:ext cx="196596" cy="246888"/>
          </a:xfrm>
          <a:prstGeom prst="rect">
            <a:avLst/>
          </a:prstGeom>
          <a:solidFill>
            <a:srgbClr val="0E7C86"/>
          </a:solidFill>
          <a:ln/>
        </p:spPr>
      </p:sp>
      <p:sp>
        <p:nvSpPr>
          <p:cNvPr id="184" name="Shape 181"/>
          <p:cNvSpPr/>
          <p:nvPr/>
        </p:nvSpPr>
        <p:spPr>
          <a:xfrm>
            <a:off x="10149840" y="3840480"/>
            <a:ext cx="196596" cy="246888"/>
          </a:xfrm>
          <a:prstGeom prst="rect">
            <a:avLst/>
          </a:prstGeom>
          <a:solidFill>
            <a:srgbClr val="0E7C86"/>
          </a:solidFill>
          <a:ln/>
        </p:spPr>
      </p:sp>
      <p:sp>
        <p:nvSpPr>
          <p:cNvPr id="185" name="Shape 182"/>
          <p:cNvSpPr/>
          <p:nvPr/>
        </p:nvSpPr>
        <p:spPr>
          <a:xfrm>
            <a:off x="10364724" y="3840480"/>
            <a:ext cx="196596" cy="246888"/>
          </a:xfrm>
          <a:prstGeom prst="rect">
            <a:avLst/>
          </a:prstGeom>
          <a:solidFill>
            <a:srgbClr val="14A6B0"/>
          </a:solidFill>
          <a:ln/>
        </p:spPr>
      </p:sp>
      <p:sp>
        <p:nvSpPr>
          <p:cNvPr id="186" name="Shape 183"/>
          <p:cNvSpPr/>
          <p:nvPr/>
        </p:nvSpPr>
        <p:spPr>
          <a:xfrm>
            <a:off x="10579608" y="3840480"/>
            <a:ext cx="196596" cy="246888"/>
          </a:xfrm>
          <a:prstGeom prst="rect">
            <a:avLst/>
          </a:prstGeom>
          <a:solidFill>
            <a:srgbClr val="14A6B0"/>
          </a:solidFill>
          <a:ln/>
        </p:spPr>
      </p:sp>
      <p:sp>
        <p:nvSpPr>
          <p:cNvPr id="187" name="Shape 184"/>
          <p:cNvSpPr/>
          <p:nvPr/>
        </p:nvSpPr>
        <p:spPr>
          <a:xfrm>
            <a:off x="10794492" y="3840480"/>
            <a:ext cx="196596" cy="246888"/>
          </a:xfrm>
          <a:prstGeom prst="rect">
            <a:avLst/>
          </a:prstGeom>
          <a:solidFill>
            <a:srgbClr val="14A6B0"/>
          </a:solidFill>
          <a:ln/>
        </p:spPr>
      </p:sp>
      <p:sp>
        <p:nvSpPr>
          <p:cNvPr id="188" name="Shape 185"/>
          <p:cNvSpPr/>
          <p:nvPr/>
        </p:nvSpPr>
        <p:spPr>
          <a:xfrm>
            <a:off x="11009376" y="3840480"/>
            <a:ext cx="196596" cy="246888"/>
          </a:xfrm>
          <a:prstGeom prst="rect">
            <a:avLst/>
          </a:prstGeom>
          <a:solidFill>
            <a:srgbClr val="0E7C86"/>
          </a:solidFill>
          <a:ln/>
        </p:spPr>
      </p:sp>
      <p:sp>
        <p:nvSpPr>
          <p:cNvPr id="189" name="Shape 186"/>
          <p:cNvSpPr/>
          <p:nvPr/>
        </p:nvSpPr>
        <p:spPr>
          <a:xfrm>
            <a:off x="11224260" y="3840480"/>
            <a:ext cx="196596" cy="246888"/>
          </a:xfrm>
          <a:prstGeom prst="rect">
            <a:avLst/>
          </a:prstGeom>
          <a:solidFill>
            <a:srgbClr val="DCEDEE"/>
          </a:solidFill>
          <a:ln/>
        </p:spPr>
      </p:sp>
      <p:sp>
        <p:nvSpPr>
          <p:cNvPr id="190" name="Shape 187"/>
          <p:cNvSpPr/>
          <p:nvPr/>
        </p:nvSpPr>
        <p:spPr>
          <a:xfrm>
            <a:off x="5824728" y="2715768"/>
            <a:ext cx="5623560" cy="274320"/>
          </a:xfrm>
          <a:prstGeom prst="rect">
            <a:avLst/>
          </a:prstGeom>
          <a:ln w="31750">
            <a:solidFill>
              <a:srgbClr val="C2772B"/>
            </a:solidFill>
            <a:prstDash val="solid"/>
          </a:ln>
        </p:spPr>
      </p:sp>
      <p:sp>
        <p:nvSpPr>
          <p:cNvPr id="191" name="Shape 188"/>
          <p:cNvSpPr/>
          <p:nvPr/>
        </p:nvSpPr>
        <p:spPr>
          <a:xfrm>
            <a:off x="9692640" y="2167128"/>
            <a:ext cx="233172" cy="1938528"/>
          </a:xfrm>
          <a:prstGeom prst="rect">
            <a:avLst/>
          </a:prstGeom>
          <a:ln w="31750">
            <a:solidFill>
              <a:srgbClr val="12262B"/>
            </a:solidFill>
            <a:prstDash val="solid"/>
          </a:ln>
        </p:spPr>
      </p:sp>
      <p:sp>
        <p:nvSpPr>
          <p:cNvPr id="192" name="Text 189"/>
          <p:cNvSpPr/>
          <p:nvPr/>
        </p:nvSpPr>
        <p:spPr>
          <a:xfrm>
            <a:off x="5852160" y="4187952"/>
            <a:ext cx="5586984" cy="274320"/>
          </a:xfrm>
          <a:prstGeom prst="rect">
            <a:avLst/>
          </a:prstGeom>
          <a:noFill/>
          <a:ln/>
        </p:spPr>
        <p:txBody>
          <a:bodyPr wrap="square" lIns="0" tIns="0" rIns="0" bIns="0" rtlCol="0" anchor="ctr"/>
          <a:lstStyle/>
          <a:p>
            <a:pPr marL="0" indent="0">
              <a:buNone/>
            </a:pPr>
            <a:r>
              <a:rPr lang="en-US" sz="1100" i="1" dirty="0">
                <a:solidFill>
                  <a:srgbClr val="C2772B"/>
                </a:solidFill>
                <a:latin typeface="Calibri" pitchFamily="34" charset="0"/>
                <a:ea typeface="Calibri" pitchFamily="34" charset="-122"/>
                <a:cs typeface="Calibri" pitchFamily="34" charset="-120"/>
              </a:rPr>
              <a:t>one row = patient 17 (everything we measured)</a:t>
            </a:r>
            <a:endParaRPr lang="en-US" sz="1100" dirty="0"/>
          </a:p>
        </p:txBody>
      </p:sp>
      <p:sp>
        <p:nvSpPr>
          <p:cNvPr id="193" name="Text 190"/>
          <p:cNvSpPr/>
          <p:nvPr/>
        </p:nvSpPr>
        <p:spPr>
          <a:xfrm>
            <a:off x="5852160" y="4462272"/>
            <a:ext cx="5586984" cy="274320"/>
          </a:xfrm>
          <a:prstGeom prst="rect">
            <a:avLst/>
          </a:prstGeom>
          <a:noFill/>
          <a:ln/>
        </p:spPr>
        <p:txBody>
          <a:bodyPr wrap="square" lIns="0" tIns="0" rIns="0" bIns="0" rtlCol="0" anchor="ctr"/>
          <a:lstStyle/>
          <a:p>
            <a:pPr marL="0" indent="0">
              <a:buNone/>
            </a:pPr>
            <a:r>
              <a:rPr lang="en-US" sz="1100" i="1" dirty="0">
                <a:solidFill>
                  <a:srgbClr val="12262B"/>
                </a:solidFill>
                <a:latin typeface="Calibri" pitchFamily="34" charset="0"/>
                <a:ea typeface="Calibri" pitchFamily="34" charset="-122"/>
                <a:cs typeface="Calibri" pitchFamily="34" charset="-120"/>
              </a:rPr>
              <a:t>one column = gene X across all patients</a:t>
            </a:r>
            <a:endParaRPr lang="en-US" sz="1100" dirty="0"/>
          </a:p>
        </p:txBody>
      </p:sp>
      <p:sp>
        <p:nvSpPr>
          <p:cNvPr id="194" name="Text 191"/>
          <p:cNvSpPr/>
          <p:nvPr/>
        </p:nvSpPr>
        <p:spPr>
          <a:xfrm>
            <a:off x="4983480" y="2971800"/>
            <a:ext cx="822960" cy="365760"/>
          </a:xfrm>
          <a:prstGeom prst="rect">
            <a:avLst/>
          </a:prstGeom>
          <a:noFill/>
          <a:ln/>
        </p:spPr>
        <p:txBody>
          <a:bodyPr wrap="square" lIns="0" tIns="0" rIns="0" bIns="0" rtlCol="0" anchor="ctr"/>
          <a:lstStyle/>
          <a:p>
            <a:pPr marL="0" indent="0" algn="r">
              <a:buNone/>
            </a:pPr>
            <a:r>
              <a:rPr lang="en-US" sz="1100" b="1" dirty="0">
                <a:solidFill>
                  <a:srgbClr val="5B6B70"/>
                </a:solidFill>
                <a:latin typeface="Calibri" pitchFamily="34" charset="0"/>
                <a:ea typeface="Calibri" pitchFamily="34" charset="-122"/>
                <a:cs typeface="Calibri" pitchFamily="34" charset="-120"/>
              </a:rPr>
              <a:t>samples ↓</a:t>
            </a:r>
            <a:endParaRPr lang="en-US" sz="1100" dirty="0"/>
          </a:p>
        </p:txBody>
      </p:sp>
      <p:sp>
        <p:nvSpPr>
          <p:cNvPr id="195" name="Text 192"/>
          <p:cNvSpPr/>
          <p:nvPr/>
        </p:nvSpPr>
        <p:spPr>
          <a:xfrm>
            <a:off x="5852160" y="1828800"/>
            <a:ext cx="5586984" cy="274320"/>
          </a:xfrm>
          <a:prstGeom prst="rect">
            <a:avLst/>
          </a:prstGeom>
          <a:noFill/>
          <a:ln/>
        </p:spPr>
        <p:txBody>
          <a:bodyPr wrap="square" lIns="0" tIns="0" rIns="0" bIns="0" rtlCol="0" anchor="ctr"/>
          <a:lstStyle/>
          <a:p>
            <a:pPr marL="0" indent="0">
              <a:buNone/>
            </a:pPr>
            <a:r>
              <a:rPr lang="en-US" sz="1100" b="1" dirty="0">
                <a:solidFill>
                  <a:srgbClr val="5B6B70"/>
                </a:solidFill>
                <a:latin typeface="Calibri" pitchFamily="34" charset="0"/>
                <a:ea typeface="Calibri" pitchFamily="34" charset="-122"/>
                <a:cs typeface="Calibri" pitchFamily="34" charset="-120"/>
              </a:rPr>
              <a:t>genes →   (~20,000)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X AND Y</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Features and labels, concretely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9</a:t>
            </a:r>
            <a:endParaRPr lang="en-US" sz="900" dirty="0"/>
          </a:p>
        </p:txBody>
      </p:sp>
      <p:sp>
        <p:nvSpPr>
          <p:cNvPr id="7" name="Text 4"/>
          <p:cNvSpPr/>
          <p:nvPr/>
        </p:nvSpPr>
        <p:spPr>
          <a:xfrm>
            <a:off x="548640" y="1828800"/>
            <a:ext cx="548640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Features (X): expression of each gene for each sample — the wide matrix.</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Label (y): the chosen recurrence endpoint per sample — one column we are trying to predict.</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Optional features: clinical covariates (age, tumour size, grade, nodal status).</a:t>
            </a:r>
            <a:endParaRPr lang="en-US" sz="1600" dirty="0"/>
          </a:p>
          <a:p>
            <a:pPr marL="203200" indent="-203200">
              <a:spcAft>
                <a:spcPts val="1400"/>
              </a:spcAft>
              <a:buSzPct val="100000"/>
              <a:buChar char="•"/>
            </a:pPr>
            <a:r>
              <a:rPr lang="en-US" sz="1600" b="1" dirty="0">
                <a:solidFill>
                  <a:srgbClr val="0E7C86"/>
                </a:solidFill>
                <a:latin typeface="Calibri" pitchFamily="34" charset="0"/>
                <a:ea typeface="Calibri" pitchFamily="34" charset="-122"/>
                <a:cs typeface="Calibri" pitchFamily="34" charset="-120"/>
              </a:rPr>
              <a:t>Mental model: ~20,000 numbers describing each tumour, and one number we wish we knew in advance.</a:t>
            </a:r>
            <a:endParaRPr lang="en-US" sz="1600" dirty="0"/>
          </a:p>
        </p:txBody>
      </p:sp>
      <p:sp>
        <p:nvSpPr>
          <p:cNvPr id="8" name="Shape 5"/>
          <p:cNvSpPr/>
          <p:nvPr/>
        </p:nvSpPr>
        <p:spPr>
          <a:xfrm>
            <a:off x="6492240" y="2286000"/>
            <a:ext cx="219456" cy="283464"/>
          </a:xfrm>
          <a:prstGeom prst="rect">
            <a:avLst/>
          </a:prstGeom>
          <a:solidFill>
            <a:srgbClr val="14A6B0"/>
          </a:solidFill>
          <a:ln/>
        </p:spPr>
      </p:sp>
      <p:sp>
        <p:nvSpPr>
          <p:cNvPr id="9" name="Shape 6"/>
          <p:cNvSpPr/>
          <p:nvPr/>
        </p:nvSpPr>
        <p:spPr>
          <a:xfrm>
            <a:off x="6729984" y="2286000"/>
            <a:ext cx="219456" cy="283464"/>
          </a:xfrm>
          <a:prstGeom prst="rect">
            <a:avLst/>
          </a:prstGeom>
          <a:solidFill>
            <a:srgbClr val="DCEDEE"/>
          </a:solidFill>
          <a:ln/>
        </p:spPr>
      </p:sp>
      <p:sp>
        <p:nvSpPr>
          <p:cNvPr id="10" name="Shape 7"/>
          <p:cNvSpPr/>
          <p:nvPr/>
        </p:nvSpPr>
        <p:spPr>
          <a:xfrm>
            <a:off x="6967728" y="2286000"/>
            <a:ext cx="219456" cy="283464"/>
          </a:xfrm>
          <a:prstGeom prst="rect">
            <a:avLst/>
          </a:prstGeom>
          <a:solidFill>
            <a:srgbClr val="DCEDEE"/>
          </a:solidFill>
          <a:ln/>
        </p:spPr>
      </p:sp>
      <p:sp>
        <p:nvSpPr>
          <p:cNvPr id="11" name="Shape 8"/>
          <p:cNvSpPr/>
          <p:nvPr/>
        </p:nvSpPr>
        <p:spPr>
          <a:xfrm>
            <a:off x="7205472" y="2286000"/>
            <a:ext cx="219456" cy="283464"/>
          </a:xfrm>
          <a:prstGeom prst="rect">
            <a:avLst/>
          </a:prstGeom>
          <a:solidFill>
            <a:srgbClr val="14A6B0"/>
          </a:solidFill>
          <a:ln/>
        </p:spPr>
      </p:sp>
      <p:sp>
        <p:nvSpPr>
          <p:cNvPr id="12" name="Shape 9"/>
          <p:cNvSpPr/>
          <p:nvPr/>
        </p:nvSpPr>
        <p:spPr>
          <a:xfrm>
            <a:off x="7443216" y="2286000"/>
            <a:ext cx="219456" cy="283464"/>
          </a:xfrm>
          <a:prstGeom prst="rect">
            <a:avLst/>
          </a:prstGeom>
          <a:solidFill>
            <a:srgbClr val="0E7C86"/>
          </a:solidFill>
          <a:ln/>
        </p:spPr>
      </p:sp>
      <p:sp>
        <p:nvSpPr>
          <p:cNvPr id="13" name="Shape 10"/>
          <p:cNvSpPr/>
          <p:nvPr/>
        </p:nvSpPr>
        <p:spPr>
          <a:xfrm>
            <a:off x="7680960" y="2286000"/>
            <a:ext cx="219456" cy="283464"/>
          </a:xfrm>
          <a:prstGeom prst="rect">
            <a:avLst/>
          </a:prstGeom>
          <a:solidFill>
            <a:srgbClr val="DCEDEE"/>
          </a:solidFill>
          <a:ln/>
        </p:spPr>
      </p:sp>
      <p:sp>
        <p:nvSpPr>
          <p:cNvPr id="14" name="Shape 11"/>
          <p:cNvSpPr/>
          <p:nvPr/>
        </p:nvSpPr>
        <p:spPr>
          <a:xfrm>
            <a:off x="7918704" y="2286000"/>
            <a:ext cx="219456" cy="283464"/>
          </a:xfrm>
          <a:prstGeom prst="rect">
            <a:avLst/>
          </a:prstGeom>
          <a:solidFill>
            <a:srgbClr val="14A6B0"/>
          </a:solidFill>
          <a:ln/>
        </p:spPr>
      </p:sp>
      <p:sp>
        <p:nvSpPr>
          <p:cNvPr id="15" name="Shape 12"/>
          <p:cNvSpPr/>
          <p:nvPr/>
        </p:nvSpPr>
        <p:spPr>
          <a:xfrm>
            <a:off x="8156448" y="2286000"/>
            <a:ext cx="219456" cy="283464"/>
          </a:xfrm>
          <a:prstGeom prst="rect">
            <a:avLst/>
          </a:prstGeom>
          <a:solidFill>
            <a:srgbClr val="DCEDEE"/>
          </a:solidFill>
          <a:ln/>
        </p:spPr>
      </p:sp>
      <p:sp>
        <p:nvSpPr>
          <p:cNvPr id="16" name="Shape 13"/>
          <p:cNvSpPr/>
          <p:nvPr/>
        </p:nvSpPr>
        <p:spPr>
          <a:xfrm>
            <a:off x="8394192" y="2286000"/>
            <a:ext cx="219456" cy="283464"/>
          </a:xfrm>
          <a:prstGeom prst="rect">
            <a:avLst/>
          </a:prstGeom>
          <a:solidFill>
            <a:srgbClr val="14A6B0"/>
          </a:solidFill>
          <a:ln/>
        </p:spPr>
      </p:sp>
      <p:sp>
        <p:nvSpPr>
          <p:cNvPr id="17" name="Shape 14"/>
          <p:cNvSpPr/>
          <p:nvPr/>
        </p:nvSpPr>
        <p:spPr>
          <a:xfrm>
            <a:off x="8631936" y="2286000"/>
            <a:ext cx="219456" cy="283464"/>
          </a:xfrm>
          <a:prstGeom prst="rect">
            <a:avLst/>
          </a:prstGeom>
          <a:solidFill>
            <a:srgbClr val="DCEDEE"/>
          </a:solidFill>
          <a:ln/>
        </p:spPr>
      </p:sp>
      <p:sp>
        <p:nvSpPr>
          <p:cNvPr id="18" name="Shape 15"/>
          <p:cNvSpPr/>
          <p:nvPr/>
        </p:nvSpPr>
        <p:spPr>
          <a:xfrm>
            <a:off x="8869680" y="2286000"/>
            <a:ext cx="219456" cy="283464"/>
          </a:xfrm>
          <a:prstGeom prst="rect">
            <a:avLst/>
          </a:prstGeom>
          <a:solidFill>
            <a:srgbClr val="14A6B0"/>
          </a:solidFill>
          <a:ln/>
        </p:spPr>
      </p:sp>
      <p:sp>
        <p:nvSpPr>
          <p:cNvPr id="19" name="Shape 16"/>
          <p:cNvSpPr/>
          <p:nvPr/>
        </p:nvSpPr>
        <p:spPr>
          <a:xfrm>
            <a:off x="9107424" y="2286000"/>
            <a:ext cx="219456" cy="283464"/>
          </a:xfrm>
          <a:prstGeom prst="rect">
            <a:avLst/>
          </a:prstGeom>
          <a:solidFill>
            <a:srgbClr val="DCEDEE"/>
          </a:solidFill>
          <a:ln/>
        </p:spPr>
      </p:sp>
      <p:sp>
        <p:nvSpPr>
          <p:cNvPr id="20" name="Shape 17"/>
          <p:cNvSpPr/>
          <p:nvPr/>
        </p:nvSpPr>
        <p:spPr>
          <a:xfrm>
            <a:off x="9345168" y="2286000"/>
            <a:ext cx="219456" cy="283464"/>
          </a:xfrm>
          <a:prstGeom prst="rect">
            <a:avLst/>
          </a:prstGeom>
          <a:solidFill>
            <a:srgbClr val="DCEDEE"/>
          </a:solidFill>
          <a:ln/>
        </p:spPr>
      </p:sp>
      <p:sp>
        <p:nvSpPr>
          <p:cNvPr id="21" name="Shape 18"/>
          <p:cNvSpPr/>
          <p:nvPr/>
        </p:nvSpPr>
        <p:spPr>
          <a:xfrm>
            <a:off x="9582912" y="2286000"/>
            <a:ext cx="219456" cy="283464"/>
          </a:xfrm>
          <a:prstGeom prst="rect">
            <a:avLst/>
          </a:prstGeom>
          <a:solidFill>
            <a:srgbClr val="14A6B0"/>
          </a:solidFill>
          <a:ln/>
        </p:spPr>
      </p:sp>
      <p:sp>
        <p:nvSpPr>
          <p:cNvPr id="22" name="Shape 19"/>
          <p:cNvSpPr/>
          <p:nvPr/>
        </p:nvSpPr>
        <p:spPr>
          <a:xfrm>
            <a:off x="9820656" y="2286000"/>
            <a:ext cx="219456" cy="283464"/>
          </a:xfrm>
          <a:prstGeom prst="rect">
            <a:avLst/>
          </a:prstGeom>
          <a:solidFill>
            <a:srgbClr val="DCEDEE"/>
          </a:solidFill>
          <a:ln/>
        </p:spPr>
      </p:sp>
      <p:sp>
        <p:nvSpPr>
          <p:cNvPr id="23" name="Shape 20"/>
          <p:cNvSpPr/>
          <p:nvPr/>
        </p:nvSpPr>
        <p:spPr>
          <a:xfrm>
            <a:off x="10058400" y="2286000"/>
            <a:ext cx="219456" cy="283464"/>
          </a:xfrm>
          <a:prstGeom prst="rect">
            <a:avLst/>
          </a:prstGeom>
          <a:solidFill>
            <a:srgbClr val="14A6B0"/>
          </a:solidFill>
          <a:ln/>
        </p:spPr>
      </p:sp>
      <p:sp>
        <p:nvSpPr>
          <p:cNvPr id="24" name="Shape 21"/>
          <p:cNvSpPr/>
          <p:nvPr/>
        </p:nvSpPr>
        <p:spPr>
          <a:xfrm>
            <a:off x="10296144" y="2286000"/>
            <a:ext cx="219456" cy="283464"/>
          </a:xfrm>
          <a:prstGeom prst="rect">
            <a:avLst/>
          </a:prstGeom>
          <a:solidFill>
            <a:srgbClr val="0E7C86"/>
          </a:solidFill>
          <a:ln/>
        </p:spPr>
      </p:sp>
      <p:sp>
        <p:nvSpPr>
          <p:cNvPr id="25" name="Shape 22"/>
          <p:cNvSpPr/>
          <p:nvPr/>
        </p:nvSpPr>
        <p:spPr>
          <a:xfrm>
            <a:off x="10533888" y="2286000"/>
            <a:ext cx="219456" cy="283464"/>
          </a:xfrm>
          <a:prstGeom prst="rect">
            <a:avLst/>
          </a:prstGeom>
          <a:solidFill>
            <a:srgbClr val="14A6B0"/>
          </a:solidFill>
          <a:ln/>
        </p:spPr>
      </p:sp>
      <p:sp>
        <p:nvSpPr>
          <p:cNvPr id="26" name="Shape 23"/>
          <p:cNvSpPr/>
          <p:nvPr/>
        </p:nvSpPr>
        <p:spPr>
          <a:xfrm>
            <a:off x="6492240" y="2596896"/>
            <a:ext cx="219456" cy="283464"/>
          </a:xfrm>
          <a:prstGeom prst="rect">
            <a:avLst/>
          </a:prstGeom>
          <a:solidFill>
            <a:srgbClr val="0E7C86"/>
          </a:solidFill>
          <a:ln/>
        </p:spPr>
      </p:sp>
      <p:sp>
        <p:nvSpPr>
          <p:cNvPr id="27" name="Shape 24"/>
          <p:cNvSpPr/>
          <p:nvPr/>
        </p:nvSpPr>
        <p:spPr>
          <a:xfrm>
            <a:off x="6729984" y="2596896"/>
            <a:ext cx="219456" cy="283464"/>
          </a:xfrm>
          <a:prstGeom prst="rect">
            <a:avLst/>
          </a:prstGeom>
          <a:solidFill>
            <a:srgbClr val="0E7C86"/>
          </a:solidFill>
          <a:ln/>
        </p:spPr>
      </p:sp>
      <p:sp>
        <p:nvSpPr>
          <p:cNvPr id="28" name="Shape 25"/>
          <p:cNvSpPr/>
          <p:nvPr/>
        </p:nvSpPr>
        <p:spPr>
          <a:xfrm>
            <a:off x="6967728" y="2596896"/>
            <a:ext cx="219456" cy="283464"/>
          </a:xfrm>
          <a:prstGeom prst="rect">
            <a:avLst/>
          </a:prstGeom>
          <a:solidFill>
            <a:srgbClr val="0E7C86"/>
          </a:solidFill>
          <a:ln/>
        </p:spPr>
      </p:sp>
      <p:sp>
        <p:nvSpPr>
          <p:cNvPr id="29" name="Shape 26"/>
          <p:cNvSpPr/>
          <p:nvPr/>
        </p:nvSpPr>
        <p:spPr>
          <a:xfrm>
            <a:off x="7205472" y="2596896"/>
            <a:ext cx="219456" cy="283464"/>
          </a:xfrm>
          <a:prstGeom prst="rect">
            <a:avLst/>
          </a:prstGeom>
          <a:solidFill>
            <a:srgbClr val="DCEDEE"/>
          </a:solidFill>
          <a:ln/>
        </p:spPr>
      </p:sp>
      <p:sp>
        <p:nvSpPr>
          <p:cNvPr id="30" name="Shape 27"/>
          <p:cNvSpPr/>
          <p:nvPr/>
        </p:nvSpPr>
        <p:spPr>
          <a:xfrm>
            <a:off x="7443216" y="2596896"/>
            <a:ext cx="219456" cy="283464"/>
          </a:xfrm>
          <a:prstGeom prst="rect">
            <a:avLst/>
          </a:prstGeom>
          <a:solidFill>
            <a:srgbClr val="DCEDEE"/>
          </a:solidFill>
          <a:ln/>
        </p:spPr>
      </p:sp>
      <p:sp>
        <p:nvSpPr>
          <p:cNvPr id="31" name="Shape 28"/>
          <p:cNvSpPr/>
          <p:nvPr/>
        </p:nvSpPr>
        <p:spPr>
          <a:xfrm>
            <a:off x="7680960" y="2596896"/>
            <a:ext cx="219456" cy="283464"/>
          </a:xfrm>
          <a:prstGeom prst="rect">
            <a:avLst/>
          </a:prstGeom>
          <a:solidFill>
            <a:srgbClr val="0E7C86"/>
          </a:solidFill>
          <a:ln/>
        </p:spPr>
      </p:sp>
      <p:sp>
        <p:nvSpPr>
          <p:cNvPr id="32" name="Shape 29"/>
          <p:cNvSpPr/>
          <p:nvPr/>
        </p:nvSpPr>
        <p:spPr>
          <a:xfrm>
            <a:off x="7918704" y="2596896"/>
            <a:ext cx="219456" cy="283464"/>
          </a:xfrm>
          <a:prstGeom prst="rect">
            <a:avLst/>
          </a:prstGeom>
          <a:solidFill>
            <a:srgbClr val="14A6B0"/>
          </a:solidFill>
          <a:ln/>
        </p:spPr>
      </p:sp>
      <p:sp>
        <p:nvSpPr>
          <p:cNvPr id="33" name="Shape 30"/>
          <p:cNvSpPr/>
          <p:nvPr/>
        </p:nvSpPr>
        <p:spPr>
          <a:xfrm>
            <a:off x="8156448" y="2596896"/>
            <a:ext cx="219456" cy="283464"/>
          </a:xfrm>
          <a:prstGeom prst="rect">
            <a:avLst/>
          </a:prstGeom>
          <a:solidFill>
            <a:srgbClr val="DCEDEE"/>
          </a:solidFill>
          <a:ln/>
        </p:spPr>
      </p:sp>
      <p:sp>
        <p:nvSpPr>
          <p:cNvPr id="34" name="Shape 31"/>
          <p:cNvSpPr/>
          <p:nvPr/>
        </p:nvSpPr>
        <p:spPr>
          <a:xfrm>
            <a:off x="8394192" y="2596896"/>
            <a:ext cx="219456" cy="283464"/>
          </a:xfrm>
          <a:prstGeom prst="rect">
            <a:avLst/>
          </a:prstGeom>
          <a:solidFill>
            <a:srgbClr val="DCEDEE"/>
          </a:solidFill>
          <a:ln/>
        </p:spPr>
      </p:sp>
      <p:sp>
        <p:nvSpPr>
          <p:cNvPr id="35" name="Shape 32"/>
          <p:cNvSpPr/>
          <p:nvPr/>
        </p:nvSpPr>
        <p:spPr>
          <a:xfrm>
            <a:off x="8631936" y="2596896"/>
            <a:ext cx="219456" cy="283464"/>
          </a:xfrm>
          <a:prstGeom prst="rect">
            <a:avLst/>
          </a:prstGeom>
          <a:solidFill>
            <a:srgbClr val="0E7C86"/>
          </a:solidFill>
          <a:ln/>
        </p:spPr>
      </p:sp>
      <p:sp>
        <p:nvSpPr>
          <p:cNvPr id="36" name="Shape 33"/>
          <p:cNvSpPr/>
          <p:nvPr/>
        </p:nvSpPr>
        <p:spPr>
          <a:xfrm>
            <a:off x="8869680" y="2596896"/>
            <a:ext cx="219456" cy="283464"/>
          </a:xfrm>
          <a:prstGeom prst="rect">
            <a:avLst/>
          </a:prstGeom>
          <a:solidFill>
            <a:srgbClr val="14A6B0"/>
          </a:solidFill>
          <a:ln/>
        </p:spPr>
      </p:sp>
      <p:sp>
        <p:nvSpPr>
          <p:cNvPr id="37" name="Shape 34"/>
          <p:cNvSpPr/>
          <p:nvPr/>
        </p:nvSpPr>
        <p:spPr>
          <a:xfrm>
            <a:off x="9107424" y="2596896"/>
            <a:ext cx="219456" cy="283464"/>
          </a:xfrm>
          <a:prstGeom prst="rect">
            <a:avLst/>
          </a:prstGeom>
          <a:solidFill>
            <a:srgbClr val="0E7C86"/>
          </a:solidFill>
          <a:ln/>
        </p:spPr>
      </p:sp>
      <p:sp>
        <p:nvSpPr>
          <p:cNvPr id="38" name="Shape 35"/>
          <p:cNvSpPr/>
          <p:nvPr/>
        </p:nvSpPr>
        <p:spPr>
          <a:xfrm>
            <a:off x="9345168" y="2596896"/>
            <a:ext cx="219456" cy="283464"/>
          </a:xfrm>
          <a:prstGeom prst="rect">
            <a:avLst/>
          </a:prstGeom>
          <a:solidFill>
            <a:srgbClr val="DCEDEE"/>
          </a:solidFill>
          <a:ln/>
        </p:spPr>
      </p:sp>
      <p:sp>
        <p:nvSpPr>
          <p:cNvPr id="39" name="Shape 36"/>
          <p:cNvSpPr/>
          <p:nvPr/>
        </p:nvSpPr>
        <p:spPr>
          <a:xfrm>
            <a:off x="9582912" y="2596896"/>
            <a:ext cx="219456" cy="283464"/>
          </a:xfrm>
          <a:prstGeom prst="rect">
            <a:avLst/>
          </a:prstGeom>
          <a:solidFill>
            <a:srgbClr val="DCEDEE"/>
          </a:solidFill>
          <a:ln/>
        </p:spPr>
      </p:sp>
      <p:sp>
        <p:nvSpPr>
          <p:cNvPr id="40" name="Shape 37"/>
          <p:cNvSpPr/>
          <p:nvPr/>
        </p:nvSpPr>
        <p:spPr>
          <a:xfrm>
            <a:off x="9820656" y="2596896"/>
            <a:ext cx="219456" cy="283464"/>
          </a:xfrm>
          <a:prstGeom prst="rect">
            <a:avLst/>
          </a:prstGeom>
          <a:solidFill>
            <a:srgbClr val="DCEDEE"/>
          </a:solidFill>
          <a:ln/>
        </p:spPr>
      </p:sp>
      <p:sp>
        <p:nvSpPr>
          <p:cNvPr id="41" name="Shape 38"/>
          <p:cNvSpPr/>
          <p:nvPr/>
        </p:nvSpPr>
        <p:spPr>
          <a:xfrm>
            <a:off x="10058400" y="2596896"/>
            <a:ext cx="219456" cy="283464"/>
          </a:xfrm>
          <a:prstGeom prst="rect">
            <a:avLst/>
          </a:prstGeom>
          <a:solidFill>
            <a:srgbClr val="14A6B0"/>
          </a:solidFill>
          <a:ln/>
        </p:spPr>
      </p:sp>
      <p:sp>
        <p:nvSpPr>
          <p:cNvPr id="42" name="Shape 39"/>
          <p:cNvSpPr/>
          <p:nvPr/>
        </p:nvSpPr>
        <p:spPr>
          <a:xfrm>
            <a:off x="10296144" y="2596896"/>
            <a:ext cx="219456" cy="283464"/>
          </a:xfrm>
          <a:prstGeom prst="rect">
            <a:avLst/>
          </a:prstGeom>
          <a:solidFill>
            <a:srgbClr val="DCEDEE"/>
          </a:solidFill>
          <a:ln/>
        </p:spPr>
      </p:sp>
      <p:sp>
        <p:nvSpPr>
          <p:cNvPr id="43" name="Shape 40"/>
          <p:cNvSpPr/>
          <p:nvPr/>
        </p:nvSpPr>
        <p:spPr>
          <a:xfrm>
            <a:off x="10533888" y="2596896"/>
            <a:ext cx="219456" cy="283464"/>
          </a:xfrm>
          <a:prstGeom prst="rect">
            <a:avLst/>
          </a:prstGeom>
          <a:solidFill>
            <a:srgbClr val="DCEDEE"/>
          </a:solidFill>
          <a:ln/>
        </p:spPr>
      </p:sp>
      <p:sp>
        <p:nvSpPr>
          <p:cNvPr id="44" name="Shape 41"/>
          <p:cNvSpPr/>
          <p:nvPr/>
        </p:nvSpPr>
        <p:spPr>
          <a:xfrm>
            <a:off x="6492240" y="2907792"/>
            <a:ext cx="219456" cy="283464"/>
          </a:xfrm>
          <a:prstGeom prst="rect">
            <a:avLst/>
          </a:prstGeom>
          <a:solidFill>
            <a:srgbClr val="14A6B0"/>
          </a:solidFill>
          <a:ln/>
        </p:spPr>
      </p:sp>
      <p:sp>
        <p:nvSpPr>
          <p:cNvPr id="45" name="Shape 42"/>
          <p:cNvSpPr/>
          <p:nvPr/>
        </p:nvSpPr>
        <p:spPr>
          <a:xfrm>
            <a:off x="6729984" y="2907792"/>
            <a:ext cx="219456" cy="283464"/>
          </a:xfrm>
          <a:prstGeom prst="rect">
            <a:avLst/>
          </a:prstGeom>
          <a:solidFill>
            <a:srgbClr val="14A6B0"/>
          </a:solidFill>
          <a:ln/>
        </p:spPr>
      </p:sp>
      <p:sp>
        <p:nvSpPr>
          <p:cNvPr id="46" name="Shape 43"/>
          <p:cNvSpPr/>
          <p:nvPr/>
        </p:nvSpPr>
        <p:spPr>
          <a:xfrm>
            <a:off x="6967728" y="2907792"/>
            <a:ext cx="219456" cy="283464"/>
          </a:xfrm>
          <a:prstGeom prst="rect">
            <a:avLst/>
          </a:prstGeom>
          <a:solidFill>
            <a:srgbClr val="14A6B0"/>
          </a:solidFill>
          <a:ln/>
        </p:spPr>
      </p:sp>
      <p:sp>
        <p:nvSpPr>
          <p:cNvPr id="47" name="Shape 44"/>
          <p:cNvSpPr/>
          <p:nvPr/>
        </p:nvSpPr>
        <p:spPr>
          <a:xfrm>
            <a:off x="7205472" y="2907792"/>
            <a:ext cx="219456" cy="283464"/>
          </a:xfrm>
          <a:prstGeom prst="rect">
            <a:avLst/>
          </a:prstGeom>
          <a:solidFill>
            <a:srgbClr val="0E7C86"/>
          </a:solidFill>
          <a:ln/>
        </p:spPr>
      </p:sp>
      <p:sp>
        <p:nvSpPr>
          <p:cNvPr id="48" name="Shape 45"/>
          <p:cNvSpPr/>
          <p:nvPr/>
        </p:nvSpPr>
        <p:spPr>
          <a:xfrm>
            <a:off x="7443216" y="2907792"/>
            <a:ext cx="219456" cy="283464"/>
          </a:xfrm>
          <a:prstGeom prst="rect">
            <a:avLst/>
          </a:prstGeom>
          <a:solidFill>
            <a:srgbClr val="14A6B0"/>
          </a:solidFill>
          <a:ln/>
        </p:spPr>
      </p:sp>
      <p:sp>
        <p:nvSpPr>
          <p:cNvPr id="49" name="Shape 46"/>
          <p:cNvSpPr/>
          <p:nvPr/>
        </p:nvSpPr>
        <p:spPr>
          <a:xfrm>
            <a:off x="7680960" y="2907792"/>
            <a:ext cx="219456" cy="283464"/>
          </a:xfrm>
          <a:prstGeom prst="rect">
            <a:avLst/>
          </a:prstGeom>
          <a:solidFill>
            <a:srgbClr val="DCEDEE"/>
          </a:solidFill>
          <a:ln/>
        </p:spPr>
      </p:sp>
      <p:sp>
        <p:nvSpPr>
          <p:cNvPr id="50" name="Shape 47"/>
          <p:cNvSpPr/>
          <p:nvPr/>
        </p:nvSpPr>
        <p:spPr>
          <a:xfrm>
            <a:off x="7918704" y="2907792"/>
            <a:ext cx="219456" cy="283464"/>
          </a:xfrm>
          <a:prstGeom prst="rect">
            <a:avLst/>
          </a:prstGeom>
          <a:solidFill>
            <a:srgbClr val="0E7C86"/>
          </a:solidFill>
          <a:ln/>
        </p:spPr>
      </p:sp>
      <p:sp>
        <p:nvSpPr>
          <p:cNvPr id="51" name="Shape 48"/>
          <p:cNvSpPr/>
          <p:nvPr/>
        </p:nvSpPr>
        <p:spPr>
          <a:xfrm>
            <a:off x="8156448" y="2907792"/>
            <a:ext cx="219456" cy="283464"/>
          </a:xfrm>
          <a:prstGeom prst="rect">
            <a:avLst/>
          </a:prstGeom>
          <a:solidFill>
            <a:srgbClr val="14A6B0"/>
          </a:solidFill>
          <a:ln/>
        </p:spPr>
      </p:sp>
      <p:sp>
        <p:nvSpPr>
          <p:cNvPr id="52" name="Shape 49"/>
          <p:cNvSpPr/>
          <p:nvPr/>
        </p:nvSpPr>
        <p:spPr>
          <a:xfrm>
            <a:off x="8394192" y="2907792"/>
            <a:ext cx="219456" cy="283464"/>
          </a:xfrm>
          <a:prstGeom prst="rect">
            <a:avLst/>
          </a:prstGeom>
          <a:solidFill>
            <a:srgbClr val="DCEDEE"/>
          </a:solidFill>
          <a:ln/>
        </p:spPr>
      </p:sp>
      <p:sp>
        <p:nvSpPr>
          <p:cNvPr id="53" name="Shape 50"/>
          <p:cNvSpPr/>
          <p:nvPr/>
        </p:nvSpPr>
        <p:spPr>
          <a:xfrm>
            <a:off x="8631936" y="2907792"/>
            <a:ext cx="219456" cy="283464"/>
          </a:xfrm>
          <a:prstGeom prst="rect">
            <a:avLst/>
          </a:prstGeom>
          <a:solidFill>
            <a:srgbClr val="DCEDEE"/>
          </a:solidFill>
          <a:ln/>
        </p:spPr>
      </p:sp>
      <p:sp>
        <p:nvSpPr>
          <p:cNvPr id="54" name="Shape 51"/>
          <p:cNvSpPr/>
          <p:nvPr/>
        </p:nvSpPr>
        <p:spPr>
          <a:xfrm>
            <a:off x="8869680" y="2907792"/>
            <a:ext cx="219456" cy="283464"/>
          </a:xfrm>
          <a:prstGeom prst="rect">
            <a:avLst/>
          </a:prstGeom>
          <a:solidFill>
            <a:srgbClr val="14A6B0"/>
          </a:solidFill>
          <a:ln/>
        </p:spPr>
      </p:sp>
      <p:sp>
        <p:nvSpPr>
          <p:cNvPr id="55" name="Shape 52"/>
          <p:cNvSpPr/>
          <p:nvPr/>
        </p:nvSpPr>
        <p:spPr>
          <a:xfrm>
            <a:off x="9107424" y="2907792"/>
            <a:ext cx="219456" cy="283464"/>
          </a:xfrm>
          <a:prstGeom prst="rect">
            <a:avLst/>
          </a:prstGeom>
          <a:solidFill>
            <a:srgbClr val="0E7C86"/>
          </a:solidFill>
          <a:ln/>
        </p:spPr>
      </p:sp>
      <p:sp>
        <p:nvSpPr>
          <p:cNvPr id="56" name="Shape 53"/>
          <p:cNvSpPr/>
          <p:nvPr/>
        </p:nvSpPr>
        <p:spPr>
          <a:xfrm>
            <a:off x="9345168" y="2907792"/>
            <a:ext cx="219456" cy="283464"/>
          </a:xfrm>
          <a:prstGeom prst="rect">
            <a:avLst/>
          </a:prstGeom>
          <a:solidFill>
            <a:srgbClr val="0E7C86"/>
          </a:solidFill>
          <a:ln/>
        </p:spPr>
      </p:sp>
      <p:sp>
        <p:nvSpPr>
          <p:cNvPr id="57" name="Shape 54"/>
          <p:cNvSpPr/>
          <p:nvPr/>
        </p:nvSpPr>
        <p:spPr>
          <a:xfrm>
            <a:off x="9582912" y="2907792"/>
            <a:ext cx="219456" cy="283464"/>
          </a:xfrm>
          <a:prstGeom prst="rect">
            <a:avLst/>
          </a:prstGeom>
          <a:solidFill>
            <a:srgbClr val="DCEDEE"/>
          </a:solidFill>
          <a:ln/>
        </p:spPr>
      </p:sp>
      <p:sp>
        <p:nvSpPr>
          <p:cNvPr id="58" name="Shape 55"/>
          <p:cNvSpPr/>
          <p:nvPr/>
        </p:nvSpPr>
        <p:spPr>
          <a:xfrm>
            <a:off x="9820656" y="2907792"/>
            <a:ext cx="219456" cy="283464"/>
          </a:xfrm>
          <a:prstGeom prst="rect">
            <a:avLst/>
          </a:prstGeom>
          <a:solidFill>
            <a:srgbClr val="DCEDEE"/>
          </a:solidFill>
          <a:ln/>
        </p:spPr>
      </p:sp>
      <p:sp>
        <p:nvSpPr>
          <p:cNvPr id="59" name="Shape 56"/>
          <p:cNvSpPr/>
          <p:nvPr/>
        </p:nvSpPr>
        <p:spPr>
          <a:xfrm>
            <a:off x="10058400" y="2907792"/>
            <a:ext cx="219456" cy="283464"/>
          </a:xfrm>
          <a:prstGeom prst="rect">
            <a:avLst/>
          </a:prstGeom>
          <a:solidFill>
            <a:srgbClr val="14A6B0"/>
          </a:solidFill>
          <a:ln/>
        </p:spPr>
      </p:sp>
      <p:sp>
        <p:nvSpPr>
          <p:cNvPr id="60" name="Shape 57"/>
          <p:cNvSpPr/>
          <p:nvPr/>
        </p:nvSpPr>
        <p:spPr>
          <a:xfrm>
            <a:off x="10296144" y="2907792"/>
            <a:ext cx="219456" cy="283464"/>
          </a:xfrm>
          <a:prstGeom prst="rect">
            <a:avLst/>
          </a:prstGeom>
          <a:solidFill>
            <a:srgbClr val="DCEDEE"/>
          </a:solidFill>
          <a:ln/>
        </p:spPr>
      </p:sp>
      <p:sp>
        <p:nvSpPr>
          <p:cNvPr id="61" name="Shape 58"/>
          <p:cNvSpPr/>
          <p:nvPr/>
        </p:nvSpPr>
        <p:spPr>
          <a:xfrm>
            <a:off x="10533888" y="2907792"/>
            <a:ext cx="219456" cy="283464"/>
          </a:xfrm>
          <a:prstGeom prst="rect">
            <a:avLst/>
          </a:prstGeom>
          <a:solidFill>
            <a:srgbClr val="14A6B0"/>
          </a:solidFill>
          <a:ln/>
        </p:spPr>
      </p:sp>
      <p:sp>
        <p:nvSpPr>
          <p:cNvPr id="62" name="Shape 59"/>
          <p:cNvSpPr/>
          <p:nvPr/>
        </p:nvSpPr>
        <p:spPr>
          <a:xfrm>
            <a:off x="6492240" y="3218688"/>
            <a:ext cx="219456" cy="283464"/>
          </a:xfrm>
          <a:prstGeom prst="rect">
            <a:avLst/>
          </a:prstGeom>
          <a:solidFill>
            <a:srgbClr val="14A6B0"/>
          </a:solidFill>
          <a:ln/>
        </p:spPr>
      </p:sp>
      <p:sp>
        <p:nvSpPr>
          <p:cNvPr id="63" name="Shape 60"/>
          <p:cNvSpPr/>
          <p:nvPr/>
        </p:nvSpPr>
        <p:spPr>
          <a:xfrm>
            <a:off x="6729984" y="3218688"/>
            <a:ext cx="219456" cy="283464"/>
          </a:xfrm>
          <a:prstGeom prst="rect">
            <a:avLst/>
          </a:prstGeom>
          <a:solidFill>
            <a:srgbClr val="14A6B0"/>
          </a:solidFill>
          <a:ln/>
        </p:spPr>
      </p:sp>
      <p:sp>
        <p:nvSpPr>
          <p:cNvPr id="64" name="Shape 61"/>
          <p:cNvSpPr/>
          <p:nvPr/>
        </p:nvSpPr>
        <p:spPr>
          <a:xfrm>
            <a:off x="6967728" y="3218688"/>
            <a:ext cx="219456" cy="283464"/>
          </a:xfrm>
          <a:prstGeom prst="rect">
            <a:avLst/>
          </a:prstGeom>
          <a:solidFill>
            <a:srgbClr val="DCEDEE"/>
          </a:solidFill>
          <a:ln/>
        </p:spPr>
      </p:sp>
      <p:sp>
        <p:nvSpPr>
          <p:cNvPr id="65" name="Shape 62"/>
          <p:cNvSpPr/>
          <p:nvPr/>
        </p:nvSpPr>
        <p:spPr>
          <a:xfrm>
            <a:off x="7205472" y="3218688"/>
            <a:ext cx="219456" cy="283464"/>
          </a:xfrm>
          <a:prstGeom prst="rect">
            <a:avLst/>
          </a:prstGeom>
          <a:solidFill>
            <a:srgbClr val="DCEDEE"/>
          </a:solidFill>
          <a:ln/>
        </p:spPr>
      </p:sp>
      <p:sp>
        <p:nvSpPr>
          <p:cNvPr id="66" name="Shape 63"/>
          <p:cNvSpPr/>
          <p:nvPr/>
        </p:nvSpPr>
        <p:spPr>
          <a:xfrm>
            <a:off x="7443216" y="3218688"/>
            <a:ext cx="219456" cy="283464"/>
          </a:xfrm>
          <a:prstGeom prst="rect">
            <a:avLst/>
          </a:prstGeom>
          <a:solidFill>
            <a:srgbClr val="0E7C86"/>
          </a:solidFill>
          <a:ln/>
        </p:spPr>
      </p:sp>
      <p:sp>
        <p:nvSpPr>
          <p:cNvPr id="67" name="Shape 64"/>
          <p:cNvSpPr/>
          <p:nvPr/>
        </p:nvSpPr>
        <p:spPr>
          <a:xfrm>
            <a:off x="7680960" y="3218688"/>
            <a:ext cx="219456" cy="283464"/>
          </a:xfrm>
          <a:prstGeom prst="rect">
            <a:avLst/>
          </a:prstGeom>
          <a:solidFill>
            <a:srgbClr val="0E7C86"/>
          </a:solidFill>
          <a:ln/>
        </p:spPr>
      </p:sp>
      <p:sp>
        <p:nvSpPr>
          <p:cNvPr id="68" name="Shape 65"/>
          <p:cNvSpPr/>
          <p:nvPr/>
        </p:nvSpPr>
        <p:spPr>
          <a:xfrm>
            <a:off x="7918704" y="3218688"/>
            <a:ext cx="219456" cy="283464"/>
          </a:xfrm>
          <a:prstGeom prst="rect">
            <a:avLst/>
          </a:prstGeom>
          <a:solidFill>
            <a:srgbClr val="14A6B0"/>
          </a:solidFill>
          <a:ln/>
        </p:spPr>
      </p:sp>
      <p:sp>
        <p:nvSpPr>
          <p:cNvPr id="69" name="Shape 66"/>
          <p:cNvSpPr/>
          <p:nvPr/>
        </p:nvSpPr>
        <p:spPr>
          <a:xfrm>
            <a:off x="8156448" y="3218688"/>
            <a:ext cx="219456" cy="283464"/>
          </a:xfrm>
          <a:prstGeom prst="rect">
            <a:avLst/>
          </a:prstGeom>
          <a:solidFill>
            <a:srgbClr val="14A6B0"/>
          </a:solidFill>
          <a:ln/>
        </p:spPr>
      </p:sp>
      <p:sp>
        <p:nvSpPr>
          <p:cNvPr id="70" name="Shape 67"/>
          <p:cNvSpPr/>
          <p:nvPr/>
        </p:nvSpPr>
        <p:spPr>
          <a:xfrm>
            <a:off x="8394192" y="3218688"/>
            <a:ext cx="219456" cy="283464"/>
          </a:xfrm>
          <a:prstGeom prst="rect">
            <a:avLst/>
          </a:prstGeom>
          <a:solidFill>
            <a:srgbClr val="14A6B0"/>
          </a:solidFill>
          <a:ln/>
        </p:spPr>
      </p:sp>
      <p:sp>
        <p:nvSpPr>
          <p:cNvPr id="71" name="Shape 68"/>
          <p:cNvSpPr/>
          <p:nvPr/>
        </p:nvSpPr>
        <p:spPr>
          <a:xfrm>
            <a:off x="8631936" y="3218688"/>
            <a:ext cx="219456" cy="283464"/>
          </a:xfrm>
          <a:prstGeom prst="rect">
            <a:avLst/>
          </a:prstGeom>
          <a:solidFill>
            <a:srgbClr val="0E7C86"/>
          </a:solidFill>
          <a:ln/>
        </p:spPr>
      </p:sp>
      <p:sp>
        <p:nvSpPr>
          <p:cNvPr id="72" name="Shape 69"/>
          <p:cNvSpPr/>
          <p:nvPr/>
        </p:nvSpPr>
        <p:spPr>
          <a:xfrm>
            <a:off x="8869680" y="3218688"/>
            <a:ext cx="219456" cy="283464"/>
          </a:xfrm>
          <a:prstGeom prst="rect">
            <a:avLst/>
          </a:prstGeom>
          <a:solidFill>
            <a:srgbClr val="14A6B0"/>
          </a:solidFill>
          <a:ln/>
        </p:spPr>
      </p:sp>
      <p:sp>
        <p:nvSpPr>
          <p:cNvPr id="73" name="Shape 70"/>
          <p:cNvSpPr/>
          <p:nvPr/>
        </p:nvSpPr>
        <p:spPr>
          <a:xfrm>
            <a:off x="9107424" y="3218688"/>
            <a:ext cx="219456" cy="283464"/>
          </a:xfrm>
          <a:prstGeom prst="rect">
            <a:avLst/>
          </a:prstGeom>
          <a:solidFill>
            <a:srgbClr val="0E7C86"/>
          </a:solidFill>
          <a:ln/>
        </p:spPr>
      </p:sp>
      <p:sp>
        <p:nvSpPr>
          <p:cNvPr id="74" name="Shape 71"/>
          <p:cNvSpPr/>
          <p:nvPr/>
        </p:nvSpPr>
        <p:spPr>
          <a:xfrm>
            <a:off x="9345168" y="3218688"/>
            <a:ext cx="219456" cy="283464"/>
          </a:xfrm>
          <a:prstGeom prst="rect">
            <a:avLst/>
          </a:prstGeom>
          <a:solidFill>
            <a:srgbClr val="0E7C86"/>
          </a:solidFill>
          <a:ln/>
        </p:spPr>
      </p:sp>
      <p:sp>
        <p:nvSpPr>
          <p:cNvPr id="75" name="Shape 72"/>
          <p:cNvSpPr/>
          <p:nvPr/>
        </p:nvSpPr>
        <p:spPr>
          <a:xfrm>
            <a:off x="9582912" y="3218688"/>
            <a:ext cx="219456" cy="283464"/>
          </a:xfrm>
          <a:prstGeom prst="rect">
            <a:avLst/>
          </a:prstGeom>
          <a:solidFill>
            <a:srgbClr val="14A6B0"/>
          </a:solidFill>
          <a:ln/>
        </p:spPr>
      </p:sp>
      <p:sp>
        <p:nvSpPr>
          <p:cNvPr id="76" name="Shape 73"/>
          <p:cNvSpPr/>
          <p:nvPr/>
        </p:nvSpPr>
        <p:spPr>
          <a:xfrm>
            <a:off x="9820656" y="3218688"/>
            <a:ext cx="219456" cy="283464"/>
          </a:xfrm>
          <a:prstGeom prst="rect">
            <a:avLst/>
          </a:prstGeom>
          <a:solidFill>
            <a:srgbClr val="DCEDEE"/>
          </a:solidFill>
          <a:ln/>
        </p:spPr>
      </p:sp>
      <p:sp>
        <p:nvSpPr>
          <p:cNvPr id="77" name="Shape 74"/>
          <p:cNvSpPr/>
          <p:nvPr/>
        </p:nvSpPr>
        <p:spPr>
          <a:xfrm>
            <a:off x="10058400" y="3218688"/>
            <a:ext cx="219456" cy="283464"/>
          </a:xfrm>
          <a:prstGeom prst="rect">
            <a:avLst/>
          </a:prstGeom>
          <a:solidFill>
            <a:srgbClr val="14A6B0"/>
          </a:solidFill>
          <a:ln/>
        </p:spPr>
      </p:sp>
      <p:sp>
        <p:nvSpPr>
          <p:cNvPr id="78" name="Shape 75"/>
          <p:cNvSpPr/>
          <p:nvPr/>
        </p:nvSpPr>
        <p:spPr>
          <a:xfrm>
            <a:off x="10296144" y="3218688"/>
            <a:ext cx="219456" cy="283464"/>
          </a:xfrm>
          <a:prstGeom prst="rect">
            <a:avLst/>
          </a:prstGeom>
          <a:solidFill>
            <a:srgbClr val="0E7C86"/>
          </a:solidFill>
          <a:ln/>
        </p:spPr>
      </p:sp>
      <p:sp>
        <p:nvSpPr>
          <p:cNvPr id="79" name="Shape 76"/>
          <p:cNvSpPr/>
          <p:nvPr/>
        </p:nvSpPr>
        <p:spPr>
          <a:xfrm>
            <a:off x="10533888" y="3218688"/>
            <a:ext cx="219456" cy="283464"/>
          </a:xfrm>
          <a:prstGeom prst="rect">
            <a:avLst/>
          </a:prstGeom>
          <a:solidFill>
            <a:srgbClr val="0E7C86"/>
          </a:solidFill>
          <a:ln/>
        </p:spPr>
      </p:sp>
      <p:sp>
        <p:nvSpPr>
          <p:cNvPr id="80" name="Shape 77"/>
          <p:cNvSpPr/>
          <p:nvPr/>
        </p:nvSpPr>
        <p:spPr>
          <a:xfrm>
            <a:off x="6492240" y="3529584"/>
            <a:ext cx="219456" cy="283464"/>
          </a:xfrm>
          <a:prstGeom prst="rect">
            <a:avLst/>
          </a:prstGeom>
          <a:solidFill>
            <a:srgbClr val="DCEDEE"/>
          </a:solidFill>
          <a:ln/>
        </p:spPr>
      </p:sp>
      <p:sp>
        <p:nvSpPr>
          <p:cNvPr id="81" name="Shape 78"/>
          <p:cNvSpPr/>
          <p:nvPr/>
        </p:nvSpPr>
        <p:spPr>
          <a:xfrm>
            <a:off x="6729984" y="3529584"/>
            <a:ext cx="219456" cy="283464"/>
          </a:xfrm>
          <a:prstGeom prst="rect">
            <a:avLst/>
          </a:prstGeom>
          <a:solidFill>
            <a:srgbClr val="14A6B0"/>
          </a:solidFill>
          <a:ln/>
        </p:spPr>
      </p:sp>
      <p:sp>
        <p:nvSpPr>
          <p:cNvPr id="82" name="Shape 79"/>
          <p:cNvSpPr/>
          <p:nvPr/>
        </p:nvSpPr>
        <p:spPr>
          <a:xfrm>
            <a:off x="6967728" y="3529584"/>
            <a:ext cx="219456" cy="283464"/>
          </a:xfrm>
          <a:prstGeom prst="rect">
            <a:avLst/>
          </a:prstGeom>
          <a:solidFill>
            <a:srgbClr val="14A6B0"/>
          </a:solidFill>
          <a:ln/>
        </p:spPr>
      </p:sp>
      <p:sp>
        <p:nvSpPr>
          <p:cNvPr id="83" name="Shape 80"/>
          <p:cNvSpPr/>
          <p:nvPr/>
        </p:nvSpPr>
        <p:spPr>
          <a:xfrm>
            <a:off x="7205472" y="3529584"/>
            <a:ext cx="219456" cy="283464"/>
          </a:xfrm>
          <a:prstGeom prst="rect">
            <a:avLst/>
          </a:prstGeom>
          <a:solidFill>
            <a:srgbClr val="14A6B0"/>
          </a:solidFill>
          <a:ln/>
        </p:spPr>
      </p:sp>
      <p:sp>
        <p:nvSpPr>
          <p:cNvPr id="84" name="Shape 81"/>
          <p:cNvSpPr/>
          <p:nvPr/>
        </p:nvSpPr>
        <p:spPr>
          <a:xfrm>
            <a:off x="7443216" y="3529584"/>
            <a:ext cx="219456" cy="283464"/>
          </a:xfrm>
          <a:prstGeom prst="rect">
            <a:avLst/>
          </a:prstGeom>
          <a:solidFill>
            <a:srgbClr val="DCEDEE"/>
          </a:solidFill>
          <a:ln/>
        </p:spPr>
      </p:sp>
      <p:sp>
        <p:nvSpPr>
          <p:cNvPr id="85" name="Shape 82"/>
          <p:cNvSpPr/>
          <p:nvPr/>
        </p:nvSpPr>
        <p:spPr>
          <a:xfrm>
            <a:off x="7680960" y="3529584"/>
            <a:ext cx="219456" cy="283464"/>
          </a:xfrm>
          <a:prstGeom prst="rect">
            <a:avLst/>
          </a:prstGeom>
          <a:solidFill>
            <a:srgbClr val="DCEDEE"/>
          </a:solidFill>
          <a:ln/>
        </p:spPr>
      </p:sp>
      <p:sp>
        <p:nvSpPr>
          <p:cNvPr id="86" name="Shape 83"/>
          <p:cNvSpPr/>
          <p:nvPr/>
        </p:nvSpPr>
        <p:spPr>
          <a:xfrm>
            <a:off x="7918704" y="3529584"/>
            <a:ext cx="219456" cy="283464"/>
          </a:xfrm>
          <a:prstGeom prst="rect">
            <a:avLst/>
          </a:prstGeom>
          <a:solidFill>
            <a:srgbClr val="0E7C86"/>
          </a:solidFill>
          <a:ln/>
        </p:spPr>
      </p:sp>
      <p:sp>
        <p:nvSpPr>
          <p:cNvPr id="87" name="Shape 84"/>
          <p:cNvSpPr/>
          <p:nvPr/>
        </p:nvSpPr>
        <p:spPr>
          <a:xfrm>
            <a:off x="8156448" y="3529584"/>
            <a:ext cx="219456" cy="283464"/>
          </a:xfrm>
          <a:prstGeom prst="rect">
            <a:avLst/>
          </a:prstGeom>
          <a:solidFill>
            <a:srgbClr val="14A6B0"/>
          </a:solidFill>
          <a:ln/>
        </p:spPr>
      </p:sp>
      <p:sp>
        <p:nvSpPr>
          <p:cNvPr id="88" name="Shape 85"/>
          <p:cNvSpPr/>
          <p:nvPr/>
        </p:nvSpPr>
        <p:spPr>
          <a:xfrm>
            <a:off x="8394192" y="3529584"/>
            <a:ext cx="219456" cy="283464"/>
          </a:xfrm>
          <a:prstGeom prst="rect">
            <a:avLst/>
          </a:prstGeom>
          <a:solidFill>
            <a:srgbClr val="0E7C86"/>
          </a:solidFill>
          <a:ln/>
        </p:spPr>
      </p:sp>
      <p:sp>
        <p:nvSpPr>
          <p:cNvPr id="89" name="Shape 86"/>
          <p:cNvSpPr/>
          <p:nvPr/>
        </p:nvSpPr>
        <p:spPr>
          <a:xfrm>
            <a:off x="8631936" y="3529584"/>
            <a:ext cx="219456" cy="283464"/>
          </a:xfrm>
          <a:prstGeom prst="rect">
            <a:avLst/>
          </a:prstGeom>
          <a:solidFill>
            <a:srgbClr val="0E7C86"/>
          </a:solidFill>
          <a:ln/>
        </p:spPr>
      </p:sp>
      <p:sp>
        <p:nvSpPr>
          <p:cNvPr id="90" name="Shape 87"/>
          <p:cNvSpPr/>
          <p:nvPr/>
        </p:nvSpPr>
        <p:spPr>
          <a:xfrm>
            <a:off x="8869680" y="3529584"/>
            <a:ext cx="219456" cy="283464"/>
          </a:xfrm>
          <a:prstGeom prst="rect">
            <a:avLst/>
          </a:prstGeom>
          <a:solidFill>
            <a:srgbClr val="14A6B0"/>
          </a:solidFill>
          <a:ln/>
        </p:spPr>
      </p:sp>
      <p:sp>
        <p:nvSpPr>
          <p:cNvPr id="91" name="Shape 88"/>
          <p:cNvSpPr/>
          <p:nvPr/>
        </p:nvSpPr>
        <p:spPr>
          <a:xfrm>
            <a:off x="9107424" y="3529584"/>
            <a:ext cx="219456" cy="283464"/>
          </a:xfrm>
          <a:prstGeom prst="rect">
            <a:avLst/>
          </a:prstGeom>
          <a:solidFill>
            <a:srgbClr val="14A6B0"/>
          </a:solidFill>
          <a:ln/>
        </p:spPr>
      </p:sp>
      <p:sp>
        <p:nvSpPr>
          <p:cNvPr id="92" name="Shape 89"/>
          <p:cNvSpPr/>
          <p:nvPr/>
        </p:nvSpPr>
        <p:spPr>
          <a:xfrm>
            <a:off x="9345168" y="3529584"/>
            <a:ext cx="219456" cy="283464"/>
          </a:xfrm>
          <a:prstGeom prst="rect">
            <a:avLst/>
          </a:prstGeom>
          <a:solidFill>
            <a:srgbClr val="DCEDEE"/>
          </a:solidFill>
          <a:ln/>
        </p:spPr>
      </p:sp>
      <p:sp>
        <p:nvSpPr>
          <p:cNvPr id="93" name="Shape 90"/>
          <p:cNvSpPr/>
          <p:nvPr/>
        </p:nvSpPr>
        <p:spPr>
          <a:xfrm>
            <a:off x="9582912" y="3529584"/>
            <a:ext cx="219456" cy="283464"/>
          </a:xfrm>
          <a:prstGeom prst="rect">
            <a:avLst/>
          </a:prstGeom>
          <a:solidFill>
            <a:srgbClr val="DCEDEE"/>
          </a:solidFill>
          <a:ln/>
        </p:spPr>
      </p:sp>
      <p:sp>
        <p:nvSpPr>
          <p:cNvPr id="94" name="Shape 91"/>
          <p:cNvSpPr/>
          <p:nvPr/>
        </p:nvSpPr>
        <p:spPr>
          <a:xfrm>
            <a:off x="9820656" y="3529584"/>
            <a:ext cx="219456" cy="283464"/>
          </a:xfrm>
          <a:prstGeom prst="rect">
            <a:avLst/>
          </a:prstGeom>
          <a:solidFill>
            <a:srgbClr val="DCEDEE"/>
          </a:solidFill>
          <a:ln/>
        </p:spPr>
      </p:sp>
      <p:sp>
        <p:nvSpPr>
          <p:cNvPr id="95" name="Shape 92"/>
          <p:cNvSpPr/>
          <p:nvPr/>
        </p:nvSpPr>
        <p:spPr>
          <a:xfrm>
            <a:off x="10058400" y="3529584"/>
            <a:ext cx="219456" cy="283464"/>
          </a:xfrm>
          <a:prstGeom prst="rect">
            <a:avLst/>
          </a:prstGeom>
          <a:solidFill>
            <a:srgbClr val="0E7C86"/>
          </a:solidFill>
          <a:ln/>
        </p:spPr>
      </p:sp>
      <p:sp>
        <p:nvSpPr>
          <p:cNvPr id="96" name="Shape 93"/>
          <p:cNvSpPr/>
          <p:nvPr/>
        </p:nvSpPr>
        <p:spPr>
          <a:xfrm>
            <a:off x="10296144" y="3529584"/>
            <a:ext cx="219456" cy="283464"/>
          </a:xfrm>
          <a:prstGeom prst="rect">
            <a:avLst/>
          </a:prstGeom>
          <a:solidFill>
            <a:srgbClr val="DCEDEE"/>
          </a:solidFill>
          <a:ln/>
        </p:spPr>
      </p:sp>
      <p:sp>
        <p:nvSpPr>
          <p:cNvPr id="97" name="Shape 94"/>
          <p:cNvSpPr/>
          <p:nvPr/>
        </p:nvSpPr>
        <p:spPr>
          <a:xfrm>
            <a:off x="10533888" y="3529584"/>
            <a:ext cx="219456" cy="283464"/>
          </a:xfrm>
          <a:prstGeom prst="rect">
            <a:avLst/>
          </a:prstGeom>
          <a:solidFill>
            <a:srgbClr val="14A6B0"/>
          </a:solidFill>
          <a:ln/>
        </p:spPr>
      </p:sp>
      <p:sp>
        <p:nvSpPr>
          <p:cNvPr id="98" name="Shape 95"/>
          <p:cNvSpPr/>
          <p:nvPr/>
        </p:nvSpPr>
        <p:spPr>
          <a:xfrm>
            <a:off x="6492240" y="3840480"/>
            <a:ext cx="219456" cy="283464"/>
          </a:xfrm>
          <a:prstGeom prst="rect">
            <a:avLst/>
          </a:prstGeom>
          <a:solidFill>
            <a:srgbClr val="14A6B0"/>
          </a:solidFill>
          <a:ln/>
        </p:spPr>
      </p:sp>
      <p:sp>
        <p:nvSpPr>
          <p:cNvPr id="99" name="Shape 96"/>
          <p:cNvSpPr/>
          <p:nvPr/>
        </p:nvSpPr>
        <p:spPr>
          <a:xfrm>
            <a:off x="6729984" y="3840480"/>
            <a:ext cx="219456" cy="283464"/>
          </a:xfrm>
          <a:prstGeom prst="rect">
            <a:avLst/>
          </a:prstGeom>
          <a:solidFill>
            <a:srgbClr val="14A6B0"/>
          </a:solidFill>
          <a:ln/>
        </p:spPr>
      </p:sp>
      <p:sp>
        <p:nvSpPr>
          <p:cNvPr id="100" name="Shape 97"/>
          <p:cNvSpPr/>
          <p:nvPr/>
        </p:nvSpPr>
        <p:spPr>
          <a:xfrm>
            <a:off x="6967728" y="3840480"/>
            <a:ext cx="219456" cy="283464"/>
          </a:xfrm>
          <a:prstGeom prst="rect">
            <a:avLst/>
          </a:prstGeom>
          <a:solidFill>
            <a:srgbClr val="14A6B0"/>
          </a:solidFill>
          <a:ln/>
        </p:spPr>
      </p:sp>
      <p:sp>
        <p:nvSpPr>
          <p:cNvPr id="101" name="Shape 98"/>
          <p:cNvSpPr/>
          <p:nvPr/>
        </p:nvSpPr>
        <p:spPr>
          <a:xfrm>
            <a:off x="7205472" y="3840480"/>
            <a:ext cx="219456" cy="283464"/>
          </a:xfrm>
          <a:prstGeom prst="rect">
            <a:avLst/>
          </a:prstGeom>
          <a:solidFill>
            <a:srgbClr val="14A6B0"/>
          </a:solidFill>
          <a:ln/>
        </p:spPr>
      </p:sp>
      <p:sp>
        <p:nvSpPr>
          <p:cNvPr id="102" name="Shape 99"/>
          <p:cNvSpPr/>
          <p:nvPr/>
        </p:nvSpPr>
        <p:spPr>
          <a:xfrm>
            <a:off x="7443216" y="3840480"/>
            <a:ext cx="219456" cy="283464"/>
          </a:xfrm>
          <a:prstGeom prst="rect">
            <a:avLst/>
          </a:prstGeom>
          <a:solidFill>
            <a:srgbClr val="14A6B0"/>
          </a:solidFill>
          <a:ln/>
        </p:spPr>
      </p:sp>
      <p:sp>
        <p:nvSpPr>
          <p:cNvPr id="103" name="Shape 100"/>
          <p:cNvSpPr/>
          <p:nvPr/>
        </p:nvSpPr>
        <p:spPr>
          <a:xfrm>
            <a:off x="7680960" y="3840480"/>
            <a:ext cx="219456" cy="283464"/>
          </a:xfrm>
          <a:prstGeom prst="rect">
            <a:avLst/>
          </a:prstGeom>
          <a:solidFill>
            <a:srgbClr val="14A6B0"/>
          </a:solidFill>
          <a:ln/>
        </p:spPr>
      </p:sp>
      <p:sp>
        <p:nvSpPr>
          <p:cNvPr id="104" name="Shape 101"/>
          <p:cNvSpPr/>
          <p:nvPr/>
        </p:nvSpPr>
        <p:spPr>
          <a:xfrm>
            <a:off x="7918704" y="3840480"/>
            <a:ext cx="219456" cy="283464"/>
          </a:xfrm>
          <a:prstGeom prst="rect">
            <a:avLst/>
          </a:prstGeom>
          <a:solidFill>
            <a:srgbClr val="DCEDEE"/>
          </a:solidFill>
          <a:ln/>
        </p:spPr>
      </p:sp>
      <p:sp>
        <p:nvSpPr>
          <p:cNvPr id="105" name="Shape 102"/>
          <p:cNvSpPr/>
          <p:nvPr/>
        </p:nvSpPr>
        <p:spPr>
          <a:xfrm>
            <a:off x="8156448" y="3840480"/>
            <a:ext cx="219456" cy="283464"/>
          </a:xfrm>
          <a:prstGeom prst="rect">
            <a:avLst/>
          </a:prstGeom>
          <a:solidFill>
            <a:srgbClr val="14A6B0"/>
          </a:solidFill>
          <a:ln/>
        </p:spPr>
      </p:sp>
      <p:sp>
        <p:nvSpPr>
          <p:cNvPr id="106" name="Shape 103"/>
          <p:cNvSpPr/>
          <p:nvPr/>
        </p:nvSpPr>
        <p:spPr>
          <a:xfrm>
            <a:off x="8394192" y="3840480"/>
            <a:ext cx="219456" cy="283464"/>
          </a:xfrm>
          <a:prstGeom prst="rect">
            <a:avLst/>
          </a:prstGeom>
          <a:solidFill>
            <a:srgbClr val="0E7C86"/>
          </a:solidFill>
          <a:ln/>
        </p:spPr>
      </p:sp>
      <p:sp>
        <p:nvSpPr>
          <p:cNvPr id="107" name="Shape 104"/>
          <p:cNvSpPr/>
          <p:nvPr/>
        </p:nvSpPr>
        <p:spPr>
          <a:xfrm>
            <a:off x="8631936" y="3840480"/>
            <a:ext cx="219456" cy="283464"/>
          </a:xfrm>
          <a:prstGeom prst="rect">
            <a:avLst/>
          </a:prstGeom>
          <a:solidFill>
            <a:srgbClr val="14A6B0"/>
          </a:solidFill>
          <a:ln/>
        </p:spPr>
      </p:sp>
      <p:sp>
        <p:nvSpPr>
          <p:cNvPr id="108" name="Shape 105"/>
          <p:cNvSpPr/>
          <p:nvPr/>
        </p:nvSpPr>
        <p:spPr>
          <a:xfrm>
            <a:off x="8869680" y="3840480"/>
            <a:ext cx="219456" cy="283464"/>
          </a:xfrm>
          <a:prstGeom prst="rect">
            <a:avLst/>
          </a:prstGeom>
          <a:solidFill>
            <a:srgbClr val="0E7C86"/>
          </a:solidFill>
          <a:ln/>
        </p:spPr>
      </p:sp>
      <p:sp>
        <p:nvSpPr>
          <p:cNvPr id="109" name="Shape 106"/>
          <p:cNvSpPr/>
          <p:nvPr/>
        </p:nvSpPr>
        <p:spPr>
          <a:xfrm>
            <a:off x="9107424" y="3840480"/>
            <a:ext cx="219456" cy="283464"/>
          </a:xfrm>
          <a:prstGeom prst="rect">
            <a:avLst/>
          </a:prstGeom>
          <a:solidFill>
            <a:srgbClr val="DCEDEE"/>
          </a:solidFill>
          <a:ln/>
        </p:spPr>
      </p:sp>
      <p:sp>
        <p:nvSpPr>
          <p:cNvPr id="110" name="Shape 107"/>
          <p:cNvSpPr/>
          <p:nvPr/>
        </p:nvSpPr>
        <p:spPr>
          <a:xfrm>
            <a:off x="9345168" y="3840480"/>
            <a:ext cx="219456" cy="283464"/>
          </a:xfrm>
          <a:prstGeom prst="rect">
            <a:avLst/>
          </a:prstGeom>
          <a:solidFill>
            <a:srgbClr val="0E7C86"/>
          </a:solidFill>
          <a:ln/>
        </p:spPr>
      </p:sp>
      <p:sp>
        <p:nvSpPr>
          <p:cNvPr id="111" name="Shape 108"/>
          <p:cNvSpPr/>
          <p:nvPr/>
        </p:nvSpPr>
        <p:spPr>
          <a:xfrm>
            <a:off x="9582912" y="3840480"/>
            <a:ext cx="219456" cy="283464"/>
          </a:xfrm>
          <a:prstGeom prst="rect">
            <a:avLst/>
          </a:prstGeom>
          <a:solidFill>
            <a:srgbClr val="14A6B0"/>
          </a:solidFill>
          <a:ln/>
        </p:spPr>
      </p:sp>
      <p:sp>
        <p:nvSpPr>
          <p:cNvPr id="112" name="Shape 109"/>
          <p:cNvSpPr/>
          <p:nvPr/>
        </p:nvSpPr>
        <p:spPr>
          <a:xfrm>
            <a:off x="9820656" y="3840480"/>
            <a:ext cx="219456" cy="283464"/>
          </a:xfrm>
          <a:prstGeom prst="rect">
            <a:avLst/>
          </a:prstGeom>
          <a:solidFill>
            <a:srgbClr val="DCEDEE"/>
          </a:solidFill>
          <a:ln/>
        </p:spPr>
      </p:sp>
      <p:sp>
        <p:nvSpPr>
          <p:cNvPr id="113" name="Shape 110"/>
          <p:cNvSpPr/>
          <p:nvPr/>
        </p:nvSpPr>
        <p:spPr>
          <a:xfrm>
            <a:off x="10058400" y="3840480"/>
            <a:ext cx="219456" cy="283464"/>
          </a:xfrm>
          <a:prstGeom prst="rect">
            <a:avLst/>
          </a:prstGeom>
          <a:solidFill>
            <a:srgbClr val="0E7C86"/>
          </a:solidFill>
          <a:ln/>
        </p:spPr>
      </p:sp>
      <p:sp>
        <p:nvSpPr>
          <p:cNvPr id="114" name="Shape 111"/>
          <p:cNvSpPr/>
          <p:nvPr/>
        </p:nvSpPr>
        <p:spPr>
          <a:xfrm>
            <a:off x="10296144" y="3840480"/>
            <a:ext cx="219456" cy="283464"/>
          </a:xfrm>
          <a:prstGeom prst="rect">
            <a:avLst/>
          </a:prstGeom>
          <a:solidFill>
            <a:srgbClr val="14A6B0"/>
          </a:solidFill>
          <a:ln/>
        </p:spPr>
      </p:sp>
      <p:sp>
        <p:nvSpPr>
          <p:cNvPr id="115" name="Shape 112"/>
          <p:cNvSpPr/>
          <p:nvPr/>
        </p:nvSpPr>
        <p:spPr>
          <a:xfrm>
            <a:off x="10533888" y="3840480"/>
            <a:ext cx="219456" cy="283464"/>
          </a:xfrm>
          <a:prstGeom prst="rect">
            <a:avLst/>
          </a:prstGeom>
          <a:solidFill>
            <a:srgbClr val="14A6B0"/>
          </a:solidFill>
          <a:ln/>
        </p:spPr>
      </p:sp>
      <p:sp>
        <p:nvSpPr>
          <p:cNvPr id="116" name="Shape 113"/>
          <p:cNvSpPr/>
          <p:nvPr/>
        </p:nvSpPr>
        <p:spPr>
          <a:xfrm>
            <a:off x="6492240" y="4151376"/>
            <a:ext cx="219456" cy="283464"/>
          </a:xfrm>
          <a:prstGeom prst="rect">
            <a:avLst/>
          </a:prstGeom>
          <a:solidFill>
            <a:srgbClr val="14A6B0"/>
          </a:solidFill>
          <a:ln/>
        </p:spPr>
      </p:sp>
      <p:sp>
        <p:nvSpPr>
          <p:cNvPr id="117" name="Shape 114"/>
          <p:cNvSpPr/>
          <p:nvPr/>
        </p:nvSpPr>
        <p:spPr>
          <a:xfrm>
            <a:off x="6729984" y="4151376"/>
            <a:ext cx="219456" cy="283464"/>
          </a:xfrm>
          <a:prstGeom prst="rect">
            <a:avLst/>
          </a:prstGeom>
          <a:solidFill>
            <a:srgbClr val="DCEDEE"/>
          </a:solidFill>
          <a:ln/>
        </p:spPr>
      </p:sp>
      <p:sp>
        <p:nvSpPr>
          <p:cNvPr id="118" name="Shape 115"/>
          <p:cNvSpPr/>
          <p:nvPr/>
        </p:nvSpPr>
        <p:spPr>
          <a:xfrm>
            <a:off x="6967728" y="4151376"/>
            <a:ext cx="219456" cy="283464"/>
          </a:xfrm>
          <a:prstGeom prst="rect">
            <a:avLst/>
          </a:prstGeom>
          <a:solidFill>
            <a:srgbClr val="DCEDEE"/>
          </a:solidFill>
          <a:ln/>
        </p:spPr>
      </p:sp>
      <p:sp>
        <p:nvSpPr>
          <p:cNvPr id="119" name="Shape 116"/>
          <p:cNvSpPr/>
          <p:nvPr/>
        </p:nvSpPr>
        <p:spPr>
          <a:xfrm>
            <a:off x="7205472" y="4151376"/>
            <a:ext cx="219456" cy="283464"/>
          </a:xfrm>
          <a:prstGeom prst="rect">
            <a:avLst/>
          </a:prstGeom>
          <a:solidFill>
            <a:srgbClr val="0E7C86"/>
          </a:solidFill>
          <a:ln/>
        </p:spPr>
      </p:sp>
      <p:sp>
        <p:nvSpPr>
          <p:cNvPr id="120" name="Shape 117"/>
          <p:cNvSpPr/>
          <p:nvPr/>
        </p:nvSpPr>
        <p:spPr>
          <a:xfrm>
            <a:off x="7443216" y="4151376"/>
            <a:ext cx="219456" cy="283464"/>
          </a:xfrm>
          <a:prstGeom prst="rect">
            <a:avLst/>
          </a:prstGeom>
          <a:solidFill>
            <a:srgbClr val="0E7C86"/>
          </a:solidFill>
          <a:ln/>
        </p:spPr>
      </p:sp>
      <p:sp>
        <p:nvSpPr>
          <p:cNvPr id="121" name="Shape 118"/>
          <p:cNvSpPr/>
          <p:nvPr/>
        </p:nvSpPr>
        <p:spPr>
          <a:xfrm>
            <a:off x="7680960" y="4151376"/>
            <a:ext cx="219456" cy="283464"/>
          </a:xfrm>
          <a:prstGeom prst="rect">
            <a:avLst/>
          </a:prstGeom>
          <a:solidFill>
            <a:srgbClr val="DCEDEE"/>
          </a:solidFill>
          <a:ln/>
        </p:spPr>
      </p:sp>
      <p:sp>
        <p:nvSpPr>
          <p:cNvPr id="122" name="Shape 119"/>
          <p:cNvSpPr/>
          <p:nvPr/>
        </p:nvSpPr>
        <p:spPr>
          <a:xfrm>
            <a:off x="7918704" y="4151376"/>
            <a:ext cx="219456" cy="283464"/>
          </a:xfrm>
          <a:prstGeom prst="rect">
            <a:avLst/>
          </a:prstGeom>
          <a:solidFill>
            <a:srgbClr val="0E7C86"/>
          </a:solidFill>
          <a:ln/>
        </p:spPr>
      </p:sp>
      <p:sp>
        <p:nvSpPr>
          <p:cNvPr id="123" name="Shape 120"/>
          <p:cNvSpPr/>
          <p:nvPr/>
        </p:nvSpPr>
        <p:spPr>
          <a:xfrm>
            <a:off x="8156448" y="4151376"/>
            <a:ext cx="219456" cy="283464"/>
          </a:xfrm>
          <a:prstGeom prst="rect">
            <a:avLst/>
          </a:prstGeom>
          <a:solidFill>
            <a:srgbClr val="14A6B0"/>
          </a:solidFill>
          <a:ln/>
        </p:spPr>
      </p:sp>
      <p:sp>
        <p:nvSpPr>
          <p:cNvPr id="124" name="Shape 121"/>
          <p:cNvSpPr/>
          <p:nvPr/>
        </p:nvSpPr>
        <p:spPr>
          <a:xfrm>
            <a:off x="8394192" y="4151376"/>
            <a:ext cx="219456" cy="283464"/>
          </a:xfrm>
          <a:prstGeom prst="rect">
            <a:avLst/>
          </a:prstGeom>
          <a:solidFill>
            <a:srgbClr val="14A6B0"/>
          </a:solidFill>
          <a:ln/>
        </p:spPr>
      </p:sp>
      <p:sp>
        <p:nvSpPr>
          <p:cNvPr id="125" name="Shape 122"/>
          <p:cNvSpPr/>
          <p:nvPr/>
        </p:nvSpPr>
        <p:spPr>
          <a:xfrm>
            <a:off x="8631936" y="4151376"/>
            <a:ext cx="219456" cy="283464"/>
          </a:xfrm>
          <a:prstGeom prst="rect">
            <a:avLst/>
          </a:prstGeom>
          <a:solidFill>
            <a:srgbClr val="14A6B0"/>
          </a:solidFill>
          <a:ln/>
        </p:spPr>
      </p:sp>
      <p:sp>
        <p:nvSpPr>
          <p:cNvPr id="126" name="Shape 123"/>
          <p:cNvSpPr/>
          <p:nvPr/>
        </p:nvSpPr>
        <p:spPr>
          <a:xfrm>
            <a:off x="8869680" y="4151376"/>
            <a:ext cx="219456" cy="283464"/>
          </a:xfrm>
          <a:prstGeom prst="rect">
            <a:avLst/>
          </a:prstGeom>
          <a:solidFill>
            <a:srgbClr val="DCEDEE"/>
          </a:solidFill>
          <a:ln/>
        </p:spPr>
      </p:sp>
      <p:sp>
        <p:nvSpPr>
          <p:cNvPr id="127" name="Shape 124"/>
          <p:cNvSpPr/>
          <p:nvPr/>
        </p:nvSpPr>
        <p:spPr>
          <a:xfrm>
            <a:off x="9107424" y="4151376"/>
            <a:ext cx="219456" cy="283464"/>
          </a:xfrm>
          <a:prstGeom prst="rect">
            <a:avLst/>
          </a:prstGeom>
          <a:solidFill>
            <a:srgbClr val="0E7C86"/>
          </a:solidFill>
          <a:ln/>
        </p:spPr>
      </p:sp>
      <p:sp>
        <p:nvSpPr>
          <p:cNvPr id="128" name="Shape 125"/>
          <p:cNvSpPr/>
          <p:nvPr/>
        </p:nvSpPr>
        <p:spPr>
          <a:xfrm>
            <a:off x="9345168" y="4151376"/>
            <a:ext cx="219456" cy="283464"/>
          </a:xfrm>
          <a:prstGeom prst="rect">
            <a:avLst/>
          </a:prstGeom>
          <a:solidFill>
            <a:srgbClr val="0E7C86"/>
          </a:solidFill>
          <a:ln/>
        </p:spPr>
      </p:sp>
      <p:sp>
        <p:nvSpPr>
          <p:cNvPr id="129" name="Shape 126"/>
          <p:cNvSpPr/>
          <p:nvPr/>
        </p:nvSpPr>
        <p:spPr>
          <a:xfrm>
            <a:off x="9582912" y="4151376"/>
            <a:ext cx="219456" cy="283464"/>
          </a:xfrm>
          <a:prstGeom prst="rect">
            <a:avLst/>
          </a:prstGeom>
          <a:solidFill>
            <a:srgbClr val="14A6B0"/>
          </a:solidFill>
          <a:ln/>
        </p:spPr>
      </p:sp>
      <p:sp>
        <p:nvSpPr>
          <p:cNvPr id="130" name="Shape 127"/>
          <p:cNvSpPr/>
          <p:nvPr/>
        </p:nvSpPr>
        <p:spPr>
          <a:xfrm>
            <a:off x="9820656" y="4151376"/>
            <a:ext cx="219456" cy="283464"/>
          </a:xfrm>
          <a:prstGeom prst="rect">
            <a:avLst/>
          </a:prstGeom>
          <a:solidFill>
            <a:srgbClr val="DCEDEE"/>
          </a:solidFill>
          <a:ln/>
        </p:spPr>
      </p:sp>
      <p:sp>
        <p:nvSpPr>
          <p:cNvPr id="131" name="Shape 128"/>
          <p:cNvSpPr/>
          <p:nvPr/>
        </p:nvSpPr>
        <p:spPr>
          <a:xfrm>
            <a:off x="10058400" y="4151376"/>
            <a:ext cx="219456" cy="283464"/>
          </a:xfrm>
          <a:prstGeom prst="rect">
            <a:avLst/>
          </a:prstGeom>
          <a:solidFill>
            <a:srgbClr val="14A6B0"/>
          </a:solidFill>
          <a:ln/>
        </p:spPr>
      </p:sp>
      <p:sp>
        <p:nvSpPr>
          <p:cNvPr id="132" name="Shape 129"/>
          <p:cNvSpPr/>
          <p:nvPr/>
        </p:nvSpPr>
        <p:spPr>
          <a:xfrm>
            <a:off x="10296144" y="4151376"/>
            <a:ext cx="219456" cy="283464"/>
          </a:xfrm>
          <a:prstGeom prst="rect">
            <a:avLst/>
          </a:prstGeom>
          <a:solidFill>
            <a:srgbClr val="14A6B0"/>
          </a:solidFill>
          <a:ln/>
        </p:spPr>
      </p:sp>
      <p:sp>
        <p:nvSpPr>
          <p:cNvPr id="133" name="Shape 130"/>
          <p:cNvSpPr/>
          <p:nvPr/>
        </p:nvSpPr>
        <p:spPr>
          <a:xfrm>
            <a:off x="10533888" y="4151376"/>
            <a:ext cx="219456" cy="283464"/>
          </a:xfrm>
          <a:prstGeom prst="rect">
            <a:avLst/>
          </a:prstGeom>
          <a:solidFill>
            <a:srgbClr val="14A6B0"/>
          </a:solidFill>
          <a:ln/>
        </p:spPr>
      </p:sp>
      <p:sp>
        <p:nvSpPr>
          <p:cNvPr id="134" name="Shape 131"/>
          <p:cNvSpPr/>
          <p:nvPr/>
        </p:nvSpPr>
        <p:spPr>
          <a:xfrm>
            <a:off x="6492240" y="4462272"/>
            <a:ext cx="219456" cy="283464"/>
          </a:xfrm>
          <a:prstGeom prst="rect">
            <a:avLst/>
          </a:prstGeom>
          <a:solidFill>
            <a:srgbClr val="14A6B0"/>
          </a:solidFill>
          <a:ln/>
        </p:spPr>
      </p:sp>
      <p:sp>
        <p:nvSpPr>
          <p:cNvPr id="135" name="Shape 132"/>
          <p:cNvSpPr/>
          <p:nvPr/>
        </p:nvSpPr>
        <p:spPr>
          <a:xfrm>
            <a:off x="6729984" y="4462272"/>
            <a:ext cx="219456" cy="283464"/>
          </a:xfrm>
          <a:prstGeom prst="rect">
            <a:avLst/>
          </a:prstGeom>
          <a:solidFill>
            <a:srgbClr val="DCEDEE"/>
          </a:solidFill>
          <a:ln/>
        </p:spPr>
      </p:sp>
      <p:sp>
        <p:nvSpPr>
          <p:cNvPr id="136" name="Shape 133"/>
          <p:cNvSpPr/>
          <p:nvPr/>
        </p:nvSpPr>
        <p:spPr>
          <a:xfrm>
            <a:off x="6967728" y="4462272"/>
            <a:ext cx="219456" cy="283464"/>
          </a:xfrm>
          <a:prstGeom prst="rect">
            <a:avLst/>
          </a:prstGeom>
          <a:solidFill>
            <a:srgbClr val="0E7C86"/>
          </a:solidFill>
          <a:ln/>
        </p:spPr>
      </p:sp>
      <p:sp>
        <p:nvSpPr>
          <p:cNvPr id="137" name="Shape 134"/>
          <p:cNvSpPr/>
          <p:nvPr/>
        </p:nvSpPr>
        <p:spPr>
          <a:xfrm>
            <a:off x="7205472" y="4462272"/>
            <a:ext cx="219456" cy="283464"/>
          </a:xfrm>
          <a:prstGeom prst="rect">
            <a:avLst/>
          </a:prstGeom>
          <a:solidFill>
            <a:srgbClr val="14A6B0"/>
          </a:solidFill>
          <a:ln/>
        </p:spPr>
      </p:sp>
      <p:sp>
        <p:nvSpPr>
          <p:cNvPr id="138" name="Shape 135"/>
          <p:cNvSpPr/>
          <p:nvPr/>
        </p:nvSpPr>
        <p:spPr>
          <a:xfrm>
            <a:off x="7443216" y="4462272"/>
            <a:ext cx="219456" cy="283464"/>
          </a:xfrm>
          <a:prstGeom prst="rect">
            <a:avLst/>
          </a:prstGeom>
          <a:solidFill>
            <a:srgbClr val="14A6B0"/>
          </a:solidFill>
          <a:ln/>
        </p:spPr>
      </p:sp>
      <p:sp>
        <p:nvSpPr>
          <p:cNvPr id="139" name="Shape 136"/>
          <p:cNvSpPr/>
          <p:nvPr/>
        </p:nvSpPr>
        <p:spPr>
          <a:xfrm>
            <a:off x="7680960" y="4462272"/>
            <a:ext cx="219456" cy="283464"/>
          </a:xfrm>
          <a:prstGeom prst="rect">
            <a:avLst/>
          </a:prstGeom>
          <a:solidFill>
            <a:srgbClr val="14A6B0"/>
          </a:solidFill>
          <a:ln/>
        </p:spPr>
      </p:sp>
      <p:sp>
        <p:nvSpPr>
          <p:cNvPr id="140" name="Shape 137"/>
          <p:cNvSpPr/>
          <p:nvPr/>
        </p:nvSpPr>
        <p:spPr>
          <a:xfrm>
            <a:off x="7918704" y="4462272"/>
            <a:ext cx="219456" cy="283464"/>
          </a:xfrm>
          <a:prstGeom prst="rect">
            <a:avLst/>
          </a:prstGeom>
          <a:solidFill>
            <a:srgbClr val="14A6B0"/>
          </a:solidFill>
          <a:ln/>
        </p:spPr>
      </p:sp>
      <p:sp>
        <p:nvSpPr>
          <p:cNvPr id="141" name="Shape 138"/>
          <p:cNvSpPr/>
          <p:nvPr/>
        </p:nvSpPr>
        <p:spPr>
          <a:xfrm>
            <a:off x="8156448" y="4462272"/>
            <a:ext cx="219456" cy="283464"/>
          </a:xfrm>
          <a:prstGeom prst="rect">
            <a:avLst/>
          </a:prstGeom>
          <a:solidFill>
            <a:srgbClr val="0E7C86"/>
          </a:solidFill>
          <a:ln/>
        </p:spPr>
      </p:sp>
      <p:sp>
        <p:nvSpPr>
          <p:cNvPr id="142" name="Shape 139"/>
          <p:cNvSpPr/>
          <p:nvPr/>
        </p:nvSpPr>
        <p:spPr>
          <a:xfrm>
            <a:off x="8394192" y="4462272"/>
            <a:ext cx="219456" cy="283464"/>
          </a:xfrm>
          <a:prstGeom prst="rect">
            <a:avLst/>
          </a:prstGeom>
          <a:solidFill>
            <a:srgbClr val="DCEDEE"/>
          </a:solidFill>
          <a:ln/>
        </p:spPr>
      </p:sp>
      <p:sp>
        <p:nvSpPr>
          <p:cNvPr id="143" name="Shape 140"/>
          <p:cNvSpPr/>
          <p:nvPr/>
        </p:nvSpPr>
        <p:spPr>
          <a:xfrm>
            <a:off x="8631936" y="4462272"/>
            <a:ext cx="219456" cy="283464"/>
          </a:xfrm>
          <a:prstGeom prst="rect">
            <a:avLst/>
          </a:prstGeom>
          <a:solidFill>
            <a:srgbClr val="DCEDEE"/>
          </a:solidFill>
          <a:ln/>
        </p:spPr>
      </p:sp>
      <p:sp>
        <p:nvSpPr>
          <p:cNvPr id="144" name="Shape 141"/>
          <p:cNvSpPr/>
          <p:nvPr/>
        </p:nvSpPr>
        <p:spPr>
          <a:xfrm>
            <a:off x="8869680" y="4462272"/>
            <a:ext cx="219456" cy="283464"/>
          </a:xfrm>
          <a:prstGeom prst="rect">
            <a:avLst/>
          </a:prstGeom>
          <a:solidFill>
            <a:srgbClr val="DCEDEE"/>
          </a:solidFill>
          <a:ln/>
        </p:spPr>
      </p:sp>
      <p:sp>
        <p:nvSpPr>
          <p:cNvPr id="145" name="Shape 142"/>
          <p:cNvSpPr/>
          <p:nvPr/>
        </p:nvSpPr>
        <p:spPr>
          <a:xfrm>
            <a:off x="9107424" y="4462272"/>
            <a:ext cx="219456" cy="283464"/>
          </a:xfrm>
          <a:prstGeom prst="rect">
            <a:avLst/>
          </a:prstGeom>
          <a:solidFill>
            <a:srgbClr val="DCEDEE"/>
          </a:solidFill>
          <a:ln/>
        </p:spPr>
      </p:sp>
      <p:sp>
        <p:nvSpPr>
          <p:cNvPr id="146" name="Shape 143"/>
          <p:cNvSpPr/>
          <p:nvPr/>
        </p:nvSpPr>
        <p:spPr>
          <a:xfrm>
            <a:off x="9345168" y="4462272"/>
            <a:ext cx="219456" cy="283464"/>
          </a:xfrm>
          <a:prstGeom prst="rect">
            <a:avLst/>
          </a:prstGeom>
          <a:solidFill>
            <a:srgbClr val="14A6B0"/>
          </a:solidFill>
          <a:ln/>
        </p:spPr>
      </p:sp>
      <p:sp>
        <p:nvSpPr>
          <p:cNvPr id="147" name="Shape 144"/>
          <p:cNvSpPr/>
          <p:nvPr/>
        </p:nvSpPr>
        <p:spPr>
          <a:xfrm>
            <a:off x="9582912" y="4462272"/>
            <a:ext cx="219456" cy="283464"/>
          </a:xfrm>
          <a:prstGeom prst="rect">
            <a:avLst/>
          </a:prstGeom>
          <a:solidFill>
            <a:srgbClr val="DCEDEE"/>
          </a:solidFill>
          <a:ln/>
        </p:spPr>
      </p:sp>
      <p:sp>
        <p:nvSpPr>
          <p:cNvPr id="148" name="Shape 145"/>
          <p:cNvSpPr/>
          <p:nvPr/>
        </p:nvSpPr>
        <p:spPr>
          <a:xfrm>
            <a:off x="9820656" y="4462272"/>
            <a:ext cx="219456" cy="283464"/>
          </a:xfrm>
          <a:prstGeom prst="rect">
            <a:avLst/>
          </a:prstGeom>
          <a:solidFill>
            <a:srgbClr val="0E7C86"/>
          </a:solidFill>
          <a:ln/>
        </p:spPr>
      </p:sp>
      <p:sp>
        <p:nvSpPr>
          <p:cNvPr id="149" name="Shape 146"/>
          <p:cNvSpPr/>
          <p:nvPr/>
        </p:nvSpPr>
        <p:spPr>
          <a:xfrm>
            <a:off x="10058400" y="4462272"/>
            <a:ext cx="219456" cy="283464"/>
          </a:xfrm>
          <a:prstGeom prst="rect">
            <a:avLst/>
          </a:prstGeom>
          <a:solidFill>
            <a:srgbClr val="DCEDEE"/>
          </a:solidFill>
          <a:ln/>
        </p:spPr>
      </p:sp>
      <p:sp>
        <p:nvSpPr>
          <p:cNvPr id="150" name="Shape 147"/>
          <p:cNvSpPr/>
          <p:nvPr/>
        </p:nvSpPr>
        <p:spPr>
          <a:xfrm>
            <a:off x="10296144" y="4462272"/>
            <a:ext cx="219456" cy="283464"/>
          </a:xfrm>
          <a:prstGeom prst="rect">
            <a:avLst/>
          </a:prstGeom>
          <a:solidFill>
            <a:srgbClr val="14A6B0"/>
          </a:solidFill>
          <a:ln/>
        </p:spPr>
      </p:sp>
      <p:sp>
        <p:nvSpPr>
          <p:cNvPr id="151" name="Shape 148"/>
          <p:cNvSpPr/>
          <p:nvPr/>
        </p:nvSpPr>
        <p:spPr>
          <a:xfrm>
            <a:off x="10533888" y="4462272"/>
            <a:ext cx="219456" cy="283464"/>
          </a:xfrm>
          <a:prstGeom prst="rect">
            <a:avLst/>
          </a:prstGeom>
          <a:solidFill>
            <a:srgbClr val="DCEDEE"/>
          </a:solidFill>
          <a:ln/>
        </p:spPr>
      </p:sp>
      <p:sp>
        <p:nvSpPr>
          <p:cNvPr id="152" name="Text 149"/>
          <p:cNvSpPr/>
          <p:nvPr/>
        </p:nvSpPr>
        <p:spPr>
          <a:xfrm>
            <a:off x="6492240" y="1901952"/>
            <a:ext cx="4279392" cy="27432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X  (features)</a:t>
            </a:r>
            <a:endParaRPr lang="en-US" sz="1300" dirty="0"/>
          </a:p>
        </p:txBody>
      </p:sp>
      <p:sp>
        <p:nvSpPr>
          <p:cNvPr id="153" name="Shape 150"/>
          <p:cNvSpPr/>
          <p:nvPr/>
        </p:nvSpPr>
        <p:spPr>
          <a:xfrm>
            <a:off x="11000232" y="2286000"/>
            <a:ext cx="332842" cy="283464"/>
          </a:xfrm>
          <a:prstGeom prst="rect">
            <a:avLst/>
          </a:prstGeom>
          <a:solidFill>
            <a:srgbClr val="F6E9D8"/>
          </a:solidFill>
          <a:ln/>
        </p:spPr>
      </p:sp>
      <p:sp>
        <p:nvSpPr>
          <p:cNvPr id="154" name="Shape 151"/>
          <p:cNvSpPr/>
          <p:nvPr/>
        </p:nvSpPr>
        <p:spPr>
          <a:xfrm>
            <a:off x="11000232" y="2596896"/>
            <a:ext cx="332842" cy="283464"/>
          </a:xfrm>
          <a:prstGeom prst="rect">
            <a:avLst/>
          </a:prstGeom>
          <a:solidFill>
            <a:srgbClr val="F6E9D8"/>
          </a:solidFill>
          <a:ln/>
        </p:spPr>
      </p:sp>
      <p:sp>
        <p:nvSpPr>
          <p:cNvPr id="155" name="Shape 152"/>
          <p:cNvSpPr/>
          <p:nvPr/>
        </p:nvSpPr>
        <p:spPr>
          <a:xfrm>
            <a:off x="11000232" y="2907792"/>
            <a:ext cx="332842" cy="283464"/>
          </a:xfrm>
          <a:prstGeom prst="rect">
            <a:avLst/>
          </a:prstGeom>
          <a:solidFill>
            <a:srgbClr val="C2772B"/>
          </a:solidFill>
          <a:ln/>
        </p:spPr>
      </p:sp>
      <p:sp>
        <p:nvSpPr>
          <p:cNvPr id="156" name="Shape 153"/>
          <p:cNvSpPr/>
          <p:nvPr/>
        </p:nvSpPr>
        <p:spPr>
          <a:xfrm>
            <a:off x="11000232" y="3218688"/>
            <a:ext cx="332842" cy="283464"/>
          </a:xfrm>
          <a:prstGeom prst="rect">
            <a:avLst/>
          </a:prstGeom>
          <a:solidFill>
            <a:srgbClr val="C2772B"/>
          </a:solidFill>
          <a:ln/>
        </p:spPr>
      </p:sp>
      <p:sp>
        <p:nvSpPr>
          <p:cNvPr id="157" name="Shape 154"/>
          <p:cNvSpPr/>
          <p:nvPr/>
        </p:nvSpPr>
        <p:spPr>
          <a:xfrm>
            <a:off x="11000232" y="3529584"/>
            <a:ext cx="332842" cy="283464"/>
          </a:xfrm>
          <a:prstGeom prst="rect">
            <a:avLst/>
          </a:prstGeom>
          <a:solidFill>
            <a:srgbClr val="F6E9D8"/>
          </a:solidFill>
          <a:ln/>
        </p:spPr>
      </p:sp>
      <p:sp>
        <p:nvSpPr>
          <p:cNvPr id="158" name="Shape 155"/>
          <p:cNvSpPr/>
          <p:nvPr/>
        </p:nvSpPr>
        <p:spPr>
          <a:xfrm>
            <a:off x="11000232" y="3840480"/>
            <a:ext cx="332842" cy="283464"/>
          </a:xfrm>
          <a:prstGeom prst="rect">
            <a:avLst/>
          </a:prstGeom>
          <a:solidFill>
            <a:srgbClr val="C2772B"/>
          </a:solidFill>
          <a:ln/>
        </p:spPr>
      </p:sp>
      <p:sp>
        <p:nvSpPr>
          <p:cNvPr id="159" name="Shape 156"/>
          <p:cNvSpPr/>
          <p:nvPr/>
        </p:nvSpPr>
        <p:spPr>
          <a:xfrm>
            <a:off x="11000232" y="4151376"/>
            <a:ext cx="332842" cy="283464"/>
          </a:xfrm>
          <a:prstGeom prst="rect">
            <a:avLst/>
          </a:prstGeom>
          <a:solidFill>
            <a:srgbClr val="F6E9D8"/>
          </a:solidFill>
          <a:ln/>
        </p:spPr>
      </p:sp>
      <p:sp>
        <p:nvSpPr>
          <p:cNvPr id="160" name="Shape 157"/>
          <p:cNvSpPr/>
          <p:nvPr/>
        </p:nvSpPr>
        <p:spPr>
          <a:xfrm>
            <a:off x="11000232" y="4462272"/>
            <a:ext cx="332842" cy="283464"/>
          </a:xfrm>
          <a:prstGeom prst="rect">
            <a:avLst/>
          </a:prstGeom>
          <a:solidFill>
            <a:srgbClr val="C2772B"/>
          </a:solidFill>
          <a:ln/>
        </p:spPr>
      </p:sp>
      <p:sp>
        <p:nvSpPr>
          <p:cNvPr id="161" name="Text 158"/>
          <p:cNvSpPr/>
          <p:nvPr/>
        </p:nvSpPr>
        <p:spPr>
          <a:xfrm>
            <a:off x="11000232" y="1901952"/>
            <a:ext cx="332842" cy="274320"/>
          </a:xfrm>
          <a:prstGeom prst="rect">
            <a:avLst/>
          </a:prstGeom>
          <a:noFill/>
          <a:ln/>
        </p:spPr>
        <p:txBody>
          <a:bodyPr wrap="square" lIns="0" tIns="0" rIns="0" bIns="0" rtlCol="0" anchor="ctr"/>
          <a:lstStyle/>
          <a:p>
            <a:pPr marL="0" indent="0" algn="ctr">
              <a:buNone/>
            </a:pPr>
            <a:r>
              <a:rPr lang="en-US" sz="1300" b="1" dirty="0">
                <a:solidFill>
                  <a:srgbClr val="C2772B"/>
                </a:solidFill>
                <a:latin typeface="Calibri" pitchFamily="34" charset="0"/>
                <a:ea typeface="Calibri" pitchFamily="34" charset="-122"/>
                <a:cs typeface="Calibri" pitchFamily="34" charset="-120"/>
              </a:rPr>
              <a:t>y</a:t>
            </a:r>
            <a:endParaRPr lang="en-US" sz="1300" dirty="0"/>
          </a:p>
        </p:txBody>
      </p:sp>
      <p:sp>
        <p:nvSpPr>
          <p:cNvPr id="162" name="Text 159"/>
          <p:cNvSpPr/>
          <p:nvPr/>
        </p:nvSpPr>
        <p:spPr>
          <a:xfrm>
            <a:off x="10725912" y="4828032"/>
            <a:ext cx="881482" cy="274320"/>
          </a:xfrm>
          <a:prstGeom prst="rect">
            <a:avLst/>
          </a:prstGeom>
          <a:noFill/>
          <a:ln/>
        </p:spPr>
        <p:txBody>
          <a:bodyPr wrap="square" lIns="0" tIns="0" rIns="0" bIns="0" rtlCol="0" anchor="ctr"/>
          <a:lstStyle/>
          <a:p>
            <a:pPr marL="0" indent="0" algn="ctr">
              <a:buNone/>
            </a:pPr>
            <a:r>
              <a:rPr lang="en-US" sz="1000" i="1" dirty="0">
                <a:solidFill>
                  <a:srgbClr val="C2772B"/>
                </a:solidFill>
                <a:latin typeface="Calibri" pitchFamily="34" charset="0"/>
                <a:ea typeface="Calibri" pitchFamily="34" charset="-122"/>
                <a:cs typeface="Calibri" pitchFamily="34" charset="-120"/>
              </a:rPr>
              <a:t>relapse?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WHY THIS IS HARD</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The defining property: p &gt;&gt; 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10</a:t>
            </a:r>
            <a:endParaRPr lang="en-US" sz="900" dirty="0"/>
          </a:p>
        </p:txBody>
      </p:sp>
      <p:sp>
        <p:nvSpPr>
          <p:cNvPr id="7" name="Text 4"/>
          <p:cNvSpPr/>
          <p:nvPr/>
        </p:nvSpPr>
        <p:spPr>
          <a:xfrm>
            <a:off x="548640" y="1828800"/>
            <a:ext cx="548640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Far more features (p ≈ 20,000) than samples (n ≈ hundreds to low thousands).</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This is the defining property of transcriptomic ML: p ≫ n — true even for a large cohort like METABRIC (~1,400 HR+/HER2− still ≪ 20,000 genes).</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Contrast with classic ML, where n ≫ p.</a:t>
            </a:r>
            <a:endParaRPr lang="en-US" sz="1600" dirty="0"/>
          </a:p>
          <a:p>
            <a:pPr marL="203200" indent="-203200">
              <a:spcAft>
                <a:spcPts val="1400"/>
              </a:spcAft>
              <a:buSzPct val="100000"/>
              <a:buChar char="•"/>
            </a:pPr>
            <a:r>
              <a:rPr lang="en-US" sz="1600" b="1" dirty="0">
                <a:solidFill>
                  <a:srgbClr val="0E7C86"/>
                </a:solidFill>
                <a:latin typeface="Calibri" pitchFamily="34" charset="0"/>
                <a:ea typeface="Calibri" pitchFamily="34" charset="-122"/>
                <a:cs typeface="Calibri" pitchFamily="34" charset="-120"/>
              </a:rPr>
              <a:t>Consequence: the data are “short and fat,” and short-fat data behave counterintuitively.</a:t>
            </a:r>
            <a:endParaRPr lang="en-US" sz="1600" dirty="0"/>
          </a:p>
        </p:txBody>
      </p:sp>
      <p:sp>
        <p:nvSpPr>
          <p:cNvPr id="8" name="Text 5"/>
          <p:cNvSpPr/>
          <p:nvPr/>
        </p:nvSpPr>
        <p:spPr>
          <a:xfrm>
            <a:off x="6400800" y="2057400"/>
            <a:ext cx="2194560" cy="274320"/>
          </a:xfrm>
          <a:prstGeom prst="rect">
            <a:avLst/>
          </a:prstGeom>
          <a:noFill/>
          <a:ln/>
        </p:spPr>
        <p:txBody>
          <a:bodyPr wrap="square" lIns="0" tIns="0" rIns="0" bIns="0" rtlCol="0" anchor="ctr"/>
          <a:lstStyle/>
          <a:p>
            <a:pPr marL="0" indent="0" algn="ctr">
              <a:buNone/>
            </a:pPr>
            <a:r>
              <a:rPr lang="en-US" sz="1200" b="1" dirty="0">
                <a:solidFill>
                  <a:srgbClr val="5B6B70"/>
                </a:solidFill>
                <a:latin typeface="Calibri" pitchFamily="34" charset="0"/>
                <a:ea typeface="Calibri" pitchFamily="34" charset="-122"/>
                <a:cs typeface="Calibri" pitchFamily="34" charset="-120"/>
              </a:rPr>
              <a:t>Classic ML  (n ≫ p)</a:t>
            </a:r>
            <a:endParaRPr lang="en-US" sz="1200" dirty="0"/>
          </a:p>
        </p:txBody>
      </p:sp>
      <p:sp>
        <p:nvSpPr>
          <p:cNvPr id="9" name="Shape 6"/>
          <p:cNvSpPr/>
          <p:nvPr/>
        </p:nvSpPr>
        <p:spPr>
          <a:xfrm>
            <a:off x="7040880" y="2423160"/>
            <a:ext cx="914400" cy="3291840"/>
          </a:xfrm>
          <a:prstGeom prst="rect">
            <a:avLst/>
          </a:prstGeom>
          <a:solidFill>
            <a:srgbClr val="DCEDEE"/>
          </a:solidFill>
          <a:ln w="12700">
            <a:solidFill>
              <a:srgbClr val="5B6B70"/>
            </a:solidFill>
            <a:prstDash val="solid"/>
          </a:ln>
        </p:spPr>
      </p:sp>
      <p:sp>
        <p:nvSpPr>
          <p:cNvPr id="10" name="Text 7"/>
          <p:cNvSpPr/>
          <p:nvPr/>
        </p:nvSpPr>
        <p:spPr>
          <a:xfrm>
            <a:off x="6400800" y="5760720"/>
            <a:ext cx="2194560" cy="548640"/>
          </a:xfrm>
          <a:prstGeom prst="rect">
            <a:avLst/>
          </a:prstGeom>
          <a:noFill/>
          <a:ln/>
        </p:spPr>
        <p:txBody>
          <a:bodyPr wrap="square" lIns="0" tIns="0" rIns="0" bIns="0" rtlCol="0" anchor="ctr"/>
          <a:lstStyle/>
          <a:p>
            <a:pPr marL="0" indent="0" algn="ctr">
              <a:buNone/>
            </a:pPr>
            <a:r>
              <a:rPr lang="en-US" sz="1000" i="1" dirty="0">
                <a:solidFill>
                  <a:srgbClr val="5B6B70"/>
                </a:solidFill>
                <a:latin typeface="Calibri" pitchFamily="34" charset="0"/>
                <a:ea typeface="Calibri" pitchFamily="34" charset="-122"/>
                <a:cs typeface="Calibri" pitchFamily="34" charset="-120"/>
              </a:rPr>
              <a:t>many samples,</a:t>
            </a:r>
            <a:endParaRPr lang="en-US" sz="1000" dirty="0"/>
          </a:p>
          <a:p>
            <a:pPr marL="0" indent="0" algn="ctr">
              <a:buNone/>
            </a:pPr>
            <a:r>
              <a:rPr lang="en-US" sz="1000" i="1" dirty="0">
                <a:solidFill>
                  <a:srgbClr val="5B6B70"/>
                </a:solidFill>
                <a:latin typeface="Calibri" pitchFamily="34" charset="0"/>
                <a:ea typeface="Calibri" pitchFamily="34" charset="-122"/>
                <a:cs typeface="Calibri" pitchFamily="34" charset="-120"/>
              </a:rPr>
              <a:t>few features</a:t>
            </a:r>
            <a:endParaRPr lang="en-US" sz="1000" dirty="0"/>
          </a:p>
        </p:txBody>
      </p:sp>
      <p:sp>
        <p:nvSpPr>
          <p:cNvPr id="11" name="Text 8"/>
          <p:cNvSpPr/>
          <p:nvPr/>
        </p:nvSpPr>
        <p:spPr>
          <a:xfrm>
            <a:off x="8869680" y="2057400"/>
            <a:ext cx="3108960" cy="274320"/>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Transcriptomics  (p ≫ n)</a:t>
            </a:r>
            <a:endParaRPr lang="en-US" sz="1200" dirty="0"/>
          </a:p>
        </p:txBody>
      </p:sp>
      <p:sp>
        <p:nvSpPr>
          <p:cNvPr id="12" name="Shape 9"/>
          <p:cNvSpPr/>
          <p:nvPr/>
        </p:nvSpPr>
        <p:spPr>
          <a:xfrm>
            <a:off x="8915400" y="2423160"/>
            <a:ext cx="3017520" cy="868680"/>
          </a:xfrm>
          <a:prstGeom prst="rect">
            <a:avLst/>
          </a:prstGeom>
          <a:solidFill>
            <a:srgbClr val="14A6B0"/>
          </a:solidFill>
          <a:ln w="12700">
            <a:solidFill>
              <a:srgbClr val="0E7C86"/>
            </a:solidFill>
            <a:prstDash val="solid"/>
          </a:ln>
        </p:spPr>
      </p:sp>
      <p:sp>
        <p:nvSpPr>
          <p:cNvPr id="13" name="Text 10"/>
          <p:cNvSpPr/>
          <p:nvPr/>
        </p:nvSpPr>
        <p:spPr>
          <a:xfrm>
            <a:off x="8869680" y="3429000"/>
            <a:ext cx="3108960" cy="548640"/>
          </a:xfrm>
          <a:prstGeom prst="rect">
            <a:avLst/>
          </a:prstGeom>
          <a:noFill/>
          <a:ln/>
        </p:spPr>
        <p:txBody>
          <a:bodyPr wrap="square" lIns="0" tIns="0" rIns="0" bIns="0" rtlCol="0" anchor="ctr"/>
          <a:lstStyle/>
          <a:p>
            <a:pPr marL="0" indent="0" algn="ctr">
              <a:buNone/>
            </a:pPr>
            <a:r>
              <a:rPr lang="en-US" sz="1000" i="1" dirty="0">
                <a:solidFill>
                  <a:srgbClr val="0E7C86"/>
                </a:solidFill>
                <a:latin typeface="Calibri" pitchFamily="34" charset="0"/>
                <a:ea typeface="Calibri" pitchFamily="34" charset="-122"/>
                <a:cs typeface="Calibri" pitchFamily="34" charset="-120"/>
              </a:rPr>
              <a:t>few patients,</a:t>
            </a:r>
            <a:endParaRPr lang="en-US" sz="1000" dirty="0"/>
          </a:p>
          <a:p>
            <a:pPr marL="0" indent="0" algn="ctr">
              <a:buNone/>
            </a:pPr>
            <a:r>
              <a:rPr lang="en-US" sz="1000" i="1" dirty="0">
                <a:solidFill>
                  <a:srgbClr val="0E7C86"/>
                </a:solidFill>
                <a:latin typeface="Calibri" pitchFamily="34" charset="0"/>
                <a:ea typeface="Calibri" pitchFamily="34" charset="-122"/>
                <a:cs typeface="Calibri" pitchFamily="34" charset="-120"/>
              </a:rPr>
              <a:t>~20,000 genes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INTUITION ONLY</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The curse of dimensionality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11</a:t>
            </a:r>
            <a:endParaRPr lang="en-US" sz="900" dirty="0"/>
          </a:p>
        </p:txBody>
      </p:sp>
      <p:sp>
        <p:nvSpPr>
          <p:cNvPr id="7" name="Text 4"/>
          <p:cNvSpPr/>
          <p:nvPr/>
        </p:nvSpPr>
        <p:spPr>
          <a:xfrm>
            <a:off x="548640" y="1828800"/>
            <a:ext cx="548640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In high dimensions, almost everything looks far from everything else; data become sparse.</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With 20,000 dimensions and 200 points, the space is essentially empty.</a:t>
            </a:r>
            <a:endParaRPr lang="en-US" sz="1600" dirty="0"/>
          </a:p>
          <a:p>
            <a:pPr marL="203200" indent="-203200">
              <a:spcAft>
                <a:spcPts val="1400"/>
              </a:spcAft>
              <a:buSzPct val="100000"/>
              <a:buChar char="•"/>
            </a:pPr>
            <a:r>
              <a:rPr lang="en-US" sz="1600" b="1" dirty="0">
                <a:solidFill>
                  <a:srgbClr val="C2772B"/>
                </a:solidFill>
                <a:latin typeface="Calibri" pitchFamily="34" charset="0"/>
                <a:ea typeface="Calibri" pitchFamily="34" charset="-122"/>
                <a:cs typeface="Calibri" pitchFamily="34" charset="-120"/>
              </a:rPr>
              <a:t>You can always find some combination of genes that perfectly separates your patients — even from pure noise.</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This is why high-dimensional data make overfitting the default, not the exception.</a:t>
            </a:r>
            <a:endParaRPr lang="en-US" sz="1600" dirty="0"/>
          </a:p>
        </p:txBody>
      </p:sp>
      <p:sp>
        <p:nvSpPr>
          <p:cNvPr id="101" name="frame"/>
          <p:cNvSpPr/>
          <p:nvPr/>
        </p:nvSpPr>
        <p:spPr>
          <a:xfrm>
            <a:off x="6248400" y="2057400"/>
            <a:ext cx="1170000" cy="1430000"/>
          </a:xfrm>
          <a:prstGeom prst="rect">
            <a:avLst/>
          </a:prstGeom>
          <a:noFill/>
          <a:ln w="9525">
            <a:solidFill>
              <a:srgbClr val="C9D2D6"/>
            </a:solidFill>
          </a:ln>
        </p:spPr>
        <p:txBody>
          <a:bodyPr/>
          <a:lstStyle/>
          <a:p>
            <a:endParaRPr lang="en-US"/>
          </a:p>
        </p:txBody>
      </p:sp>
      <p:cxnSp>
        <p:nvCxnSpPr>
          <p:cNvPr id="102" name="ln"/>
          <p:cNvCxnSpPr/>
          <p:nvPr/>
        </p:nvCxnSpPr>
        <p:spPr>
          <a:xfrm>
            <a:off x="6398400" y="2772400"/>
            <a:ext cx="870000" cy="0"/>
          </a:xfrm>
          <a:prstGeom prst="line">
            <a:avLst/>
          </a:prstGeom>
          <a:ln w="12700">
            <a:solidFill>
              <a:srgbClr val="9AA7AC"/>
            </a:solidFill>
          </a:ln>
        </p:spPr>
      </p:cxnSp>
      <p:sp>
        <p:nvSpPr>
          <p:cNvPr id="103" name="dot"/>
          <p:cNvSpPr/>
          <p:nvPr/>
        </p:nvSpPr>
        <p:spPr>
          <a:xfrm>
            <a:off x="6412900" y="2714400"/>
            <a:ext cx="116000" cy="116000"/>
          </a:xfrm>
          <a:prstGeom prst="ellipse">
            <a:avLst/>
          </a:prstGeom>
          <a:solidFill>
            <a:srgbClr val="1A6B7A"/>
          </a:solidFill>
          <a:ln w="9525">
            <a:solidFill>
              <a:srgbClr val="FFFFFF"/>
            </a:solidFill>
          </a:ln>
        </p:spPr>
        <p:txBody>
          <a:bodyPr/>
          <a:lstStyle/>
          <a:p>
            <a:endParaRPr lang="en-US"/>
          </a:p>
        </p:txBody>
      </p:sp>
      <p:sp>
        <p:nvSpPr>
          <p:cNvPr id="104" name="dot"/>
          <p:cNvSpPr/>
          <p:nvPr/>
        </p:nvSpPr>
        <p:spPr>
          <a:xfrm>
            <a:off x="6557900" y="2714400"/>
            <a:ext cx="116000" cy="116000"/>
          </a:xfrm>
          <a:prstGeom prst="ellipse">
            <a:avLst/>
          </a:prstGeom>
          <a:solidFill>
            <a:srgbClr val="C8743C"/>
          </a:solidFill>
          <a:ln w="9525">
            <a:solidFill>
              <a:srgbClr val="FFFFFF"/>
            </a:solidFill>
          </a:ln>
        </p:spPr>
        <p:txBody>
          <a:bodyPr/>
          <a:lstStyle/>
          <a:p>
            <a:endParaRPr lang="en-US"/>
          </a:p>
        </p:txBody>
      </p:sp>
      <p:sp>
        <p:nvSpPr>
          <p:cNvPr id="105" name="dot"/>
          <p:cNvSpPr/>
          <p:nvPr/>
        </p:nvSpPr>
        <p:spPr>
          <a:xfrm>
            <a:off x="6702900" y="2714400"/>
            <a:ext cx="116000" cy="116000"/>
          </a:xfrm>
          <a:prstGeom prst="ellipse">
            <a:avLst/>
          </a:prstGeom>
          <a:solidFill>
            <a:srgbClr val="1A6B7A"/>
          </a:solidFill>
          <a:ln w="9525">
            <a:solidFill>
              <a:srgbClr val="FFFFFF"/>
            </a:solidFill>
          </a:ln>
        </p:spPr>
        <p:txBody>
          <a:bodyPr/>
          <a:lstStyle/>
          <a:p>
            <a:endParaRPr lang="en-US"/>
          </a:p>
        </p:txBody>
      </p:sp>
      <p:sp>
        <p:nvSpPr>
          <p:cNvPr id="106" name="dot"/>
          <p:cNvSpPr/>
          <p:nvPr/>
        </p:nvSpPr>
        <p:spPr>
          <a:xfrm>
            <a:off x="6847900" y="2714400"/>
            <a:ext cx="116000" cy="116000"/>
          </a:xfrm>
          <a:prstGeom prst="ellipse">
            <a:avLst/>
          </a:prstGeom>
          <a:solidFill>
            <a:srgbClr val="C8743C"/>
          </a:solidFill>
          <a:ln w="9525">
            <a:solidFill>
              <a:srgbClr val="FFFFFF"/>
            </a:solidFill>
          </a:ln>
        </p:spPr>
        <p:txBody>
          <a:bodyPr/>
          <a:lstStyle/>
          <a:p>
            <a:endParaRPr lang="en-US"/>
          </a:p>
        </p:txBody>
      </p:sp>
      <p:sp>
        <p:nvSpPr>
          <p:cNvPr id="107" name="dot"/>
          <p:cNvSpPr/>
          <p:nvPr/>
        </p:nvSpPr>
        <p:spPr>
          <a:xfrm>
            <a:off x="6992900" y="2714400"/>
            <a:ext cx="116000" cy="116000"/>
          </a:xfrm>
          <a:prstGeom prst="ellipse">
            <a:avLst/>
          </a:prstGeom>
          <a:solidFill>
            <a:srgbClr val="1A6B7A"/>
          </a:solidFill>
          <a:ln w="9525">
            <a:solidFill>
              <a:srgbClr val="FFFFFF"/>
            </a:solidFill>
          </a:ln>
        </p:spPr>
        <p:txBody>
          <a:bodyPr/>
          <a:lstStyle/>
          <a:p>
            <a:endParaRPr lang="en-US"/>
          </a:p>
        </p:txBody>
      </p:sp>
      <p:sp>
        <p:nvSpPr>
          <p:cNvPr id="108" name="dot"/>
          <p:cNvSpPr/>
          <p:nvPr/>
        </p:nvSpPr>
        <p:spPr>
          <a:xfrm>
            <a:off x="7137900" y="2714400"/>
            <a:ext cx="116000" cy="116000"/>
          </a:xfrm>
          <a:prstGeom prst="ellipse">
            <a:avLst/>
          </a:prstGeom>
          <a:solidFill>
            <a:srgbClr val="C8743C"/>
          </a:solidFill>
          <a:ln w="9525">
            <a:solidFill>
              <a:srgbClr val="FFFFFF"/>
            </a:solidFill>
          </a:ln>
        </p:spPr>
        <p:txBody>
          <a:bodyPr/>
          <a:lstStyle/>
          <a:p>
            <a:endParaRPr lang="en-US"/>
          </a:p>
        </p:txBody>
      </p:sp>
      <p:sp>
        <p:nvSpPr>
          <p:cNvPr id="109" name="frame"/>
          <p:cNvSpPr/>
          <p:nvPr/>
        </p:nvSpPr>
        <p:spPr>
          <a:xfrm>
            <a:off x="7628400" y="2057400"/>
            <a:ext cx="1170000" cy="1430000"/>
          </a:xfrm>
          <a:prstGeom prst="rect">
            <a:avLst/>
          </a:prstGeom>
          <a:noFill/>
          <a:ln w="9525">
            <a:solidFill>
              <a:srgbClr val="C9D2D6"/>
            </a:solidFill>
          </a:ln>
        </p:spPr>
        <p:txBody>
          <a:bodyPr/>
          <a:lstStyle/>
          <a:p>
            <a:endParaRPr lang="en-US"/>
          </a:p>
        </p:txBody>
      </p:sp>
      <p:sp>
        <p:nvSpPr>
          <p:cNvPr id="110" name="dot"/>
          <p:cNvSpPr/>
          <p:nvPr/>
        </p:nvSpPr>
        <p:spPr>
          <a:xfrm>
            <a:off x="7877000" y="2488400"/>
            <a:ext cx="116000" cy="116000"/>
          </a:xfrm>
          <a:prstGeom prst="ellipse">
            <a:avLst/>
          </a:prstGeom>
          <a:solidFill>
            <a:srgbClr val="1A6B7A"/>
          </a:solidFill>
          <a:ln w="9525">
            <a:solidFill>
              <a:srgbClr val="FFFFFF"/>
            </a:solidFill>
          </a:ln>
        </p:spPr>
        <p:txBody>
          <a:bodyPr/>
          <a:lstStyle/>
          <a:p>
            <a:endParaRPr lang="en-US"/>
          </a:p>
        </p:txBody>
      </p:sp>
      <p:sp>
        <p:nvSpPr>
          <p:cNvPr id="111" name="dot"/>
          <p:cNvSpPr/>
          <p:nvPr/>
        </p:nvSpPr>
        <p:spPr>
          <a:xfrm>
            <a:off x="8068400" y="2352800"/>
            <a:ext cx="116000" cy="116000"/>
          </a:xfrm>
          <a:prstGeom prst="ellipse">
            <a:avLst/>
          </a:prstGeom>
          <a:solidFill>
            <a:srgbClr val="1A6B7A"/>
          </a:solidFill>
          <a:ln w="9525">
            <a:solidFill>
              <a:srgbClr val="FFFFFF"/>
            </a:solidFill>
          </a:ln>
        </p:spPr>
        <p:txBody>
          <a:bodyPr/>
          <a:lstStyle/>
          <a:p>
            <a:endParaRPr lang="en-US"/>
          </a:p>
        </p:txBody>
      </p:sp>
      <p:sp>
        <p:nvSpPr>
          <p:cNvPr id="112" name="dot"/>
          <p:cNvSpPr/>
          <p:nvPr/>
        </p:nvSpPr>
        <p:spPr>
          <a:xfrm>
            <a:off x="7981400" y="2850000"/>
            <a:ext cx="116000" cy="116000"/>
          </a:xfrm>
          <a:prstGeom prst="ellipse">
            <a:avLst/>
          </a:prstGeom>
          <a:solidFill>
            <a:srgbClr val="1A6B7A"/>
          </a:solidFill>
          <a:ln w="9525">
            <a:solidFill>
              <a:srgbClr val="FFFFFF"/>
            </a:solidFill>
          </a:ln>
        </p:spPr>
        <p:txBody>
          <a:bodyPr/>
          <a:lstStyle/>
          <a:p>
            <a:endParaRPr lang="en-US"/>
          </a:p>
        </p:txBody>
      </p:sp>
      <p:sp>
        <p:nvSpPr>
          <p:cNvPr id="113" name="dot"/>
          <p:cNvSpPr/>
          <p:nvPr/>
        </p:nvSpPr>
        <p:spPr>
          <a:xfrm>
            <a:off x="8312000" y="2601400"/>
            <a:ext cx="116000" cy="116000"/>
          </a:xfrm>
          <a:prstGeom prst="ellipse">
            <a:avLst/>
          </a:prstGeom>
          <a:solidFill>
            <a:srgbClr val="C8743C"/>
          </a:solidFill>
          <a:ln w="9525">
            <a:solidFill>
              <a:srgbClr val="FFFFFF"/>
            </a:solidFill>
          </a:ln>
        </p:spPr>
        <p:txBody>
          <a:bodyPr/>
          <a:lstStyle/>
          <a:p>
            <a:endParaRPr lang="en-US"/>
          </a:p>
        </p:txBody>
      </p:sp>
      <p:sp>
        <p:nvSpPr>
          <p:cNvPr id="114" name="dot"/>
          <p:cNvSpPr/>
          <p:nvPr/>
        </p:nvSpPr>
        <p:spPr>
          <a:xfrm>
            <a:off x="8399000" y="2963000"/>
            <a:ext cx="116000" cy="116000"/>
          </a:xfrm>
          <a:prstGeom prst="ellipse">
            <a:avLst/>
          </a:prstGeom>
          <a:solidFill>
            <a:srgbClr val="C8743C"/>
          </a:solidFill>
          <a:ln w="9525">
            <a:solidFill>
              <a:srgbClr val="FFFFFF"/>
            </a:solidFill>
          </a:ln>
        </p:spPr>
        <p:txBody>
          <a:bodyPr/>
          <a:lstStyle/>
          <a:p>
            <a:endParaRPr lang="en-US"/>
          </a:p>
        </p:txBody>
      </p:sp>
      <p:sp>
        <p:nvSpPr>
          <p:cNvPr id="115" name="dot"/>
          <p:cNvSpPr/>
          <p:nvPr/>
        </p:nvSpPr>
        <p:spPr>
          <a:xfrm>
            <a:off x="8172800" y="3076000"/>
            <a:ext cx="116000" cy="116000"/>
          </a:xfrm>
          <a:prstGeom prst="ellipse">
            <a:avLst/>
          </a:prstGeom>
          <a:solidFill>
            <a:srgbClr val="C8743C"/>
          </a:solidFill>
          <a:ln w="9525">
            <a:solidFill>
              <a:srgbClr val="FFFFFF"/>
            </a:solidFill>
          </a:ln>
        </p:spPr>
        <p:txBody>
          <a:bodyPr/>
          <a:lstStyle/>
          <a:p>
            <a:endParaRPr lang="en-US"/>
          </a:p>
        </p:txBody>
      </p:sp>
      <p:sp>
        <p:nvSpPr>
          <p:cNvPr id="116" name="frame"/>
          <p:cNvSpPr/>
          <p:nvPr/>
        </p:nvSpPr>
        <p:spPr>
          <a:xfrm>
            <a:off x="9008400" y="2057400"/>
            <a:ext cx="1170000" cy="1430000"/>
          </a:xfrm>
          <a:prstGeom prst="rect">
            <a:avLst/>
          </a:prstGeom>
          <a:noFill/>
          <a:ln w="9525">
            <a:solidFill>
              <a:srgbClr val="C9D2D6"/>
            </a:solidFill>
          </a:ln>
        </p:spPr>
        <p:txBody>
          <a:bodyPr/>
          <a:lstStyle/>
          <a:p>
            <a:endParaRPr lang="en-US"/>
          </a:p>
        </p:txBody>
      </p:sp>
      <p:cxnSp>
        <p:nvCxnSpPr>
          <p:cNvPr id="117" name="ln"/>
          <p:cNvCxnSpPr/>
          <p:nvPr/>
        </p:nvCxnSpPr>
        <p:spPr>
          <a:xfrm>
            <a:off x="9158400" y="2467400"/>
            <a:ext cx="640000" cy="0"/>
          </a:xfrm>
          <a:prstGeom prst="line">
            <a:avLst/>
          </a:prstGeom>
          <a:ln w="9525">
            <a:solidFill>
              <a:srgbClr val="9AA7AC"/>
            </a:solidFill>
          </a:ln>
        </p:spPr>
      </p:cxnSp>
      <p:cxnSp>
        <p:nvCxnSpPr>
          <p:cNvPr id="118" name="ln"/>
          <p:cNvCxnSpPr/>
          <p:nvPr/>
        </p:nvCxnSpPr>
        <p:spPr>
          <a:xfrm>
            <a:off x="9798400" y="2467400"/>
            <a:ext cx="0" cy="870000"/>
          </a:xfrm>
          <a:prstGeom prst="line">
            <a:avLst/>
          </a:prstGeom>
          <a:ln w="9525">
            <a:solidFill>
              <a:srgbClr val="9AA7AC"/>
            </a:solidFill>
          </a:ln>
        </p:spPr>
      </p:cxnSp>
      <p:cxnSp>
        <p:nvCxnSpPr>
          <p:cNvPr id="119" name="ln"/>
          <p:cNvCxnSpPr/>
          <p:nvPr/>
        </p:nvCxnSpPr>
        <p:spPr>
          <a:xfrm flipH="1">
            <a:off x="9158400" y="3337400"/>
            <a:ext cx="640000" cy="0"/>
          </a:xfrm>
          <a:prstGeom prst="line">
            <a:avLst/>
          </a:prstGeom>
          <a:ln w="9525">
            <a:solidFill>
              <a:srgbClr val="9AA7AC"/>
            </a:solidFill>
          </a:ln>
        </p:spPr>
      </p:cxnSp>
      <p:cxnSp>
        <p:nvCxnSpPr>
          <p:cNvPr id="120" name="ln"/>
          <p:cNvCxnSpPr/>
          <p:nvPr/>
        </p:nvCxnSpPr>
        <p:spPr>
          <a:xfrm flipV="1">
            <a:off x="9158400" y="2467400"/>
            <a:ext cx="0" cy="870000"/>
          </a:xfrm>
          <a:prstGeom prst="line">
            <a:avLst/>
          </a:prstGeom>
          <a:ln w="9525">
            <a:solidFill>
              <a:srgbClr val="9AA7AC"/>
            </a:solidFill>
          </a:ln>
        </p:spPr>
      </p:cxnSp>
      <p:cxnSp>
        <p:nvCxnSpPr>
          <p:cNvPr id="121" name="ln"/>
          <p:cNvCxnSpPr/>
          <p:nvPr/>
        </p:nvCxnSpPr>
        <p:spPr>
          <a:xfrm>
            <a:off x="9388400" y="2237400"/>
            <a:ext cx="640000" cy="0"/>
          </a:xfrm>
          <a:prstGeom prst="line">
            <a:avLst/>
          </a:prstGeom>
          <a:ln w="9525">
            <a:solidFill>
              <a:srgbClr val="9AA7AC"/>
            </a:solidFill>
          </a:ln>
        </p:spPr>
      </p:cxnSp>
      <p:cxnSp>
        <p:nvCxnSpPr>
          <p:cNvPr id="122" name="ln"/>
          <p:cNvCxnSpPr/>
          <p:nvPr/>
        </p:nvCxnSpPr>
        <p:spPr>
          <a:xfrm>
            <a:off x="10028400" y="2237400"/>
            <a:ext cx="0" cy="870000"/>
          </a:xfrm>
          <a:prstGeom prst="line">
            <a:avLst/>
          </a:prstGeom>
          <a:ln w="9525">
            <a:solidFill>
              <a:srgbClr val="9AA7AC"/>
            </a:solidFill>
          </a:ln>
        </p:spPr>
      </p:cxnSp>
      <p:cxnSp>
        <p:nvCxnSpPr>
          <p:cNvPr id="123" name="ln"/>
          <p:cNvCxnSpPr/>
          <p:nvPr/>
        </p:nvCxnSpPr>
        <p:spPr>
          <a:xfrm flipH="1">
            <a:off x="9388400" y="3107400"/>
            <a:ext cx="640000" cy="0"/>
          </a:xfrm>
          <a:prstGeom prst="line">
            <a:avLst/>
          </a:prstGeom>
          <a:ln w="9525">
            <a:solidFill>
              <a:srgbClr val="9AA7AC"/>
            </a:solidFill>
          </a:ln>
        </p:spPr>
      </p:cxnSp>
      <p:cxnSp>
        <p:nvCxnSpPr>
          <p:cNvPr id="124" name="ln"/>
          <p:cNvCxnSpPr/>
          <p:nvPr/>
        </p:nvCxnSpPr>
        <p:spPr>
          <a:xfrm flipV="1">
            <a:off x="9388400" y="2237400"/>
            <a:ext cx="0" cy="870000"/>
          </a:xfrm>
          <a:prstGeom prst="line">
            <a:avLst/>
          </a:prstGeom>
          <a:ln w="9525">
            <a:solidFill>
              <a:srgbClr val="9AA7AC"/>
            </a:solidFill>
          </a:ln>
        </p:spPr>
      </p:cxnSp>
      <p:cxnSp>
        <p:nvCxnSpPr>
          <p:cNvPr id="125" name="ln"/>
          <p:cNvCxnSpPr/>
          <p:nvPr/>
        </p:nvCxnSpPr>
        <p:spPr>
          <a:xfrm flipV="1">
            <a:off x="9158400" y="2237400"/>
            <a:ext cx="230000" cy="230000"/>
          </a:xfrm>
          <a:prstGeom prst="line">
            <a:avLst/>
          </a:prstGeom>
          <a:ln w="9525">
            <a:solidFill>
              <a:srgbClr val="9AA7AC"/>
            </a:solidFill>
          </a:ln>
        </p:spPr>
      </p:cxnSp>
      <p:cxnSp>
        <p:nvCxnSpPr>
          <p:cNvPr id="126" name="ln"/>
          <p:cNvCxnSpPr/>
          <p:nvPr/>
        </p:nvCxnSpPr>
        <p:spPr>
          <a:xfrm flipV="1">
            <a:off x="9798400" y="2237400"/>
            <a:ext cx="230000" cy="230000"/>
          </a:xfrm>
          <a:prstGeom prst="line">
            <a:avLst/>
          </a:prstGeom>
          <a:ln w="9525">
            <a:solidFill>
              <a:srgbClr val="9AA7AC"/>
            </a:solidFill>
          </a:ln>
        </p:spPr>
      </p:cxnSp>
      <p:cxnSp>
        <p:nvCxnSpPr>
          <p:cNvPr id="127" name="ln"/>
          <p:cNvCxnSpPr/>
          <p:nvPr/>
        </p:nvCxnSpPr>
        <p:spPr>
          <a:xfrm flipV="1">
            <a:off x="9798400" y="3107400"/>
            <a:ext cx="230000" cy="230000"/>
          </a:xfrm>
          <a:prstGeom prst="line">
            <a:avLst/>
          </a:prstGeom>
          <a:ln w="9525">
            <a:solidFill>
              <a:srgbClr val="9AA7AC"/>
            </a:solidFill>
          </a:ln>
        </p:spPr>
      </p:cxnSp>
      <p:cxnSp>
        <p:nvCxnSpPr>
          <p:cNvPr id="128" name="ln"/>
          <p:cNvCxnSpPr/>
          <p:nvPr/>
        </p:nvCxnSpPr>
        <p:spPr>
          <a:xfrm flipV="1">
            <a:off x="9158400" y="3107400"/>
            <a:ext cx="230000" cy="230000"/>
          </a:xfrm>
          <a:prstGeom prst="line">
            <a:avLst/>
          </a:prstGeom>
          <a:ln w="9525">
            <a:solidFill>
              <a:srgbClr val="9AA7AC"/>
            </a:solidFill>
          </a:ln>
        </p:spPr>
      </p:cxnSp>
      <p:sp>
        <p:nvSpPr>
          <p:cNvPr id="129" name="dot"/>
          <p:cNvSpPr/>
          <p:nvPr/>
        </p:nvSpPr>
        <p:spPr>
          <a:xfrm>
            <a:off x="9251400" y="2925800"/>
            <a:ext cx="116000" cy="116000"/>
          </a:xfrm>
          <a:prstGeom prst="ellipse">
            <a:avLst/>
          </a:prstGeom>
          <a:solidFill>
            <a:srgbClr val="1A6B7A"/>
          </a:solidFill>
          <a:ln w="9525">
            <a:solidFill>
              <a:srgbClr val="FFFFFF"/>
            </a:solidFill>
          </a:ln>
        </p:spPr>
        <p:txBody>
          <a:bodyPr/>
          <a:lstStyle/>
          <a:p>
            <a:endParaRPr lang="en-US"/>
          </a:p>
        </p:txBody>
      </p:sp>
      <p:sp>
        <p:nvSpPr>
          <p:cNvPr id="130" name="dot"/>
          <p:cNvSpPr/>
          <p:nvPr/>
        </p:nvSpPr>
        <p:spPr>
          <a:xfrm>
            <a:off x="9613400" y="2509400"/>
            <a:ext cx="116000" cy="116000"/>
          </a:xfrm>
          <a:prstGeom prst="ellipse">
            <a:avLst/>
          </a:prstGeom>
          <a:solidFill>
            <a:srgbClr val="1A6B7A"/>
          </a:solidFill>
          <a:ln w="9525">
            <a:solidFill>
              <a:srgbClr val="FFFFFF"/>
            </a:solidFill>
          </a:ln>
        </p:spPr>
        <p:txBody>
          <a:bodyPr/>
          <a:lstStyle/>
          <a:p>
            <a:endParaRPr lang="en-US"/>
          </a:p>
        </p:txBody>
      </p:sp>
      <p:sp>
        <p:nvSpPr>
          <p:cNvPr id="131" name="dot"/>
          <p:cNvSpPr/>
          <p:nvPr/>
        </p:nvSpPr>
        <p:spPr>
          <a:xfrm>
            <a:off x="9361400" y="2644900"/>
            <a:ext cx="116000" cy="116000"/>
          </a:xfrm>
          <a:prstGeom prst="ellipse">
            <a:avLst/>
          </a:prstGeom>
          <a:solidFill>
            <a:srgbClr val="1A6B7A"/>
          </a:solidFill>
          <a:ln w="9525">
            <a:solidFill>
              <a:srgbClr val="FFFFFF"/>
            </a:solidFill>
          </a:ln>
        </p:spPr>
        <p:txBody>
          <a:bodyPr/>
          <a:lstStyle/>
          <a:p>
            <a:endParaRPr lang="en-US"/>
          </a:p>
        </p:txBody>
      </p:sp>
      <p:sp>
        <p:nvSpPr>
          <p:cNvPr id="132" name="dot"/>
          <p:cNvSpPr/>
          <p:nvPr/>
        </p:nvSpPr>
        <p:spPr>
          <a:xfrm>
            <a:off x="9653200" y="2891600"/>
            <a:ext cx="116000" cy="116000"/>
          </a:xfrm>
          <a:prstGeom prst="ellipse">
            <a:avLst/>
          </a:prstGeom>
          <a:solidFill>
            <a:srgbClr val="C8743C"/>
          </a:solidFill>
          <a:ln w="9525">
            <a:solidFill>
              <a:srgbClr val="FFFFFF"/>
            </a:solidFill>
          </a:ln>
        </p:spPr>
        <p:txBody>
          <a:bodyPr/>
          <a:lstStyle/>
          <a:p>
            <a:endParaRPr lang="en-US"/>
          </a:p>
        </p:txBody>
      </p:sp>
      <p:sp>
        <p:nvSpPr>
          <p:cNvPr id="133" name="dot"/>
          <p:cNvSpPr/>
          <p:nvPr/>
        </p:nvSpPr>
        <p:spPr>
          <a:xfrm>
            <a:off x="9839900" y="2579300"/>
            <a:ext cx="116000" cy="116000"/>
          </a:xfrm>
          <a:prstGeom prst="ellipse">
            <a:avLst/>
          </a:prstGeom>
          <a:solidFill>
            <a:srgbClr val="C8743C"/>
          </a:solidFill>
          <a:ln w="9525">
            <a:solidFill>
              <a:srgbClr val="FFFFFF"/>
            </a:solidFill>
          </a:ln>
        </p:spPr>
        <p:txBody>
          <a:bodyPr/>
          <a:lstStyle/>
          <a:p>
            <a:endParaRPr lang="en-US"/>
          </a:p>
        </p:txBody>
      </p:sp>
      <p:sp>
        <p:nvSpPr>
          <p:cNvPr id="134" name="dot"/>
          <p:cNvSpPr/>
          <p:nvPr/>
        </p:nvSpPr>
        <p:spPr>
          <a:xfrm>
            <a:off x="9534100" y="2961500"/>
            <a:ext cx="116000" cy="116000"/>
          </a:xfrm>
          <a:prstGeom prst="ellipse">
            <a:avLst/>
          </a:prstGeom>
          <a:solidFill>
            <a:srgbClr val="C8743C"/>
          </a:solidFill>
          <a:ln w="9525">
            <a:solidFill>
              <a:srgbClr val="FFFFFF"/>
            </a:solidFill>
          </a:ln>
        </p:spPr>
        <p:txBody>
          <a:bodyPr/>
          <a:lstStyle/>
          <a:p>
            <a:endParaRPr lang="en-US"/>
          </a:p>
        </p:txBody>
      </p:sp>
      <p:sp>
        <p:nvSpPr>
          <p:cNvPr id="135" name="frame"/>
          <p:cNvSpPr/>
          <p:nvPr/>
        </p:nvSpPr>
        <p:spPr>
          <a:xfrm>
            <a:off x="10388400" y="2057400"/>
            <a:ext cx="1170000" cy="1430000"/>
          </a:xfrm>
          <a:prstGeom prst="rect">
            <a:avLst/>
          </a:prstGeom>
          <a:noFill/>
          <a:ln w="9525">
            <a:solidFill>
              <a:srgbClr val="C9D2D6"/>
            </a:solidFill>
          </a:ln>
        </p:spPr>
        <p:txBody>
          <a:bodyPr/>
          <a:lstStyle/>
          <a:p>
            <a:endParaRPr lang="en-US"/>
          </a:p>
        </p:txBody>
      </p:sp>
      <p:cxnSp>
        <p:nvCxnSpPr>
          <p:cNvPr id="136" name="ln"/>
          <p:cNvCxnSpPr/>
          <p:nvPr/>
        </p:nvCxnSpPr>
        <p:spPr>
          <a:xfrm flipH="1">
            <a:off x="10799400" y="2207400"/>
            <a:ext cx="313200" cy="1130000"/>
          </a:xfrm>
          <a:prstGeom prst="line">
            <a:avLst/>
          </a:prstGeom>
          <a:ln w="19050">
            <a:solidFill>
              <a:srgbClr val="C8743C"/>
            </a:solidFill>
            <a:prstDash val="dash"/>
          </a:ln>
        </p:spPr>
      </p:cxnSp>
      <p:sp>
        <p:nvSpPr>
          <p:cNvPr id="137" name="dot"/>
          <p:cNvSpPr/>
          <p:nvPr/>
        </p:nvSpPr>
        <p:spPr>
          <a:xfrm>
            <a:off x="10619600" y="2398000"/>
            <a:ext cx="116000" cy="116000"/>
          </a:xfrm>
          <a:prstGeom prst="ellipse">
            <a:avLst/>
          </a:prstGeom>
          <a:solidFill>
            <a:srgbClr val="1A6B7A"/>
          </a:solidFill>
          <a:ln w="9525">
            <a:solidFill>
              <a:srgbClr val="FFFFFF"/>
            </a:solidFill>
          </a:ln>
        </p:spPr>
        <p:txBody>
          <a:bodyPr/>
          <a:lstStyle/>
          <a:p>
            <a:endParaRPr lang="en-US"/>
          </a:p>
        </p:txBody>
      </p:sp>
      <p:sp>
        <p:nvSpPr>
          <p:cNvPr id="138" name="dot"/>
          <p:cNvSpPr/>
          <p:nvPr/>
        </p:nvSpPr>
        <p:spPr>
          <a:xfrm>
            <a:off x="10741400" y="2285000"/>
            <a:ext cx="116000" cy="116000"/>
          </a:xfrm>
          <a:prstGeom prst="ellipse">
            <a:avLst/>
          </a:prstGeom>
          <a:solidFill>
            <a:srgbClr val="1A6B7A"/>
          </a:solidFill>
          <a:ln w="9525">
            <a:solidFill>
              <a:srgbClr val="FFFFFF"/>
            </a:solidFill>
          </a:ln>
        </p:spPr>
        <p:txBody>
          <a:bodyPr/>
          <a:lstStyle/>
          <a:p>
            <a:endParaRPr lang="en-US"/>
          </a:p>
        </p:txBody>
      </p:sp>
      <p:sp>
        <p:nvSpPr>
          <p:cNvPr id="139" name="dot"/>
          <p:cNvSpPr/>
          <p:nvPr/>
        </p:nvSpPr>
        <p:spPr>
          <a:xfrm>
            <a:off x="10584800" y="2669200"/>
            <a:ext cx="116000" cy="116000"/>
          </a:xfrm>
          <a:prstGeom prst="ellipse">
            <a:avLst/>
          </a:prstGeom>
          <a:solidFill>
            <a:srgbClr val="1A6B7A"/>
          </a:solidFill>
          <a:ln w="9525">
            <a:solidFill>
              <a:srgbClr val="FFFFFF"/>
            </a:solidFill>
          </a:ln>
        </p:spPr>
        <p:txBody>
          <a:bodyPr/>
          <a:lstStyle/>
          <a:p>
            <a:endParaRPr lang="en-US"/>
          </a:p>
        </p:txBody>
      </p:sp>
      <p:sp>
        <p:nvSpPr>
          <p:cNvPr id="140" name="dot"/>
          <p:cNvSpPr/>
          <p:nvPr/>
        </p:nvSpPr>
        <p:spPr>
          <a:xfrm>
            <a:off x="11228600" y="3053400"/>
            <a:ext cx="116000" cy="116000"/>
          </a:xfrm>
          <a:prstGeom prst="ellipse">
            <a:avLst/>
          </a:prstGeom>
          <a:solidFill>
            <a:srgbClr val="C8743C"/>
          </a:solidFill>
          <a:ln w="9525">
            <a:solidFill>
              <a:srgbClr val="FFFFFF"/>
            </a:solidFill>
          </a:ln>
        </p:spPr>
        <p:txBody>
          <a:bodyPr/>
          <a:lstStyle/>
          <a:p>
            <a:endParaRPr lang="en-US"/>
          </a:p>
        </p:txBody>
      </p:sp>
      <p:sp>
        <p:nvSpPr>
          <p:cNvPr id="141" name="dot"/>
          <p:cNvSpPr/>
          <p:nvPr/>
        </p:nvSpPr>
        <p:spPr>
          <a:xfrm>
            <a:off x="11089400" y="3166400"/>
            <a:ext cx="116000" cy="116000"/>
          </a:xfrm>
          <a:prstGeom prst="ellipse">
            <a:avLst/>
          </a:prstGeom>
          <a:solidFill>
            <a:srgbClr val="C8743C"/>
          </a:solidFill>
          <a:ln w="9525">
            <a:solidFill>
              <a:srgbClr val="FFFFFF"/>
            </a:solidFill>
          </a:ln>
        </p:spPr>
        <p:txBody>
          <a:bodyPr/>
          <a:lstStyle/>
          <a:p>
            <a:endParaRPr lang="en-US"/>
          </a:p>
        </p:txBody>
      </p:sp>
      <p:sp>
        <p:nvSpPr>
          <p:cNvPr id="142" name="dot"/>
          <p:cNvSpPr/>
          <p:nvPr/>
        </p:nvSpPr>
        <p:spPr>
          <a:xfrm>
            <a:off x="11263400" y="2782200"/>
            <a:ext cx="116000" cy="116000"/>
          </a:xfrm>
          <a:prstGeom prst="ellipse">
            <a:avLst/>
          </a:prstGeom>
          <a:solidFill>
            <a:srgbClr val="C8743C"/>
          </a:solidFill>
          <a:ln w="9525">
            <a:solidFill>
              <a:srgbClr val="FFFFFF"/>
            </a:solidFill>
          </a:ln>
        </p:spPr>
        <p:txBody>
          <a:bodyPr/>
          <a:lstStyle/>
          <a:p>
            <a:endParaRPr lang="en-US"/>
          </a:p>
        </p:txBody>
      </p:sp>
      <p:sp>
        <p:nvSpPr>
          <p:cNvPr id="143" name="plabel"/>
          <p:cNvSpPr/>
          <p:nvPr/>
        </p:nvSpPr>
        <p:spPr>
          <a:xfrm>
            <a:off x="6248400" y="3527400"/>
            <a:ext cx="1170000" cy="274320"/>
          </a:xfrm>
          <a:prstGeom prst="rect">
            <a:avLst/>
          </a:prstGeom>
          <a:noFill/>
          <a:ln/>
        </p:spPr>
        <p:txBody>
          <a:bodyPr wrap="square" lIns="0" tIns="0" rIns="0" bIns="0" anchor="ctr"/>
          <a:lstStyle/>
          <a:p>
            <a:pPr marL="0" indent="0" algn="ctr">
              <a:buNone/>
            </a:pPr>
            <a:r>
              <a:rPr lang="en-US" sz="1100" b="1" dirty="0">
                <a:solidFill>
                  <a:srgbClr val="5A6A70"/>
                </a:solidFill>
                <a:latin typeface="Calibri"/>
              </a:rPr>
              <a:t>1D</a:t>
            </a:r>
          </a:p>
        </p:txBody>
      </p:sp>
      <p:sp>
        <p:nvSpPr>
          <p:cNvPr id="144" name="plabel"/>
          <p:cNvSpPr/>
          <p:nvPr/>
        </p:nvSpPr>
        <p:spPr>
          <a:xfrm>
            <a:off x="7628400" y="3527400"/>
            <a:ext cx="1170000" cy="274320"/>
          </a:xfrm>
          <a:prstGeom prst="rect">
            <a:avLst/>
          </a:prstGeom>
          <a:noFill/>
          <a:ln/>
        </p:spPr>
        <p:txBody>
          <a:bodyPr wrap="square" lIns="0" tIns="0" rIns="0" bIns="0" anchor="ctr"/>
          <a:lstStyle/>
          <a:p>
            <a:pPr marL="0" indent="0" algn="ctr">
              <a:buNone/>
            </a:pPr>
            <a:r>
              <a:rPr lang="en-US" sz="1100" b="1" dirty="0">
                <a:solidFill>
                  <a:srgbClr val="5A6A70"/>
                </a:solidFill>
                <a:latin typeface="Calibri"/>
              </a:rPr>
              <a:t>2D</a:t>
            </a:r>
          </a:p>
        </p:txBody>
      </p:sp>
      <p:sp>
        <p:nvSpPr>
          <p:cNvPr id="145" name="plabel"/>
          <p:cNvSpPr/>
          <p:nvPr/>
        </p:nvSpPr>
        <p:spPr>
          <a:xfrm>
            <a:off x="9008400" y="3527400"/>
            <a:ext cx="1170000" cy="274320"/>
          </a:xfrm>
          <a:prstGeom prst="rect">
            <a:avLst/>
          </a:prstGeom>
          <a:noFill/>
          <a:ln/>
        </p:spPr>
        <p:txBody>
          <a:bodyPr wrap="square" lIns="0" tIns="0" rIns="0" bIns="0" anchor="ctr"/>
          <a:lstStyle/>
          <a:p>
            <a:pPr marL="0" indent="0" algn="ctr">
              <a:buNone/>
            </a:pPr>
            <a:r>
              <a:rPr lang="en-US" sz="1100" b="1" dirty="0">
                <a:solidFill>
                  <a:srgbClr val="5A6A70"/>
                </a:solidFill>
                <a:latin typeface="Calibri"/>
              </a:rPr>
              <a:t>3D</a:t>
            </a:r>
          </a:p>
        </p:txBody>
      </p:sp>
      <p:sp>
        <p:nvSpPr>
          <p:cNvPr id="146" name="plabel"/>
          <p:cNvSpPr/>
          <p:nvPr/>
        </p:nvSpPr>
        <p:spPr>
          <a:xfrm>
            <a:off x="10388400" y="3527400"/>
            <a:ext cx="1170000" cy="274320"/>
          </a:xfrm>
          <a:prstGeom prst="rect">
            <a:avLst/>
          </a:prstGeom>
          <a:noFill/>
          <a:ln/>
        </p:spPr>
        <p:txBody>
          <a:bodyPr wrap="square" lIns="0" tIns="0" rIns="0" bIns="0" anchor="ctr"/>
          <a:lstStyle/>
          <a:p>
            <a:pPr marL="0" indent="0" algn="ctr">
              <a:buNone/>
            </a:pPr>
            <a:r>
              <a:rPr lang="en-US" sz="1100" b="1" dirty="0">
                <a:solidFill>
                  <a:srgbClr val="C8743C"/>
                </a:solidFill>
                <a:latin typeface="Calibri"/>
              </a:rPr>
              <a:t>20,000D</a:t>
            </a:r>
          </a:p>
        </p:txBody>
      </p:sp>
      <p:sp>
        <p:nvSpPr>
          <p:cNvPr id="147" name="dot"/>
          <p:cNvSpPr/>
          <p:nvPr/>
        </p:nvSpPr>
        <p:spPr>
          <a:xfrm>
            <a:off x="6256400" y="1845400"/>
            <a:ext cx="104000" cy="104000"/>
          </a:xfrm>
          <a:prstGeom prst="ellipse">
            <a:avLst/>
          </a:prstGeom>
          <a:solidFill>
            <a:srgbClr val="1A6B7A"/>
          </a:solidFill>
          <a:ln w="9525">
            <a:solidFill>
              <a:srgbClr val="FFFFFF"/>
            </a:solidFill>
          </a:ln>
        </p:spPr>
        <p:txBody>
          <a:bodyPr/>
          <a:lstStyle/>
          <a:p>
            <a:endParaRPr lang="en-US"/>
          </a:p>
        </p:txBody>
      </p:sp>
      <p:sp>
        <p:nvSpPr>
          <p:cNvPr id="148" name="leg1"/>
          <p:cNvSpPr/>
          <p:nvPr/>
        </p:nvSpPr>
        <p:spPr>
          <a:xfrm>
            <a:off x="6408400" y="1807400"/>
            <a:ext cx="1500000" cy="274320"/>
          </a:xfrm>
          <a:prstGeom prst="rect">
            <a:avLst/>
          </a:prstGeom>
          <a:noFill/>
          <a:ln/>
        </p:spPr>
        <p:txBody>
          <a:bodyPr wrap="square" lIns="0" tIns="0" rIns="0" bIns="0" anchor="ctr"/>
          <a:lstStyle/>
          <a:p>
            <a:pPr marL="0" indent="0">
              <a:buNone/>
            </a:pPr>
            <a:r>
              <a:rPr lang="en-US" sz="1000" dirty="0">
                <a:solidFill>
                  <a:srgbClr val="5A6A70"/>
                </a:solidFill>
                <a:latin typeface="Calibri"/>
              </a:rPr>
              <a:t>disease-free</a:t>
            </a:r>
          </a:p>
        </p:txBody>
      </p:sp>
      <p:sp>
        <p:nvSpPr>
          <p:cNvPr id="149" name="dot"/>
          <p:cNvSpPr/>
          <p:nvPr/>
        </p:nvSpPr>
        <p:spPr>
          <a:xfrm>
            <a:off x="8046400" y="1845400"/>
            <a:ext cx="104000" cy="104000"/>
          </a:xfrm>
          <a:prstGeom prst="ellipse">
            <a:avLst/>
          </a:prstGeom>
          <a:solidFill>
            <a:srgbClr val="C8743C"/>
          </a:solidFill>
          <a:ln w="9525">
            <a:solidFill>
              <a:srgbClr val="FFFFFF"/>
            </a:solidFill>
          </a:ln>
        </p:spPr>
        <p:txBody>
          <a:bodyPr/>
          <a:lstStyle/>
          <a:p>
            <a:endParaRPr lang="en-US"/>
          </a:p>
        </p:txBody>
      </p:sp>
      <p:sp>
        <p:nvSpPr>
          <p:cNvPr id="150" name="leg2"/>
          <p:cNvSpPr/>
          <p:nvPr/>
        </p:nvSpPr>
        <p:spPr>
          <a:xfrm>
            <a:off x="8198400" y="1807400"/>
            <a:ext cx="1200000" cy="274320"/>
          </a:xfrm>
          <a:prstGeom prst="rect">
            <a:avLst/>
          </a:prstGeom>
          <a:noFill/>
          <a:ln/>
        </p:spPr>
        <p:txBody>
          <a:bodyPr wrap="square" lIns="0" tIns="0" rIns="0" bIns="0" anchor="ctr"/>
          <a:lstStyle/>
          <a:p>
            <a:pPr marL="0" indent="0">
              <a:buNone/>
            </a:pPr>
            <a:r>
              <a:rPr lang="en-US" sz="1000" dirty="0">
                <a:solidFill>
                  <a:srgbClr val="5A6A70"/>
                </a:solidFill>
                <a:latin typeface="Calibri"/>
              </a:rPr>
              <a:t>recurs</a:t>
            </a:r>
          </a:p>
        </p:txBody>
      </p:sp>
      <p:sp>
        <p:nvSpPr>
          <p:cNvPr id="151" name="caption"/>
          <p:cNvSpPr/>
          <p:nvPr/>
        </p:nvSpPr>
        <p:spPr>
          <a:xfrm>
            <a:off x="6248400" y="3847400"/>
            <a:ext cx="5852160" cy="365760"/>
          </a:xfrm>
          <a:prstGeom prst="rect">
            <a:avLst/>
          </a:prstGeom>
          <a:noFill/>
          <a:ln/>
        </p:spPr>
        <p:txBody>
          <a:bodyPr wrap="square" lIns="0" tIns="0" rIns="0" bIns="0" anchor="ctr"/>
          <a:lstStyle/>
          <a:p>
            <a:pPr marL="0" indent="0" algn="ctr">
              <a:buNone/>
            </a:pPr>
            <a:r>
              <a:rPr lang="en-US" sz="1150" i="1" dirty="0">
                <a:solidFill>
                  <a:srgbClr val="12262B"/>
                </a:solidFill>
                <a:latin typeface="Calibri"/>
              </a:rPr>
              <a:t>Same points, more room: by high D every point sits alone — so a separating line is always there.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FAILURE MODE</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Overfitting in the p &gt;&gt; n regime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12</a:t>
            </a:r>
            <a:endParaRPr lang="en-US" sz="900" dirty="0"/>
          </a:p>
        </p:txBody>
      </p:sp>
      <p:sp>
        <p:nvSpPr>
          <p:cNvPr id="7" name="Text 4"/>
          <p:cNvSpPr/>
          <p:nvPr/>
        </p:nvSpPr>
        <p:spPr>
          <a:xfrm>
            <a:off x="548640" y="1828800"/>
            <a:ext cx="548640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Overfitting = the model memorises specific patients, not the underlying biology.</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In p ≫ n it is trivially easy: more knobs than data points.</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Symptom: near-perfect performance on training data, collapse on new data.</a:t>
            </a:r>
            <a:endParaRPr lang="en-US" sz="1600" dirty="0"/>
          </a:p>
          <a:p>
            <a:pPr marL="203200" indent="-203200">
              <a:spcAft>
                <a:spcPts val="1400"/>
              </a:spcAft>
              <a:buSzPct val="100000"/>
              <a:buChar char="•"/>
            </a:pPr>
            <a:r>
              <a:rPr lang="en-US" sz="1600" dirty="0">
                <a:solidFill>
                  <a:srgbClr val="0E7C86"/>
                </a:solidFill>
                <a:latin typeface="Calibri" pitchFamily="34" charset="0"/>
                <a:ea typeface="Calibri" pitchFamily="34" charset="-122"/>
                <a:cs typeface="Calibri" pitchFamily="34" charset="-120"/>
              </a:rPr>
              <a:t>“With enough genes, you can fit the noise in your sample as confidently as the signal.”</a:t>
            </a:r>
            <a:endParaRPr lang="en-US" sz="1600" dirty="0"/>
          </a:p>
        </p:txBody>
      </p:sp>
      <p:graphicFrame>
        <p:nvGraphicFramePr>
          <p:cNvPr id="8" name="Chart 0"/>
          <p:cNvGraphicFramePr/>
          <p:nvPr/>
        </p:nvGraphicFramePr>
        <p:xfrm>
          <a:off x="6492240" y="2103120"/>
          <a:ext cx="4937760" cy="3291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A SOBERING RESULT</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Predictive signatures are not unique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13</a:t>
            </a:r>
            <a:endParaRPr lang="en-US" sz="900" dirty="0"/>
          </a:p>
        </p:txBody>
      </p:sp>
      <p:sp>
        <p:nvSpPr>
          <p:cNvPr id="7" name="Text 4"/>
          <p:cNvSpPr/>
          <p:nvPr/>
        </p:nvSpPr>
        <p:spPr>
          <a:xfrm>
            <a:off x="548640" y="1828800"/>
            <a:ext cx="566928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Reanalyses of famous breast-cancer signatures: many different, non-overlapping gene sets predict outcome almost equally well.</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Published signatures are often unstable — resampling patients changes which genes are selected.</a:t>
            </a:r>
            <a:endParaRPr lang="en-US" sz="1600" dirty="0"/>
          </a:p>
          <a:p>
            <a:pPr marL="203200" indent="-203200">
              <a:spcAft>
                <a:spcPts val="1400"/>
              </a:spcAft>
              <a:buSzPct val="100000"/>
              <a:buChar char="•"/>
            </a:pPr>
            <a:r>
              <a:rPr lang="en-US" sz="1600" b="1" dirty="0">
                <a:solidFill>
                  <a:srgbClr val="C2772B"/>
                </a:solidFill>
                <a:latin typeface="Calibri" pitchFamily="34" charset="0"/>
                <a:ea typeface="Calibri" pitchFamily="34" charset="-122"/>
                <a:cs typeface="Calibri" pitchFamily="34" charset="-120"/>
              </a:rPr>
              <a:t>A gene appearing in your signature is weak evidence that it is biologically causal.</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This is a feature of p ≫ n, not a flaw in any one study.</a:t>
            </a:r>
            <a:endParaRPr lang="en-US" sz="1600" dirty="0"/>
          </a:p>
        </p:txBody>
      </p:sp>
      <p:sp>
        <p:nvSpPr>
          <p:cNvPr id="8" name="Shape 5"/>
          <p:cNvSpPr/>
          <p:nvPr/>
        </p:nvSpPr>
        <p:spPr>
          <a:xfrm>
            <a:off x="6400800" y="1828800"/>
            <a:ext cx="1828800" cy="1828800"/>
          </a:xfrm>
          <a:prstGeom prst="ellipse">
            <a:avLst/>
          </a:prstGeom>
          <a:solidFill>
            <a:srgbClr val="0E7C86">
              <a:alpha val="38000"/>
            </a:srgbClr>
          </a:solidFill>
          <a:ln w="19050">
            <a:solidFill>
              <a:srgbClr val="0E7C86"/>
            </a:solidFill>
            <a:prstDash val="solid"/>
          </a:ln>
        </p:spPr>
      </p:sp>
      <p:sp>
        <p:nvSpPr>
          <p:cNvPr id="9" name="Shape 6"/>
          <p:cNvSpPr/>
          <p:nvPr/>
        </p:nvSpPr>
        <p:spPr>
          <a:xfrm>
            <a:off x="7680960" y="1828800"/>
            <a:ext cx="1828800" cy="1828800"/>
          </a:xfrm>
          <a:prstGeom prst="ellipse">
            <a:avLst/>
          </a:prstGeom>
          <a:solidFill>
            <a:srgbClr val="14A6B0">
              <a:alpha val="38000"/>
            </a:srgbClr>
          </a:solidFill>
          <a:ln w="19050">
            <a:solidFill>
              <a:srgbClr val="14A6B0"/>
            </a:solidFill>
            <a:prstDash val="solid"/>
          </a:ln>
        </p:spPr>
      </p:sp>
      <p:sp>
        <p:nvSpPr>
          <p:cNvPr id="10" name="Shape 7"/>
          <p:cNvSpPr/>
          <p:nvPr/>
        </p:nvSpPr>
        <p:spPr>
          <a:xfrm>
            <a:off x="7040880" y="2926080"/>
            <a:ext cx="1828800" cy="1828800"/>
          </a:xfrm>
          <a:prstGeom prst="ellipse">
            <a:avLst/>
          </a:prstGeom>
          <a:solidFill>
            <a:srgbClr val="C2772B">
              <a:alpha val="38000"/>
            </a:srgbClr>
          </a:solidFill>
          <a:ln w="19050">
            <a:solidFill>
              <a:srgbClr val="C2772B"/>
            </a:solidFill>
            <a:prstDash val="solid"/>
          </a:ln>
        </p:spPr>
      </p:sp>
      <p:sp>
        <p:nvSpPr>
          <p:cNvPr id="11" name="Text 8"/>
          <p:cNvSpPr/>
          <p:nvPr/>
        </p:nvSpPr>
        <p:spPr>
          <a:xfrm>
            <a:off x="6583680" y="1920240"/>
            <a:ext cx="457200" cy="365760"/>
          </a:xfrm>
          <a:prstGeom prst="rect">
            <a:avLst/>
          </a:prstGeom>
          <a:noFill/>
          <a:ln/>
        </p:spPr>
        <p:txBody>
          <a:bodyPr wrap="square" lIns="0" tIns="0" rIns="0" bIns="0" rtlCol="0" anchor="ctr"/>
          <a:lstStyle/>
          <a:p>
            <a:pPr marL="0" indent="0" algn="ctr">
              <a:buNone/>
            </a:pPr>
            <a:r>
              <a:rPr lang="en-US" sz="1600" b="1" dirty="0">
                <a:solidFill>
                  <a:srgbClr val="0E7C86"/>
                </a:solidFill>
                <a:latin typeface="Cambria" pitchFamily="34" charset="0"/>
                <a:ea typeface="Cambria" pitchFamily="34" charset="-122"/>
                <a:cs typeface="Cambria" pitchFamily="34" charset="-120"/>
              </a:rPr>
              <a:t>A</a:t>
            </a:r>
            <a:endParaRPr lang="en-US" sz="1600" dirty="0"/>
          </a:p>
        </p:txBody>
      </p:sp>
      <p:sp>
        <p:nvSpPr>
          <p:cNvPr id="12" name="Text 9"/>
          <p:cNvSpPr/>
          <p:nvPr/>
        </p:nvSpPr>
        <p:spPr>
          <a:xfrm>
            <a:off x="8869680" y="1920240"/>
            <a:ext cx="457200" cy="365760"/>
          </a:xfrm>
          <a:prstGeom prst="rect">
            <a:avLst/>
          </a:prstGeom>
          <a:noFill/>
          <a:ln/>
        </p:spPr>
        <p:txBody>
          <a:bodyPr wrap="square" lIns="0" tIns="0" rIns="0" bIns="0" rtlCol="0" anchor="ctr"/>
          <a:lstStyle/>
          <a:p>
            <a:pPr marL="0" indent="0" algn="ctr">
              <a:buNone/>
            </a:pPr>
            <a:r>
              <a:rPr lang="en-US" sz="1600" b="1" dirty="0">
                <a:solidFill>
                  <a:srgbClr val="14A6B0"/>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7726680" y="4434840"/>
            <a:ext cx="457200" cy="365760"/>
          </a:xfrm>
          <a:prstGeom prst="rect">
            <a:avLst/>
          </a:prstGeom>
          <a:noFill/>
          <a:ln/>
        </p:spPr>
        <p:txBody>
          <a:bodyPr wrap="square" lIns="0" tIns="0" rIns="0" bIns="0" rtlCol="0" anchor="ctr"/>
          <a:lstStyle/>
          <a:p>
            <a:pPr marL="0" indent="0" algn="ctr">
              <a:buNone/>
            </a:pPr>
            <a:r>
              <a:rPr lang="en-US" sz="1600" b="1" dirty="0">
                <a:solidFill>
                  <a:srgbClr val="C2772B"/>
                </a:solidFill>
                <a:latin typeface="Cambria" pitchFamily="34" charset="0"/>
                <a:ea typeface="Cambria" pitchFamily="34" charset="-122"/>
                <a:cs typeface="Cambria" pitchFamily="34" charset="-120"/>
              </a:rPr>
              <a:t>C</a:t>
            </a:r>
            <a:endParaRPr lang="en-US" sz="1600" dirty="0"/>
          </a:p>
        </p:txBody>
      </p:sp>
      <p:sp>
        <p:nvSpPr>
          <p:cNvPr id="14" name="Text 11"/>
          <p:cNvSpPr/>
          <p:nvPr/>
        </p:nvSpPr>
        <p:spPr>
          <a:xfrm>
            <a:off x="6492240" y="4846320"/>
            <a:ext cx="2926080" cy="548640"/>
          </a:xfrm>
          <a:prstGeom prst="rect">
            <a:avLst/>
          </a:prstGeom>
          <a:noFill/>
          <a:ln/>
        </p:spPr>
        <p:txBody>
          <a:bodyPr wrap="square" lIns="0" tIns="0" rIns="0" bIns="0" rtlCol="0" anchor="ctr"/>
          <a:lstStyle/>
          <a:p>
            <a:pPr marL="0" indent="0" algn="ctr">
              <a:buNone/>
            </a:pPr>
            <a:r>
              <a:rPr lang="en-US" sz="1100" i="1" dirty="0">
                <a:solidFill>
                  <a:srgbClr val="12262B"/>
                </a:solidFill>
                <a:latin typeface="Calibri" pitchFamily="34" charset="0"/>
                <a:ea typeface="Calibri" pitchFamily="34" charset="-122"/>
                <a:cs typeface="Calibri" pitchFamily="34" charset="-120"/>
              </a:rPr>
              <a:t>each ≈ AUC 0.70 ± 0.02,</a:t>
            </a:r>
            <a:endParaRPr lang="en-US" sz="1100" dirty="0"/>
          </a:p>
          <a:p>
            <a:pPr marL="0" indent="0" algn="ctr">
              <a:buNone/>
            </a:pPr>
            <a:r>
              <a:rPr lang="en-US" sz="1100" i="1" dirty="0">
                <a:solidFill>
                  <a:srgbClr val="12262B"/>
                </a:solidFill>
                <a:latin typeface="Calibri" pitchFamily="34" charset="0"/>
                <a:ea typeface="Calibri" pitchFamily="34" charset="-122"/>
                <a:cs typeface="Calibri" pitchFamily="34" charset="-120"/>
              </a:rPr>
              <a:t>yet almost no shared genes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THE SILENT CONFOUNDER</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Batch effects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14</a:t>
            </a:r>
            <a:endParaRPr lang="en-US" sz="900" dirty="0"/>
          </a:p>
        </p:txBody>
      </p:sp>
      <p:sp>
        <p:nvSpPr>
          <p:cNvPr id="7" name="Text 4"/>
          <p:cNvSpPr/>
          <p:nvPr/>
        </p:nvSpPr>
        <p:spPr>
          <a:xfrm>
            <a:off x="548640" y="1828800"/>
            <a:ext cx="557784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Batch effect = systematic technical variation tied to when / where / how samples were processed (run date, machine, technician, reagent lot, hospital, platform).</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It can be larger than the biological signal you care about.</a:t>
            </a:r>
            <a:endParaRPr lang="en-US" sz="1600" dirty="0"/>
          </a:p>
          <a:p>
            <a:pPr marL="203200" indent="-203200">
              <a:spcAft>
                <a:spcPts val="1400"/>
              </a:spcAft>
              <a:buSzPct val="100000"/>
              <a:buChar char="•"/>
            </a:pPr>
            <a:r>
              <a:rPr lang="en-US" sz="1600" b="1" dirty="0">
                <a:solidFill>
                  <a:srgbClr val="C2772B"/>
                </a:solidFill>
                <a:latin typeface="Calibri" pitchFamily="34" charset="0"/>
                <a:ea typeface="Calibri" pitchFamily="34" charset="-122"/>
                <a:cs typeface="Calibri" pitchFamily="34" charset="-120"/>
              </a:rPr>
              <a:t>Danger: if batch correlates with outcome (e.g. all relapses processed at one site), the model learns the batch, not the biology.</a:t>
            </a:r>
            <a:endParaRPr lang="en-US" sz="1600" dirty="0"/>
          </a:p>
        </p:txBody>
      </p:sp>
      <p:sp>
        <p:nvSpPr>
          <p:cNvPr id="8" name="Shape 5"/>
          <p:cNvSpPr/>
          <p:nvPr/>
        </p:nvSpPr>
        <p:spPr>
          <a:xfrm>
            <a:off x="6675120" y="2103120"/>
            <a:ext cx="2103120" cy="1097280"/>
          </a:xfrm>
          <a:prstGeom prst="roundRect">
            <a:avLst>
              <a:gd name="adj" fmla="val 6667"/>
            </a:avLst>
          </a:prstGeom>
          <a:solidFill>
            <a:srgbClr val="DCEDEE"/>
          </a:solidFill>
          <a:ln/>
          <a:effectLst>
            <a:outerShdw blurRad="88900" dist="38100" dir="5400000" algn="bl" rotWithShape="0">
              <a:srgbClr val="000000">
                <a:alpha val="12000"/>
              </a:srgbClr>
            </a:outerShdw>
          </a:effectLst>
        </p:spPr>
      </p:sp>
      <p:sp>
        <p:nvSpPr>
          <p:cNvPr id="9" name="Text 6"/>
          <p:cNvSpPr/>
          <p:nvPr/>
        </p:nvSpPr>
        <p:spPr>
          <a:xfrm>
            <a:off x="6675120" y="2212848"/>
            <a:ext cx="210312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Batch A</a:t>
            </a:r>
            <a:endParaRPr lang="en-US" sz="1300" dirty="0"/>
          </a:p>
        </p:txBody>
      </p:sp>
      <p:sp>
        <p:nvSpPr>
          <p:cNvPr id="10" name="Text 7"/>
          <p:cNvSpPr/>
          <p:nvPr/>
        </p:nvSpPr>
        <p:spPr>
          <a:xfrm>
            <a:off x="6675120" y="2542032"/>
            <a:ext cx="2103120" cy="548640"/>
          </a:xfrm>
          <a:prstGeom prst="rect">
            <a:avLst/>
          </a:prstGeom>
          <a:noFill/>
          <a:ln/>
        </p:spPr>
        <p:txBody>
          <a:bodyPr wrap="square" lIns="0" tIns="0" rIns="0" bIns="0" rtlCol="0" anchor="ctr"/>
          <a:lstStyle/>
          <a:p>
            <a:pPr marL="0" indent="0" algn="ctr">
              <a:buNone/>
            </a:pPr>
            <a:r>
              <a:rPr lang="en-US" sz="1000" dirty="0">
                <a:solidFill>
                  <a:srgbClr val="5B6B70"/>
                </a:solidFill>
                <a:latin typeface="Calibri" pitchFamily="34" charset="0"/>
                <a:ea typeface="Calibri" pitchFamily="34" charset="-122"/>
                <a:cs typeface="Calibri" pitchFamily="34" charset="-120"/>
              </a:rPr>
              <a:t>Hospital X · 2018 · Scanner 1</a:t>
            </a:r>
            <a:endParaRPr lang="en-US" sz="1000" dirty="0"/>
          </a:p>
        </p:txBody>
      </p:sp>
      <p:sp>
        <p:nvSpPr>
          <p:cNvPr id="11" name="Shape 8"/>
          <p:cNvSpPr/>
          <p:nvPr/>
        </p:nvSpPr>
        <p:spPr>
          <a:xfrm>
            <a:off x="6675120" y="3383280"/>
            <a:ext cx="2103120" cy="1097280"/>
          </a:xfrm>
          <a:prstGeom prst="roundRect">
            <a:avLst>
              <a:gd name="adj" fmla="val 6667"/>
            </a:avLst>
          </a:prstGeom>
          <a:solidFill>
            <a:srgbClr val="F6E9D8"/>
          </a:solidFill>
          <a:ln/>
          <a:effectLst>
            <a:outerShdw blurRad="88900" dist="38100" dir="5400000" algn="bl" rotWithShape="0">
              <a:srgbClr val="000000">
                <a:alpha val="12000"/>
              </a:srgbClr>
            </a:outerShdw>
          </a:effectLst>
        </p:spPr>
      </p:sp>
      <p:sp>
        <p:nvSpPr>
          <p:cNvPr id="12" name="Text 9"/>
          <p:cNvSpPr/>
          <p:nvPr/>
        </p:nvSpPr>
        <p:spPr>
          <a:xfrm>
            <a:off x="6675120" y="3493008"/>
            <a:ext cx="2103120" cy="320040"/>
          </a:xfrm>
          <a:prstGeom prst="rect">
            <a:avLst/>
          </a:prstGeom>
          <a:noFill/>
          <a:ln/>
        </p:spPr>
        <p:txBody>
          <a:bodyPr wrap="square" lIns="0" tIns="0" rIns="0" bIns="0" rtlCol="0" anchor="ctr"/>
          <a:lstStyle/>
          <a:p>
            <a:pPr marL="0" indent="0" algn="ctr">
              <a:buNone/>
            </a:pPr>
            <a:r>
              <a:rPr lang="en-US" sz="1300" b="1" dirty="0">
                <a:solidFill>
                  <a:srgbClr val="C2772B"/>
                </a:solidFill>
                <a:latin typeface="Calibri" pitchFamily="34" charset="0"/>
                <a:ea typeface="Calibri" pitchFamily="34" charset="-122"/>
                <a:cs typeface="Calibri" pitchFamily="34" charset="-120"/>
              </a:rPr>
              <a:t>Batch B</a:t>
            </a:r>
            <a:endParaRPr lang="en-US" sz="1300" dirty="0"/>
          </a:p>
        </p:txBody>
      </p:sp>
      <p:sp>
        <p:nvSpPr>
          <p:cNvPr id="13" name="Text 10"/>
          <p:cNvSpPr/>
          <p:nvPr/>
        </p:nvSpPr>
        <p:spPr>
          <a:xfrm>
            <a:off x="6675120" y="3822192"/>
            <a:ext cx="2103120" cy="548640"/>
          </a:xfrm>
          <a:prstGeom prst="rect">
            <a:avLst/>
          </a:prstGeom>
          <a:noFill/>
          <a:ln/>
        </p:spPr>
        <p:txBody>
          <a:bodyPr wrap="square" lIns="0" tIns="0" rIns="0" bIns="0" rtlCol="0" anchor="ctr"/>
          <a:lstStyle/>
          <a:p>
            <a:pPr marL="0" indent="0" algn="ctr">
              <a:buNone/>
            </a:pPr>
            <a:r>
              <a:rPr lang="en-US" sz="1000" dirty="0">
                <a:solidFill>
                  <a:srgbClr val="5B6B70"/>
                </a:solidFill>
                <a:latin typeface="Calibri" pitchFamily="34" charset="0"/>
                <a:ea typeface="Calibri" pitchFamily="34" charset="-122"/>
                <a:cs typeface="Calibri" pitchFamily="34" charset="-120"/>
              </a:rPr>
              <a:t>Hospital Y · 2020 · Scanner 2</a:t>
            </a:r>
            <a:endParaRPr lang="en-US" sz="1000" dirty="0"/>
          </a:p>
        </p:txBody>
      </p:sp>
      <p:sp>
        <p:nvSpPr>
          <p:cNvPr id="14" name="Shape 11"/>
          <p:cNvSpPr/>
          <p:nvPr/>
        </p:nvSpPr>
        <p:spPr>
          <a:xfrm>
            <a:off x="9418320" y="2606040"/>
            <a:ext cx="2377440" cy="1371600"/>
          </a:xfrm>
          <a:prstGeom prst="roundRect">
            <a:avLst>
              <a:gd name="adj" fmla="val 5333"/>
            </a:avLst>
          </a:prstGeom>
          <a:solidFill>
            <a:srgbClr val="FFFFFF"/>
          </a:solidFill>
          <a:ln/>
          <a:effectLst>
            <a:outerShdw blurRad="88900" dist="38100" dir="5400000" algn="bl" rotWithShape="0">
              <a:srgbClr val="000000">
                <a:alpha val="12000"/>
              </a:srgbClr>
            </a:outerShdw>
          </a:effectLst>
        </p:spPr>
      </p:sp>
      <p:sp>
        <p:nvSpPr>
          <p:cNvPr id="15" name="Shape 12"/>
          <p:cNvSpPr/>
          <p:nvPr/>
        </p:nvSpPr>
        <p:spPr>
          <a:xfrm>
            <a:off x="9418320" y="2606040"/>
            <a:ext cx="2377440" cy="1371600"/>
          </a:xfrm>
          <a:prstGeom prst="roundRect">
            <a:avLst>
              <a:gd name="adj" fmla="val 5333"/>
            </a:avLst>
          </a:prstGeom>
          <a:solidFill>
            <a:srgbClr val="FFFFFF"/>
          </a:solidFill>
          <a:ln w="12700">
            <a:solidFill>
              <a:srgbClr val="C9D7D9"/>
            </a:solidFill>
            <a:prstDash val="solid"/>
          </a:ln>
        </p:spPr>
      </p:sp>
      <p:sp>
        <p:nvSpPr>
          <p:cNvPr id="16" name="Text 13"/>
          <p:cNvSpPr/>
          <p:nvPr/>
        </p:nvSpPr>
        <p:spPr>
          <a:xfrm>
            <a:off x="9418320" y="2606040"/>
            <a:ext cx="2377440" cy="1371600"/>
          </a:xfrm>
          <a:prstGeom prst="rect">
            <a:avLst/>
          </a:prstGeom>
          <a:noFill/>
          <a:ln/>
        </p:spPr>
        <p:txBody>
          <a:bodyPr wrap="square" lIns="0" tIns="0" rIns="0" bIns="0" rtlCol="0" anchor="ctr"/>
          <a:lstStyle/>
          <a:p>
            <a:pPr marL="0" indent="0" algn="ctr">
              <a:buNone/>
            </a:pPr>
            <a:r>
              <a:rPr lang="en-US" sz="1300" b="1" dirty="0">
                <a:solidFill>
                  <a:srgbClr val="12262B"/>
                </a:solidFill>
                <a:latin typeface="Calibri" pitchFamily="34" charset="0"/>
                <a:ea typeface="Calibri" pitchFamily="34" charset="-122"/>
                <a:cs typeface="Calibri" pitchFamily="34" charset="-120"/>
              </a:rPr>
              <a:t>Combined</a:t>
            </a:r>
            <a:endParaRPr lang="en-US" sz="1300" dirty="0"/>
          </a:p>
          <a:p>
            <a:pPr marL="0" indent="0" algn="ctr">
              <a:buNone/>
            </a:pPr>
            <a:r>
              <a:rPr lang="en-US" sz="1300" b="1" dirty="0">
                <a:solidFill>
                  <a:srgbClr val="12262B"/>
                </a:solidFill>
                <a:latin typeface="Calibri" pitchFamily="34" charset="0"/>
                <a:ea typeface="Calibri" pitchFamily="34" charset="-122"/>
                <a:cs typeface="Calibri" pitchFamily="34" charset="-120"/>
              </a:rPr>
              <a:t>matrix</a:t>
            </a:r>
            <a:endParaRPr lang="en-US" sz="1300" dirty="0"/>
          </a:p>
        </p:txBody>
      </p:sp>
      <p:sp>
        <p:nvSpPr>
          <p:cNvPr id="17" name="Shape 14"/>
          <p:cNvSpPr/>
          <p:nvPr/>
        </p:nvSpPr>
        <p:spPr>
          <a:xfrm>
            <a:off x="8778240" y="2651760"/>
            <a:ext cx="640080" cy="640080"/>
          </a:xfrm>
          <a:prstGeom prst="line">
            <a:avLst/>
          </a:prstGeom>
          <a:noFill/>
          <a:ln w="19050">
            <a:solidFill>
              <a:srgbClr val="5B6B70"/>
            </a:solidFill>
            <a:prstDash val="solid"/>
            <a:tailEnd type="triangle"/>
          </a:ln>
        </p:spPr>
      </p:sp>
      <p:sp>
        <p:nvSpPr>
          <p:cNvPr id="18" name="Shape 15"/>
          <p:cNvSpPr/>
          <p:nvPr/>
        </p:nvSpPr>
        <p:spPr>
          <a:xfrm flipV="1">
            <a:off x="8778240" y="3931920"/>
            <a:ext cx="640080" cy="640080"/>
          </a:xfrm>
          <a:prstGeom prst="line">
            <a:avLst/>
          </a:prstGeom>
          <a:noFill/>
          <a:ln w="19050">
            <a:solidFill>
              <a:srgbClr val="5B6B70"/>
            </a:solidFill>
            <a:prstDash val="solid"/>
            <a:tailEnd type="triangle"/>
          </a:ln>
        </p:spPr>
      </p:sp>
      <p:sp>
        <p:nvSpPr>
          <p:cNvPr id="19" name="Text 16"/>
          <p:cNvSpPr/>
          <p:nvPr/>
        </p:nvSpPr>
        <p:spPr>
          <a:xfrm>
            <a:off x="6675120" y="4617720"/>
            <a:ext cx="5120640" cy="365760"/>
          </a:xfrm>
          <a:prstGeom prst="rect">
            <a:avLst/>
          </a:prstGeom>
          <a:noFill/>
          <a:ln/>
        </p:spPr>
        <p:txBody>
          <a:bodyPr wrap="square" lIns="0" tIns="0" rIns="0" bIns="0" rtlCol="0" anchor="ctr"/>
          <a:lstStyle/>
          <a:p>
            <a:pPr marL="0" indent="0" algn="ctr">
              <a:buNone/>
            </a:pPr>
            <a:r>
              <a:rPr lang="en-US" sz="1100" i="1" dirty="0">
                <a:solidFill>
                  <a:srgbClr val="5B6B70"/>
                </a:solidFill>
                <a:latin typeface="Calibri" pitchFamily="34" charset="0"/>
                <a:ea typeface="Calibri" pitchFamily="34" charset="-122"/>
                <a:cs typeface="Calibri" pitchFamily="34" charset="-120"/>
              </a:rPr>
              <a:t>a systematic technical shift rides in with the data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DIAGNOSIS</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Seeing batch effects with PCA</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15</a:t>
            </a:r>
            <a:endParaRPr lang="en-US" sz="900" dirty="0"/>
          </a:p>
        </p:txBody>
      </p:sp>
      <p:sp>
        <p:nvSpPr>
          <p:cNvPr id="7" name="Text 4"/>
          <p:cNvSpPr/>
          <p:nvPr/>
        </p:nvSpPr>
        <p:spPr>
          <a:xfrm>
            <a:off x="548640" y="1828800"/>
            <a:ext cx="11064240" cy="10058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2262B"/>
                </a:solidFill>
                <a:latin typeface="Calibri" pitchFamily="34" charset="0"/>
                <a:ea typeface="Calibri" pitchFamily="34" charset="-122"/>
                <a:cs typeface="Calibri" pitchFamily="34" charset="-120"/>
              </a:rPr>
              <a:t>PCA projects the high-dimensional matrix onto a few axes capturing most variance.</a:t>
            </a:r>
            <a:endParaRPr lang="en-US" sz="1500" dirty="0"/>
          </a:p>
          <a:p>
            <a:pPr marL="203200" indent="-203200">
              <a:spcAft>
                <a:spcPts val="800"/>
              </a:spcAft>
              <a:buSzPct val="100000"/>
              <a:buChar char="•"/>
            </a:pPr>
            <a:r>
              <a:rPr lang="en-US" sz="1500" dirty="0">
                <a:solidFill>
                  <a:srgbClr val="12262B"/>
                </a:solidFill>
                <a:latin typeface="Calibri" pitchFamily="34" charset="0"/>
                <a:ea typeface="Calibri" pitchFamily="34" charset="-122"/>
                <a:cs typeface="Calibri" pitchFamily="34" charset="-120"/>
              </a:rPr>
              <a:t>If samples cluster by batch rather than biology, batch dominates the variance.</a:t>
            </a:r>
            <a:endParaRPr lang="en-US" sz="1500" dirty="0"/>
          </a:p>
          <a:p>
            <a:pPr marL="203200" indent="-203200">
              <a:spcAft>
                <a:spcPts val="800"/>
              </a:spcAft>
              <a:buSzPct val="100000"/>
              <a:buChar char="•"/>
            </a:pPr>
            <a:r>
              <a:rPr lang="en-US" sz="1500" dirty="0">
                <a:solidFill>
                  <a:srgbClr val="12262B"/>
                </a:solidFill>
                <a:latin typeface="Calibri" pitchFamily="34" charset="0"/>
                <a:ea typeface="Calibri" pitchFamily="34" charset="-122"/>
                <a:cs typeface="Calibri" pitchFamily="34" charset="-120"/>
              </a:rPr>
              <a:t>A diagnostic, not a fix — correction (e.g. ComBat) comes later and has its own pitfalls.</a:t>
            </a:r>
            <a:endParaRPr lang="en-US" sz="1500" dirty="0"/>
          </a:p>
        </p:txBody>
      </p:sp>
      <p:graphicFrame>
        <p:nvGraphicFramePr>
          <p:cNvPr id="8" name="Chart 0"/>
          <p:cNvGraphicFramePr/>
          <p:nvPr/>
        </p:nvGraphicFramePr>
        <p:xfrm>
          <a:off x="640080" y="3017520"/>
          <a:ext cx="530352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nvGraphicFramePr>
        <p:xfrm>
          <a:off x="6217920" y="3017520"/>
          <a:ext cx="530352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5"/>
          <p:cNvSpPr/>
          <p:nvPr/>
        </p:nvSpPr>
        <p:spPr>
          <a:xfrm>
            <a:off x="640080" y="6053328"/>
            <a:ext cx="10881360" cy="274320"/>
          </a:xfrm>
          <a:prstGeom prst="rect">
            <a:avLst/>
          </a:prstGeom>
          <a:noFill/>
          <a:ln/>
        </p:spPr>
        <p:txBody>
          <a:bodyPr wrap="square" lIns="0" tIns="0" rIns="0" bIns="0" rtlCol="0" anchor="ctr"/>
          <a:lstStyle/>
          <a:p>
            <a:pPr marL="0" indent="0" algn="ctr">
              <a:buNone/>
            </a:pPr>
            <a:r>
              <a:rPr lang="en-US" sz="1100" i="1" dirty="0">
                <a:solidFill>
                  <a:srgbClr val="12262B"/>
                </a:solidFill>
                <a:latin typeface="Calibri" pitchFamily="34" charset="0"/>
                <a:ea typeface="Calibri" pitchFamily="34" charset="-122"/>
                <a:cs typeface="Calibri" pitchFamily="34" charset="-120"/>
              </a:rPr>
              <a:t>“the array knew the platform before it knew the tumour.”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THE MOST EXPENSIVE MISTAKE</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Data leakage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16</a:t>
            </a:r>
            <a:endParaRPr lang="en-US" sz="900" dirty="0"/>
          </a:p>
        </p:txBody>
      </p:sp>
      <p:sp>
        <p:nvSpPr>
          <p:cNvPr id="7" name="Text 4"/>
          <p:cNvSpPr/>
          <p:nvPr/>
        </p:nvSpPr>
        <p:spPr>
          <a:xfrm>
            <a:off x="548640" y="1828800"/>
            <a:ext cx="5394960" cy="402336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Leakage = information from outside the training set sneaks into model building.</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The model looks brilliant in development and fails in the real world.</a:t>
            </a:r>
            <a:endParaRPr lang="en-US" sz="1600" dirty="0"/>
          </a:p>
          <a:p>
            <a:pPr marL="203200" indent="-203200">
              <a:spcAft>
                <a:spcPts val="1400"/>
              </a:spcAft>
              <a:buSzPct val="100000"/>
              <a:buChar char="•"/>
            </a:pPr>
            <a:r>
              <a:rPr lang="en-US" sz="1600" dirty="0">
                <a:solidFill>
                  <a:srgbClr val="12262B"/>
                </a:solidFill>
                <a:latin typeface="Calibri" pitchFamily="34" charset="0"/>
                <a:ea typeface="Calibri" pitchFamily="34" charset="-122"/>
                <a:cs typeface="Calibri" pitchFamily="34" charset="-120"/>
              </a:rPr>
              <a:t>The single most common reason “great” biomarkers do not replicate.</a:t>
            </a:r>
            <a:endParaRPr lang="en-US" sz="1600" dirty="0"/>
          </a:p>
          <a:p>
            <a:pPr marL="203200" indent="-203200">
              <a:spcAft>
                <a:spcPts val="1400"/>
              </a:spcAft>
              <a:buSzPct val="100000"/>
              <a:buChar char="•"/>
            </a:pPr>
            <a:r>
              <a:rPr lang="en-US" sz="1600" b="1" dirty="0">
                <a:solidFill>
                  <a:srgbClr val="0E7C86"/>
                </a:solidFill>
                <a:latin typeface="Calibri" pitchFamily="34" charset="0"/>
                <a:ea typeface="Calibri" pitchFamily="34" charset="-122"/>
                <a:cs typeface="Calibri" pitchFamily="34" charset="-120"/>
              </a:rPr>
              <a:t>Today we recognise leakage; later we prevent it systematically.</a:t>
            </a:r>
            <a:endParaRPr lang="en-US" sz="1600" dirty="0"/>
          </a:p>
        </p:txBody>
      </p:sp>
      <p:sp>
        <p:nvSpPr>
          <p:cNvPr id="8" name="Shape 5"/>
          <p:cNvSpPr/>
          <p:nvPr/>
        </p:nvSpPr>
        <p:spPr>
          <a:xfrm>
            <a:off x="6675120" y="2194560"/>
            <a:ext cx="4937760" cy="1554480"/>
          </a:xfrm>
          <a:prstGeom prst="roundRect">
            <a:avLst>
              <a:gd name="adj" fmla="val 4706"/>
            </a:avLst>
          </a:prstGeom>
          <a:solidFill>
            <a:srgbClr val="DCEEE4"/>
          </a:solidFill>
          <a:ln/>
          <a:effectLst>
            <a:outerShdw blurRad="88900" dist="38100" dir="5400000" algn="bl" rotWithShape="0">
              <a:srgbClr val="000000">
                <a:alpha val="12000"/>
              </a:srgbClr>
            </a:outerShdw>
          </a:effectLst>
        </p:spPr>
      </p:sp>
      <p:sp>
        <p:nvSpPr>
          <p:cNvPr id="9" name="Text 6"/>
          <p:cNvSpPr/>
          <p:nvPr/>
        </p:nvSpPr>
        <p:spPr>
          <a:xfrm>
            <a:off x="6949440" y="2331720"/>
            <a:ext cx="4389120" cy="365760"/>
          </a:xfrm>
          <a:prstGeom prst="rect">
            <a:avLst/>
          </a:prstGeom>
          <a:noFill/>
          <a:ln/>
        </p:spPr>
        <p:txBody>
          <a:bodyPr wrap="square" lIns="0" tIns="0" rIns="0" bIns="0" rtlCol="0" anchor="ctr"/>
          <a:lstStyle/>
          <a:p>
            <a:pPr marL="0" indent="0">
              <a:buNone/>
            </a:pPr>
            <a:r>
              <a:rPr lang="en-US" sz="1400" b="1" dirty="0">
                <a:solidFill>
                  <a:srgbClr val="2E7D57"/>
                </a:solidFill>
                <a:latin typeface="Calibri" pitchFamily="34" charset="0"/>
                <a:ea typeface="Calibri" pitchFamily="34" charset="-122"/>
                <a:cs typeface="Calibri" pitchFamily="34" charset="-120"/>
              </a:rPr>
              <a:t>Development</a:t>
            </a:r>
            <a:endParaRPr lang="en-US" sz="1400" dirty="0"/>
          </a:p>
        </p:txBody>
      </p:sp>
      <p:sp>
        <p:nvSpPr>
          <p:cNvPr id="10" name="Text 7"/>
          <p:cNvSpPr/>
          <p:nvPr/>
        </p:nvSpPr>
        <p:spPr>
          <a:xfrm>
            <a:off x="6949440" y="2697480"/>
            <a:ext cx="4389120" cy="822960"/>
          </a:xfrm>
          <a:prstGeom prst="rect">
            <a:avLst/>
          </a:prstGeom>
          <a:noFill/>
          <a:ln/>
        </p:spPr>
        <p:txBody>
          <a:bodyPr wrap="square" lIns="0" tIns="0" rIns="0" bIns="0" rtlCol="0" anchor="ctr"/>
          <a:lstStyle/>
          <a:p>
            <a:pPr marL="0" indent="0">
              <a:buNone/>
            </a:pPr>
            <a:r>
              <a:rPr lang="en-US" sz="3400" b="1" dirty="0">
                <a:solidFill>
                  <a:srgbClr val="2E7D57"/>
                </a:solidFill>
                <a:latin typeface="Cambria" pitchFamily="34" charset="0"/>
                <a:ea typeface="Cambria" pitchFamily="34" charset="-122"/>
                <a:cs typeface="Cambria" pitchFamily="34" charset="-120"/>
              </a:rPr>
              <a:t>AUC 0.95</a:t>
            </a:r>
            <a:endParaRPr lang="en-US" sz="3400" dirty="0"/>
          </a:p>
        </p:txBody>
      </p:sp>
      <p:sp>
        <p:nvSpPr>
          <p:cNvPr id="11" name="Shape 8"/>
          <p:cNvSpPr/>
          <p:nvPr/>
        </p:nvSpPr>
        <p:spPr>
          <a:xfrm>
            <a:off x="6675120" y="3977640"/>
            <a:ext cx="4937760" cy="1554480"/>
          </a:xfrm>
          <a:prstGeom prst="roundRect">
            <a:avLst>
              <a:gd name="adj" fmla="val 4706"/>
            </a:avLst>
          </a:prstGeom>
          <a:solidFill>
            <a:srgbClr val="F2DEDB"/>
          </a:solidFill>
          <a:ln/>
          <a:effectLst>
            <a:outerShdw blurRad="88900" dist="38100" dir="5400000" algn="bl" rotWithShape="0">
              <a:srgbClr val="000000">
                <a:alpha val="12000"/>
              </a:srgbClr>
            </a:outerShdw>
          </a:effectLst>
        </p:spPr>
      </p:sp>
      <p:sp>
        <p:nvSpPr>
          <p:cNvPr id="12" name="Text 9"/>
          <p:cNvSpPr/>
          <p:nvPr/>
        </p:nvSpPr>
        <p:spPr>
          <a:xfrm>
            <a:off x="6949440" y="4114800"/>
            <a:ext cx="4389120" cy="365760"/>
          </a:xfrm>
          <a:prstGeom prst="rect">
            <a:avLst/>
          </a:prstGeom>
          <a:noFill/>
          <a:ln/>
        </p:spPr>
        <p:txBody>
          <a:bodyPr wrap="square" lIns="0" tIns="0" rIns="0" bIns="0" rtlCol="0" anchor="ctr"/>
          <a:lstStyle/>
          <a:p>
            <a:pPr marL="0" indent="0">
              <a:buNone/>
            </a:pPr>
            <a:r>
              <a:rPr lang="en-US" sz="1400" b="1" dirty="0">
                <a:solidFill>
                  <a:srgbClr val="A8403A"/>
                </a:solidFill>
                <a:latin typeface="Calibri" pitchFamily="34" charset="0"/>
                <a:ea typeface="Calibri" pitchFamily="34" charset="-122"/>
                <a:cs typeface="Calibri" pitchFamily="34" charset="-120"/>
              </a:rPr>
              <a:t>Clinic</a:t>
            </a:r>
            <a:endParaRPr lang="en-US" sz="1400" dirty="0"/>
          </a:p>
        </p:txBody>
      </p:sp>
      <p:sp>
        <p:nvSpPr>
          <p:cNvPr id="13" name="Text 10"/>
          <p:cNvSpPr/>
          <p:nvPr/>
        </p:nvSpPr>
        <p:spPr>
          <a:xfrm>
            <a:off x="6949440" y="4480560"/>
            <a:ext cx="4389120" cy="822960"/>
          </a:xfrm>
          <a:prstGeom prst="rect">
            <a:avLst/>
          </a:prstGeom>
          <a:noFill/>
          <a:ln/>
        </p:spPr>
        <p:txBody>
          <a:bodyPr wrap="square" lIns="0" tIns="0" rIns="0" bIns="0" rtlCol="0" anchor="ctr"/>
          <a:lstStyle/>
          <a:p>
            <a:pPr marL="0" indent="0">
              <a:buNone/>
            </a:pPr>
            <a:r>
              <a:rPr lang="en-US" sz="3400" b="1" dirty="0">
                <a:solidFill>
                  <a:srgbClr val="A8403A"/>
                </a:solidFill>
                <a:latin typeface="Cambria" pitchFamily="34" charset="0"/>
                <a:ea typeface="Cambria" pitchFamily="34" charset="-122"/>
                <a:cs typeface="Cambria" pitchFamily="34" charset="-120"/>
              </a:rPr>
              <a:t>AUC 0.58</a:t>
            </a:r>
            <a:endParaRPr lang="en-US" sz="3400" dirty="0"/>
          </a:p>
        </p:txBody>
      </p:sp>
      <p:sp>
        <p:nvSpPr>
          <p:cNvPr id="14" name="Shape 11"/>
          <p:cNvSpPr/>
          <p:nvPr/>
        </p:nvSpPr>
        <p:spPr>
          <a:xfrm>
            <a:off x="10972800" y="3977640"/>
            <a:ext cx="0" cy="0"/>
          </a:xfrm>
          <a:prstGeom prst="line">
            <a:avLst/>
          </a:prstGeom>
          <a:noFill/>
          <a:ln w="25400">
            <a:solidFill>
              <a:srgbClr val="A8403A"/>
            </a:solidFill>
            <a:prstDash val="dash"/>
            <a:headEnd type="triangle"/>
          </a:ln>
        </p:spPr>
      </p:sp>
      <p:sp>
        <p:nvSpPr>
          <p:cNvPr id="15" name="Text 12"/>
          <p:cNvSpPr/>
          <p:nvPr/>
        </p:nvSpPr>
        <p:spPr>
          <a:xfrm>
            <a:off x="6949440" y="5486400"/>
            <a:ext cx="4389120" cy="457200"/>
          </a:xfrm>
          <a:prstGeom prst="rect">
            <a:avLst/>
          </a:prstGeom>
          <a:noFill/>
          <a:ln/>
        </p:spPr>
        <p:txBody>
          <a:bodyPr wrap="square" lIns="0" tIns="0" rIns="0" bIns="0" rtlCol="0" anchor="ctr"/>
          <a:lstStyle/>
          <a:p>
            <a:pPr marL="0" indent="0">
              <a:buNone/>
            </a:pPr>
            <a:r>
              <a:rPr lang="en-US" sz="1050" i="1" dirty="0">
                <a:solidFill>
                  <a:srgbClr val="5B6B70"/>
                </a:solidFill>
                <a:latin typeface="Calibri" pitchFamily="34" charset="0"/>
                <a:ea typeface="Calibri" pitchFamily="34" charset="-122"/>
                <a:cs typeface="Calibri" pitchFamily="34" charset="-120"/>
              </a:rPr>
              <a:t>a hidden pipe carries test info</a:t>
            </a:r>
            <a:endParaRPr lang="en-US" sz="1050" dirty="0"/>
          </a:p>
          <a:p>
            <a:pPr marL="0" indent="0">
              <a:buNone/>
            </a:pPr>
            <a:r>
              <a:rPr lang="en-US" sz="1050" i="1" dirty="0">
                <a:solidFill>
                  <a:srgbClr val="5B6B70"/>
                </a:solidFill>
                <a:latin typeface="Calibri" pitchFamily="34" charset="0"/>
                <a:ea typeface="Calibri" pitchFamily="34" charset="-122"/>
                <a:cs typeface="Calibri" pitchFamily="34" charset="-120"/>
              </a:rPr>
              <a:t>back into training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TAXONOMY</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Four flavours of leakage in transcriptomics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48640" y="1828800"/>
            <a:ext cx="5486400" cy="1965960"/>
          </a:xfrm>
          <a:prstGeom prst="roundRect">
            <a:avLst>
              <a:gd name="adj" fmla="val 3721"/>
            </a:avLst>
          </a:prstGeom>
          <a:solidFill>
            <a:srgbClr val="FFFFFF"/>
          </a:solidFill>
          <a:ln/>
          <a:effectLst>
            <a:outerShdw blurRad="88900" dist="38100" dir="5400000" algn="bl" rotWithShape="0">
              <a:srgbClr val="000000">
                <a:alpha val="12000"/>
              </a:srgbClr>
            </a:outerShdw>
          </a:effectLst>
        </p:spPr>
      </p:sp>
      <p:sp>
        <p:nvSpPr>
          <p:cNvPr id="8" name="Shape 5"/>
          <p:cNvSpPr/>
          <p:nvPr/>
        </p:nvSpPr>
        <p:spPr>
          <a:xfrm>
            <a:off x="548640" y="1828800"/>
            <a:ext cx="5486400" cy="1965960"/>
          </a:xfrm>
          <a:prstGeom prst="roundRect">
            <a:avLst>
              <a:gd name="adj" fmla="val 3721"/>
            </a:avLst>
          </a:prstGeom>
          <a:solidFill>
            <a:srgbClr val="FFFFFF"/>
          </a:solidFill>
          <a:ln w="12700">
            <a:solidFill>
              <a:srgbClr val="C9D7D9"/>
            </a:solidFill>
            <a:prstDash val="solid"/>
          </a:ln>
        </p:spPr>
      </p:sp>
      <p:sp>
        <p:nvSpPr>
          <p:cNvPr id="9" name="Shape 6"/>
          <p:cNvSpPr/>
          <p:nvPr/>
        </p:nvSpPr>
        <p:spPr>
          <a:xfrm>
            <a:off x="822960" y="2148840"/>
            <a:ext cx="457200" cy="457200"/>
          </a:xfrm>
          <a:prstGeom prst="ellipse">
            <a:avLst/>
          </a:prstGeom>
          <a:solidFill>
            <a:srgbClr val="0E7C86"/>
          </a:solidFill>
          <a:ln/>
        </p:spPr>
      </p:sp>
      <p:sp>
        <p:nvSpPr>
          <p:cNvPr id="10" name="Text 7"/>
          <p:cNvSpPr/>
          <p:nvPr/>
        </p:nvSpPr>
        <p:spPr>
          <a:xfrm>
            <a:off x="82296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1463040" y="2121408"/>
            <a:ext cx="4297680" cy="502920"/>
          </a:xfrm>
          <a:prstGeom prst="rect">
            <a:avLst/>
          </a:prstGeom>
          <a:noFill/>
          <a:ln/>
        </p:spPr>
        <p:txBody>
          <a:bodyPr wrap="square" lIns="0" tIns="0" rIns="0" bIns="0" rtlCol="0" anchor="ctr"/>
          <a:lstStyle/>
          <a:p>
            <a:pPr marL="0" indent="0">
              <a:buNone/>
            </a:pPr>
            <a:r>
              <a:rPr lang="en-US" sz="1600" b="1" dirty="0">
                <a:solidFill>
                  <a:srgbClr val="12262B"/>
                </a:solidFill>
                <a:latin typeface="Cambria" pitchFamily="34" charset="0"/>
                <a:ea typeface="Cambria" pitchFamily="34" charset="-122"/>
                <a:cs typeface="Cambria" pitchFamily="34" charset="-120"/>
              </a:rPr>
              <a:t>Feature-selection leakage</a:t>
            </a:r>
            <a:endParaRPr lang="en-US" sz="1600" dirty="0"/>
          </a:p>
        </p:txBody>
      </p:sp>
      <p:sp>
        <p:nvSpPr>
          <p:cNvPr id="12" name="Text 9"/>
          <p:cNvSpPr/>
          <p:nvPr/>
        </p:nvSpPr>
        <p:spPr>
          <a:xfrm>
            <a:off x="1463040" y="2670048"/>
            <a:ext cx="4297680" cy="914400"/>
          </a:xfrm>
          <a:prstGeom prst="rect">
            <a:avLst/>
          </a:prstGeom>
          <a:noFill/>
          <a:ln/>
        </p:spPr>
        <p:txBody>
          <a:bodyPr wrap="square" lIns="0" tIns="0" rIns="0" bIns="0" rtlCol="0" anchor="t"/>
          <a:lstStyle/>
          <a:p>
            <a:pPr marL="0" indent="0">
              <a:buNone/>
            </a:pPr>
            <a:r>
              <a:rPr lang="en-US" sz="1300" dirty="0">
                <a:solidFill>
                  <a:srgbClr val="5B6B70"/>
                </a:solidFill>
                <a:latin typeface="Calibri" pitchFamily="34" charset="0"/>
                <a:ea typeface="Calibri" pitchFamily="34" charset="-122"/>
                <a:cs typeface="Calibri" pitchFamily="34" charset="-120"/>
              </a:rPr>
              <a:t>Picking the “best” genes using all samples before splitting — the classic killer.</a:t>
            </a:r>
            <a:endParaRPr lang="en-US" sz="1300" dirty="0"/>
          </a:p>
        </p:txBody>
      </p:sp>
      <p:sp>
        <p:nvSpPr>
          <p:cNvPr id="13" name="Shape 10"/>
          <p:cNvSpPr/>
          <p:nvPr/>
        </p:nvSpPr>
        <p:spPr>
          <a:xfrm>
            <a:off x="6263640" y="1828800"/>
            <a:ext cx="5486400" cy="1965960"/>
          </a:xfrm>
          <a:prstGeom prst="roundRect">
            <a:avLst>
              <a:gd name="adj" fmla="val 3721"/>
            </a:avLst>
          </a:prstGeom>
          <a:solidFill>
            <a:srgbClr val="FFFFFF"/>
          </a:solidFill>
          <a:ln/>
          <a:effectLst>
            <a:outerShdw blurRad="88900" dist="38100" dir="5400000" algn="bl" rotWithShape="0">
              <a:srgbClr val="000000">
                <a:alpha val="12000"/>
              </a:srgbClr>
            </a:outerShdw>
          </a:effectLst>
        </p:spPr>
      </p:sp>
      <p:sp>
        <p:nvSpPr>
          <p:cNvPr id="14" name="Shape 11"/>
          <p:cNvSpPr/>
          <p:nvPr/>
        </p:nvSpPr>
        <p:spPr>
          <a:xfrm>
            <a:off x="6263640" y="1828800"/>
            <a:ext cx="5486400" cy="1965960"/>
          </a:xfrm>
          <a:prstGeom prst="roundRect">
            <a:avLst>
              <a:gd name="adj" fmla="val 3721"/>
            </a:avLst>
          </a:prstGeom>
          <a:solidFill>
            <a:srgbClr val="FFFFFF"/>
          </a:solidFill>
          <a:ln w="12700">
            <a:solidFill>
              <a:srgbClr val="C9D7D9"/>
            </a:solidFill>
            <a:prstDash val="solid"/>
          </a:ln>
        </p:spPr>
      </p:sp>
      <p:sp>
        <p:nvSpPr>
          <p:cNvPr id="15" name="Shape 12"/>
          <p:cNvSpPr/>
          <p:nvPr/>
        </p:nvSpPr>
        <p:spPr>
          <a:xfrm>
            <a:off x="6537960" y="2148840"/>
            <a:ext cx="457200" cy="457200"/>
          </a:xfrm>
          <a:prstGeom prst="ellipse">
            <a:avLst/>
          </a:prstGeom>
          <a:solidFill>
            <a:srgbClr val="14A6B0"/>
          </a:solidFill>
          <a:ln/>
        </p:spPr>
      </p:sp>
      <p:sp>
        <p:nvSpPr>
          <p:cNvPr id="16" name="Text 13"/>
          <p:cNvSpPr/>
          <p:nvPr/>
        </p:nvSpPr>
        <p:spPr>
          <a:xfrm>
            <a:off x="653796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4"/>
          <p:cNvSpPr/>
          <p:nvPr/>
        </p:nvSpPr>
        <p:spPr>
          <a:xfrm>
            <a:off x="7178040" y="2121408"/>
            <a:ext cx="4297680" cy="502920"/>
          </a:xfrm>
          <a:prstGeom prst="rect">
            <a:avLst/>
          </a:prstGeom>
          <a:noFill/>
          <a:ln/>
        </p:spPr>
        <p:txBody>
          <a:bodyPr wrap="square" lIns="0" tIns="0" rIns="0" bIns="0" rtlCol="0" anchor="ctr"/>
          <a:lstStyle/>
          <a:p>
            <a:pPr marL="0" indent="0">
              <a:buNone/>
            </a:pPr>
            <a:r>
              <a:rPr lang="en-US" sz="1600" b="1" dirty="0">
                <a:solidFill>
                  <a:srgbClr val="12262B"/>
                </a:solidFill>
                <a:latin typeface="Cambria" pitchFamily="34" charset="0"/>
                <a:ea typeface="Cambria" pitchFamily="34" charset="-122"/>
                <a:cs typeface="Cambria" pitchFamily="34" charset="-120"/>
              </a:rPr>
              <a:t>Normalisation leakage</a:t>
            </a:r>
            <a:endParaRPr lang="en-US" sz="1600" dirty="0"/>
          </a:p>
        </p:txBody>
      </p:sp>
      <p:sp>
        <p:nvSpPr>
          <p:cNvPr id="18" name="Text 15"/>
          <p:cNvSpPr/>
          <p:nvPr/>
        </p:nvSpPr>
        <p:spPr>
          <a:xfrm>
            <a:off x="7178040" y="2670048"/>
            <a:ext cx="4297680" cy="914400"/>
          </a:xfrm>
          <a:prstGeom prst="rect">
            <a:avLst/>
          </a:prstGeom>
          <a:noFill/>
          <a:ln/>
        </p:spPr>
        <p:txBody>
          <a:bodyPr wrap="square" lIns="0" tIns="0" rIns="0" bIns="0" rtlCol="0" anchor="t"/>
          <a:lstStyle/>
          <a:p>
            <a:pPr marL="0" indent="0">
              <a:buNone/>
            </a:pPr>
            <a:r>
              <a:rPr lang="en-US" sz="1300" dirty="0">
                <a:solidFill>
                  <a:srgbClr val="5B6B70"/>
                </a:solidFill>
                <a:latin typeface="Calibri" pitchFamily="34" charset="0"/>
                <a:ea typeface="Calibri" pitchFamily="34" charset="-122"/>
                <a:cs typeface="Calibri" pitchFamily="34" charset="-120"/>
              </a:rPr>
              <a:t>Scaling using statistics computed over train + test together.</a:t>
            </a:r>
            <a:endParaRPr lang="en-US" sz="1300" dirty="0"/>
          </a:p>
        </p:txBody>
      </p:sp>
      <p:sp>
        <p:nvSpPr>
          <p:cNvPr id="19" name="Shape 16"/>
          <p:cNvSpPr/>
          <p:nvPr/>
        </p:nvSpPr>
        <p:spPr>
          <a:xfrm>
            <a:off x="548640" y="4023360"/>
            <a:ext cx="5486400" cy="1965960"/>
          </a:xfrm>
          <a:prstGeom prst="roundRect">
            <a:avLst>
              <a:gd name="adj" fmla="val 3721"/>
            </a:avLst>
          </a:prstGeom>
          <a:solidFill>
            <a:srgbClr val="FFFFFF"/>
          </a:solidFill>
          <a:ln/>
          <a:effectLst>
            <a:outerShdw blurRad="88900" dist="38100" dir="5400000" algn="bl" rotWithShape="0">
              <a:srgbClr val="000000">
                <a:alpha val="12000"/>
              </a:srgbClr>
            </a:outerShdw>
          </a:effectLst>
        </p:spPr>
      </p:sp>
      <p:sp>
        <p:nvSpPr>
          <p:cNvPr id="20" name="Shape 17"/>
          <p:cNvSpPr/>
          <p:nvPr/>
        </p:nvSpPr>
        <p:spPr>
          <a:xfrm>
            <a:off x="548640" y="4023360"/>
            <a:ext cx="5486400" cy="1965960"/>
          </a:xfrm>
          <a:prstGeom prst="roundRect">
            <a:avLst>
              <a:gd name="adj" fmla="val 3721"/>
            </a:avLst>
          </a:prstGeom>
          <a:solidFill>
            <a:srgbClr val="FFFFFF"/>
          </a:solidFill>
          <a:ln w="12700">
            <a:solidFill>
              <a:srgbClr val="C9D7D9"/>
            </a:solidFill>
            <a:prstDash val="solid"/>
          </a:ln>
        </p:spPr>
      </p:sp>
      <p:sp>
        <p:nvSpPr>
          <p:cNvPr id="21" name="Shape 18"/>
          <p:cNvSpPr/>
          <p:nvPr/>
        </p:nvSpPr>
        <p:spPr>
          <a:xfrm>
            <a:off x="822960" y="4343400"/>
            <a:ext cx="457200" cy="457200"/>
          </a:xfrm>
          <a:prstGeom prst="ellipse">
            <a:avLst/>
          </a:prstGeom>
          <a:solidFill>
            <a:srgbClr val="C2772B"/>
          </a:solidFill>
          <a:ln/>
        </p:spPr>
      </p:sp>
      <p:sp>
        <p:nvSpPr>
          <p:cNvPr id="22" name="Text 19"/>
          <p:cNvSpPr/>
          <p:nvPr/>
        </p:nvSpPr>
        <p:spPr>
          <a:xfrm>
            <a:off x="822960"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3" name="Text 20"/>
          <p:cNvSpPr/>
          <p:nvPr/>
        </p:nvSpPr>
        <p:spPr>
          <a:xfrm>
            <a:off x="1463040" y="4315968"/>
            <a:ext cx="4297680" cy="502920"/>
          </a:xfrm>
          <a:prstGeom prst="rect">
            <a:avLst/>
          </a:prstGeom>
          <a:noFill/>
          <a:ln/>
        </p:spPr>
        <p:txBody>
          <a:bodyPr wrap="square" lIns="0" tIns="0" rIns="0" bIns="0" rtlCol="0" anchor="ctr"/>
          <a:lstStyle/>
          <a:p>
            <a:pPr marL="0" indent="0">
              <a:buNone/>
            </a:pPr>
            <a:r>
              <a:rPr lang="en-US" sz="1600" b="1" dirty="0">
                <a:solidFill>
                  <a:srgbClr val="12262B"/>
                </a:solidFill>
                <a:latin typeface="Cambria" pitchFamily="34" charset="0"/>
                <a:ea typeface="Cambria" pitchFamily="34" charset="-122"/>
                <a:cs typeface="Cambria" pitchFamily="34" charset="-120"/>
              </a:rPr>
              <a:t>Sample leakage</a:t>
            </a:r>
            <a:endParaRPr lang="en-US" sz="1600" dirty="0"/>
          </a:p>
        </p:txBody>
      </p:sp>
      <p:sp>
        <p:nvSpPr>
          <p:cNvPr id="24" name="Text 21"/>
          <p:cNvSpPr/>
          <p:nvPr/>
        </p:nvSpPr>
        <p:spPr>
          <a:xfrm>
            <a:off x="1463040" y="4864608"/>
            <a:ext cx="4297680" cy="914400"/>
          </a:xfrm>
          <a:prstGeom prst="rect">
            <a:avLst/>
          </a:prstGeom>
          <a:noFill/>
          <a:ln/>
        </p:spPr>
        <p:txBody>
          <a:bodyPr wrap="square" lIns="0" tIns="0" rIns="0" bIns="0" rtlCol="0" anchor="t"/>
          <a:lstStyle/>
          <a:p>
            <a:pPr marL="0" indent="0">
              <a:buNone/>
            </a:pPr>
            <a:r>
              <a:rPr lang="en-US" sz="1300" dirty="0">
                <a:solidFill>
                  <a:srgbClr val="5B6B70"/>
                </a:solidFill>
                <a:latin typeface="Calibri" pitchFamily="34" charset="0"/>
                <a:ea typeface="Calibri" pitchFamily="34" charset="-122"/>
                <a:cs typeface="Calibri" pitchFamily="34" charset="-120"/>
              </a:rPr>
              <a:t>Replicates or multiple biopsies from one patient split across train and test.</a:t>
            </a:r>
            <a:endParaRPr lang="en-US" sz="1300" dirty="0"/>
          </a:p>
        </p:txBody>
      </p:sp>
      <p:sp>
        <p:nvSpPr>
          <p:cNvPr id="25" name="Shape 22"/>
          <p:cNvSpPr/>
          <p:nvPr/>
        </p:nvSpPr>
        <p:spPr>
          <a:xfrm>
            <a:off x="6263640" y="4023360"/>
            <a:ext cx="5486400" cy="1965960"/>
          </a:xfrm>
          <a:prstGeom prst="roundRect">
            <a:avLst>
              <a:gd name="adj" fmla="val 3721"/>
            </a:avLst>
          </a:prstGeom>
          <a:solidFill>
            <a:srgbClr val="FFFFFF"/>
          </a:solidFill>
          <a:ln/>
          <a:effectLst>
            <a:outerShdw blurRad="88900" dist="38100" dir="5400000" algn="bl" rotWithShape="0">
              <a:srgbClr val="000000">
                <a:alpha val="12000"/>
              </a:srgbClr>
            </a:outerShdw>
          </a:effectLst>
        </p:spPr>
      </p:sp>
      <p:sp>
        <p:nvSpPr>
          <p:cNvPr id="26" name="Shape 23"/>
          <p:cNvSpPr/>
          <p:nvPr/>
        </p:nvSpPr>
        <p:spPr>
          <a:xfrm>
            <a:off x="6263640" y="4023360"/>
            <a:ext cx="5486400" cy="1965960"/>
          </a:xfrm>
          <a:prstGeom prst="roundRect">
            <a:avLst>
              <a:gd name="adj" fmla="val 3721"/>
            </a:avLst>
          </a:prstGeom>
          <a:solidFill>
            <a:srgbClr val="FFFFFF"/>
          </a:solidFill>
          <a:ln w="12700">
            <a:solidFill>
              <a:srgbClr val="C9D7D9"/>
            </a:solidFill>
            <a:prstDash val="solid"/>
          </a:ln>
        </p:spPr>
      </p:sp>
      <p:sp>
        <p:nvSpPr>
          <p:cNvPr id="27" name="Shape 24"/>
          <p:cNvSpPr/>
          <p:nvPr/>
        </p:nvSpPr>
        <p:spPr>
          <a:xfrm>
            <a:off x="6537960" y="4343400"/>
            <a:ext cx="457200" cy="457200"/>
          </a:xfrm>
          <a:prstGeom prst="ellipse">
            <a:avLst/>
          </a:prstGeom>
          <a:solidFill>
            <a:srgbClr val="A8403A"/>
          </a:solidFill>
          <a:ln/>
        </p:spPr>
      </p:sp>
      <p:sp>
        <p:nvSpPr>
          <p:cNvPr id="28" name="Text 25"/>
          <p:cNvSpPr/>
          <p:nvPr/>
        </p:nvSpPr>
        <p:spPr>
          <a:xfrm>
            <a:off x="6537960"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9" name="Text 26"/>
          <p:cNvSpPr/>
          <p:nvPr/>
        </p:nvSpPr>
        <p:spPr>
          <a:xfrm>
            <a:off x="7178040" y="4315968"/>
            <a:ext cx="4297680" cy="502920"/>
          </a:xfrm>
          <a:prstGeom prst="rect">
            <a:avLst/>
          </a:prstGeom>
          <a:noFill/>
          <a:ln/>
        </p:spPr>
        <p:txBody>
          <a:bodyPr wrap="square" lIns="0" tIns="0" rIns="0" bIns="0" rtlCol="0" anchor="ctr"/>
          <a:lstStyle/>
          <a:p>
            <a:pPr marL="0" indent="0">
              <a:buNone/>
            </a:pPr>
            <a:r>
              <a:rPr lang="en-US" sz="1600" b="1" dirty="0">
                <a:solidFill>
                  <a:srgbClr val="12262B"/>
                </a:solidFill>
                <a:latin typeface="Cambria" pitchFamily="34" charset="0"/>
                <a:ea typeface="Cambria" pitchFamily="34" charset="-122"/>
                <a:cs typeface="Cambria" pitchFamily="34" charset="-120"/>
              </a:rPr>
              <a:t>Temporal / label leakage</a:t>
            </a:r>
            <a:endParaRPr lang="en-US" sz="1600" dirty="0"/>
          </a:p>
        </p:txBody>
      </p:sp>
      <p:sp>
        <p:nvSpPr>
          <p:cNvPr id="30" name="Text 27"/>
          <p:cNvSpPr/>
          <p:nvPr/>
        </p:nvSpPr>
        <p:spPr>
          <a:xfrm>
            <a:off x="7178040" y="4864608"/>
            <a:ext cx="4297680" cy="914400"/>
          </a:xfrm>
          <a:prstGeom prst="rect">
            <a:avLst/>
          </a:prstGeom>
          <a:noFill/>
          <a:ln/>
        </p:spPr>
        <p:txBody>
          <a:bodyPr wrap="square" lIns="0" tIns="0" rIns="0" bIns="0" rtlCol="0" anchor="t"/>
          <a:lstStyle/>
          <a:p>
            <a:pPr marL="0" indent="0">
              <a:buNone/>
            </a:pPr>
            <a:r>
              <a:rPr lang="en-US" sz="1300" dirty="0">
                <a:solidFill>
                  <a:srgbClr val="5B6B70"/>
                </a:solidFill>
                <a:latin typeface="Calibri" pitchFamily="34" charset="0"/>
                <a:ea typeface="Calibri" pitchFamily="34" charset="-122"/>
                <a:cs typeface="Calibri" pitchFamily="34" charset="-120"/>
              </a:rPr>
              <a:t>Using information only available after the outcome is known.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When a biomarker collapses: Duke / Potti</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18</a:t>
            </a:r>
            <a:endParaRPr lang="en-US" sz="900" dirty="0"/>
          </a:p>
        </p:txBody>
      </p:sp>
      <p:sp>
        <p:nvSpPr>
          <p:cNvPr id="7" name="Text 4"/>
          <p:cNvSpPr/>
          <p:nvPr/>
        </p:nvSpPr>
        <p:spPr>
          <a:xfrm>
            <a:off x="548640" y="1828800"/>
            <a:ext cx="11064240" cy="155448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2262B"/>
                </a:solidFill>
                <a:latin typeface="Calibri" pitchFamily="34" charset="0"/>
                <a:ea typeface="Calibri" pitchFamily="34" charset="-122"/>
                <a:cs typeface="Calibri" pitchFamily="34" charset="-120"/>
              </a:rPr>
              <a:t>Chemosensitivity signatures published in top journals, headed to clinical trials — later retracted amid irreproducibility and data errors.</a:t>
            </a:r>
            <a:endParaRPr lang="en-US" sz="1500" dirty="0"/>
          </a:p>
          <a:p>
            <a:pPr marL="203200" indent="-203200">
              <a:spcAft>
                <a:spcPts val="900"/>
              </a:spcAft>
              <a:buSzPct val="100000"/>
              <a:buChar char="•"/>
            </a:pPr>
            <a:r>
              <a:rPr lang="en-US" sz="1500" dirty="0">
                <a:solidFill>
                  <a:srgbClr val="12262B"/>
                </a:solidFill>
                <a:latin typeface="Calibri" pitchFamily="34" charset="0"/>
                <a:ea typeface="Calibri" pitchFamily="34" charset="-122"/>
                <a:cs typeface="Calibri" pitchFamily="34" charset="-120"/>
              </a:rPr>
              <a:t>Forensic reanalysis (Baggerly &amp; Coombes) could not reproduce the results; trials were suspended.</a:t>
            </a:r>
            <a:endParaRPr lang="en-US" sz="1500" dirty="0"/>
          </a:p>
          <a:p>
            <a:pPr marL="203200" indent="-203200">
              <a:spcAft>
                <a:spcPts val="900"/>
              </a:spcAft>
              <a:buSzPct val="100000"/>
              <a:buChar char="•"/>
            </a:pPr>
            <a:r>
              <a:rPr lang="en-US" sz="1500" b="1" dirty="0">
                <a:solidFill>
                  <a:srgbClr val="C2772B"/>
                </a:solidFill>
                <a:latin typeface="Calibri" pitchFamily="34" charset="0"/>
                <a:ea typeface="Calibri" pitchFamily="34" charset="-122"/>
                <a:cs typeface="Calibri" pitchFamily="34" charset="-120"/>
              </a:rPr>
              <a:t>The lesson is not “those scientists were bad” — the pipeline was undocumented and the failure modes we are discussing were not controlled.</a:t>
            </a:r>
            <a:endParaRPr lang="en-US" sz="1500" dirty="0"/>
          </a:p>
        </p:txBody>
      </p:sp>
      <p:sp>
        <p:nvSpPr>
          <p:cNvPr id="8" name="Shape 5"/>
          <p:cNvSpPr/>
          <p:nvPr/>
        </p:nvSpPr>
        <p:spPr>
          <a:xfrm>
            <a:off x="822960" y="4114800"/>
            <a:ext cx="10515600" cy="0"/>
          </a:xfrm>
          <a:prstGeom prst="line">
            <a:avLst/>
          </a:prstGeom>
          <a:noFill/>
          <a:ln w="25400">
            <a:solidFill>
              <a:srgbClr val="C9D7D9"/>
            </a:solidFill>
            <a:prstDash val="solid"/>
          </a:ln>
        </p:spPr>
      </p:sp>
      <p:sp>
        <p:nvSpPr>
          <p:cNvPr id="9" name="Shape 6"/>
          <p:cNvSpPr/>
          <p:nvPr/>
        </p:nvSpPr>
        <p:spPr>
          <a:xfrm>
            <a:off x="676656" y="3968496"/>
            <a:ext cx="292608" cy="292608"/>
          </a:xfrm>
          <a:prstGeom prst="ellipse">
            <a:avLst/>
          </a:prstGeom>
          <a:solidFill>
            <a:srgbClr val="0E7C86"/>
          </a:solidFill>
          <a:ln/>
        </p:spPr>
      </p:sp>
      <p:sp>
        <p:nvSpPr>
          <p:cNvPr id="10" name="Text 7"/>
          <p:cNvSpPr/>
          <p:nvPr/>
        </p:nvSpPr>
        <p:spPr>
          <a:xfrm>
            <a:off x="-91440" y="2971800"/>
            <a:ext cx="1828800" cy="822960"/>
          </a:xfrm>
          <a:prstGeom prst="rect">
            <a:avLst/>
          </a:prstGeom>
          <a:noFill/>
          <a:ln/>
        </p:spPr>
        <p:txBody>
          <a:bodyPr wrap="square" lIns="0" tIns="0" rIns="0" bIns="0" rtlCol="0" anchor="b"/>
          <a:lstStyle/>
          <a:p>
            <a:pPr marL="0" indent="0" algn="ctr">
              <a:buNone/>
            </a:pPr>
            <a:r>
              <a:rPr lang="en-US" sz="1100" b="1" dirty="0">
                <a:solidFill>
                  <a:srgbClr val="12262B"/>
                </a:solidFill>
                <a:latin typeface="Calibri" pitchFamily="34" charset="0"/>
                <a:ea typeface="Calibri" pitchFamily="34" charset="-122"/>
                <a:cs typeface="Calibri" pitchFamily="34" charset="-120"/>
              </a:rPr>
              <a:t>High-profile</a:t>
            </a:r>
            <a:endParaRPr lang="en-US" sz="1100" dirty="0"/>
          </a:p>
          <a:p>
            <a:pPr marL="0" indent="0" algn="ctr">
              <a:buNone/>
            </a:pPr>
            <a:r>
              <a:rPr lang="en-US" sz="1100" b="1" dirty="0">
                <a:solidFill>
                  <a:srgbClr val="12262B"/>
                </a:solidFill>
                <a:latin typeface="Calibri" pitchFamily="34" charset="0"/>
                <a:ea typeface="Calibri" pitchFamily="34" charset="-122"/>
                <a:cs typeface="Calibri" pitchFamily="34" charset="-120"/>
              </a:rPr>
              <a:t>publications</a:t>
            </a:r>
            <a:endParaRPr lang="en-US" sz="1100" dirty="0"/>
          </a:p>
        </p:txBody>
      </p:sp>
      <p:sp>
        <p:nvSpPr>
          <p:cNvPr id="11" name="Shape 8"/>
          <p:cNvSpPr/>
          <p:nvPr/>
        </p:nvSpPr>
        <p:spPr>
          <a:xfrm>
            <a:off x="3305556" y="3968496"/>
            <a:ext cx="292608" cy="292608"/>
          </a:xfrm>
          <a:prstGeom prst="ellipse">
            <a:avLst/>
          </a:prstGeom>
          <a:solidFill>
            <a:srgbClr val="14A6B0"/>
          </a:solidFill>
          <a:ln/>
        </p:spPr>
      </p:sp>
      <p:sp>
        <p:nvSpPr>
          <p:cNvPr id="12" name="Text 9"/>
          <p:cNvSpPr/>
          <p:nvPr/>
        </p:nvSpPr>
        <p:spPr>
          <a:xfrm>
            <a:off x="2537460" y="4389120"/>
            <a:ext cx="1828800" cy="822960"/>
          </a:xfrm>
          <a:prstGeom prst="rect">
            <a:avLst/>
          </a:prstGeom>
          <a:noFill/>
          <a:ln/>
        </p:spPr>
        <p:txBody>
          <a:bodyPr wrap="square" lIns="0" tIns="0" rIns="0" bIns="0" rtlCol="0" anchor="t"/>
          <a:lstStyle/>
          <a:p>
            <a:pPr marL="0" indent="0" algn="ctr">
              <a:buNone/>
            </a:pPr>
            <a:r>
              <a:rPr lang="en-US" sz="1100" b="1" dirty="0">
                <a:solidFill>
                  <a:srgbClr val="12262B"/>
                </a:solidFill>
                <a:latin typeface="Calibri" pitchFamily="34" charset="0"/>
                <a:ea typeface="Calibri" pitchFamily="34" charset="-122"/>
                <a:cs typeface="Calibri" pitchFamily="34" charset="-120"/>
              </a:rPr>
              <a:t>Planned</a:t>
            </a:r>
            <a:endParaRPr lang="en-US" sz="1100" dirty="0"/>
          </a:p>
          <a:p>
            <a:pPr marL="0" indent="0" algn="ctr">
              <a:buNone/>
            </a:pPr>
            <a:r>
              <a:rPr lang="en-US" sz="1100" b="1" dirty="0">
                <a:solidFill>
                  <a:srgbClr val="12262B"/>
                </a:solidFill>
                <a:latin typeface="Calibri" pitchFamily="34" charset="0"/>
                <a:ea typeface="Calibri" pitchFamily="34" charset="-122"/>
                <a:cs typeface="Calibri" pitchFamily="34" charset="-120"/>
              </a:rPr>
              <a:t>clinical trials</a:t>
            </a:r>
            <a:endParaRPr lang="en-US" sz="1100" dirty="0"/>
          </a:p>
        </p:txBody>
      </p:sp>
      <p:sp>
        <p:nvSpPr>
          <p:cNvPr id="13" name="Shape 10"/>
          <p:cNvSpPr/>
          <p:nvPr/>
        </p:nvSpPr>
        <p:spPr>
          <a:xfrm>
            <a:off x="5934456" y="3968496"/>
            <a:ext cx="292608" cy="292608"/>
          </a:xfrm>
          <a:prstGeom prst="ellipse">
            <a:avLst/>
          </a:prstGeom>
          <a:solidFill>
            <a:srgbClr val="C2772B"/>
          </a:solidFill>
          <a:ln/>
        </p:spPr>
      </p:sp>
      <p:sp>
        <p:nvSpPr>
          <p:cNvPr id="14" name="Text 11"/>
          <p:cNvSpPr/>
          <p:nvPr/>
        </p:nvSpPr>
        <p:spPr>
          <a:xfrm>
            <a:off x="5166360" y="2971800"/>
            <a:ext cx="1828800" cy="822960"/>
          </a:xfrm>
          <a:prstGeom prst="rect">
            <a:avLst/>
          </a:prstGeom>
          <a:noFill/>
          <a:ln/>
        </p:spPr>
        <p:txBody>
          <a:bodyPr wrap="square" lIns="0" tIns="0" rIns="0" bIns="0" rtlCol="0" anchor="b"/>
          <a:lstStyle/>
          <a:p>
            <a:pPr marL="0" indent="0" algn="ctr">
              <a:buNone/>
            </a:pPr>
            <a:r>
              <a:rPr lang="en-US" sz="1100" b="1" dirty="0">
                <a:solidFill>
                  <a:srgbClr val="12262B"/>
                </a:solidFill>
                <a:latin typeface="Calibri" pitchFamily="34" charset="0"/>
                <a:ea typeface="Calibri" pitchFamily="34" charset="-122"/>
                <a:cs typeface="Calibri" pitchFamily="34" charset="-120"/>
              </a:rPr>
              <a:t>Independent</a:t>
            </a:r>
            <a:endParaRPr lang="en-US" sz="1100" dirty="0"/>
          </a:p>
          <a:p>
            <a:pPr marL="0" indent="0" algn="ctr">
              <a:buNone/>
            </a:pPr>
            <a:r>
              <a:rPr lang="en-US" sz="1100" b="1" dirty="0">
                <a:solidFill>
                  <a:srgbClr val="12262B"/>
                </a:solidFill>
                <a:latin typeface="Calibri" pitchFamily="34" charset="0"/>
                <a:ea typeface="Calibri" pitchFamily="34" charset="-122"/>
                <a:cs typeface="Calibri" pitchFamily="34" charset="-120"/>
              </a:rPr>
              <a:t>reanalysis fails</a:t>
            </a:r>
            <a:endParaRPr lang="en-US" sz="1100" dirty="0"/>
          </a:p>
        </p:txBody>
      </p:sp>
      <p:sp>
        <p:nvSpPr>
          <p:cNvPr id="15" name="Shape 12"/>
          <p:cNvSpPr/>
          <p:nvPr/>
        </p:nvSpPr>
        <p:spPr>
          <a:xfrm>
            <a:off x="8563356" y="3968496"/>
            <a:ext cx="292608" cy="292608"/>
          </a:xfrm>
          <a:prstGeom prst="ellipse">
            <a:avLst/>
          </a:prstGeom>
          <a:solidFill>
            <a:srgbClr val="C2772B"/>
          </a:solidFill>
          <a:ln/>
        </p:spPr>
      </p:sp>
      <p:sp>
        <p:nvSpPr>
          <p:cNvPr id="16" name="Text 13"/>
          <p:cNvSpPr/>
          <p:nvPr/>
        </p:nvSpPr>
        <p:spPr>
          <a:xfrm>
            <a:off x="7795260" y="4389120"/>
            <a:ext cx="1828800" cy="822960"/>
          </a:xfrm>
          <a:prstGeom prst="rect">
            <a:avLst/>
          </a:prstGeom>
          <a:noFill/>
          <a:ln/>
        </p:spPr>
        <p:txBody>
          <a:bodyPr wrap="square" lIns="0" tIns="0" rIns="0" bIns="0" rtlCol="0" anchor="t"/>
          <a:lstStyle/>
          <a:p>
            <a:pPr marL="0" indent="0" algn="ctr">
              <a:buNone/>
            </a:pPr>
            <a:r>
              <a:rPr lang="en-US" sz="1100" b="1" dirty="0">
                <a:solidFill>
                  <a:srgbClr val="12262B"/>
                </a:solidFill>
                <a:latin typeface="Calibri" pitchFamily="34" charset="0"/>
                <a:ea typeface="Calibri" pitchFamily="34" charset="-122"/>
                <a:cs typeface="Calibri" pitchFamily="34" charset="-120"/>
              </a:rPr>
              <a:t>Errors</a:t>
            </a:r>
            <a:endParaRPr lang="en-US" sz="1100" dirty="0"/>
          </a:p>
          <a:p>
            <a:pPr marL="0" indent="0" algn="ctr">
              <a:buNone/>
            </a:pPr>
            <a:r>
              <a:rPr lang="en-US" sz="1100" b="1" dirty="0">
                <a:solidFill>
                  <a:srgbClr val="12262B"/>
                </a:solidFill>
                <a:latin typeface="Calibri" pitchFamily="34" charset="0"/>
                <a:ea typeface="Calibri" pitchFamily="34" charset="-122"/>
                <a:cs typeface="Calibri" pitchFamily="34" charset="-120"/>
              </a:rPr>
              <a:t>identified</a:t>
            </a:r>
            <a:endParaRPr lang="en-US" sz="1100" dirty="0"/>
          </a:p>
        </p:txBody>
      </p:sp>
      <p:sp>
        <p:nvSpPr>
          <p:cNvPr id="17" name="Shape 14"/>
          <p:cNvSpPr/>
          <p:nvPr/>
        </p:nvSpPr>
        <p:spPr>
          <a:xfrm>
            <a:off x="11192256" y="3968496"/>
            <a:ext cx="292608" cy="292608"/>
          </a:xfrm>
          <a:prstGeom prst="ellipse">
            <a:avLst/>
          </a:prstGeom>
          <a:solidFill>
            <a:srgbClr val="A8403A"/>
          </a:solidFill>
          <a:ln/>
        </p:spPr>
      </p:sp>
      <p:sp>
        <p:nvSpPr>
          <p:cNvPr id="18" name="Text 15"/>
          <p:cNvSpPr/>
          <p:nvPr/>
        </p:nvSpPr>
        <p:spPr>
          <a:xfrm>
            <a:off x="10424160" y="2971800"/>
            <a:ext cx="1828800" cy="822960"/>
          </a:xfrm>
          <a:prstGeom prst="rect">
            <a:avLst/>
          </a:prstGeom>
          <a:noFill/>
          <a:ln/>
        </p:spPr>
        <p:txBody>
          <a:bodyPr wrap="square" lIns="0" tIns="0" rIns="0" bIns="0" rtlCol="0" anchor="b"/>
          <a:lstStyle/>
          <a:p>
            <a:pPr marL="0" indent="0" algn="ctr">
              <a:buNone/>
            </a:pPr>
            <a:r>
              <a:rPr lang="en-US" sz="1100" b="1" dirty="0">
                <a:solidFill>
                  <a:srgbClr val="12262B"/>
                </a:solidFill>
                <a:latin typeface="Calibri" pitchFamily="34" charset="0"/>
                <a:ea typeface="Calibri" pitchFamily="34" charset="-122"/>
                <a:cs typeface="Calibri" pitchFamily="34" charset="-120"/>
              </a:rPr>
              <a:t>Trials halted</a:t>
            </a:r>
            <a:endParaRPr lang="en-US" sz="1100" dirty="0"/>
          </a:p>
          <a:p>
            <a:pPr marL="0" indent="0" algn="ctr">
              <a:buNone/>
            </a:pPr>
            <a:r>
              <a:rPr lang="en-US" sz="1100" b="1" dirty="0">
                <a:solidFill>
                  <a:srgbClr val="12262B"/>
                </a:solidFill>
                <a:latin typeface="Calibri" pitchFamily="34" charset="0"/>
                <a:ea typeface="Calibri" pitchFamily="34" charset="-122"/>
                <a:cs typeface="Calibri" pitchFamily="34" charset="-120"/>
              </a:rPr>
              <a:t>&amp; retractions</a:t>
            </a:r>
            <a:endParaRPr lang="en-US" sz="1100" dirty="0"/>
          </a:p>
        </p:txBody>
      </p:sp>
      <p:sp>
        <p:nvSpPr>
          <p:cNvPr id="19" name="Text 16"/>
          <p:cNvSpPr/>
          <p:nvPr/>
        </p:nvSpPr>
        <p:spPr>
          <a:xfrm>
            <a:off x="822960" y="5943600"/>
            <a:ext cx="10515600" cy="274320"/>
          </a:xfrm>
          <a:prstGeom prst="rect">
            <a:avLst/>
          </a:prstGeom>
          <a:noFill/>
          <a:ln/>
        </p:spPr>
        <p:txBody>
          <a:bodyPr wrap="square" lIns="0" tIns="0" rIns="0" bIns="0" rtlCol="0" anchor="ctr"/>
          <a:lstStyle/>
          <a:p>
            <a:pPr marL="0" indent="0" algn="ctr">
              <a:buNone/>
            </a:pPr>
            <a:r>
              <a:rPr lang="en-US" sz="1000" i="1" dirty="0">
                <a:solidFill>
                  <a:srgbClr val="5B6B70"/>
                </a:solidFill>
                <a:latin typeface="Calibri" pitchFamily="34" charset="0"/>
                <a:ea typeface="Calibri" pitchFamily="34" charset="-122"/>
                <a:cs typeface="Calibri" pitchFamily="34" charset="-120"/>
              </a:rPr>
              <a:t>Verify exact dates against the published retraction record before use.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THE PATTERN</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Why biomarkers fail validation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19</a:t>
            </a:r>
            <a:endParaRPr lang="en-US" sz="900" dirty="0"/>
          </a:p>
        </p:txBody>
      </p:sp>
      <p:sp>
        <p:nvSpPr>
          <p:cNvPr id="7" name="Text 4"/>
          <p:cNvSpPr/>
          <p:nvPr/>
        </p:nvSpPr>
        <p:spPr>
          <a:xfrm>
            <a:off x="548640" y="1828800"/>
            <a:ext cx="5577840" cy="4023360"/>
          </a:xfrm>
          <a:prstGeom prst="rect">
            <a:avLst/>
          </a:prstGeom>
          <a:noFill/>
          <a:ln/>
        </p:spPr>
        <p:txBody>
          <a:bodyPr wrap="square" lIns="0" tIns="0" rIns="0" bIns="0" rtlCol="0" anchor="t"/>
          <a:lstStyle/>
          <a:p>
            <a:pPr marL="203200" indent="-203200">
              <a:spcAft>
                <a:spcPts val="1300"/>
              </a:spcAft>
              <a:buSzPct val="100000"/>
              <a:buChar char="•"/>
            </a:pPr>
            <a:r>
              <a:rPr lang="en-US" sz="1600" dirty="0">
                <a:solidFill>
                  <a:srgbClr val="12262B"/>
                </a:solidFill>
                <a:latin typeface="Calibri" pitchFamily="34" charset="0"/>
                <a:ea typeface="Calibri" pitchFamily="34" charset="-122"/>
                <a:cs typeface="Calibri" pitchFamily="34" charset="-120"/>
              </a:rPr>
              <a:t>Optimistic bias from leakage and tuning on the test set.</a:t>
            </a:r>
            <a:endParaRPr lang="en-US" sz="1600" dirty="0"/>
          </a:p>
          <a:p>
            <a:pPr marL="203200" indent="-203200">
              <a:spcAft>
                <a:spcPts val="1300"/>
              </a:spcAft>
              <a:buSzPct val="100000"/>
              <a:buChar char="•"/>
            </a:pPr>
            <a:r>
              <a:rPr lang="en-US" sz="1600" dirty="0">
                <a:solidFill>
                  <a:srgbClr val="12262B"/>
                </a:solidFill>
                <a:latin typeface="Calibri" pitchFamily="34" charset="0"/>
                <a:ea typeface="Calibri" pitchFamily="34" charset="-122"/>
                <a:cs typeface="Calibri" pitchFamily="34" charset="-120"/>
              </a:rPr>
              <a:t>Tiny, underpowered cohorts in p ≫ n.</a:t>
            </a:r>
            <a:endParaRPr lang="en-US" sz="1600" dirty="0"/>
          </a:p>
          <a:p>
            <a:pPr marL="203200" indent="-203200">
              <a:spcAft>
                <a:spcPts val="1300"/>
              </a:spcAft>
              <a:buSzPct val="100000"/>
              <a:buChar char="•"/>
            </a:pPr>
            <a:r>
              <a:rPr lang="en-US" sz="1600" dirty="0">
                <a:solidFill>
                  <a:srgbClr val="12262B"/>
                </a:solidFill>
                <a:latin typeface="Calibri" pitchFamily="34" charset="0"/>
                <a:ea typeface="Calibri" pitchFamily="34" charset="-122"/>
                <a:cs typeface="Calibri" pitchFamily="34" charset="-120"/>
              </a:rPr>
              <a:t>Batch confounding mistaken for biology.</a:t>
            </a:r>
            <a:endParaRPr lang="en-US" sz="1600" dirty="0"/>
          </a:p>
          <a:p>
            <a:pPr marL="203200" indent="-203200">
              <a:spcAft>
                <a:spcPts val="1300"/>
              </a:spcAft>
              <a:buSzPct val="100000"/>
              <a:buChar char="•"/>
            </a:pPr>
            <a:r>
              <a:rPr lang="en-US" sz="1600" dirty="0">
                <a:solidFill>
                  <a:srgbClr val="12262B"/>
                </a:solidFill>
                <a:latin typeface="Calibri" pitchFamily="34" charset="0"/>
                <a:ea typeface="Calibri" pitchFamily="34" charset="-122"/>
                <a:cs typeface="Calibri" pitchFamily="34" charset="-120"/>
              </a:rPr>
              <a:t>Overfitting to a single dataset; no independent cohort.</a:t>
            </a:r>
            <a:endParaRPr lang="en-US" sz="1600" dirty="0"/>
          </a:p>
          <a:p>
            <a:pPr marL="203200" indent="-203200">
              <a:spcAft>
                <a:spcPts val="1300"/>
              </a:spcAft>
              <a:buSzPct val="100000"/>
              <a:buChar char="•"/>
            </a:pPr>
            <a:r>
              <a:rPr lang="en-US" sz="1600" dirty="0">
                <a:solidFill>
                  <a:srgbClr val="12262B"/>
                </a:solidFill>
                <a:latin typeface="Calibri" pitchFamily="34" charset="0"/>
                <a:ea typeface="Calibri" pitchFamily="34" charset="-122"/>
                <a:cs typeface="Calibri" pitchFamily="34" charset="-120"/>
              </a:rPr>
              <a:t>Selective reporting of the best-looking result.</a:t>
            </a:r>
            <a:endParaRPr lang="en-US" sz="1600" dirty="0"/>
          </a:p>
        </p:txBody>
      </p:sp>
      <p:graphicFrame>
        <p:nvGraphicFramePr>
          <p:cNvPr id="8" name="Chart 0"/>
          <p:cNvGraphicFramePr/>
          <p:nvPr/>
        </p:nvGraphicFramePr>
        <p:xfrm>
          <a:off x="6400800" y="2103120"/>
          <a:ext cx="51206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p:nvPr/>
        </p:nvSpPr>
        <p:spPr>
          <a:xfrm>
            <a:off x="6400800" y="5486400"/>
            <a:ext cx="5120640" cy="274320"/>
          </a:xfrm>
          <a:prstGeom prst="rect">
            <a:avLst/>
          </a:prstGeom>
          <a:noFill/>
          <a:ln/>
        </p:spPr>
        <p:txBody>
          <a:bodyPr wrap="square" lIns="0" tIns="0" rIns="0" bIns="0" rtlCol="0" anchor="ctr"/>
          <a:lstStyle/>
          <a:p>
            <a:pPr marL="0" indent="0" algn="ctr">
              <a:buNone/>
            </a:pPr>
            <a:r>
              <a:rPr lang="en-US" sz="1000" i="1" dirty="0">
                <a:solidFill>
                  <a:srgbClr val="5B6B70"/>
                </a:solidFill>
                <a:latin typeface="Calibri" pitchFamily="34" charset="0"/>
                <a:ea typeface="Calibri" pitchFamily="34" charset="-122"/>
                <a:cs typeface="Calibri" pitchFamily="34" charset="-120"/>
              </a:rPr>
              <a:t>≈ chance line near 0.5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WHAT SUCCESS LOOKS LIKE</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Biomarkers that held up share three traits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828800"/>
            <a:ext cx="5486400" cy="4023360"/>
          </a:xfrm>
          <a:prstGeom prst="roundRect">
            <a:avLst>
              <a:gd name="adj" fmla="val 1818"/>
            </a:avLst>
          </a:prstGeom>
          <a:solidFill>
            <a:srgbClr val="F2DEDB"/>
          </a:solidFill>
          <a:ln/>
          <a:effectLst>
            <a:outerShdw blurRad="88900" dist="38100" dir="5400000" algn="bl" rotWithShape="0">
              <a:srgbClr val="000000">
                <a:alpha val="12000"/>
              </a:srgbClr>
            </a:outerShdw>
          </a:effectLst>
        </p:spPr>
      </p:sp>
      <p:sp>
        <p:nvSpPr>
          <p:cNvPr id="8" name="Text 5"/>
          <p:cNvSpPr/>
          <p:nvPr/>
        </p:nvSpPr>
        <p:spPr>
          <a:xfrm>
            <a:off x="914400" y="2057400"/>
            <a:ext cx="4754880" cy="457200"/>
          </a:xfrm>
          <a:prstGeom prst="rect">
            <a:avLst/>
          </a:prstGeom>
          <a:noFill/>
          <a:ln/>
        </p:spPr>
        <p:txBody>
          <a:bodyPr wrap="square" lIns="0" tIns="0" rIns="0" bIns="0" rtlCol="0" anchor="ctr"/>
          <a:lstStyle/>
          <a:p>
            <a:pPr marL="0" indent="0">
              <a:buNone/>
            </a:pPr>
            <a:r>
              <a:rPr lang="en-US" sz="2000" b="1" dirty="0">
                <a:solidFill>
                  <a:srgbClr val="A8403A"/>
                </a:solidFill>
                <a:latin typeface="Cambria" pitchFamily="34" charset="0"/>
                <a:ea typeface="Cambria" pitchFamily="34" charset="-122"/>
                <a:cs typeface="Cambria" pitchFamily="34" charset="-120"/>
              </a:rPr>
              <a:t>Failed</a:t>
            </a:r>
            <a:endParaRPr lang="en-US" sz="2000" dirty="0"/>
          </a:p>
        </p:txBody>
      </p:sp>
      <p:sp>
        <p:nvSpPr>
          <p:cNvPr id="9" name="Text 6"/>
          <p:cNvSpPr/>
          <p:nvPr/>
        </p:nvSpPr>
        <p:spPr>
          <a:xfrm>
            <a:off x="914400" y="2697480"/>
            <a:ext cx="4754880" cy="2926080"/>
          </a:xfrm>
          <a:prstGeom prst="rect">
            <a:avLst/>
          </a:prstGeom>
          <a:noFill/>
          <a:ln/>
        </p:spPr>
        <p:txBody>
          <a:bodyPr wrap="square" lIns="0" tIns="0" rIns="0" bIns="0" rtlCol="0" anchor="t"/>
          <a:lstStyle/>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Single cohort, no independent validation</a:t>
            </a:r>
            <a:endParaRPr lang="en-US" sz="1450" dirty="0"/>
          </a:p>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Post-hoc signature, chosen after seeing data</a:t>
            </a:r>
            <a:endParaRPr lang="en-US" sz="1450" dirty="0"/>
          </a:p>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Leakage in feature selection / normalisation</a:t>
            </a:r>
            <a:endParaRPr lang="en-US" sz="1450" dirty="0"/>
          </a:p>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Statistical association only</a:t>
            </a:r>
            <a:endParaRPr lang="en-US" sz="1450" dirty="0"/>
          </a:p>
        </p:txBody>
      </p:sp>
      <p:sp>
        <p:nvSpPr>
          <p:cNvPr id="10" name="Shape 7"/>
          <p:cNvSpPr/>
          <p:nvPr/>
        </p:nvSpPr>
        <p:spPr>
          <a:xfrm>
            <a:off x="6309360" y="1828800"/>
            <a:ext cx="5486400" cy="4023360"/>
          </a:xfrm>
          <a:prstGeom prst="roundRect">
            <a:avLst>
              <a:gd name="adj" fmla="val 1818"/>
            </a:avLst>
          </a:prstGeom>
          <a:solidFill>
            <a:srgbClr val="DCEEE4"/>
          </a:solidFill>
          <a:ln/>
          <a:effectLst>
            <a:outerShdw blurRad="88900" dist="38100" dir="5400000" algn="bl" rotWithShape="0">
              <a:srgbClr val="000000">
                <a:alpha val="12000"/>
              </a:srgbClr>
            </a:outerShdw>
          </a:effectLst>
        </p:spPr>
      </p:sp>
      <p:sp>
        <p:nvSpPr>
          <p:cNvPr id="11" name="Text 8"/>
          <p:cNvSpPr/>
          <p:nvPr/>
        </p:nvSpPr>
        <p:spPr>
          <a:xfrm>
            <a:off x="6675120" y="2057400"/>
            <a:ext cx="4754880" cy="457200"/>
          </a:xfrm>
          <a:prstGeom prst="rect">
            <a:avLst/>
          </a:prstGeom>
          <a:noFill/>
          <a:ln/>
        </p:spPr>
        <p:txBody>
          <a:bodyPr wrap="square" lIns="0" tIns="0" rIns="0" bIns="0" rtlCol="0" anchor="ctr"/>
          <a:lstStyle/>
          <a:p>
            <a:pPr marL="0" indent="0">
              <a:buNone/>
            </a:pPr>
            <a:r>
              <a:rPr lang="en-US" sz="2000" b="1" dirty="0">
                <a:solidFill>
                  <a:srgbClr val="2E7D57"/>
                </a:solidFill>
                <a:latin typeface="Cambria" pitchFamily="34" charset="0"/>
                <a:ea typeface="Cambria" pitchFamily="34" charset="-122"/>
                <a:cs typeface="Cambria" pitchFamily="34" charset="-120"/>
              </a:rPr>
              <a:t>Validated</a:t>
            </a:r>
            <a:endParaRPr lang="en-US" sz="2000" dirty="0"/>
          </a:p>
        </p:txBody>
      </p:sp>
      <p:sp>
        <p:nvSpPr>
          <p:cNvPr id="12" name="Text 9"/>
          <p:cNvSpPr/>
          <p:nvPr/>
        </p:nvSpPr>
        <p:spPr>
          <a:xfrm>
            <a:off x="6675120" y="2697480"/>
            <a:ext cx="4754880" cy="2926080"/>
          </a:xfrm>
          <a:prstGeom prst="rect">
            <a:avLst/>
          </a:prstGeom>
          <a:noFill/>
          <a:ln/>
        </p:spPr>
        <p:txBody>
          <a:bodyPr wrap="square" lIns="0" tIns="0" rIns="0" bIns="0" rtlCol="0" anchor="t"/>
          <a:lstStyle/>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Pre-specified, locked-down signature</a:t>
            </a:r>
            <a:endParaRPr lang="en-US" sz="1450" dirty="0"/>
          </a:p>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Independent multi-cohort validation</a:t>
            </a:r>
            <a:endParaRPr lang="en-US" sz="1450" dirty="0"/>
          </a:p>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Demonstrated clinical utility, not just association</a:t>
            </a:r>
            <a:endParaRPr lang="en-US" sz="1450" dirty="0"/>
          </a:p>
          <a:p>
            <a:pPr marL="203200" indent="-203200">
              <a:spcAft>
                <a:spcPts val="1400"/>
              </a:spcAft>
              <a:buSzPct val="100000"/>
              <a:buChar char="•"/>
            </a:pPr>
            <a:r>
              <a:rPr lang="en-US" sz="1450" dirty="0">
                <a:solidFill>
                  <a:srgbClr val="12262B"/>
                </a:solidFill>
                <a:latin typeface="Calibri" pitchFamily="34" charset="0"/>
                <a:ea typeface="Calibri" pitchFamily="34" charset="-122"/>
                <a:cs typeface="Calibri" pitchFamily="34" charset="-120"/>
              </a:rPr>
              <a:t>Reproducible, documented pipeline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GOOD PRACTICE</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The defensible workflow</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21</a:t>
            </a:r>
            <a:endParaRPr lang="en-US" sz="900" dirty="0"/>
          </a:p>
        </p:txBody>
      </p:sp>
      <p:sp>
        <p:nvSpPr>
          <p:cNvPr id="7" name="Text 4"/>
          <p:cNvSpPr/>
          <p:nvPr/>
        </p:nvSpPr>
        <p:spPr>
          <a:xfrm>
            <a:off x="548640" y="1920240"/>
            <a:ext cx="5212080" cy="2743200"/>
          </a:xfrm>
          <a:prstGeom prst="rect">
            <a:avLst/>
          </a:prstGeom>
          <a:noFill/>
          <a:ln/>
        </p:spPr>
        <p:txBody>
          <a:bodyPr wrap="square" lIns="0" tIns="0" rIns="0" bIns="0" rtlCol="0" anchor="t"/>
          <a:lstStyle/>
          <a:p>
            <a:pPr marL="203200" indent="-203200">
              <a:spcAft>
                <a:spcPts val="1600"/>
              </a:spcAft>
              <a:buSzPct val="100000"/>
              <a:buChar char="•"/>
            </a:pPr>
            <a:r>
              <a:rPr lang="en-US" sz="1600" b="1" dirty="0">
                <a:solidFill>
                  <a:srgbClr val="12262B"/>
                </a:solidFill>
                <a:latin typeface="Calibri" pitchFamily="34" charset="0"/>
                <a:ea typeface="Calibri" pitchFamily="34" charset="-122"/>
                <a:cs typeface="Calibri" pitchFamily="34" charset="-120"/>
              </a:rPr>
              <a:t>1.  Lock the question and label</a:t>
            </a:r>
            <a:endParaRPr lang="en-US" sz="1600" dirty="0"/>
          </a:p>
          <a:p>
            <a:pPr marL="203200" indent="-203200">
              <a:spcAft>
                <a:spcPts val="1600"/>
              </a:spcAft>
              <a:buSzPct val="100000"/>
              <a:buChar char="•"/>
            </a:pPr>
            <a:r>
              <a:rPr lang="en-US" sz="1600" b="1" dirty="0">
                <a:solidFill>
                  <a:srgbClr val="12262B"/>
                </a:solidFill>
                <a:latin typeface="Calibri" pitchFamily="34" charset="0"/>
                <a:ea typeface="Calibri" pitchFamily="34" charset="-122"/>
                <a:cs typeface="Calibri" pitchFamily="34" charset="-120"/>
              </a:rPr>
              <a:t>2.  Split the data first</a:t>
            </a:r>
            <a:endParaRPr lang="en-US" sz="1600" dirty="0"/>
          </a:p>
          <a:p>
            <a:pPr marL="203200" indent="-203200">
              <a:spcAft>
                <a:spcPts val="1600"/>
              </a:spcAft>
              <a:buSzPct val="100000"/>
              <a:buChar char="•"/>
            </a:pPr>
            <a:r>
              <a:rPr lang="en-US" sz="1600" b="1" dirty="0">
                <a:solidFill>
                  <a:srgbClr val="12262B"/>
                </a:solidFill>
                <a:latin typeface="Calibri" pitchFamily="34" charset="0"/>
                <a:ea typeface="Calibri" pitchFamily="34" charset="-122"/>
                <a:cs typeface="Calibri" pitchFamily="34" charset="-120"/>
              </a:rPr>
              <a:t>3.  Everything data-dependent (normalisation, feature selection, tuning) happens inside training only</a:t>
            </a:r>
            <a:endParaRPr lang="en-US" sz="1600" dirty="0"/>
          </a:p>
          <a:p>
            <a:pPr marL="203200" indent="-203200">
              <a:spcAft>
                <a:spcPts val="1600"/>
              </a:spcAft>
              <a:buSzPct val="100000"/>
              <a:buChar char="•"/>
            </a:pPr>
            <a:r>
              <a:rPr lang="en-US" sz="1600" b="1" dirty="0">
                <a:solidFill>
                  <a:srgbClr val="12262B"/>
                </a:solidFill>
                <a:latin typeface="Calibri" pitchFamily="34" charset="0"/>
                <a:ea typeface="Calibri" pitchFamily="34" charset="-122"/>
                <a:cs typeface="Calibri" pitchFamily="34" charset="-120"/>
              </a:rPr>
              <a:t>4.  Touch the test set once, at the very end</a:t>
            </a:r>
            <a:endParaRPr lang="en-US" sz="1600" dirty="0"/>
          </a:p>
        </p:txBody>
      </p:sp>
      <p:sp>
        <p:nvSpPr>
          <p:cNvPr id="8" name="Text 5"/>
          <p:cNvSpPr/>
          <p:nvPr/>
        </p:nvSpPr>
        <p:spPr>
          <a:xfrm>
            <a:off x="548640" y="4937760"/>
            <a:ext cx="5212080" cy="731520"/>
          </a:xfrm>
          <a:prstGeom prst="rect">
            <a:avLst/>
          </a:prstGeom>
          <a:noFill/>
          <a:ln/>
        </p:spPr>
        <p:txBody>
          <a:bodyPr wrap="square" lIns="0" tIns="0" rIns="0" bIns="0" rtlCol="0" anchor="ctr"/>
          <a:lstStyle/>
          <a:p>
            <a:pPr marL="0" indent="0">
              <a:buNone/>
            </a:pPr>
            <a:r>
              <a:rPr lang="en-US" sz="1500" i="1" dirty="0">
                <a:solidFill>
                  <a:srgbClr val="0E7C86"/>
                </a:solidFill>
                <a:latin typeface="Cambria" pitchFamily="34" charset="0"/>
                <a:ea typeface="Cambria" pitchFamily="34" charset="-122"/>
                <a:cs typeface="Cambria" pitchFamily="34" charset="-120"/>
              </a:rPr>
              <a:t>“Split first, decide everything else downstream of the split.”</a:t>
            </a:r>
            <a:endParaRPr lang="en-US" sz="1500" dirty="0"/>
          </a:p>
        </p:txBody>
      </p:sp>
      <p:sp>
        <p:nvSpPr>
          <p:cNvPr id="9" name="Text 6"/>
          <p:cNvSpPr/>
          <p:nvPr/>
        </p:nvSpPr>
        <p:spPr>
          <a:xfrm>
            <a:off x="6217920" y="1965960"/>
            <a:ext cx="365760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TRAIN  (everything happens here)</a:t>
            </a:r>
            <a:endParaRPr lang="en-US" sz="1100" dirty="0"/>
          </a:p>
        </p:txBody>
      </p:sp>
      <p:sp>
        <p:nvSpPr>
          <p:cNvPr id="10" name="Shape 7"/>
          <p:cNvSpPr/>
          <p:nvPr/>
        </p:nvSpPr>
        <p:spPr>
          <a:xfrm>
            <a:off x="6217920" y="2377440"/>
            <a:ext cx="1554480" cy="731520"/>
          </a:xfrm>
          <a:prstGeom prst="roundRect">
            <a:avLst>
              <a:gd name="adj" fmla="val 7500"/>
            </a:avLst>
          </a:prstGeom>
          <a:solidFill>
            <a:srgbClr val="DCEDEE"/>
          </a:solidFill>
          <a:ln/>
          <a:effectLst>
            <a:outerShdw blurRad="88900" dist="38100" dir="5400000" algn="bl" rotWithShape="0">
              <a:srgbClr val="000000">
                <a:alpha val="12000"/>
              </a:srgbClr>
            </a:outerShdw>
          </a:effectLst>
        </p:spPr>
      </p:sp>
      <p:sp>
        <p:nvSpPr>
          <p:cNvPr id="11" name="Text 8"/>
          <p:cNvSpPr/>
          <p:nvPr/>
        </p:nvSpPr>
        <p:spPr>
          <a:xfrm>
            <a:off x="6217920" y="2377440"/>
            <a:ext cx="1554480" cy="731520"/>
          </a:xfrm>
          <a:prstGeom prst="rect">
            <a:avLst/>
          </a:prstGeom>
          <a:noFill/>
          <a:ln/>
        </p:spPr>
        <p:txBody>
          <a:bodyPr wrap="square" lIns="0" tIns="0" rIns="0" bIns="0" rtlCol="0" anchor="ctr"/>
          <a:lstStyle/>
          <a:p>
            <a:pPr marL="0" indent="0" algn="ctr">
              <a:buNone/>
            </a:pPr>
            <a:r>
              <a:rPr lang="en-US" sz="1200" b="1" dirty="0">
                <a:solidFill>
                  <a:srgbClr val="12262B"/>
                </a:solidFill>
                <a:latin typeface="Calibri" pitchFamily="34" charset="0"/>
                <a:ea typeface="Calibri" pitchFamily="34" charset="-122"/>
                <a:cs typeface="Calibri" pitchFamily="34" charset="-120"/>
              </a:rPr>
              <a:t>Normalise</a:t>
            </a:r>
            <a:endParaRPr lang="en-US" sz="1200" dirty="0"/>
          </a:p>
        </p:txBody>
      </p:sp>
      <p:sp>
        <p:nvSpPr>
          <p:cNvPr id="12" name="Shape 9"/>
          <p:cNvSpPr/>
          <p:nvPr/>
        </p:nvSpPr>
        <p:spPr>
          <a:xfrm>
            <a:off x="6217920" y="3291840"/>
            <a:ext cx="1554480" cy="731520"/>
          </a:xfrm>
          <a:prstGeom prst="roundRect">
            <a:avLst>
              <a:gd name="adj" fmla="val 7500"/>
            </a:avLst>
          </a:prstGeom>
          <a:solidFill>
            <a:srgbClr val="DCEDEE"/>
          </a:solidFill>
          <a:ln/>
          <a:effectLst>
            <a:outerShdw blurRad="88900" dist="38100" dir="5400000" algn="bl" rotWithShape="0">
              <a:srgbClr val="000000">
                <a:alpha val="12000"/>
              </a:srgbClr>
            </a:outerShdw>
          </a:effectLst>
        </p:spPr>
      </p:sp>
      <p:sp>
        <p:nvSpPr>
          <p:cNvPr id="13" name="Text 10"/>
          <p:cNvSpPr/>
          <p:nvPr/>
        </p:nvSpPr>
        <p:spPr>
          <a:xfrm>
            <a:off x="6217920" y="3291840"/>
            <a:ext cx="1554480" cy="731520"/>
          </a:xfrm>
          <a:prstGeom prst="rect">
            <a:avLst/>
          </a:prstGeom>
          <a:noFill/>
          <a:ln/>
        </p:spPr>
        <p:txBody>
          <a:bodyPr wrap="square" lIns="0" tIns="0" rIns="0" bIns="0" rtlCol="0" anchor="ctr"/>
          <a:lstStyle/>
          <a:p>
            <a:pPr marL="0" indent="0" algn="ctr">
              <a:buNone/>
            </a:pPr>
            <a:r>
              <a:rPr lang="en-US" sz="1200" b="1" dirty="0">
                <a:solidFill>
                  <a:srgbClr val="12262B"/>
                </a:solidFill>
                <a:latin typeface="Calibri" pitchFamily="34" charset="0"/>
                <a:ea typeface="Calibri" pitchFamily="34" charset="-122"/>
                <a:cs typeface="Calibri" pitchFamily="34" charset="-120"/>
              </a:rPr>
              <a:t>Feature-select</a:t>
            </a:r>
            <a:endParaRPr lang="en-US" sz="1200" dirty="0"/>
          </a:p>
        </p:txBody>
      </p:sp>
      <p:sp>
        <p:nvSpPr>
          <p:cNvPr id="14" name="Shape 11"/>
          <p:cNvSpPr/>
          <p:nvPr/>
        </p:nvSpPr>
        <p:spPr>
          <a:xfrm>
            <a:off x="6217920" y="4206240"/>
            <a:ext cx="1554480" cy="731520"/>
          </a:xfrm>
          <a:prstGeom prst="roundRect">
            <a:avLst>
              <a:gd name="adj" fmla="val 7500"/>
            </a:avLst>
          </a:prstGeom>
          <a:solidFill>
            <a:srgbClr val="DCEDEE"/>
          </a:solidFill>
          <a:ln/>
          <a:effectLst>
            <a:outerShdw blurRad="88900" dist="38100" dir="5400000" algn="bl" rotWithShape="0">
              <a:srgbClr val="000000">
                <a:alpha val="12000"/>
              </a:srgbClr>
            </a:outerShdw>
          </a:effectLst>
        </p:spPr>
      </p:sp>
      <p:sp>
        <p:nvSpPr>
          <p:cNvPr id="15" name="Text 12"/>
          <p:cNvSpPr/>
          <p:nvPr/>
        </p:nvSpPr>
        <p:spPr>
          <a:xfrm>
            <a:off x="6217920" y="4206240"/>
            <a:ext cx="1554480" cy="731520"/>
          </a:xfrm>
          <a:prstGeom prst="rect">
            <a:avLst/>
          </a:prstGeom>
          <a:noFill/>
          <a:ln/>
        </p:spPr>
        <p:txBody>
          <a:bodyPr wrap="square" lIns="0" tIns="0" rIns="0" bIns="0" rtlCol="0" anchor="ctr"/>
          <a:lstStyle/>
          <a:p>
            <a:pPr marL="0" indent="0" algn="ctr">
              <a:buNone/>
            </a:pPr>
            <a:r>
              <a:rPr lang="en-US" sz="1200" b="1" dirty="0">
                <a:solidFill>
                  <a:srgbClr val="12262B"/>
                </a:solidFill>
                <a:latin typeface="Calibri" pitchFamily="34" charset="0"/>
                <a:ea typeface="Calibri" pitchFamily="34" charset="-122"/>
                <a:cs typeface="Calibri" pitchFamily="34" charset="-120"/>
              </a:rPr>
              <a:t>Fit &amp; tune</a:t>
            </a:r>
            <a:endParaRPr lang="en-US" sz="1200" dirty="0"/>
          </a:p>
        </p:txBody>
      </p:sp>
      <p:sp>
        <p:nvSpPr>
          <p:cNvPr id="16" name="Shape 13"/>
          <p:cNvSpPr/>
          <p:nvPr/>
        </p:nvSpPr>
        <p:spPr>
          <a:xfrm>
            <a:off x="8229600" y="1874520"/>
            <a:ext cx="146304" cy="3200400"/>
          </a:xfrm>
          <a:prstGeom prst="rect">
            <a:avLst/>
          </a:prstGeom>
          <a:solidFill>
            <a:srgbClr val="0B3B40"/>
          </a:solidFill>
          <a:ln/>
        </p:spPr>
      </p:sp>
      <p:sp>
        <p:nvSpPr>
          <p:cNvPr id="17" name="Text 14"/>
          <p:cNvSpPr/>
          <p:nvPr/>
        </p:nvSpPr>
        <p:spPr>
          <a:xfrm>
            <a:off x="7589520" y="5120640"/>
            <a:ext cx="1463040" cy="274320"/>
          </a:xfrm>
          <a:prstGeom prst="rect">
            <a:avLst/>
          </a:prstGeom>
          <a:noFill/>
          <a:ln/>
        </p:spPr>
        <p:txBody>
          <a:bodyPr wrap="square" lIns="0" tIns="0" rIns="0" bIns="0" rtlCol="0" anchor="ctr"/>
          <a:lstStyle/>
          <a:p>
            <a:pPr marL="0" indent="0" algn="ctr">
              <a:buNone/>
            </a:pPr>
            <a:r>
              <a:rPr lang="en-US" sz="1000" b="1" kern="0" spc="100" dirty="0">
                <a:solidFill>
                  <a:srgbClr val="0B3B40"/>
                </a:solidFill>
                <a:latin typeface="Calibri" pitchFamily="34" charset="0"/>
                <a:ea typeface="Calibri" pitchFamily="34" charset="-122"/>
                <a:cs typeface="Calibri" pitchFamily="34" charset="-120"/>
              </a:rPr>
              <a:t>THE  WALL</a:t>
            </a:r>
            <a:endParaRPr lang="en-US" sz="1000" dirty="0"/>
          </a:p>
        </p:txBody>
      </p:sp>
      <p:sp>
        <p:nvSpPr>
          <p:cNvPr id="18" name="Shape 15"/>
          <p:cNvSpPr/>
          <p:nvPr/>
        </p:nvSpPr>
        <p:spPr>
          <a:xfrm>
            <a:off x="8869680" y="3200400"/>
            <a:ext cx="2011680" cy="914400"/>
          </a:xfrm>
          <a:prstGeom prst="roundRect">
            <a:avLst>
              <a:gd name="adj" fmla="val 6000"/>
            </a:avLst>
          </a:prstGeom>
          <a:solidFill>
            <a:srgbClr val="FFFFFF"/>
          </a:solidFill>
          <a:ln w="25400">
            <a:solidFill>
              <a:srgbClr val="C2772B"/>
            </a:solidFill>
            <a:prstDash val="solid"/>
          </a:ln>
          <a:effectLst>
            <a:outerShdw blurRad="88900" dist="38100" dir="5400000" algn="bl" rotWithShape="0">
              <a:srgbClr val="000000">
                <a:alpha val="12000"/>
              </a:srgbClr>
            </a:outerShdw>
          </a:effectLst>
        </p:spPr>
      </p:sp>
      <p:sp>
        <p:nvSpPr>
          <p:cNvPr id="19" name="Text 16"/>
          <p:cNvSpPr/>
          <p:nvPr/>
        </p:nvSpPr>
        <p:spPr>
          <a:xfrm>
            <a:off x="8869680" y="3291840"/>
            <a:ext cx="2011680" cy="365760"/>
          </a:xfrm>
          <a:prstGeom prst="rect">
            <a:avLst/>
          </a:prstGeom>
          <a:noFill/>
          <a:ln/>
        </p:spPr>
        <p:txBody>
          <a:bodyPr wrap="square" lIns="0" tIns="0" rIns="0" bIns="0" rtlCol="0" anchor="ctr"/>
          <a:lstStyle/>
          <a:p>
            <a:pPr marL="0" indent="0" algn="ctr">
              <a:buNone/>
            </a:pPr>
            <a:r>
              <a:rPr lang="en-US" sz="1300" b="1" dirty="0">
                <a:solidFill>
                  <a:srgbClr val="C2772B"/>
                </a:solidFill>
                <a:latin typeface="Calibri" pitchFamily="34" charset="0"/>
                <a:ea typeface="Calibri" pitchFamily="34" charset="-122"/>
                <a:cs typeface="Calibri" pitchFamily="34" charset="-120"/>
              </a:rPr>
              <a:t>🔒  TEST SET</a:t>
            </a:r>
            <a:endParaRPr lang="en-US" sz="1300" dirty="0"/>
          </a:p>
        </p:txBody>
      </p:sp>
      <p:sp>
        <p:nvSpPr>
          <p:cNvPr id="20" name="Text 17"/>
          <p:cNvSpPr/>
          <p:nvPr/>
        </p:nvSpPr>
        <p:spPr>
          <a:xfrm>
            <a:off x="8869680" y="3675888"/>
            <a:ext cx="2011680" cy="320040"/>
          </a:xfrm>
          <a:prstGeom prst="rect">
            <a:avLst/>
          </a:prstGeom>
          <a:noFill/>
          <a:ln/>
        </p:spPr>
        <p:txBody>
          <a:bodyPr wrap="square" lIns="0" tIns="0" rIns="0" bIns="0" rtlCol="0" anchor="ctr"/>
          <a:lstStyle/>
          <a:p>
            <a:pPr marL="0" indent="0" algn="ctr">
              <a:buNone/>
            </a:pPr>
            <a:r>
              <a:rPr lang="en-US" sz="1100" i="1" dirty="0">
                <a:solidFill>
                  <a:srgbClr val="5B6B70"/>
                </a:solidFill>
                <a:latin typeface="Calibri" pitchFamily="34" charset="0"/>
                <a:ea typeface="Calibri" pitchFamily="34" charset="-122"/>
                <a:cs typeface="Calibri" pitchFamily="34" charset="-120"/>
              </a:rPr>
              <a:t>opened once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DEFINITIONS</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Train / validation / test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822960" y="1920240"/>
            <a:ext cx="10058400" cy="1143000"/>
          </a:xfrm>
          <a:prstGeom prst="roundRect">
            <a:avLst>
              <a:gd name="adj" fmla="val 6400"/>
            </a:avLst>
          </a:prstGeom>
          <a:solidFill>
            <a:srgbClr val="FFFFFF"/>
          </a:solidFill>
          <a:ln/>
          <a:effectLst>
            <a:outerShdw blurRad="88900" dist="38100" dir="5400000" algn="bl" rotWithShape="0">
              <a:srgbClr val="000000">
                <a:alpha val="12000"/>
              </a:srgbClr>
            </a:outerShdw>
          </a:effectLst>
        </p:spPr>
      </p:sp>
      <p:sp>
        <p:nvSpPr>
          <p:cNvPr id="8" name="Shape 5"/>
          <p:cNvSpPr/>
          <p:nvPr/>
        </p:nvSpPr>
        <p:spPr>
          <a:xfrm>
            <a:off x="822960" y="1920240"/>
            <a:ext cx="10058400" cy="1143000"/>
          </a:xfrm>
          <a:prstGeom prst="roundRect">
            <a:avLst>
              <a:gd name="adj" fmla="val 6400"/>
            </a:avLst>
          </a:prstGeom>
          <a:solidFill>
            <a:srgbClr val="FFFFFF"/>
          </a:solidFill>
          <a:ln w="19050">
            <a:solidFill>
              <a:srgbClr val="0E7C86"/>
            </a:solidFill>
            <a:prstDash val="solid"/>
          </a:ln>
        </p:spPr>
      </p:sp>
      <p:sp>
        <p:nvSpPr>
          <p:cNvPr id="9" name="Shape 6"/>
          <p:cNvSpPr/>
          <p:nvPr/>
        </p:nvSpPr>
        <p:spPr>
          <a:xfrm>
            <a:off x="822960" y="1920240"/>
            <a:ext cx="2560320" cy="1143000"/>
          </a:xfrm>
          <a:prstGeom prst="roundRect">
            <a:avLst>
              <a:gd name="adj" fmla="val 6400"/>
            </a:avLst>
          </a:prstGeom>
          <a:solidFill>
            <a:srgbClr val="0E7C86"/>
          </a:solidFill>
          <a:ln/>
        </p:spPr>
      </p:sp>
      <p:sp>
        <p:nvSpPr>
          <p:cNvPr id="10" name="Text 7"/>
          <p:cNvSpPr/>
          <p:nvPr/>
        </p:nvSpPr>
        <p:spPr>
          <a:xfrm>
            <a:off x="822960" y="1920240"/>
            <a:ext cx="256032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Training set</a:t>
            </a:r>
            <a:endParaRPr lang="en-US" sz="1700" dirty="0"/>
          </a:p>
        </p:txBody>
      </p:sp>
      <p:sp>
        <p:nvSpPr>
          <p:cNvPr id="11" name="Text 8"/>
          <p:cNvSpPr/>
          <p:nvPr/>
        </p:nvSpPr>
        <p:spPr>
          <a:xfrm>
            <a:off x="3657600" y="2057400"/>
            <a:ext cx="7040880" cy="548640"/>
          </a:xfrm>
          <a:prstGeom prst="rect">
            <a:avLst/>
          </a:prstGeom>
          <a:noFill/>
          <a:ln/>
        </p:spPr>
        <p:txBody>
          <a:bodyPr wrap="square" lIns="0" tIns="0" rIns="0" bIns="0" rtlCol="0" anchor="ctr"/>
          <a:lstStyle/>
          <a:p>
            <a:pPr marL="0" indent="0">
              <a:buNone/>
            </a:pPr>
            <a:r>
              <a:rPr lang="en-US" sz="1500" dirty="0">
                <a:solidFill>
                  <a:srgbClr val="12262B"/>
                </a:solidFill>
                <a:latin typeface="Calibri" pitchFamily="34" charset="0"/>
                <a:ea typeface="Calibri" pitchFamily="34" charset="-122"/>
                <a:cs typeface="Calibri" pitchFamily="34" charset="-120"/>
              </a:rPr>
              <a:t>Fit the model</a:t>
            </a:r>
            <a:endParaRPr lang="en-US" sz="1500" dirty="0"/>
          </a:p>
        </p:txBody>
      </p:sp>
      <p:sp>
        <p:nvSpPr>
          <p:cNvPr id="12" name="Text 9"/>
          <p:cNvSpPr/>
          <p:nvPr/>
        </p:nvSpPr>
        <p:spPr>
          <a:xfrm>
            <a:off x="3657600" y="2487168"/>
            <a:ext cx="7040880" cy="457200"/>
          </a:xfrm>
          <a:prstGeom prst="rect">
            <a:avLst/>
          </a:prstGeom>
          <a:noFill/>
          <a:ln/>
        </p:spPr>
        <p:txBody>
          <a:bodyPr wrap="square" lIns="0" tIns="0" rIns="0" bIns="0" rtlCol="0" anchor="ctr"/>
          <a:lstStyle/>
          <a:p>
            <a:pPr marL="0" indent="0">
              <a:buNone/>
            </a:pPr>
            <a:r>
              <a:rPr lang="en-US" sz="1200" i="1" dirty="0">
                <a:solidFill>
                  <a:srgbClr val="0E7C86"/>
                </a:solidFill>
                <a:latin typeface="Calibri" pitchFamily="34" charset="0"/>
                <a:ea typeface="Calibri" pitchFamily="34" charset="-122"/>
                <a:cs typeface="Calibri" pitchFamily="34" charset="-120"/>
              </a:rPr>
              <a:t>used to learn</a:t>
            </a:r>
            <a:endParaRPr lang="en-US" sz="1200" dirty="0"/>
          </a:p>
        </p:txBody>
      </p:sp>
      <p:sp>
        <p:nvSpPr>
          <p:cNvPr id="13" name="Shape 10"/>
          <p:cNvSpPr/>
          <p:nvPr/>
        </p:nvSpPr>
        <p:spPr>
          <a:xfrm>
            <a:off x="822960" y="3264408"/>
            <a:ext cx="10058400" cy="1143000"/>
          </a:xfrm>
          <a:prstGeom prst="roundRect">
            <a:avLst>
              <a:gd name="adj" fmla="val 6400"/>
            </a:avLst>
          </a:prstGeom>
          <a:solidFill>
            <a:srgbClr val="FFFFFF"/>
          </a:solidFill>
          <a:ln/>
          <a:effectLst>
            <a:outerShdw blurRad="88900" dist="38100" dir="5400000" algn="bl" rotWithShape="0">
              <a:srgbClr val="000000">
                <a:alpha val="12000"/>
              </a:srgbClr>
            </a:outerShdw>
          </a:effectLst>
        </p:spPr>
      </p:sp>
      <p:sp>
        <p:nvSpPr>
          <p:cNvPr id="14" name="Shape 11"/>
          <p:cNvSpPr/>
          <p:nvPr/>
        </p:nvSpPr>
        <p:spPr>
          <a:xfrm>
            <a:off x="822960" y="3264408"/>
            <a:ext cx="10058400" cy="1143000"/>
          </a:xfrm>
          <a:prstGeom prst="roundRect">
            <a:avLst>
              <a:gd name="adj" fmla="val 6400"/>
            </a:avLst>
          </a:prstGeom>
          <a:solidFill>
            <a:srgbClr val="FFFFFF"/>
          </a:solidFill>
          <a:ln w="19050">
            <a:solidFill>
              <a:srgbClr val="14A6B0"/>
            </a:solidFill>
            <a:prstDash val="solid"/>
          </a:ln>
        </p:spPr>
      </p:sp>
      <p:sp>
        <p:nvSpPr>
          <p:cNvPr id="15" name="Shape 12"/>
          <p:cNvSpPr/>
          <p:nvPr/>
        </p:nvSpPr>
        <p:spPr>
          <a:xfrm>
            <a:off x="822960" y="3264408"/>
            <a:ext cx="2560320" cy="1143000"/>
          </a:xfrm>
          <a:prstGeom prst="roundRect">
            <a:avLst>
              <a:gd name="adj" fmla="val 6400"/>
            </a:avLst>
          </a:prstGeom>
          <a:solidFill>
            <a:srgbClr val="14A6B0"/>
          </a:solidFill>
          <a:ln/>
        </p:spPr>
      </p:sp>
      <p:sp>
        <p:nvSpPr>
          <p:cNvPr id="16" name="Text 13"/>
          <p:cNvSpPr/>
          <p:nvPr/>
        </p:nvSpPr>
        <p:spPr>
          <a:xfrm>
            <a:off x="822960" y="3264408"/>
            <a:ext cx="256032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Validation set</a:t>
            </a:r>
            <a:endParaRPr lang="en-US" sz="1700" dirty="0"/>
          </a:p>
        </p:txBody>
      </p:sp>
      <p:sp>
        <p:nvSpPr>
          <p:cNvPr id="17" name="Text 14"/>
          <p:cNvSpPr/>
          <p:nvPr/>
        </p:nvSpPr>
        <p:spPr>
          <a:xfrm>
            <a:off x="3657600" y="3401568"/>
            <a:ext cx="7040880" cy="548640"/>
          </a:xfrm>
          <a:prstGeom prst="rect">
            <a:avLst/>
          </a:prstGeom>
          <a:noFill/>
          <a:ln/>
        </p:spPr>
        <p:txBody>
          <a:bodyPr wrap="square" lIns="0" tIns="0" rIns="0" bIns="0" rtlCol="0" anchor="ctr"/>
          <a:lstStyle/>
          <a:p>
            <a:pPr marL="0" indent="0">
              <a:buNone/>
            </a:pPr>
            <a:r>
              <a:rPr lang="en-US" sz="1500" dirty="0">
                <a:solidFill>
                  <a:srgbClr val="12262B"/>
                </a:solidFill>
                <a:latin typeface="Calibri" pitchFamily="34" charset="0"/>
                <a:ea typeface="Calibri" pitchFamily="34" charset="-122"/>
                <a:cs typeface="Calibri" pitchFamily="34" charset="-120"/>
              </a:rPr>
              <a:t>Tune choices — which genes, which settings</a:t>
            </a:r>
            <a:endParaRPr lang="en-US" sz="1500" dirty="0"/>
          </a:p>
        </p:txBody>
      </p:sp>
      <p:sp>
        <p:nvSpPr>
          <p:cNvPr id="18" name="Text 15"/>
          <p:cNvSpPr/>
          <p:nvPr/>
        </p:nvSpPr>
        <p:spPr>
          <a:xfrm>
            <a:off x="3657600" y="3831336"/>
            <a:ext cx="7040880" cy="457200"/>
          </a:xfrm>
          <a:prstGeom prst="rect">
            <a:avLst/>
          </a:prstGeom>
          <a:noFill/>
          <a:ln/>
        </p:spPr>
        <p:txBody>
          <a:bodyPr wrap="square" lIns="0" tIns="0" rIns="0" bIns="0" rtlCol="0" anchor="ctr"/>
          <a:lstStyle/>
          <a:p>
            <a:pPr marL="0" indent="0">
              <a:buNone/>
            </a:pPr>
            <a:r>
              <a:rPr lang="en-US" sz="1200" i="1" dirty="0">
                <a:solidFill>
                  <a:srgbClr val="14A6B0"/>
                </a:solidFill>
                <a:latin typeface="Calibri" pitchFamily="34" charset="0"/>
                <a:ea typeface="Calibri" pitchFamily="34" charset="-122"/>
                <a:cs typeface="Calibri" pitchFamily="34" charset="-120"/>
              </a:rPr>
              <a:t>used many times</a:t>
            </a:r>
            <a:endParaRPr lang="en-US" sz="1200" dirty="0"/>
          </a:p>
        </p:txBody>
      </p:sp>
      <p:sp>
        <p:nvSpPr>
          <p:cNvPr id="19" name="Shape 16"/>
          <p:cNvSpPr/>
          <p:nvPr/>
        </p:nvSpPr>
        <p:spPr>
          <a:xfrm>
            <a:off x="822960" y="4608576"/>
            <a:ext cx="10058400" cy="1143000"/>
          </a:xfrm>
          <a:prstGeom prst="roundRect">
            <a:avLst>
              <a:gd name="adj" fmla="val 6400"/>
            </a:avLst>
          </a:prstGeom>
          <a:solidFill>
            <a:srgbClr val="FFFFFF"/>
          </a:solidFill>
          <a:ln/>
          <a:effectLst>
            <a:outerShdw blurRad="88900" dist="38100" dir="5400000" algn="bl" rotWithShape="0">
              <a:srgbClr val="000000">
                <a:alpha val="12000"/>
              </a:srgbClr>
            </a:outerShdw>
          </a:effectLst>
        </p:spPr>
      </p:sp>
      <p:sp>
        <p:nvSpPr>
          <p:cNvPr id="20" name="Shape 17"/>
          <p:cNvSpPr/>
          <p:nvPr/>
        </p:nvSpPr>
        <p:spPr>
          <a:xfrm>
            <a:off x="822960" y="4608576"/>
            <a:ext cx="10058400" cy="1143000"/>
          </a:xfrm>
          <a:prstGeom prst="roundRect">
            <a:avLst>
              <a:gd name="adj" fmla="val 6400"/>
            </a:avLst>
          </a:prstGeom>
          <a:solidFill>
            <a:srgbClr val="FFFFFF"/>
          </a:solidFill>
          <a:ln w="19050">
            <a:solidFill>
              <a:srgbClr val="C2772B"/>
            </a:solidFill>
            <a:prstDash val="solid"/>
          </a:ln>
        </p:spPr>
      </p:sp>
      <p:sp>
        <p:nvSpPr>
          <p:cNvPr id="21" name="Shape 18"/>
          <p:cNvSpPr/>
          <p:nvPr/>
        </p:nvSpPr>
        <p:spPr>
          <a:xfrm>
            <a:off x="822960" y="4608576"/>
            <a:ext cx="2560320" cy="1143000"/>
          </a:xfrm>
          <a:prstGeom prst="roundRect">
            <a:avLst>
              <a:gd name="adj" fmla="val 6400"/>
            </a:avLst>
          </a:prstGeom>
          <a:solidFill>
            <a:srgbClr val="C2772B"/>
          </a:solidFill>
          <a:ln/>
        </p:spPr>
      </p:sp>
      <p:sp>
        <p:nvSpPr>
          <p:cNvPr id="22" name="Text 19"/>
          <p:cNvSpPr/>
          <p:nvPr/>
        </p:nvSpPr>
        <p:spPr>
          <a:xfrm>
            <a:off x="822960" y="4608576"/>
            <a:ext cx="256032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Test set</a:t>
            </a:r>
            <a:endParaRPr lang="en-US" sz="1700" dirty="0"/>
          </a:p>
        </p:txBody>
      </p:sp>
      <p:sp>
        <p:nvSpPr>
          <p:cNvPr id="23" name="Text 20"/>
          <p:cNvSpPr/>
          <p:nvPr/>
        </p:nvSpPr>
        <p:spPr>
          <a:xfrm>
            <a:off x="3657600" y="4745736"/>
            <a:ext cx="7040880" cy="548640"/>
          </a:xfrm>
          <a:prstGeom prst="rect">
            <a:avLst/>
          </a:prstGeom>
          <a:noFill/>
          <a:ln/>
        </p:spPr>
        <p:txBody>
          <a:bodyPr wrap="square" lIns="0" tIns="0" rIns="0" bIns="0" rtlCol="0" anchor="ctr"/>
          <a:lstStyle/>
          <a:p>
            <a:pPr marL="0" indent="0">
              <a:buNone/>
            </a:pPr>
            <a:r>
              <a:rPr lang="en-US" sz="1500" dirty="0">
                <a:solidFill>
                  <a:srgbClr val="12262B"/>
                </a:solidFill>
                <a:latin typeface="Calibri" pitchFamily="34" charset="0"/>
                <a:ea typeface="Calibri" pitchFamily="34" charset="-122"/>
                <a:cs typeface="Calibri" pitchFamily="34" charset="-120"/>
              </a:rPr>
              <a:t>Estimate real-world performance</a:t>
            </a:r>
            <a:endParaRPr lang="en-US" sz="1500" dirty="0"/>
          </a:p>
        </p:txBody>
      </p:sp>
      <p:sp>
        <p:nvSpPr>
          <p:cNvPr id="24" name="Text 21"/>
          <p:cNvSpPr/>
          <p:nvPr/>
        </p:nvSpPr>
        <p:spPr>
          <a:xfrm>
            <a:off x="3657600" y="5175504"/>
            <a:ext cx="7040880" cy="457200"/>
          </a:xfrm>
          <a:prstGeom prst="rect">
            <a:avLst/>
          </a:prstGeom>
          <a:noFill/>
          <a:ln/>
        </p:spPr>
        <p:txBody>
          <a:bodyPr wrap="square" lIns="0" tIns="0" rIns="0" bIns="0" rtlCol="0" anchor="ctr"/>
          <a:lstStyle/>
          <a:p>
            <a:pPr marL="0" indent="0">
              <a:buNone/>
            </a:pPr>
            <a:r>
              <a:rPr lang="en-US" sz="1200" i="1" dirty="0">
                <a:solidFill>
                  <a:srgbClr val="C2772B"/>
                </a:solidFill>
                <a:latin typeface="Calibri" pitchFamily="34" charset="0"/>
                <a:ea typeface="Calibri" pitchFamily="34" charset="-122"/>
                <a:cs typeface="Calibri" pitchFamily="34" charset="-120"/>
              </a:rPr>
              <a:t>used ONCE — never for decisions</a:t>
            </a:r>
            <a:endParaRPr lang="en-US" sz="1200" dirty="0"/>
          </a:p>
        </p:txBody>
      </p:sp>
      <p:sp>
        <p:nvSpPr>
          <p:cNvPr id="25" name="Text 22"/>
          <p:cNvSpPr/>
          <p:nvPr/>
        </p:nvSpPr>
        <p:spPr>
          <a:xfrm>
            <a:off x="822960" y="5998464"/>
            <a:ext cx="10058400" cy="365760"/>
          </a:xfrm>
          <a:prstGeom prst="rect">
            <a:avLst/>
          </a:prstGeom>
          <a:noFill/>
          <a:ln/>
        </p:spPr>
        <p:txBody>
          <a:bodyPr wrap="square" lIns="0" tIns="0" rIns="0" bIns="0" rtlCol="0" anchor="ctr"/>
          <a:lstStyle/>
          <a:p>
            <a:pPr marL="0" indent="0" algn="ctr">
              <a:buNone/>
            </a:pPr>
            <a:r>
              <a:rPr lang="en-US" sz="1250" i="1" dirty="0">
                <a:solidFill>
                  <a:srgbClr val="5B6B70"/>
                </a:solidFill>
                <a:latin typeface="Calibri" pitchFamily="34" charset="0"/>
                <a:ea typeface="Calibri" pitchFamily="34" charset="-122"/>
                <a:cs typeface="Calibri" pitchFamily="34" charset="-120"/>
              </a:rPr>
              <a:t>In small cohorts, cross-validation replaces a fixed validation set (preview only).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OMICS-SPECIFIC</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Splitting pitfalls in transcriptomics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23</a:t>
            </a:r>
            <a:endParaRPr lang="en-US" sz="900" dirty="0"/>
          </a:p>
        </p:txBody>
      </p:sp>
      <p:sp>
        <p:nvSpPr>
          <p:cNvPr id="7" name="Text 4"/>
          <p:cNvSpPr/>
          <p:nvPr/>
        </p:nvSpPr>
        <p:spPr>
          <a:xfrm>
            <a:off x="548640" y="1828800"/>
            <a:ext cx="5669280" cy="4023360"/>
          </a:xfrm>
          <a:prstGeom prst="rect">
            <a:avLst/>
          </a:prstGeom>
          <a:noFill/>
          <a:ln/>
        </p:spPr>
        <p:txBody>
          <a:bodyPr wrap="square" lIns="0" tIns="0" rIns="0" bIns="0" rtlCol="0" anchor="t"/>
          <a:lstStyle/>
          <a:p>
            <a:pPr marL="203200" indent="-203200">
              <a:spcAft>
                <a:spcPts val="1500"/>
              </a:spcAft>
              <a:buSzPct val="100000"/>
              <a:buChar char="•"/>
            </a:pPr>
            <a:r>
              <a:rPr lang="en-US" sz="1600" dirty="0">
                <a:solidFill>
                  <a:srgbClr val="12262B"/>
                </a:solidFill>
                <a:latin typeface="Calibri" pitchFamily="34" charset="0"/>
                <a:ea typeface="Calibri" pitchFamily="34" charset="-122"/>
                <a:cs typeface="Calibri" pitchFamily="34" charset="-120"/>
              </a:rPr>
              <a:t>Split by patient, not by sample — keep all of one patient’s material on one side.</a:t>
            </a:r>
            <a:endParaRPr lang="en-US" sz="1600" dirty="0"/>
          </a:p>
          <a:p>
            <a:pPr marL="203200" indent="-203200">
              <a:spcAft>
                <a:spcPts val="1500"/>
              </a:spcAft>
              <a:buSzPct val="100000"/>
              <a:buChar char="•"/>
            </a:pPr>
            <a:r>
              <a:rPr lang="en-US" sz="1600" dirty="0">
                <a:solidFill>
                  <a:srgbClr val="12262B"/>
                </a:solidFill>
                <a:latin typeface="Calibri" pitchFamily="34" charset="0"/>
                <a:ea typeface="Calibri" pitchFamily="34" charset="-122"/>
                <a:cs typeface="Calibri" pitchFamily="34" charset="-120"/>
              </a:rPr>
              <a:t>Respect batch: don’t let a split accidentally separate batches by outcome.</a:t>
            </a:r>
            <a:endParaRPr lang="en-US" sz="1600" dirty="0"/>
          </a:p>
          <a:p>
            <a:pPr marL="203200" indent="-203200">
              <a:spcAft>
                <a:spcPts val="1500"/>
              </a:spcAft>
              <a:buSzPct val="100000"/>
              <a:buChar char="•"/>
            </a:pPr>
            <a:r>
              <a:rPr lang="en-US" sz="1600" dirty="0">
                <a:solidFill>
                  <a:srgbClr val="12262B"/>
                </a:solidFill>
                <a:latin typeface="Calibri" pitchFamily="34" charset="0"/>
                <a:ea typeface="Calibri" pitchFamily="34" charset="-122"/>
                <a:cs typeface="Calibri" pitchFamily="34" charset="-120"/>
              </a:rPr>
              <a:t>Preserve class balance (stratify) — relapses may be a minority.</a:t>
            </a:r>
            <a:endParaRPr lang="en-US" sz="1600" dirty="0"/>
          </a:p>
          <a:p>
            <a:pPr marL="203200" indent="-203200">
              <a:spcAft>
                <a:spcPts val="1500"/>
              </a:spcAft>
              <a:buSzPct val="100000"/>
              <a:buChar char="•"/>
            </a:pPr>
            <a:r>
              <a:rPr lang="en-US" sz="1600" b="1" dirty="0">
                <a:solidFill>
                  <a:srgbClr val="0E7C86"/>
                </a:solidFill>
                <a:latin typeface="Calibri" pitchFamily="34" charset="0"/>
                <a:ea typeface="Calibri" pitchFamily="34" charset="-122"/>
                <a:cs typeface="Calibri" pitchFamily="34" charset="-120"/>
              </a:rPr>
              <a:t>Gold standard: an independent external cohort, ideally from another institution / platform.</a:t>
            </a:r>
            <a:endParaRPr lang="en-US" sz="1600" dirty="0"/>
          </a:p>
        </p:txBody>
      </p:sp>
      <p:sp>
        <p:nvSpPr>
          <p:cNvPr id="8" name="Text 5"/>
          <p:cNvSpPr/>
          <p:nvPr/>
        </p:nvSpPr>
        <p:spPr>
          <a:xfrm>
            <a:off x="6766560" y="1965960"/>
            <a:ext cx="4754880" cy="274320"/>
          </a:xfrm>
          <a:prstGeom prst="rect">
            <a:avLst/>
          </a:prstGeom>
          <a:noFill/>
          <a:ln/>
        </p:spPr>
        <p:txBody>
          <a:bodyPr wrap="square" lIns="0" tIns="0" rIns="0" bIns="0" rtlCol="0" anchor="ctr"/>
          <a:lstStyle/>
          <a:p>
            <a:pPr marL="0" indent="0">
              <a:buNone/>
            </a:pPr>
            <a:r>
              <a:rPr lang="en-US" sz="1200" b="1" dirty="0">
                <a:solidFill>
                  <a:srgbClr val="A8403A"/>
                </a:solidFill>
                <a:latin typeface="Calibri" pitchFamily="34" charset="0"/>
                <a:ea typeface="Calibri" pitchFamily="34" charset="-122"/>
                <a:cs typeface="Calibri" pitchFamily="34" charset="-120"/>
              </a:rPr>
              <a:t>A patient with two biopsies, split wrongly</a:t>
            </a:r>
            <a:endParaRPr lang="en-US" sz="1200" dirty="0"/>
          </a:p>
        </p:txBody>
      </p:sp>
      <p:sp>
        <p:nvSpPr>
          <p:cNvPr id="9" name="Shape 6"/>
          <p:cNvSpPr/>
          <p:nvPr/>
        </p:nvSpPr>
        <p:spPr>
          <a:xfrm>
            <a:off x="6766560" y="2377440"/>
            <a:ext cx="2103120" cy="2377440"/>
          </a:xfrm>
          <a:prstGeom prst="roundRect">
            <a:avLst>
              <a:gd name="adj" fmla="val 3478"/>
            </a:avLst>
          </a:prstGeom>
          <a:solidFill>
            <a:srgbClr val="DCEDEE"/>
          </a:solidFill>
          <a:ln/>
          <a:effectLst>
            <a:outerShdw blurRad="88900" dist="38100" dir="5400000" algn="bl" rotWithShape="0">
              <a:srgbClr val="000000">
                <a:alpha val="12000"/>
              </a:srgbClr>
            </a:outerShdw>
          </a:effectLst>
        </p:spPr>
      </p:sp>
      <p:sp>
        <p:nvSpPr>
          <p:cNvPr id="10" name="Text 7"/>
          <p:cNvSpPr/>
          <p:nvPr/>
        </p:nvSpPr>
        <p:spPr>
          <a:xfrm>
            <a:off x="6766560" y="2487168"/>
            <a:ext cx="2103120" cy="274320"/>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TRAIN</a:t>
            </a:r>
            <a:endParaRPr lang="en-US" sz="1200" dirty="0"/>
          </a:p>
        </p:txBody>
      </p:sp>
      <p:sp>
        <p:nvSpPr>
          <p:cNvPr id="11" name="Shape 8"/>
          <p:cNvSpPr/>
          <p:nvPr/>
        </p:nvSpPr>
        <p:spPr>
          <a:xfrm>
            <a:off x="9418320" y="2377440"/>
            <a:ext cx="2103120" cy="2377440"/>
          </a:xfrm>
          <a:prstGeom prst="roundRect">
            <a:avLst>
              <a:gd name="adj" fmla="val 3478"/>
            </a:avLst>
          </a:prstGeom>
          <a:solidFill>
            <a:srgbClr val="F6E9D8"/>
          </a:solidFill>
          <a:ln/>
          <a:effectLst>
            <a:outerShdw blurRad="88900" dist="38100" dir="5400000" algn="bl" rotWithShape="0">
              <a:srgbClr val="000000">
                <a:alpha val="12000"/>
              </a:srgbClr>
            </a:outerShdw>
          </a:effectLst>
        </p:spPr>
      </p:sp>
      <p:sp>
        <p:nvSpPr>
          <p:cNvPr id="12" name="Text 9"/>
          <p:cNvSpPr/>
          <p:nvPr/>
        </p:nvSpPr>
        <p:spPr>
          <a:xfrm>
            <a:off x="9418320" y="2487168"/>
            <a:ext cx="2103120" cy="274320"/>
          </a:xfrm>
          <a:prstGeom prst="rect">
            <a:avLst/>
          </a:prstGeom>
          <a:noFill/>
          <a:ln/>
        </p:spPr>
        <p:txBody>
          <a:bodyPr wrap="square" lIns="0" tIns="0" rIns="0" bIns="0" rtlCol="0" anchor="ctr"/>
          <a:lstStyle/>
          <a:p>
            <a:pPr marL="0" indent="0" algn="ctr">
              <a:buNone/>
            </a:pPr>
            <a:r>
              <a:rPr lang="en-US" sz="1200" b="1" dirty="0">
                <a:solidFill>
                  <a:srgbClr val="C2772B"/>
                </a:solidFill>
                <a:latin typeface="Calibri" pitchFamily="34" charset="0"/>
                <a:ea typeface="Calibri" pitchFamily="34" charset="-122"/>
                <a:cs typeface="Calibri" pitchFamily="34" charset="-120"/>
              </a:rPr>
              <a:t>TEST</a:t>
            </a:r>
            <a:endParaRPr lang="en-US" sz="1200" dirty="0"/>
          </a:p>
        </p:txBody>
      </p:sp>
      <p:sp>
        <p:nvSpPr>
          <p:cNvPr id="13" name="Shape 10"/>
          <p:cNvSpPr/>
          <p:nvPr/>
        </p:nvSpPr>
        <p:spPr>
          <a:xfrm>
            <a:off x="9098280" y="2331720"/>
            <a:ext cx="91440" cy="2468880"/>
          </a:xfrm>
          <a:prstGeom prst="rect">
            <a:avLst/>
          </a:prstGeom>
          <a:solidFill>
            <a:srgbClr val="0B3B40"/>
          </a:solidFill>
          <a:ln/>
        </p:spPr>
      </p:sp>
      <p:sp>
        <p:nvSpPr>
          <p:cNvPr id="14" name="Shape 11"/>
          <p:cNvSpPr/>
          <p:nvPr/>
        </p:nvSpPr>
        <p:spPr>
          <a:xfrm>
            <a:off x="7543800" y="3474720"/>
            <a:ext cx="548640" cy="548640"/>
          </a:xfrm>
          <a:prstGeom prst="ellipse">
            <a:avLst/>
          </a:prstGeom>
          <a:solidFill>
            <a:srgbClr val="A8403A"/>
          </a:solidFill>
          <a:ln/>
        </p:spPr>
      </p:sp>
      <p:sp>
        <p:nvSpPr>
          <p:cNvPr id="15" name="Text 12"/>
          <p:cNvSpPr/>
          <p:nvPr/>
        </p:nvSpPr>
        <p:spPr>
          <a:xfrm>
            <a:off x="7178040" y="4069080"/>
            <a:ext cx="1280160" cy="274320"/>
          </a:xfrm>
          <a:prstGeom prst="rect">
            <a:avLst/>
          </a:prstGeom>
          <a:noFill/>
          <a:ln/>
        </p:spPr>
        <p:txBody>
          <a:bodyPr wrap="square" lIns="0" tIns="0" rIns="0" bIns="0" rtlCol="0" anchor="ctr"/>
          <a:lstStyle/>
          <a:p>
            <a:pPr marL="0" indent="0" algn="ctr">
              <a:buNone/>
            </a:pPr>
            <a:r>
              <a:rPr lang="en-US" sz="1000" dirty="0">
                <a:solidFill>
                  <a:srgbClr val="12262B"/>
                </a:solidFill>
                <a:latin typeface="Calibri" pitchFamily="34" charset="0"/>
                <a:ea typeface="Calibri" pitchFamily="34" charset="-122"/>
                <a:cs typeface="Calibri" pitchFamily="34" charset="-120"/>
              </a:rPr>
              <a:t>biopsy A</a:t>
            </a:r>
            <a:endParaRPr lang="en-US" sz="1000" dirty="0"/>
          </a:p>
        </p:txBody>
      </p:sp>
      <p:sp>
        <p:nvSpPr>
          <p:cNvPr id="16" name="Shape 13"/>
          <p:cNvSpPr/>
          <p:nvPr/>
        </p:nvSpPr>
        <p:spPr>
          <a:xfrm>
            <a:off x="10195560" y="3474720"/>
            <a:ext cx="548640" cy="548640"/>
          </a:xfrm>
          <a:prstGeom prst="ellipse">
            <a:avLst/>
          </a:prstGeom>
          <a:solidFill>
            <a:srgbClr val="A8403A"/>
          </a:solidFill>
          <a:ln/>
        </p:spPr>
      </p:sp>
      <p:sp>
        <p:nvSpPr>
          <p:cNvPr id="17" name="Text 14"/>
          <p:cNvSpPr/>
          <p:nvPr/>
        </p:nvSpPr>
        <p:spPr>
          <a:xfrm>
            <a:off x="9829800" y="4069080"/>
            <a:ext cx="1280160" cy="274320"/>
          </a:xfrm>
          <a:prstGeom prst="rect">
            <a:avLst/>
          </a:prstGeom>
          <a:noFill/>
          <a:ln/>
        </p:spPr>
        <p:txBody>
          <a:bodyPr wrap="square" lIns="0" tIns="0" rIns="0" bIns="0" rtlCol="0" anchor="ctr"/>
          <a:lstStyle/>
          <a:p>
            <a:pPr marL="0" indent="0" algn="ctr">
              <a:buNone/>
            </a:pPr>
            <a:r>
              <a:rPr lang="en-US" sz="1000" dirty="0">
                <a:solidFill>
                  <a:srgbClr val="12262B"/>
                </a:solidFill>
                <a:latin typeface="Calibri" pitchFamily="34" charset="0"/>
                <a:ea typeface="Calibri" pitchFamily="34" charset="-122"/>
                <a:cs typeface="Calibri" pitchFamily="34" charset="-120"/>
              </a:rPr>
              <a:t>biopsy B</a:t>
            </a:r>
            <a:endParaRPr lang="en-US" sz="1000" dirty="0"/>
          </a:p>
        </p:txBody>
      </p:sp>
      <p:sp>
        <p:nvSpPr>
          <p:cNvPr id="18" name="Text 15"/>
          <p:cNvSpPr/>
          <p:nvPr/>
        </p:nvSpPr>
        <p:spPr>
          <a:xfrm>
            <a:off x="6766560" y="4892040"/>
            <a:ext cx="4754880" cy="320040"/>
          </a:xfrm>
          <a:prstGeom prst="rect">
            <a:avLst/>
          </a:prstGeom>
          <a:noFill/>
          <a:ln/>
        </p:spPr>
        <p:txBody>
          <a:bodyPr wrap="square" lIns="0" tIns="0" rIns="0" bIns="0" rtlCol="0" anchor="ctr"/>
          <a:lstStyle/>
          <a:p>
            <a:pPr marL="0" indent="0" algn="ctr">
              <a:buNone/>
            </a:pPr>
            <a:r>
              <a:rPr lang="en-US" sz="1200" b="1" dirty="0">
                <a:solidFill>
                  <a:srgbClr val="A8403A"/>
                </a:solidFill>
                <a:latin typeface="Calibri" pitchFamily="34" charset="0"/>
                <a:ea typeface="Calibri" pitchFamily="34" charset="-122"/>
                <a:cs typeface="Calibri" pitchFamily="34" charset="-120"/>
              </a:rPr>
              <a:t>both from patient 7  ✗</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3B40"/>
        </a:solidFill>
        <a:effectLst/>
      </p:bgPr>
    </p:bg>
    <p:spTree>
      <p:nvGrpSpPr>
        <p:cNvPr id="1" name=""/>
        <p:cNvGrpSpPr/>
        <p:nvPr/>
      </p:nvGrpSpPr>
      <p:grpSpPr>
        <a:xfrm>
          <a:off x="0" y="0"/>
          <a:ext cx="0" cy="0"/>
          <a:chOff x="0" y="0"/>
          <a:chExt cx="0" cy="0"/>
        </a:xfrm>
      </p:grpSpPr>
      <p:sp>
        <p:nvSpPr>
          <p:cNvPr id="2" name="Text 0"/>
          <p:cNvSpPr/>
          <p:nvPr/>
        </p:nvSpPr>
        <p:spPr>
          <a:xfrm>
            <a:off x="914400" y="1280160"/>
            <a:ext cx="10058400" cy="365760"/>
          </a:xfrm>
          <a:prstGeom prst="rect">
            <a:avLst/>
          </a:prstGeom>
          <a:noFill/>
          <a:ln/>
        </p:spPr>
        <p:txBody>
          <a:bodyPr wrap="square" lIns="0" tIns="0" rIns="0" bIns="0" rtlCol="0" anchor="ctr"/>
          <a:lstStyle/>
          <a:p>
            <a:pPr marL="0" indent="0">
              <a:buNone/>
            </a:pPr>
            <a:r>
              <a:rPr lang="en-US" sz="1400" b="1" kern="0" spc="300" dirty="0">
                <a:solidFill>
                  <a:srgbClr val="14A6B0"/>
                </a:solidFill>
                <a:latin typeface="Calibri" pitchFamily="34" charset="0"/>
                <a:ea typeface="Calibri" pitchFamily="34" charset="-122"/>
                <a:cs typeface="Calibri" pitchFamily="34" charset="-120"/>
              </a:rPr>
              <a:t>THE MAIN MESSAGE</a:t>
            </a:r>
            <a:endParaRPr lang="en-US" sz="1400" dirty="0"/>
          </a:p>
        </p:txBody>
      </p:sp>
      <p:sp>
        <p:nvSpPr>
          <p:cNvPr id="3" name="Text 1"/>
          <p:cNvSpPr/>
          <p:nvPr/>
        </p:nvSpPr>
        <p:spPr>
          <a:xfrm>
            <a:off x="914400" y="1920240"/>
            <a:ext cx="10332720" cy="2377440"/>
          </a:xfrm>
          <a:prstGeom prst="rect">
            <a:avLst/>
          </a:prstGeom>
          <a:noFill/>
          <a:ln/>
        </p:spPr>
        <p:txBody>
          <a:bodyPr wrap="square" lIns="0" tIns="0" rIns="0" bIns="0" rtlCol="0" anchor="t"/>
          <a:lstStyle/>
          <a:p>
            <a:pPr marL="0" indent="0">
              <a:lnSpc>
                <a:spcPct val="108000"/>
              </a:lnSpc>
              <a:buNone/>
            </a:pPr>
            <a:r>
              <a:rPr lang="en-US" sz="3300" b="1" dirty="0">
                <a:solidFill>
                  <a:srgbClr val="FFFFFF"/>
                </a:solidFill>
                <a:latin typeface="Cambria" pitchFamily="34" charset="0"/>
                <a:ea typeface="Cambria" pitchFamily="34" charset="-122"/>
                <a:cs typeface="Cambria" pitchFamily="34" charset="-120"/>
              </a:rPr>
              <a:t>“Building a trustworthy predictive biomarker is more important than choosing a sophisticated algorithm.”</a:t>
            </a:r>
            <a:endParaRPr lang="en-US" sz="3300" dirty="0"/>
          </a:p>
        </p:txBody>
      </p:sp>
      <p:sp>
        <p:nvSpPr>
          <p:cNvPr id="4" name="Text 2"/>
          <p:cNvSpPr/>
          <p:nvPr/>
        </p:nvSpPr>
        <p:spPr>
          <a:xfrm>
            <a:off x="914400" y="4572000"/>
            <a:ext cx="10058400" cy="1463040"/>
          </a:xfrm>
          <a:prstGeom prst="rect">
            <a:avLst/>
          </a:prstGeom>
          <a:noFill/>
          <a:ln/>
        </p:spPr>
        <p:txBody>
          <a:bodyPr wrap="square" lIns="0" tIns="0" rIns="0" bIns="0" rtlCol="0" anchor="ctr"/>
          <a:lstStyle/>
          <a:p>
            <a:pPr marL="0" indent="0">
              <a:spcAft>
                <a:spcPts val="1000"/>
              </a:spcAft>
              <a:buNone/>
            </a:pPr>
            <a:r>
              <a:rPr lang="en-US" sz="1600" dirty="0">
                <a:solidFill>
                  <a:srgbClr val="DCEDEE"/>
                </a:solidFill>
                <a:latin typeface="Calibri" pitchFamily="34" charset="0"/>
                <a:ea typeface="Calibri" pitchFamily="34" charset="-122"/>
                <a:cs typeface="Calibri" pitchFamily="34" charset="-120"/>
              </a:rPr>
              <a:t>The hard part is the science around the model — the question, the label, the data structure, the splits, the validation.</a:t>
            </a:r>
            <a:endParaRPr lang="en-US" sz="1600" dirty="0"/>
          </a:p>
          <a:p>
            <a:pPr marL="0" indent="0">
              <a:buNone/>
            </a:pPr>
            <a:r>
              <a:rPr lang="en-US" sz="1600" dirty="0">
                <a:solidFill>
                  <a:srgbClr val="DCEDEE"/>
                </a:solidFill>
                <a:latin typeface="Calibri" pitchFamily="34" charset="0"/>
                <a:ea typeface="Calibri" pitchFamily="34" charset="-122"/>
                <a:cs typeface="Calibri" pitchFamily="34" charset="-120"/>
              </a:rPr>
              <a:t>A simple model on a clean, leak-free, validated pipeline beats a fancy model on a compromised one — every time.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48640" y="658368"/>
            <a:ext cx="11064240" cy="868680"/>
          </a:xfrm>
          <a:prstGeom prst="rect">
            <a:avLst/>
          </a:prstGeom>
          <a:noFill/>
          <a:ln/>
        </p:spPr>
        <p:txBody>
          <a:bodyPr wrap="square" lIns="0" tIns="0" rIns="0" bIns="0" rtlCol="0" anchor="t"/>
          <a:lstStyle/>
          <a:p>
            <a:pPr marL="0" indent="0">
              <a:buNone/>
            </a:pPr>
            <a:r>
              <a:rPr lang="en-US" sz="3000" b="1" dirty="0">
                <a:solidFill>
                  <a:srgbClr val="12262B"/>
                </a:solidFill>
                <a:latin typeface="Cambria" pitchFamily="34" charset="0"/>
                <a:ea typeface="Cambria" pitchFamily="34" charset="-122"/>
                <a:cs typeface="Cambria" pitchFamily="34" charset="-120"/>
              </a:rPr>
              <a:t>Recap &amp; bridge to the practical</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B70"/>
                </a:solidFill>
                <a:latin typeface="Calibri" pitchFamily="34" charset="0"/>
                <a:ea typeface="Calibri" pitchFamily="34" charset="-122"/>
                <a:cs typeface="Calibri" pitchFamily="34" charset="-120"/>
              </a:rPr>
              <a:t>Practical ML for Transcriptomics  ·  Lecture 1</a:t>
            </a:r>
            <a:endParaRPr lang="en-US" sz="900" dirty="0"/>
          </a:p>
        </p:txBody>
      </p:sp>
      <p:sp>
        <p:nvSpPr>
          <p:cNvPr id="5" name="Text 3"/>
          <p:cNvSpPr/>
          <p:nvPr/>
        </p:nvSpPr>
        <p:spPr>
          <a:xfrm>
            <a:off x="11247120" y="6473952"/>
            <a:ext cx="365760" cy="274320"/>
          </a:xfrm>
          <a:prstGeom prst="rect">
            <a:avLst/>
          </a:prstGeom>
          <a:noFill/>
          <a:ln/>
        </p:spPr>
        <p:txBody>
          <a:bodyPr wrap="square" lIns="0" tIns="0" rIns="0" bIns="0" rtlCol="0" anchor="ctr"/>
          <a:lstStyle/>
          <a:p>
            <a:pPr marL="0" indent="0" algn="r">
              <a:buNone/>
            </a:pPr>
            <a:r>
              <a:rPr lang="en-US" sz="900" dirty="0">
                <a:solidFill>
                  <a:srgbClr val="5B6B70"/>
                </a:solidFill>
                <a:latin typeface="Calibri" pitchFamily="34" charset="0"/>
                <a:ea typeface="Calibri" pitchFamily="34" charset="-122"/>
                <a:cs typeface="Calibri" pitchFamily="34" charset="-120"/>
              </a:rPr>
              <a:t>25</a:t>
            </a:r>
            <a:endParaRPr lang="en-US" sz="900" dirty="0"/>
          </a:p>
        </p:txBody>
      </p:sp>
      <p:sp>
        <p:nvSpPr>
          <p:cNvPr id="7" name="Text 4"/>
          <p:cNvSpPr/>
          <p:nvPr/>
        </p:nvSpPr>
        <p:spPr>
          <a:xfrm>
            <a:off x="548640" y="1783080"/>
            <a:ext cx="5303520" cy="320040"/>
          </a:xfrm>
          <a:prstGeom prst="rect">
            <a:avLst/>
          </a:prstGeom>
          <a:noFill/>
          <a:ln/>
        </p:spPr>
        <p:txBody>
          <a:bodyPr wrap="square" lIns="0" tIns="0" rIns="0" bIns="0" rtlCol="0" anchor="ctr"/>
          <a:lstStyle/>
          <a:p>
            <a:pPr marL="0" indent="0">
              <a:buNone/>
            </a:pPr>
            <a:r>
              <a:rPr lang="en-US" sz="1500" b="1" dirty="0">
                <a:solidFill>
                  <a:srgbClr val="0E7C86"/>
                </a:solidFill>
                <a:latin typeface="Cambria" pitchFamily="34" charset="0"/>
                <a:ea typeface="Cambria" pitchFamily="34" charset="-122"/>
                <a:cs typeface="Cambria" pitchFamily="34" charset="-120"/>
              </a:rPr>
              <a:t>Objectives — ticked</a:t>
            </a:r>
            <a:endParaRPr lang="en-US" sz="1500" dirty="0"/>
          </a:p>
        </p:txBody>
      </p:sp>
      <p:sp>
        <p:nvSpPr>
          <p:cNvPr id="8" name="Text 5"/>
          <p:cNvSpPr/>
          <p:nvPr/>
        </p:nvSpPr>
        <p:spPr>
          <a:xfrm>
            <a:off x="548640" y="2194560"/>
            <a:ext cx="5394960" cy="3566160"/>
          </a:xfrm>
          <a:prstGeom prst="rect">
            <a:avLst/>
          </a:prstGeom>
          <a:noFill/>
          <a:ln/>
        </p:spPr>
        <p:txBody>
          <a:bodyPr wrap="square" lIns="0" tIns="0" rIns="0" bIns="0" rtlCol="0" anchor="t"/>
          <a:lstStyle/>
          <a:p>
            <a:pPr marL="0" indent="0">
              <a:buNone/>
            </a:pPr>
            <a:r>
              <a:rPr lang="en-US" sz="1450" b="1" dirty="0">
                <a:solidFill>
                  <a:srgbClr val="2E7D57"/>
                </a:solidFill>
                <a:latin typeface="Calibri" pitchFamily="34" charset="0"/>
                <a:ea typeface="Calibri" pitchFamily="34" charset="-122"/>
                <a:cs typeface="Calibri" pitchFamily="34" charset="-120"/>
              </a:rPr>
              <a:t>✓  </a:t>
            </a:r>
            <a:r>
              <a:rPr lang="en-US" sz="1450" dirty="0">
                <a:solidFill>
                  <a:srgbClr val="12262B"/>
                </a:solidFill>
                <a:latin typeface="Calibri" pitchFamily="34" charset="0"/>
                <a:ea typeface="Calibri" pitchFamily="34" charset="-122"/>
                <a:cs typeface="Calibri" pitchFamily="34" charset="-120"/>
              </a:rPr>
              <a:t>Clinical prediction problem framed</a:t>
            </a:r>
            <a:endParaRPr lang="en-US" sz="1450" dirty="0"/>
          </a:p>
          <a:p>
            <a:pPr marL="0" indent="0">
              <a:buNone/>
            </a:pPr>
            <a:r>
              <a:rPr lang="en-US" sz="1450" b="1" dirty="0">
                <a:solidFill>
                  <a:srgbClr val="2E7D57"/>
                </a:solidFill>
                <a:latin typeface="Calibri" pitchFamily="34" charset="0"/>
                <a:ea typeface="Calibri" pitchFamily="34" charset="-122"/>
                <a:cs typeface="Calibri" pitchFamily="34" charset="-120"/>
              </a:rPr>
              <a:t>✓  </a:t>
            </a:r>
            <a:r>
              <a:rPr lang="en-US" sz="1450" dirty="0">
                <a:solidFill>
                  <a:srgbClr val="12262B"/>
                </a:solidFill>
                <a:latin typeface="Calibri" pitchFamily="34" charset="0"/>
                <a:ea typeface="Calibri" pitchFamily="34" charset="-122"/>
                <a:cs typeface="Calibri" pitchFamily="34" charset="-120"/>
              </a:rPr>
              <a:t>Data representation &amp; X / y</a:t>
            </a:r>
            <a:endParaRPr lang="en-US" sz="1450" dirty="0"/>
          </a:p>
          <a:p>
            <a:pPr marL="0" indent="0">
              <a:buNone/>
            </a:pPr>
            <a:r>
              <a:rPr lang="en-US" sz="1450" b="1" dirty="0">
                <a:solidFill>
                  <a:srgbClr val="2E7D57"/>
                </a:solidFill>
                <a:latin typeface="Calibri" pitchFamily="34" charset="0"/>
                <a:ea typeface="Calibri" pitchFamily="34" charset="-122"/>
                <a:cs typeface="Calibri" pitchFamily="34" charset="-120"/>
              </a:rPr>
              <a:t>✓  </a:t>
            </a:r>
            <a:r>
              <a:rPr lang="en-US" sz="1450" dirty="0">
                <a:solidFill>
                  <a:srgbClr val="12262B"/>
                </a:solidFill>
                <a:latin typeface="Calibri" pitchFamily="34" charset="0"/>
                <a:ea typeface="Calibri" pitchFamily="34" charset="-122"/>
                <a:cs typeface="Calibri" pitchFamily="34" charset="-120"/>
              </a:rPr>
              <a:t>p ≫ n and the curse of dimensionality</a:t>
            </a:r>
            <a:endParaRPr lang="en-US" sz="1450" dirty="0"/>
          </a:p>
          <a:p>
            <a:pPr marL="0" indent="0">
              <a:buNone/>
            </a:pPr>
            <a:r>
              <a:rPr lang="en-US" sz="1450" b="1" dirty="0">
                <a:solidFill>
                  <a:srgbClr val="2E7D57"/>
                </a:solidFill>
                <a:latin typeface="Calibri" pitchFamily="34" charset="0"/>
                <a:ea typeface="Calibri" pitchFamily="34" charset="-122"/>
                <a:cs typeface="Calibri" pitchFamily="34" charset="-120"/>
              </a:rPr>
              <a:t>✓  </a:t>
            </a:r>
            <a:r>
              <a:rPr lang="en-US" sz="1450" dirty="0">
                <a:solidFill>
                  <a:srgbClr val="12262B"/>
                </a:solidFill>
                <a:latin typeface="Calibri" pitchFamily="34" charset="0"/>
                <a:ea typeface="Calibri" pitchFamily="34" charset="-122"/>
                <a:cs typeface="Calibri" pitchFamily="34" charset="-120"/>
              </a:rPr>
              <a:t>Batch effects &amp; PCA diagnosis</a:t>
            </a:r>
            <a:endParaRPr lang="en-US" sz="1450" dirty="0"/>
          </a:p>
          <a:p>
            <a:pPr marL="0" indent="0">
              <a:buNone/>
            </a:pPr>
            <a:r>
              <a:rPr lang="en-US" sz="1450" b="1" dirty="0">
                <a:solidFill>
                  <a:srgbClr val="2E7D57"/>
                </a:solidFill>
                <a:latin typeface="Calibri" pitchFamily="34" charset="0"/>
                <a:ea typeface="Calibri" pitchFamily="34" charset="-122"/>
                <a:cs typeface="Calibri" pitchFamily="34" charset="-120"/>
              </a:rPr>
              <a:t>✓  </a:t>
            </a:r>
            <a:r>
              <a:rPr lang="en-US" sz="1450" dirty="0">
                <a:solidFill>
                  <a:srgbClr val="12262B"/>
                </a:solidFill>
                <a:latin typeface="Calibri" pitchFamily="34" charset="0"/>
                <a:ea typeface="Calibri" pitchFamily="34" charset="-122"/>
                <a:cs typeface="Calibri" pitchFamily="34" charset="-120"/>
              </a:rPr>
              <a:t>Data leakage &amp; why biomarkers fail</a:t>
            </a:r>
            <a:endParaRPr lang="en-US" sz="1450" dirty="0"/>
          </a:p>
          <a:p>
            <a:pPr marL="0" indent="0">
              <a:buNone/>
            </a:pPr>
            <a:r>
              <a:rPr lang="en-US" sz="1450" b="1" dirty="0">
                <a:solidFill>
                  <a:srgbClr val="2E7D57"/>
                </a:solidFill>
                <a:latin typeface="Calibri" pitchFamily="34" charset="0"/>
                <a:ea typeface="Calibri" pitchFamily="34" charset="-122"/>
                <a:cs typeface="Calibri" pitchFamily="34" charset="-120"/>
              </a:rPr>
              <a:t>✓  </a:t>
            </a:r>
            <a:r>
              <a:rPr lang="en-US" sz="1450" dirty="0">
                <a:solidFill>
                  <a:srgbClr val="12262B"/>
                </a:solidFill>
                <a:latin typeface="Calibri" pitchFamily="34" charset="0"/>
                <a:ea typeface="Calibri" pitchFamily="34" charset="-122"/>
                <a:cs typeface="Calibri" pitchFamily="34" charset="-120"/>
              </a:rPr>
              <a:t>Defensible train / val / test splits</a:t>
            </a:r>
            <a:endParaRPr lang="en-US" sz="1450" dirty="0"/>
          </a:p>
        </p:txBody>
      </p:sp>
      <p:sp>
        <p:nvSpPr>
          <p:cNvPr id="9" name="Shape 6"/>
          <p:cNvSpPr/>
          <p:nvPr/>
        </p:nvSpPr>
        <p:spPr>
          <a:xfrm>
            <a:off x="6309360" y="1783080"/>
            <a:ext cx="5303520" cy="3931920"/>
          </a:xfrm>
          <a:prstGeom prst="roundRect">
            <a:avLst>
              <a:gd name="adj" fmla="val 1860"/>
            </a:avLst>
          </a:prstGeom>
          <a:solidFill>
            <a:srgbClr val="DCEDEE"/>
          </a:solidFill>
          <a:ln/>
          <a:effectLst>
            <a:outerShdw blurRad="88900" dist="38100" dir="5400000" algn="bl" rotWithShape="0">
              <a:srgbClr val="000000">
                <a:alpha val="12000"/>
              </a:srgbClr>
            </a:outerShdw>
          </a:effectLst>
        </p:spPr>
      </p:sp>
      <p:sp>
        <p:nvSpPr>
          <p:cNvPr id="10" name="Text 7"/>
          <p:cNvSpPr/>
          <p:nvPr/>
        </p:nvSpPr>
        <p:spPr>
          <a:xfrm>
            <a:off x="6583680" y="1965960"/>
            <a:ext cx="4754880" cy="365760"/>
          </a:xfrm>
          <a:prstGeom prst="rect">
            <a:avLst/>
          </a:prstGeom>
          <a:noFill/>
          <a:ln/>
        </p:spPr>
        <p:txBody>
          <a:bodyPr wrap="square" lIns="0" tIns="0" rIns="0" bIns="0" rtlCol="0" anchor="ctr"/>
          <a:lstStyle/>
          <a:p>
            <a:pPr marL="0" indent="0">
              <a:buNone/>
            </a:pPr>
            <a:r>
              <a:rPr lang="en-US" sz="1600" b="1" dirty="0">
                <a:solidFill>
                  <a:srgbClr val="0E7C86"/>
                </a:solidFill>
                <a:latin typeface="Cambria" pitchFamily="34" charset="0"/>
                <a:ea typeface="Cambria" pitchFamily="34" charset="-122"/>
                <a:cs typeface="Cambria" pitchFamily="34" charset="-120"/>
              </a:rPr>
              <a:t>In the practical</a:t>
            </a:r>
            <a:endParaRPr lang="en-US" sz="1600" dirty="0"/>
          </a:p>
        </p:txBody>
      </p:sp>
      <p:sp>
        <p:nvSpPr>
          <p:cNvPr id="11" name="Text 8"/>
          <p:cNvSpPr/>
          <p:nvPr/>
        </p:nvSpPr>
        <p:spPr>
          <a:xfrm>
            <a:off x="6583680" y="2423160"/>
            <a:ext cx="4754880" cy="3108960"/>
          </a:xfrm>
          <a:prstGeom prst="rect">
            <a:avLst/>
          </a:prstGeom>
          <a:noFill/>
          <a:ln/>
        </p:spPr>
        <p:txBody>
          <a:bodyPr wrap="square" lIns="0" tIns="0" rIns="0" bIns="0" rtlCol="0" anchor="t"/>
          <a:lstStyle/>
          <a:p>
            <a:pPr marL="203200" indent="-203200">
              <a:spcAft>
                <a:spcPts val="1100"/>
              </a:spcAft>
              <a:buSzPct val="100000"/>
              <a:buChar char="•"/>
            </a:pPr>
            <a:r>
              <a:rPr lang="en-US" sz="1350" dirty="0">
                <a:solidFill>
                  <a:srgbClr val="12262B"/>
                </a:solidFill>
                <a:latin typeface="Calibri" pitchFamily="34" charset="0"/>
                <a:ea typeface="Calibri" pitchFamily="34" charset="-122"/>
                <a:cs typeface="Calibri" pitchFamily="34" charset="-120"/>
              </a:rPr>
              <a:t>Load the METABRIC matrix (combined with GSE6532)</a:t>
            </a:r>
            <a:endParaRPr lang="en-US" sz="1350" dirty="0"/>
          </a:p>
          <a:p>
            <a:pPr marL="203200" indent="-203200">
              <a:spcAft>
                <a:spcPts val="1100"/>
              </a:spcAft>
              <a:buSzPct val="100000"/>
              <a:buChar char="•"/>
            </a:pPr>
            <a:r>
              <a:rPr lang="en-US" sz="1350" dirty="0">
                <a:solidFill>
                  <a:srgbClr val="12262B"/>
                </a:solidFill>
                <a:latin typeface="Calibri" pitchFamily="34" charset="0"/>
                <a:ea typeface="Calibri" pitchFamily="34" charset="-122"/>
                <a:cs typeface="Calibri" pitchFamily="34" charset="-120"/>
              </a:rPr>
              <a:t>Inspect clinical metadata; derive a binary relapse label from survival fields</a:t>
            </a:r>
            <a:endParaRPr lang="en-US" sz="1350" dirty="0"/>
          </a:p>
          <a:p>
            <a:pPr marL="203200" indent="-203200">
              <a:spcAft>
                <a:spcPts val="1100"/>
              </a:spcAft>
              <a:buSzPct val="100000"/>
              <a:buChar char="•"/>
            </a:pPr>
            <a:r>
              <a:rPr lang="en-US" sz="1350" dirty="0">
                <a:solidFill>
                  <a:srgbClr val="12262B"/>
                </a:solidFill>
                <a:latin typeface="Calibri" pitchFamily="34" charset="0"/>
                <a:ea typeface="Calibri" pitchFamily="34" charset="-122"/>
                <a:cs typeface="Calibri" pitchFamily="34" charset="-120"/>
              </a:rPr>
              <a:t>Check class balance</a:t>
            </a:r>
            <a:endParaRPr lang="en-US" sz="1350" dirty="0"/>
          </a:p>
          <a:p>
            <a:pPr marL="203200" indent="-203200">
              <a:spcAft>
                <a:spcPts val="1100"/>
              </a:spcAft>
              <a:buSzPct val="100000"/>
              <a:buChar char="•"/>
            </a:pPr>
            <a:r>
              <a:rPr lang="en-US" sz="1350" dirty="0">
                <a:solidFill>
                  <a:srgbClr val="12262B"/>
                </a:solidFill>
                <a:latin typeface="Calibri" pitchFamily="34" charset="0"/>
                <a:ea typeface="Calibri" pitchFamily="34" charset="-122"/>
                <a:cs typeface="Calibri" pitchFamily="34" charset="-120"/>
              </a:rPr>
              <a:t>Run PCA; hunt the cross-platform batch effect</a:t>
            </a:r>
            <a:endParaRPr lang="en-US" sz="1350" dirty="0"/>
          </a:p>
          <a:p>
            <a:pPr marL="203200" indent="-203200">
              <a:spcAft>
                <a:spcPts val="1100"/>
              </a:spcAft>
              <a:buSzPct val="100000"/>
              <a:buChar char="•"/>
            </a:pPr>
            <a:r>
              <a:rPr lang="en-US" sz="1350" dirty="0">
                <a:solidFill>
                  <a:srgbClr val="12262B"/>
                </a:solidFill>
                <a:latin typeface="Calibri" pitchFamily="34" charset="0"/>
                <a:ea typeface="Calibri" pitchFamily="34" charset="-122"/>
                <a:cs typeface="Calibri" pitchFamily="34" charset="-120"/>
              </a:rPr>
              <a:t>Build a patient-level, stratified, batch-aware split</a:t>
            </a:r>
            <a:endParaRPr lang="en-US" sz="1350" dirty="0"/>
          </a:p>
        </p:txBody>
      </p:sp>
      <p:sp>
        <p:nvSpPr>
          <p:cNvPr id="12" name="Text 9"/>
          <p:cNvSpPr/>
          <p:nvPr/>
        </p:nvSpPr>
        <p:spPr>
          <a:xfrm>
            <a:off x="6583680" y="5257800"/>
            <a:ext cx="4754880" cy="365760"/>
          </a:xfrm>
          <a:prstGeom prst="rect">
            <a:avLst/>
          </a:prstGeom>
          <a:noFill/>
          <a:ln/>
        </p:spPr>
        <p:txBody>
          <a:bodyPr wrap="square" lIns="0" tIns="0" rIns="0" bIns="0" rtlCol="0" anchor="ctr"/>
          <a:lstStyle/>
          <a:p>
            <a:pPr marL="0" indent="0">
              <a:buNone/>
            </a:pPr>
            <a:r>
              <a:rPr lang="en-US" sz="1200" i="1" dirty="0">
                <a:solidFill>
                  <a:srgbClr val="12262B"/>
                </a:solidFill>
                <a:latin typeface="Calibri" pitchFamily="34" charset="0"/>
                <a:ea typeface="Calibri" pitchFamily="34" charset="-122"/>
                <a:cs typeface="Calibri" pitchFamily="34" charset="-120"/>
              </a:rPr>
              <a:t>Next lecture: now that the problem is well-posed, we introduce our first models.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3689</Words>
  <Application>Microsoft Macintosh PowerPoint</Application>
  <PresentationFormat>Widescreen</PresentationFormat>
  <Paragraphs>408</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From Biological Question to Machine Learning Problem</dc:title>
  <dc:subject>PptxGenJS Presentation</dc:subject>
  <dc:creator>Practical ML for Transcriptomics in Cancer Research</dc:creator>
  <cp:lastModifiedBy>Zhan Yinxiu</cp:lastModifiedBy>
  <cp:revision>5</cp:revision>
  <dcterms:created xsi:type="dcterms:W3CDTF">2026-06-17T09:20:29Z</dcterms:created>
  <dcterms:modified xsi:type="dcterms:W3CDTF">2026-06-18T10:56:37Z</dcterms:modified>
</cp:coreProperties>
</file>